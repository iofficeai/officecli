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875b77abbfa3418f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id="256" r:id="Rb9fc4a49bea34d64"/>
    <p:sldId id="257" r:id="Rd33ce70173ee4cc0"/>
    <p:sldId id="258" r:id="Rbe6b51d1630d4073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b9fc4a49bea34d64" /><Relationship Type="http://schemas.openxmlformats.org/officeDocument/2006/relationships/slide" Target="/ppt/slides/slide2.xml" Id="Rd33ce70173ee4cc0" /><Relationship Type="http://schemas.openxmlformats.org/officeDocument/2006/relationships/slide" Target="/ppt/slides/slide3.xml" Id="Rbe6b51d1630d4073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98f684d356418d" /></Relationships>
</file>

<file path=ppt/slideLayouts/slideLayout1.xml><?xml version="1.0" encoding="utf-8"?>
<p:sldLayout xmlns:p="http://schemas.openxmlformats.org/presentationml/2006/main" type="blank">
  <p:cSld>
    <p:spTree>
      <p:nvGrpSpPr>
        <p:cNvPr id="1" name=""/>
        <p:cNvGrpSpPr/>
        <p:nvPr/>
      </p:nvGrpSpPr>
      <p:grpSpPr/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f11d5a65e60c4f70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d237fa332f49f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15028862fc4ef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ddb24f55ea422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F3864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 xmlns:a="http://schemas.openxmlformats.org/drawingml/2006/main">
            <a:off x="1500000" y="2000000"/>
            <a:ext cx="9192000" cy="12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4000" b="1" dirty="0">
                <a:solidFill>
                  <a:srgbClr val="FFFFFF"/>
                </a:solidFill>
              </a:rPr>
              <a:t>2025 Annual Data Analysis Report</a:t>
            </a:r>
          </a:p>
        </p:txBody>
      </p:sp>
      <p:sp>
        <p:nvSpPr>
          <p:cNvPr id="3" name="Subtitle"/>
          <p:cNvSpPr/>
          <p:nvPr/>
        </p:nvSpPr>
        <p:spPr>
          <a:xfrm xmlns:a="http://schemas.openxmlformats.org/drawingml/2006/main">
            <a:off x="2500000" y="3500000"/>
            <a:ext cx="7192000" cy="8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2000" dirty="0">
                <a:solidFill>
                  <a:srgbClr val="BDD7EE"/>
                </a:solidFill>
              </a:rPr>
              <a:t>Dept Comparison | Performance Overview | Financial Summary</a:t>
            </a:r>
          </a:p>
        </p:txBody>
      </p:sp>
    </p:spTree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 xmlns:a="http://schemas.openxmlformats.org/drawingml/2006/main">
            <a:off x="500000" y="200000"/>
            <a:ext cx="11192000" cy="6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800" b="1" dirty="0">
                <a:solidFill>
                  <a:srgbClr val="1F3864"/>
                </a:solidFill>
              </a:rPr>
              <a:t>Quarterly Sales by Department</a:t>
            </a:r>
          </a:p>
        </p:txBody>
      </p:sp>
      <p:graphicFrame>
        <p:nvGraphicFramePr>
          <p:cNvPr id="4" name="Table"/>
          <p:cNvGraphicFramePr>
            <a:graphicFrameLocks xmlns:a="http://schemas.openxmlformats.org/drawingml/2006/main" noGrp="1"/>
          </p:cNvGraphicFramePr>
          <p:nvPr/>
        </p:nvGraphicFramePr>
        <p:xfrm>
          <a:off xmlns:a="http://schemas.openxmlformats.org/drawingml/2006/main" x="500000" y="1000000"/>
          <a:ext xmlns:a="http://schemas.openxmlformats.org/drawingml/2006/main" cx="11192000" cy="45000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238400"/>
                <a:gridCol w="2238400"/>
                <a:gridCol w="2238400"/>
                <a:gridCol w="2238400"/>
                <a:gridCol w="2238400"/>
              </a:tblGrid>
              <a:tr h="70000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Department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Q1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Q2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Q3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Q4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</a:tr>
              <a:tr h="7000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Engineering</a:t>
                      </a:r>
                    </a:p>
                  </a:txBody>
                  <a:tcPr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128,000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156,000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189,000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210,000</a:t>
                      </a:r>
                    </a:p>
                  </a:txBody>
                  <a:tcPr/>
                </a:tc>
              </a:tr>
              <a:tr h="7000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Marketing</a:t>
                      </a:r>
                    </a:p>
                  </a:txBody>
                  <a:tcPr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95,000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112,000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138,000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165,000</a:t>
                      </a:r>
                    </a:p>
                  </a:txBody>
                  <a:tcPr/>
                </a:tc>
              </a:tr>
              <a:tr h="7000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Operations</a:t>
                      </a:r>
                    </a:p>
                  </a:txBody>
                  <a:tcPr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76,000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89,000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102,000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118,000</a:t>
                      </a:r>
                    </a:p>
                  </a:txBody>
                  <a:tcPr/>
                </a:tc>
              </a:tr>
              <a:tr h="7000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Sales</a:t>
                      </a:r>
                    </a:p>
                  </a:txBody>
                  <a:tcPr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230,000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275,000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310,000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356,000</a:t>
                      </a:r>
                    </a:p>
                  </a:txBody>
                  <a:tcPr/>
                </a:tc>
              </a:tr>
              <a:tr h="7000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HR</a:t>
                      </a:r>
                    </a:p>
                  </a:txBody>
                  <a:tcPr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45,000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48,000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52,000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55,000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/>
          <p:nvPr>
            <p:ph/>
          </p:nvPr>
        </p:nvSpPr>
        <p:spPr>
          <a:xfrm xmlns:a="http://schemas.openxmlformats.org/drawingml/2006/main">
            <a:off x="500000" y="200000"/>
            <a:ext cx="11192000" cy="6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 sz="2800" b="1"/>
              <a:t>Annual Sales Share by Department</a:t>
            </a:r>
          </a:p>
        </p:txBody>
      </p:sp>
      <p:sp>
        <p:nvSpPr>
          <p:cNvPr id="3" name="TextBox 2"/>
          <p:cNvSpPr/>
          <p:nvPr>
            <p:ph/>
          </p:nvPr>
        </p:nvSpPr>
        <p:spPr>
          <a:xfrm xmlns:a="http://schemas.openxmlformats.org/drawingml/2006/main">
            <a:off x="1000000" y="1200000"/>
            <a:ext cx="10000000" cy="5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/>
              <a:t>Engineering 683,000 (24.4%)</a:t>
            </a:r>
          </a:p>
        </p:txBody>
      </p:sp>
      <p:sp>
        <p:nvSpPr>
          <p:cNvPr id="4" name="TextBox 3"/>
          <p:cNvSpPr/>
          <p:nvPr>
            <p:ph/>
          </p:nvPr>
        </p:nvSpPr>
        <p:spPr>
          <a:xfrm xmlns:a="http://schemas.openxmlformats.org/drawingml/2006/main">
            <a:off x="1000000" y="1900000"/>
            <a:ext cx="10000000" cy="5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/>
              <a:t>Marketing 510,000 (18.2%)</a:t>
            </a:r>
          </a:p>
        </p:txBody>
      </p:sp>
      <p:sp>
        <p:nvSpPr>
          <p:cNvPr id="5" name="TextBox 4"/>
          <p:cNvSpPr/>
          <p:nvPr>
            <p:ph/>
          </p:nvPr>
        </p:nvSpPr>
        <p:spPr>
          <a:xfrm xmlns:a="http://schemas.openxmlformats.org/drawingml/2006/main">
            <a:off x="1000000" y="2600000"/>
            <a:ext cx="10000000" cy="5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/>
              <a:t>Operations 385,000 (13.7%)</a:t>
            </a:r>
          </a:p>
        </p:txBody>
      </p:sp>
      <p:sp>
        <p:nvSpPr>
          <p:cNvPr id="6" name="TextBox 5"/>
          <p:cNvSpPr/>
          <p:nvPr>
            <p:ph/>
          </p:nvPr>
        </p:nvSpPr>
        <p:spPr>
          <a:xfrm xmlns:a="http://schemas.openxmlformats.org/drawingml/2006/main">
            <a:off x="1000000" y="3300000"/>
            <a:ext cx="10000000" cy="5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/>
              <a:t>Sales 1,171,000 (41.8%)</a:t>
            </a:r>
          </a:p>
        </p:txBody>
      </p:sp>
      <p:sp>
        <p:nvSpPr>
          <p:cNvPr id="7" name="TextBox 6"/>
          <p:cNvSpPr/>
          <p:nvPr>
            <p:ph/>
          </p:nvPr>
        </p:nvSpPr>
        <p:spPr>
          <a:xfrm xmlns:a="http://schemas.openxmlformats.org/drawingml/2006/main">
            <a:off x="1000000" y="4000000"/>
            <a:ext cx="10000000" cy="5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/>
              <a:t>HR 200,000 (7.1%)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