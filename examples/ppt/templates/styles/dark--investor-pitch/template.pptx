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0cfac559d0f430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2fca20bd9dcb4db7"/>
    <p:sldId id="257" r:id="R3ef9e1c8475648fc"/>
    <p:sldId id="258" r:id="Rc53a57fffc6b4240"/>
    <p:sldId id="259" r:id="R3124d2f404554ac3"/>
    <p:sldId id="260" r:id="Rf108c54e7ef0444a"/>
    <p:sldId id="261" r:id="R9401aec6963c461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fca20bd9dcb4db7" /><Relationship Type="http://schemas.openxmlformats.org/officeDocument/2006/relationships/slide" Target="/ppt/slides/slide2.xml" Id="R3ef9e1c8475648fc" /><Relationship Type="http://schemas.openxmlformats.org/officeDocument/2006/relationships/slide" Target="/ppt/slides/slide3.xml" Id="Rc53a57fffc6b4240" /><Relationship Type="http://schemas.openxmlformats.org/officeDocument/2006/relationships/slide" Target="/ppt/slides/slide4.xml" Id="R3124d2f404554ac3" /><Relationship Type="http://schemas.openxmlformats.org/officeDocument/2006/relationships/slide" Target="/ppt/slides/slide5.xml" Id="Rf108c54e7ef0444a" /><Relationship Type="http://schemas.openxmlformats.org/officeDocument/2006/relationships/slide" Target="/ppt/slides/slide6.xml" Id="R9401aec6963c461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792df765646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e5343fda44a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3b67ddb7f45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7781f34814c3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4739e72e752454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d76ea10c248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d0fdc17be4a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a5c9e14bd4d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ebe78ae7b4c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9845e55cc4d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ac388028b433c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0"/>
            <a:ext cx="3600000" cy="6858000"/>
          </a:xfrm>
          <a:prstGeom prst="rect">
            <a:avLst/>
          </a:prstGeom>
          <a:solidFill>
            <a:srgbClr val="0F346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9360000" y="0"/>
            <a:ext cx="2833200" cy="2880000"/>
          </a:xfrm>
          <a:prstGeom prst="rect">
            <a:avLst/>
          </a:prstGeom>
          <a:solidFill>
            <a:srgbClr val="16213E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920000" y="4320000"/>
            <a:ext cx="4273200" cy="2538000"/>
          </a:xfrm>
          <a:prstGeom prst="rect">
            <a:avLst/>
          </a:prstGeom>
          <a:solidFill>
            <a:srgbClr val="E94560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360000"/>
            <a:ext cx="2160000" cy="2880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468000"/>
            <a:ext cx="1440000" cy="28800"/>
          </a:xfrm>
          <a:prstGeom prst="rect">
            <a:avLst/>
          </a:prstGeom>
          <a:solidFill>
            <a:srgbClr val="0F34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80000" y="36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432000" y="72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648000" y="108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80000" y="72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432000" y="108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648000" y="144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180000" y="108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432000" y="144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648000" y="180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180000" y="144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432000" y="180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648000" y="216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180000" y="180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432000" y="216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648000" y="252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180000" y="216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432000" y="252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648000" y="288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180000" y="252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432000" y="288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648000" y="324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180000" y="288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432000" y="324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648000" y="360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180000" y="324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432000" y="360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648000" y="396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180000" y="360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>
            <a:off x="432000" y="396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648000" y="432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180000" y="396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432000" y="432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648000" y="468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180000" y="432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" name="TextBox 41"/>
          <p:cNvSpPr/>
          <p:nvPr/>
        </p:nvSpPr>
        <p:spPr>
          <a:xfrm>
            <a:off x="432000" y="468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TextBox 42"/>
          <p:cNvSpPr/>
          <p:nvPr/>
        </p:nvSpPr>
        <p:spPr>
          <a:xfrm>
            <a:off x="648000" y="504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" name="TextBox 43"/>
          <p:cNvSpPr/>
          <p:nvPr/>
        </p:nvSpPr>
        <p:spPr>
          <a:xfrm>
            <a:off x="180000" y="468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" name="TextBox 44"/>
          <p:cNvSpPr/>
          <p:nvPr/>
        </p:nvSpPr>
        <p:spPr>
          <a:xfrm>
            <a:off x="432000" y="504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" name="TextBox 45"/>
          <p:cNvSpPr/>
          <p:nvPr/>
        </p:nvSpPr>
        <p:spPr>
          <a:xfrm>
            <a:off x="648000" y="540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" name="TextBox 46"/>
          <p:cNvSpPr/>
          <p:nvPr/>
        </p:nvSpPr>
        <p:spPr>
          <a:xfrm>
            <a:off x="180000" y="504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" name="TextBox 47"/>
          <p:cNvSpPr/>
          <p:nvPr/>
        </p:nvSpPr>
        <p:spPr>
          <a:xfrm>
            <a:off x="432000" y="540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" name="TextBox 48"/>
          <p:cNvSpPr/>
          <p:nvPr/>
        </p:nvSpPr>
        <p:spPr>
          <a:xfrm>
            <a:off x="648000" y="576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" name="TextBox 49"/>
          <p:cNvSpPr/>
          <p:nvPr/>
        </p:nvSpPr>
        <p:spPr>
          <a:xfrm>
            <a:off x="180000" y="5400000"/>
            <a:ext cx="108000" cy="108000"/>
          </a:xfrm>
          <a:prstGeom prst="ellipse">
            <a:avLst/>
          </a:prstGeom>
          <a:solidFill>
            <a:srgbClr val="E94560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" name="TextBox 50"/>
          <p:cNvSpPr/>
          <p:nvPr/>
        </p:nvSpPr>
        <p:spPr>
          <a:xfrm>
            <a:off x="432000" y="5760000"/>
            <a:ext cx="90000" cy="90000"/>
          </a:xfrm>
          <a:prstGeom prst="ellipse">
            <a:avLst/>
          </a:prstGeom>
          <a:solidFill>
            <a:srgbClr val="0F346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" name="TextBox 51"/>
          <p:cNvSpPr/>
          <p:nvPr/>
        </p:nvSpPr>
        <p:spPr>
          <a:xfrm>
            <a:off x="648000" y="6120000"/>
            <a:ext cx="72000" cy="7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" name="TextBox 52"/>
          <p:cNvSpPr/>
          <p:nvPr/>
        </p:nvSpPr>
        <p:spPr>
          <a:xfrm>
            <a:off x="720000" y="1080000"/>
            <a:ext cx="1440000" cy="720000"/>
          </a:xfrm>
          <a:prstGeom prst="roundRect">
            <a:avLst/>
          </a:prstGeom>
          <a:solidFill>
            <a:srgbClr val="16213E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" name="TextBox 53"/>
          <p:cNvSpPr/>
          <p:nvPr/>
        </p:nvSpPr>
        <p:spPr>
          <a:xfrm>
            <a:off x="720000" y="1296000"/>
            <a:ext cx="1440000" cy="288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600">
                <a:solidFill>
                  <a:srgbClr val="FFFFFF"/>
                </a:solidFill>
                <a:latin typeface="Arial Black"/>
                <a:ea typeface="Arial Black"/>
              </a:rPr>
              <a:t>LOGO</a:t>
            </a:r>
          </a:p>
        </p:txBody>
      </p:sp>
      <p:sp>
        <p:nvSpPr>
          <p:cNvPr id="54" name="TextBox 54"/>
          <p:cNvSpPr/>
          <p:nvPr/>
        </p:nvSpPr>
        <p:spPr>
          <a:xfrm>
            <a:off x="2520000" y="1260000"/>
            <a:ext cx="1080000" cy="360000"/>
          </a:xfrm>
          <a:prstGeom prst="roundRect">
            <a:avLst/>
          </a:prstGeom>
          <a:solidFill>
            <a:srgbClr val="E945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" name="TextBox 55"/>
          <p:cNvSpPr/>
          <p:nvPr/>
        </p:nvSpPr>
        <p:spPr>
          <a:xfrm>
            <a:off x="2520000" y="1332000"/>
            <a:ext cx="1080000" cy="21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A轮融资</a:t>
            </a:r>
          </a:p>
        </p:txBody>
      </p:sp>
      <p:sp>
        <p:nvSpPr>
          <p:cNvPr id="56" name="TextBox 56"/>
          <p:cNvSpPr/>
          <p:nvPr/>
        </p:nvSpPr>
        <p:spPr>
          <a:xfrm>
            <a:off x="4320000" y="1800000"/>
            <a:ext cx="7200000" cy="9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5600" b="1">
                <a:solidFill>
                  <a:srgbClr val="FFFFFF"/>
                </a:solidFill>
                <a:latin typeface="Microsoft YaHei"/>
                <a:ea typeface="Microsoft YaHei"/>
              </a:rPr>
              <a:t>创新科技</a:t>
            </a:r>
          </a:p>
        </p:txBody>
      </p:sp>
      <p:sp>
        <p:nvSpPr>
          <p:cNvPr id="57" name="TextBox 57"/>
          <p:cNvSpPr/>
          <p:nvPr/>
        </p:nvSpPr>
        <p:spPr>
          <a:xfrm>
            <a:off x="4320000" y="2808000"/>
            <a:ext cx="540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400">
                <a:solidFill>
                  <a:srgbClr val="E94560"/>
                </a:solidFill>
                <a:latin typeface="Arial Black"/>
                <a:ea typeface="Arial Black"/>
              </a:rPr>
              <a:t>INNOVATIVE TECH</a:t>
            </a:r>
          </a:p>
        </p:txBody>
      </p:sp>
      <p:sp>
        <p:nvSpPr>
          <p:cNvPr id="58" name="TextBox 58"/>
          <p:cNvSpPr/>
          <p:nvPr/>
        </p:nvSpPr>
        <p:spPr>
          <a:xfrm>
            <a:off x="4320000" y="3312000"/>
            <a:ext cx="2880000" cy="4320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9" name="TextBox 59"/>
          <p:cNvSpPr/>
          <p:nvPr/>
        </p:nvSpPr>
        <p:spPr>
          <a:xfrm>
            <a:off x="4320000" y="3780000"/>
            <a:ext cx="6480000" cy="1980000"/>
          </a:xfrm>
          <a:prstGeom prst="roundRect">
            <a:avLst/>
          </a:prstGeom>
          <a:solidFill>
            <a:srgbClr val="16213E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0" name="TextBox 60"/>
          <p:cNvSpPr/>
          <p:nvPr/>
        </p:nvSpPr>
        <p:spPr>
          <a:xfrm>
            <a:off x="4320000" y="3780000"/>
            <a:ext cx="54000" cy="198000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1" name="TextBox 61"/>
          <p:cNvSpPr/>
          <p:nvPr/>
        </p:nvSpPr>
        <p:spPr>
          <a:xfrm>
            <a:off x="4680000" y="3960000"/>
            <a:ext cx="180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200">
                <a:solidFill>
                  <a:srgbClr val="6B6B8D"/>
                </a:solidFill>
                <a:latin typeface="Microsoft YaHei"/>
                <a:ea typeface="Microsoft YaHei"/>
              </a:rPr>
              <a:t>融资金额</a:t>
            </a:r>
          </a:p>
        </p:txBody>
      </p:sp>
      <p:sp>
        <p:nvSpPr>
          <p:cNvPr id="62" name="TextBox 62"/>
          <p:cNvSpPr/>
          <p:nvPr/>
        </p:nvSpPr>
        <p:spPr>
          <a:xfrm>
            <a:off x="4680000" y="4140000"/>
            <a:ext cx="2880000" cy="54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3200">
                <a:solidFill>
                  <a:srgbClr val="E94560"/>
                </a:solidFill>
                <a:latin typeface="Arial Black"/>
                <a:ea typeface="Arial Black"/>
              </a:rPr>
              <a:t>¥5,000万</a:t>
            </a:r>
          </a:p>
        </p:txBody>
      </p:sp>
      <p:sp>
        <p:nvSpPr>
          <p:cNvPr id="63" name="TextBox 63"/>
          <p:cNvSpPr/>
          <p:nvPr/>
        </p:nvSpPr>
        <p:spPr>
          <a:xfrm>
            <a:off x="4680000" y="4752000"/>
            <a:ext cx="180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200">
                <a:solidFill>
                  <a:srgbClr val="6B6B8D"/>
                </a:solidFill>
                <a:latin typeface="Microsoft YaHei"/>
                <a:ea typeface="Microsoft YaHei"/>
              </a:rPr>
              <a:t>资金用途</a:t>
            </a:r>
          </a:p>
        </p:txBody>
      </p:sp>
      <p:sp>
        <p:nvSpPr>
          <p:cNvPr id="64" name="TextBox 64"/>
          <p:cNvSpPr/>
          <p:nvPr/>
        </p:nvSpPr>
        <p:spPr>
          <a:xfrm>
            <a:off x="4680000" y="4968000"/>
            <a:ext cx="5760000" cy="288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B8B8D1"/>
                </a:solidFill>
                <a:latin typeface="Microsoft YaHei"/>
                <a:ea typeface="Microsoft YaHei"/>
              </a:rPr>
              <a:t>产品研发 40% | 市场拓展 35% | 团队建设 25%</a:t>
            </a:r>
          </a:p>
        </p:txBody>
      </p:sp>
      <p:sp>
        <p:nvSpPr>
          <p:cNvPr id="65" name="TextBox 65"/>
          <p:cNvSpPr/>
          <p:nvPr/>
        </p:nvSpPr>
        <p:spPr>
          <a:xfrm>
            <a:off x="4320000" y="5940000"/>
            <a:ext cx="1080000" cy="14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000">
                <a:solidFill>
                  <a:srgbClr val="6B6B8D"/>
                </a:solidFill>
                <a:latin typeface="Microsoft YaHei"/>
                <a:ea typeface="Microsoft YaHei"/>
              </a:rPr>
              <a:t>日期</a:t>
            </a:r>
          </a:p>
        </p:txBody>
      </p:sp>
      <p:sp>
        <p:nvSpPr>
          <p:cNvPr id="66" name="TextBox 66"/>
          <p:cNvSpPr/>
          <p:nvPr/>
        </p:nvSpPr>
        <p:spPr>
          <a:xfrm>
            <a:off x="4320000" y="6120000"/>
            <a:ext cx="2160000" cy="21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FFFFFF"/>
                </a:solidFill>
                <a:latin typeface="Arial Black"/>
                <a:ea typeface="Arial Black"/>
              </a:rPr>
              <a:t>2026.03.21</a:t>
            </a:r>
          </a:p>
        </p:txBody>
      </p:sp>
      <p:sp>
        <p:nvSpPr>
          <p:cNvPr id="67" name="TextBox 67"/>
          <p:cNvSpPr/>
          <p:nvPr/>
        </p:nvSpPr>
        <p:spPr>
          <a:xfrm>
            <a:off x="7200000" y="5940000"/>
            <a:ext cx="1080000" cy="14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000">
                <a:solidFill>
                  <a:srgbClr val="6B6B8D"/>
                </a:solidFill>
                <a:latin typeface="Microsoft YaHei"/>
                <a:ea typeface="Microsoft YaHei"/>
              </a:rPr>
              <a:t>地点</a:t>
            </a:r>
          </a:p>
        </p:txBody>
      </p:sp>
      <p:sp>
        <p:nvSpPr>
          <p:cNvPr id="68" name="TextBox 68"/>
          <p:cNvSpPr/>
          <p:nvPr/>
        </p:nvSpPr>
        <p:spPr>
          <a:xfrm>
            <a:off x="7200000" y="6120000"/>
            <a:ext cx="3600000" cy="21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FFFFFF"/>
                </a:solidFill>
                <a:latin typeface="Microsoft YaHei"/>
                <a:ea typeface="Microsoft YaHei"/>
              </a:rPr>
              <a:t>上海 | 深圳 | 北京</a:t>
            </a:r>
          </a:p>
        </p:txBody>
      </p:sp>
      <p:sp>
        <p:nvSpPr>
          <p:cNvPr id="69" name="TextBox 69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