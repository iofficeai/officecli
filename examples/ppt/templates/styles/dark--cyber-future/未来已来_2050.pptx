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a79bf08be64a4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fed3e2b87f443c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fed3e2b87f443c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5cb344f7e4c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10db8ad7946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a6f9bde7d4c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ab77742f540c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88ff1fece15406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77cf25ca4b3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orb"/>
          <p:cNvSpPr/>
          <p:nvPr/>
        </p:nvSpPr>
        <p:spPr>
          <a:xfrm>
            <a:off x="0" y="0"/>
            <a:ext cx="7200000" cy="7200000"/>
          </a:xfrm>
          <a:prstGeom prst="ellipse">
            <a:avLst/>
          </a:prstGeom>
          <a:solidFill>
            <a:srgbClr val="66FCF1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box"/>
          <p:cNvSpPr/>
          <p:nvPr/>
        </p:nvSpPr>
        <p:spPr>
          <a:xfrm>
            <a:off x="720000" y="720000"/>
            <a:ext cx="2880000" cy="5400000"/>
          </a:xfrm>
          <a:prstGeom prst="rect">
            <a:avLst/>
          </a:prstGeom>
          <a:solidFill>
            <a:srgbClr val="1F2833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line"/>
          <p:cNvSpPr/>
          <p:nvPr/>
        </p:nvSpPr>
        <p:spPr>
          <a:xfrm>
            <a:off x="360000" y="1440000"/>
            <a:ext cx="72000" cy="1800000"/>
          </a:xfrm>
          <a:prstGeom prst="rect">
            <a:avLst/>
          </a:prstGeom>
          <a:solidFill>
            <a:srgbClr val="66FCF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frame"/>
          <p:cNvSpPr/>
          <p:nvPr/>
        </p:nvSpPr>
        <p:spPr>
          <a:xfrm>
            <a:off x="432000" y="288000"/>
            <a:ext cx="11329200" cy="6282000"/>
          </a:xfrm>
          <a:prstGeom prst="rect">
            <a:avLst/>
          </a:prstGeom>
          <a:noFill/>
          <a:ln w="25400">
            <a:solidFill>
              <a:srgbClr val="1F2833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1800000" y="3600000"/>
            <a:ext cx="180000" cy="180000"/>
          </a:xfrm>
          <a:prstGeom prst="ellipse">
            <a:avLst/>
          </a:prstGeom>
          <a:solidFill>
            <a:srgbClr val="45A29E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0800000" y="5400000"/>
            <a:ext cx="360000" cy="360000"/>
          </a:xfrm>
          <a:prstGeom prst="ellipse">
            <a:avLst/>
          </a:prstGeom>
          <a:solidFill>
            <a:srgbClr val="66FCF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440000" y="2160000"/>
            <a:ext cx="9000000" cy="1440000"/>
          </a:xfrm>
          <a:prstGeom prst="rect">
            <a:avLst/>
          </a:prstGeom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  <a:latin typeface="思源黑体"/>
                <a:ea typeface="思源黑体"/>
              </a:rPr>
              <a:t>未来已来：2050</a:t>
            </a:r>
          </a:p>
        </p:txBody>
      </p:sp>
      <p:sp>
        <p:nvSpPr>
          <p:cNvPr id="9" name="!!hero-sub"/>
          <p:cNvSpPr/>
          <p:nvPr/>
        </p:nvSpPr>
        <p:spPr>
          <a:xfrm>
            <a:off x="1512000" y="3780000"/>
            <a:ext cx="54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>
                <a:solidFill>
                  <a:srgbClr val="C5C6C7"/>
                </a:solidFill>
                <a:latin typeface="思源黑体"/>
                <a:ea typeface="思源黑体"/>
              </a:rPr>
              <a:t>全息时代的一天</a:t>
            </a:r>
          </a:p>
        </p:txBody>
      </p:sp>
      <p:sp>
        <p:nvSpPr>
          <p:cNvPr id="10" name="!!hero-tag"/>
          <p:cNvSpPr/>
          <p:nvPr/>
        </p:nvSpPr>
        <p:spPr>
          <a:xfrm>
            <a:off x="1512000" y="4680000"/>
            <a:ext cx="5400000" cy="540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66FCF1"/>
                </a:solidFill>
                <a:latin typeface="Montserrat"/>
                <a:ea typeface="Montserrat"/>
              </a:rPr>
              <a:t>THE BOUNDARY DISSOLVES</a:t>
            </a:r>
          </a:p>
        </p:txBody>
      </p:sp>
      <p:sp>
        <p:nvSpPr>
          <p:cNvPr id="11" name="!!stmt-text"/>
          <p:cNvSpPr/>
          <p:nvPr/>
        </p:nvSpPr>
        <p:spPr>
          <a:xfrm>
            <a:off x="12960000" y="2520000"/>
            <a:ext cx="1008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思源黑体"/>
                <a:ea typeface="思源黑体"/>
              </a:rPr>
              <a:t>物理与数字的边界彻底消融</a:t>
            </a:r>
          </a:p>
        </p:txBody>
      </p:sp>
      <p:sp>
        <p:nvSpPr>
          <p:cNvPr id="12" name="!!stmt-sub"/>
          <p:cNvSpPr/>
          <p:nvPr/>
        </p:nvSpPr>
        <p:spPr>
          <a:xfrm>
            <a:off x="12960000" y="4320000"/>
            <a:ext cx="1008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45A29E"/>
                </a:solidFill>
                <a:latin typeface="思源黑体"/>
                <a:ea typeface="思源黑体"/>
              </a:rPr>
              <a:t>智能代理、脑机接口与空间计算重塑了我们的每一秒</a:t>
            </a:r>
          </a:p>
        </p:txBody>
      </p:sp>
      <p:sp>
        <p:nvSpPr>
          <p:cNvPr id="13" name="!!p1-bg"/>
          <p:cNvSpPr/>
          <p:nvPr/>
        </p:nvSpPr>
        <p:spPr>
          <a:xfrm>
            <a:off x="12960000" y="1620000"/>
            <a:ext cx="3240000" cy="3960000"/>
          </a:xfrm>
          <a:prstGeom prst="roundRect">
            <a:avLst/>
          </a:prstGeom>
          <a:solidFill>
            <a:srgbClr val="1F2833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1-time"/>
          <p:cNvSpPr/>
          <p:nvPr/>
        </p:nvSpPr>
        <p:spPr>
          <a:xfrm>
            <a:off x="12960000" y="198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  <a:latin typeface="Montserrat"/>
                <a:ea typeface="Montserrat"/>
              </a:rPr>
              <a:t>07:00</a:t>
            </a:r>
          </a:p>
        </p:txBody>
      </p:sp>
      <p:sp>
        <p:nvSpPr>
          <p:cNvPr id="15" name="!!p1-title"/>
          <p:cNvSpPr/>
          <p:nvPr/>
        </p:nvSpPr>
        <p:spPr>
          <a:xfrm>
            <a:off x="12960000" y="2700000"/>
            <a:ext cx="270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思源黑体"/>
                <a:ea typeface="思源黑体"/>
              </a:rPr>
              <a:t>基因营养与唤醒</a:t>
            </a:r>
          </a:p>
        </p:txBody>
      </p:sp>
      <p:sp>
        <p:nvSpPr>
          <p:cNvPr id="16" name="!!p1-desc"/>
          <p:cNvSpPr/>
          <p:nvPr/>
        </p:nvSpPr>
        <p:spPr>
          <a:xfrm>
            <a:off x="12960000" y="3600000"/>
            <a:ext cx="2520000" cy="14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C5C6C7"/>
                </a:solidFill>
                <a:latin typeface="思源黑体"/>
                <a:ea typeface="思源黑体"/>
              </a:rPr>
              <a:t>AI管家实时读取体征，合成专属营养早餐，温和唤醒意识。</a:t>
            </a:r>
          </a:p>
        </p:txBody>
      </p:sp>
      <p:sp>
        <p:nvSpPr>
          <p:cNvPr id="17" name="!!p2-bg"/>
          <p:cNvSpPr/>
          <p:nvPr/>
        </p:nvSpPr>
        <p:spPr>
          <a:xfrm>
            <a:off x="12960000" y="1620000"/>
            <a:ext cx="3240000" cy="3960000"/>
          </a:xfrm>
          <a:prstGeom prst="roundRect">
            <a:avLst/>
          </a:prstGeom>
          <a:solidFill>
            <a:srgbClr val="1F2833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p2-time"/>
          <p:cNvSpPr/>
          <p:nvPr/>
        </p:nvSpPr>
        <p:spPr>
          <a:xfrm>
            <a:off x="12960000" y="198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  <a:latin typeface="Montserrat"/>
                <a:ea typeface="Montserrat"/>
              </a:rPr>
              <a:t>14:00</a:t>
            </a:r>
          </a:p>
        </p:txBody>
      </p:sp>
      <p:sp>
        <p:nvSpPr>
          <p:cNvPr id="19" name="!!p2-title"/>
          <p:cNvSpPr/>
          <p:nvPr/>
        </p:nvSpPr>
        <p:spPr>
          <a:xfrm>
            <a:off x="12960000" y="2700000"/>
            <a:ext cx="270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思源黑体"/>
                <a:ea typeface="思源黑体"/>
              </a:rPr>
              <a:t>全息远程协同</a:t>
            </a:r>
          </a:p>
        </p:txBody>
      </p:sp>
      <p:sp>
        <p:nvSpPr>
          <p:cNvPr id="20" name="!!p2-desc"/>
          <p:cNvSpPr/>
          <p:nvPr/>
        </p:nvSpPr>
        <p:spPr>
          <a:xfrm>
            <a:off x="12960000" y="3600000"/>
            <a:ext cx="2520000" cy="14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C5C6C7"/>
                </a:solidFill>
                <a:latin typeface="思源黑体"/>
                <a:ea typeface="思源黑体"/>
              </a:rPr>
              <a:t>在虚拟火星基地与全球团队开启三维会议，数据触手可及。</a:t>
            </a:r>
          </a:p>
        </p:txBody>
      </p:sp>
      <p:sp>
        <p:nvSpPr>
          <p:cNvPr id="21" name="!!p3-bg"/>
          <p:cNvSpPr/>
          <p:nvPr/>
        </p:nvSpPr>
        <p:spPr>
          <a:xfrm>
            <a:off x="12960000" y="1620000"/>
            <a:ext cx="3240000" cy="3960000"/>
          </a:xfrm>
          <a:prstGeom prst="roundRect">
            <a:avLst/>
          </a:prstGeom>
          <a:solidFill>
            <a:srgbClr val="1F2833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!!p3-time"/>
          <p:cNvSpPr/>
          <p:nvPr/>
        </p:nvSpPr>
        <p:spPr>
          <a:xfrm>
            <a:off x="12960000" y="198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  <a:latin typeface="Montserrat"/>
                <a:ea typeface="Montserrat"/>
              </a:rPr>
              <a:t>21:00</a:t>
            </a:r>
          </a:p>
        </p:txBody>
      </p:sp>
      <p:sp>
        <p:nvSpPr>
          <p:cNvPr id="23" name="!!p3-title"/>
          <p:cNvSpPr/>
          <p:nvPr/>
        </p:nvSpPr>
        <p:spPr>
          <a:xfrm>
            <a:off x="12960000" y="2700000"/>
            <a:ext cx="288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思源黑体"/>
                <a:ea typeface="思源黑体"/>
              </a:rPr>
              <a:t>沉浸式潜意识休眠</a:t>
            </a:r>
          </a:p>
        </p:txBody>
      </p:sp>
      <p:sp>
        <p:nvSpPr>
          <p:cNvPr id="24" name="!!p3-desc"/>
          <p:cNvSpPr/>
          <p:nvPr/>
        </p:nvSpPr>
        <p:spPr>
          <a:xfrm>
            <a:off x="12960000" y="3600000"/>
            <a:ext cx="2520000" cy="14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C5C6C7"/>
                </a:solidFill>
                <a:latin typeface="思源黑体"/>
                <a:ea typeface="思源黑体"/>
              </a:rPr>
              <a:t>脑机接口连接潜意识网络，在深睡中完成知识载入与精神放松。</a:t>
            </a:r>
          </a:p>
        </p:txBody>
      </p:sp>
      <p:sp>
        <p:nvSpPr>
          <p:cNvPr id="25" name="!!ev-bg"/>
          <p:cNvSpPr/>
          <p:nvPr/>
        </p:nvSpPr>
        <p:spPr>
          <a:xfrm>
            <a:off x="12960000" y="1080000"/>
            <a:ext cx="5400000" cy="4680000"/>
          </a:xfrm>
          <a:prstGeom prst="rect">
            <a:avLst/>
          </a:prstGeom>
          <a:solidFill>
            <a:srgbClr val="45A29E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!!ev-num"/>
          <p:cNvSpPr/>
          <p:nvPr/>
        </p:nvSpPr>
        <p:spPr>
          <a:xfrm>
            <a:off x="12960000" y="1800000"/>
            <a:ext cx="5400000" cy="1800000"/>
          </a:xfrm>
          <a:prstGeom prst="rect">
            <a:avLst/>
          </a:prstGeom>
        </p:spPr>
        <p:txBody>
          <a:bodyPr/>
          <a:lstStyle/>
          <a:p>
            <a:r>
              <a:rPr lang="en-US" sz="9600" b="1">
                <a:solidFill>
                  <a:srgbClr val="66FCF1"/>
                </a:solidFill>
                <a:latin typeface="Montserrat"/>
                <a:ea typeface="Montserrat"/>
              </a:rPr>
              <a:t>98.5%</a:t>
            </a:r>
          </a:p>
        </p:txBody>
      </p:sp>
      <p:sp>
        <p:nvSpPr>
          <p:cNvPr id="27" name="!!ev-label"/>
          <p:cNvSpPr/>
          <p:nvPr/>
        </p:nvSpPr>
        <p:spPr>
          <a:xfrm>
            <a:off x="12960000" y="3960000"/>
            <a:ext cx="4680000" cy="72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FFFFFF"/>
                </a:solidFill>
                <a:latin typeface="思源黑体"/>
                <a:ea typeface="思源黑体"/>
              </a:rPr>
              <a:t>全球人口脑机接口接入率</a:t>
            </a:r>
          </a:p>
        </p:txBody>
      </p:sp>
      <p:sp>
        <p:nvSpPr>
          <p:cNvPr id="28" name="!!ev2-bg"/>
          <p:cNvSpPr/>
          <p:nvPr/>
        </p:nvSpPr>
        <p:spPr>
          <a:xfrm>
            <a:off x="12960000" y="2880000"/>
            <a:ext cx="4320000" cy="2880000"/>
          </a:xfrm>
          <a:prstGeom prst="rect">
            <a:avLst/>
          </a:prstGeom>
          <a:solidFill>
            <a:srgbClr val="1F2833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ev2-num"/>
          <p:cNvSpPr/>
          <p:nvPr/>
        </p:nvSpPr>
        <p:spPr>
          <a:xfrm>
            <a:off x="12960000" y="3420000"/>
            <a:ext cx="3600000" cy="1080000"/>
          </a:xfrm>
          <a:prstGeom prst="rect">
            <a:avLst/>
          </a:prstGeom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  <a:latin typeface="Montserrat"/>
                <a:ea typeface="Montserrat"/>
              </a:rPr>
              <a:t>12.4 hrs</a:t>
            </a:r>
          </a:p>
        </p:txBody>
      </p:sp>
      <p:sp>
        <p:nvSpPr>
          <p:cNvPr id="30" name="!!ev2-label"/>
          <p:cNvSpPr/>
          <p:nvPr/>
        </p:nvSpPr>
        <p:spPr>
          <a:xfrm>
            <a:off x="12960000" y="4860000"/>
            <a:ext cx="3600000" cy="72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C5C6C7"/>
                </a:solidFill>
                <a:latin typeface="思源黑体"/>
                <a:ea typeface="思源黑体"/>
              </a:rPr>
              <a:t>平均每日混合现实驻留时长</a:t>
            </a:r>
          </a:p>
        </p:txBody>
      </p:sp>
      <p:sp>
        <p:nvSpPr>
          <p:cNvPr id="31" name="!!cta-title"/>
          <p:cNvSpPr/>
          <p:nvPr/>
        </p:nvSpPr>
        <p:spPr>
          <a:xfrm>
            <a:off x="12960000" y="252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思源黑体"/>
                <a:ea typeface="思源黑体"/>
              </a:rPr>
              <a:t>准备好迎接你的未来了吗？</a:t>
            </a:r>
          </a:p>
        </p:txBody>
      </p:sp>
      <p:sp>
        <p:nvSpPr>
          <p:cNvPr id="32" name="!!cta-btn"/>
          <p:cNvSpPr/>
          <p:nvPr/>
        </p:nvSpPr>
        <p:spPr>
          <a:xfrm>
            <a:off x="12960000" y="4140000"/>
            <a:ext cx="2160000" cy="540000"/>
          </a:xfrm>
          <a:prstGeom prst="roundRect">
            <a:avLst/>
          </a:prstGeom>
          <a:solidFill>
            <a:srgbClr val="66FCF1"/>
          </a:solidFill>
        </p:spPr>
        <p:txBody>
          <a:bodyPr/>
          <a:lstStyle/>
          <a:p>
            <a:pPr algn="ctr"/>
            <a:r>
              <a:rPr lang="en-US" sz="1800" b="1">
                <a:solidFill>
                  <a:srgbClr val="0B0C10"/>
                </a:solidFill>
                <a:latin typeface="Montserrat"/>
                <a:ea typeface="Montserrat"/>
              </a:rPr>
              <a:t>EXPLORE 2050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