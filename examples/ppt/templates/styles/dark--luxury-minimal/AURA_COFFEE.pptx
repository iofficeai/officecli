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15cd21a15344b1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ae7409b336d74fa5"/>
    <p:sldId id="257" r:id="Rff36f3ea4dcb42a2"/>
    <p:sldId id="258" r:id="R4ec02a2c2e79492b"/>
    <p:sldId id="259" r:id="R1d86d2138e814647"/>
    <p:sldId id="260" r:id="R358f2d208a074bf5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ae7409b336d74fa5" /><Relationship Type="http://schemas.openxmlformats.org/officeDocument/2006/relationships/slide" Target="/ppt/slides/slide2.xml" Id="Rff36f3ea4dcb42a2" /><Relationship Type="http://schemas.openxmlformats.org/officeDocument/2006/relationships/slide" Target="/ppt/slides/slide3.xml" Id="R4ec02a2c2e79492b" /><Relationship Type="http://schemas.openxmlformats.org/officeDocument/2006/relationships/slide" Target="/ppt/slides/slide4.xml" Id="R1d86d2138e814647" /><Relationship Type="http://schemas.openxmlformats.org/officeDocument/2006/relationships/slide" Target="/ppt/slides/slide5.xml" Id="R358f2d208a074bf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280172bdc94a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a851376f4c487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b688faa95d4c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2dd6aa68684ad7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a7829619b38741ab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c0611d83045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3c635882440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e1d00b96c4c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3f6f12ed04f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eb76768e04a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/>
      <p:sp>
        <p:nvSpPr>
          <p:cNvPr id="2" name="!!deco-line"/>
          <p:cNvSpPr/>
          <p:nvPr/>
        </p:nvSpPr>
        <p:spPr>
          <a:xfrm xmlns:a="http://schemas.openxmlformats.org/drawingml/2006/main">
            <a:off x="1440000" y="3060000"/>
            <a:ext cx="72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latin typeface="Helvetica"/>
                <a:ea typeface="Helvetica"/>
              </a:rPr>
              <a:t/>
            </a:r>
          </a:p>
        </p:txBody>
      </p:sp>
      <p:sp>
        <p:nvSpPr>
          <p:cNvPr id="3" name="!!brand-title"/>
          <p:cNvSpPr/>
          <p:nvPr/>
        </p:nvSpPr>
        <p:spPr>
          <a:xfrm xmlns:a="http://schemas.openxmlformats.org/drawingml/2006/main">
            <a:off x="1440000" y="3240000"/>
            <a:ext cx="90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1">
                <a:solidFill>
                  <a:srgbClr val="FFFFFF"/>
                </a:solidFill>
                <a:latin typeface="Helvetica"/>
                <a:ea typeface="Helvetica"/>
              </a:rPr>
              <a:t>AURA COFFEE</a:t>
            </a:r>
          </a:p>
        </p:txBody>
      </p:sp>
      <p:sp>
        <p:nvSpPr>
          <p:cNvPr id="4" name="!!brand-sub"/>
          <p:cNvSpPr/>
          <p:nvPr/>
        </p:nvSpPr>
        <p:spPr>
          <a:xfrm xmlns:a="http://schemas.openxmlformats.org/drawingml/2006/main">
            <a:off x="1512000" y="4320000"/>
            <a:ext cx="90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</a:pPr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纯 粹 之 境 | 极简高级精品咖啡</a:t>
            </a:r>
          </a:p>
        </p:txBody>
      </p:sp>
      <p:sp>
        <p:nvSpPr>
          <p:cNvPr id="5" name="!!statement-main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少即是多，剥离繁杂，只为一杯纯粹好咖啡。</a:t>
            </a:r>
          </a:p>
        </p:txBody>
      </p:sp>
      <p:sp>
        <p:nvSpPr>
          <p:cNvPr id="6" name="!!statement-sub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在喧嚣的都市中，我们坚持做减法。</a:t>
            </a:r>
          </a:p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拒绝过度包装与人工添加，让咖啡回归最本真的风味，</a:t>
            </a:r>
          </a:p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这是 AURA 的美学，也是对品质的极致专注。</a:t>
            </a:r>
          </a:p>
        </p:txBody>
      </p:sp>
      <p:sp>
        <p:nvSpPr>
          <p:cNvPr id="7" name="!!pillar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三大核心原则</a:t>
            </a:r>
          </a:p>
        </p:txBody>
      </p:sp>
      <p:sp>
        <p:nvSpPr>
          <p:cNvPr id="8" name="!!box1-lin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</p:txBody>
      </p:sp>
      <p:sp>
        <p:nvSpPr>
          <p:cNvPr id="9" name="!!box1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01. 严苛寻豆</a:t>
            </a:r>
          </a:p>
        </p:txBody>
      </p:sp>
      <p:sp>
        <p:nvSpPr>
          <p:cNvPr id="10" name="!!box1-desc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深入埃塞俄比亚、哥伦比亚等原产地，仅甄选海拔 1500 米以上的 SCA 85+ 级精品生豆。</a:t>
            </a:r>
          </a:p>
        </p:txBody>
      </p:sp>
      <p:sp>
        <p:nvSpPr>
          <p:cNvPr id="11" name="!!box2-lin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</p:txBody>
      </p:sp>
      <p:sp>
        <p:nvSpPr>
          <p:cNvPr id="12" name="!!box2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02. 精准烘焙</a:t>
            </a:r>
          </a:p>
        </p:txBody>
      </p:sp>
      <p:sp>
        <p:nvSpPr>
          <p:cNvPr id="13" name="!!box2-desc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采用德国 Probat 烘焙机，结合气象数据微调曲线，激发每一支豆子的风土之味。</a:t>
            </a:r>
          </a:p>
        </p:txBody>
      </p:sp>
      <p:sp>
        <p:nvSpPr>
          <p:cNvPr id="14" name="!!box3-lin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</p:txBody>
      </p:sp>
      <p:sp>
        <p:nvSpPr>
          <p:cNvPr id="15" name="!!box3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03. 科学萃取</a:t>
            </a:r>
          </a:p>
        </p:txBody>
      </p:sp>
      <p:sp>
        <p:nvSpPr>
          <p:cNvPr id="16" name="!!box3-desc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精准控制 93°C 水温与 9 Bar 压力，金杯法则护航，确保每一杯出品的稳定与完美。</a:t>
            </a:r>
          </a:p>
        </p:txBody>
      </p:sp>
      <p:sp>
        <p:nvSpPr>
          <p:cNvPr id="17" name="!!ev-number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1%</a:t>
            </a:r>
          </a:p>
        </p:txBody>
      </p:sp>
      <p:sp>
        <p:nvSpPr>
          <p:cNvPr id="18" name="!!ev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全球前 1% 极微批次特选</a:t>
            </a:r>
          </a:p>
        </p:txBody>
      </p:sp>
      <p:sp>
        <p:nvSpPr>
          <p:cNvPr id="19" name="!!ev-desc1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• 年度限量供应 500kg 庄园级瑰夏</a:t>
            </a:r>
          </a:p>
        </p:txBody>
      </p:sp>
      <p:sp>
        <p:nvSpPr>
          <p:cNvPr id="20" name="!!ev-desc2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• 100% 环保可降解极简材质包装</a:t>
            </a:r>
          </a:p>
        </p:txBody>
      </p:sp>
      <p:sp>
        <p:nvSpPr>
          <p:cNvPr id="21" name="!!ev-desc3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• 多位 Q-Grader 国际品鉴师严格把控</a:t>
            </a:r>
          </a:p>
        </p:txBody>
      </p:sp>
      <p:sp>
        <p:nvSpPr>
          <p:cNvPr id="22" name="!!cta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品味纯粹，即刻启程</a:t>
            </a:r>
          </a:p>
        </p:txBody>
      </p:sp>
      <p:sp>
        <p:nvSpPr>
          <p:cNvPr id="23" name="!!cta-web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www.auracoffee.com</a:t>
            </a:r>
          </a:p>
        </p:txBody>
      </p:sp>
      <p:sp>
        <p:nvSpPr>
          <p:cNvPr id="24" name="!!cta-email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partner@auracoffee.com</a:t>
            </a:r>
          </a:p>
        </p:txBody>
      </p:sp>
    </p:spTree>
  </p:cSld>
</p:sld>
</file>

<file path=ppt/slides/slide2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/>
      <p:sp>
        <p:nvSpPr>
          <p:cNvPr id="2" name="!!deco-line"/>
          <p:cNvSpPr/>
          <p:nvPr/>
        </p:nvSpPr>
        <p:spPr>
          <a:xfrm xmlns:a="http://schemas.openxmlformats.org/drawingml/2006/main">
            <a:off x="1440000" y="2520000"/>
            <a:ext cx="36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latin typeface="Helvetica"/>
                <a:ea typeface="Helvetica"/>
              </a:rPr>
              <a:t/>
            </a:r>
          </a:p>
        </p:txBody>
      </p:sp>
      <p:sp>
        <p:nvSpPr>
          <p:cNvPr id="3" name="!!brand-title"/>
          <p:cNvSpPr/>
          <p:nvPr/>
        </p:nvSpPr>
        <p:spPr>
          <a:xfrm xmlns:a="http://schemas.openxmlformats.org/drawingml/2006/main">
            <a:off x="1440000" y="720000"/>
            <a:ext cx="36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555555"/>
                </a:solidFill>
                <a:latin typeface="Helvetica"/>
                <a:ea typeface="Helvetica"/>
              </a:rPr>
              <a:t>AURA COFFEE</a:t>
            </a:r>
          </a:p>
        </p:txBody>
      </p:sp>
      <p:sp>
        <p:nvSpPr>
          <p:cNvPr id="4" name="!!brand-sub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纯 粹 之 境 | 极简高级精品咖啡</a:t>
            </a:r>
          </a:p>
        </p:txBody>
      </p:sp>
      <p:sp>
        <p:nvSpPr>
          <p:cNvPr id="5" name="!!statement-main"/>
          <p:cNvSpPr/>
          <p:nvPr/>
        </p:nvSpPr>
        <p:spPr>
          <a:xfrm xmlns:a="http://schemas.openxmlformats.org/drawingml/2006/main">
            <a:off x="1440000" y="2880000"/>
            <a:ext cx="90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>
                <a:solidFill>
                  <a:srgbClr val="FFFFFF"/>
                </a:solidFill>
                <a:latin typeface="Helvetica"/>
                <a:ea typeface="Helvetica"/>
              </a:rPr>
              <a:t>少即是多，剥离繁杂，只为一杯纯粹好咖啡。</a:t>
            </a:r>
          </a:p>
        </p:txBody>
      </p:sp>
      <p:sp>
        <p:nvSpPr>
          <p:cNvPr id="6" name="!!statement-sub"/>
          <p:cNvSpPr/>
          <p:nvPr/>
        </p:nvSpPr>
        <p:spPr>
          <a:xfrm xmlns:a="http://schemas.openxmlformats.org/drawingml/2006/main">
            <a:off x="1440000" y="3960000"/>
            <a:ext cx="72000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80000"/>
              </a:lnSpc>
            </a:pPr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在喧嚣的都市中，我们坚持做减法。</a:t>
            </a:r>
          </a:p>
          <a:p xmlns:a="http://schemas.openxmlformats.org/drawingml/2006/main">
            <a:pPr>
              <a:lnSpc>
                <a:spcPct val="180000"/>
              </a:lnSpc>
            </a:pPr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拒绝过度包装与人工添加，让咖啡回归最本真的风味，</a:t>
            </a:r>
          </a:p>
          <a:p xmlns:a="http://schemas.openxmlformats.org/drawingml/2006/main">
            <a:pPr>
              <a:lnSpc>
                <a:spcPct val="180000"/>
              </a:lnSpc>
            </a:pPr>
            <a:r>
              <a:rPr lang="en-US" sz="1600">
                <a:solidFill>
                  <a:srgbClr val="888888"/>
                </a:solidFill>
                <a:latin typeface="Helvetica"/>
                <a:ea typeface="Helvetica"/>
              </a:rPr>
              <a:t>这是 AURA 的美学，也是对品质的极致专注。</a:t>
            </a:r>
          </a:p>
        </p:txBody>
      </p:sp>
      <p:sp>
        <p:nvSpPr>
          <p:cNvPr id="7" name="!!pillar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三大核心原则</a:t>
            </a:r>
          </a:p>
        </p:txBody>
      </p:sp>
      <p:sp>
        <p:nvSpPr>
          <p:cNvPr id="8" name="!!box1-lin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</p:txBody>
      </p:sp>
      <p:sp>
        <p:nvSpPr>
          <p:cNvPr id="9" name="!!box1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01. 严苛寻豆</a:t>
            </a:r>
          </a:p>
        </p:txBody>
      </p:sp>
      <p:sp>
        <p:nvSpPr>
          <p:cNvPr id="10" name="!!box1-desc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深入埃塞俄比亚、哥伦比亚等原产地，仅甄选海拔 1500 米以上的 SCA 85+ 级精品生豆。</a:t>
            </a:r>
          </a:p>
        </p:txBody>
      </p:sp>
      <p:sp>
        <p:nvSpPr>
          <p:cNvPr id="11" name="!!box2-lin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</p:txBody>
      </p:sp>
      <p:sp>
        <p:nvSpPr>
          <p:cNvPr id="12" name="!!box2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02. 精准烘焙</a:t>
            </a:r>
          </a:p>
        </p:txBody>
      </p:sp>
      <p:sp>
        <p:nvSpPr>
          <p:cNvPr id="13" name="!!box2-desc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采用德国 Probat 烘焙机，结合气象数据微调曲线，激发每一支豆子的风土之味。</a:t>
            </a:r>
          </a:p>
        </p:txBody>
      </p:sp>
      <p:sp>
        <p:nvSpPr>
          <p:cNvPr id="14" name="!!box3-lin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</p:txBody>
      </p:sp>
      <p:sp>
        <p:nvSpPr>
          <p:cNvPr id="15" name="!!box3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03. 科学萃取</a:t>
            </a:r>
          </a:p>
        </p:txBody>
      </p:sp>
      <p:sp>
        <p:nvSpPr>
          <p:cNvPr id="16" name="!!box3-desc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精准控制 93°C 水温与 9 Bar 压力，金杯法则护航，确保每一杯出品的稳定与完美。</a:t>
            </a:r>
          </a:p>
        </p:txBody>
      </p:sp>
      <p:sp>
        <p:nvSpPr>
          <p:cNvPr id="17" name="!!ev-number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1%</a:t>
            </a:r>
          </a:p>
        </p:txBody>
      </p:sp>
      <p:sp>
        <p:nvSpPr>
          <p:cNvPr id="18" name="!!ev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全球前 1% 极微批次特选</a:t>
            </a:r>
          </a:p>
        </p:txBody>
      </p:sp>
      <p:sp>
        <p:nvSpPr>
          <p:cNvPr id="19" name="!!ev-desc1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• 年度限量供应 500kg 庄园级瑰夏</a:t>
            </a:r>
          </a:p>
        </p:txBody>
      </p:sp>
      <p:sp>
        <p:nvSpPr>
          <p:cNvPr id="20" name="!!ev-desc2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• 100% 环保可降解极简材质包装</a:t>
            </a:r>
          </a:p>
        </p:txBody>
      </p:sp>
      <p:sp>
        <p:nvSpPr>
          <p:cNvPr id="21" name="!!ev-desc3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• 多位 Q-Grader 国际品鉴师严格把控</a:t>
            </a:r>
          </a:p>
        </p:txBody>
      </p:sp>
      <p:sp>
        <p:nvSpPr>
          <p:cNvPr id="22" name="!!cta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品味纯粹，即刻启程</a:t>
            </a:r>
          </a:p>
        </p:txBody>
      </p:sp>
      <p:sp>
        <p:nvSpPr>
          <p:cNvPr id="23" name="!!cta-web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www.auracoffee.com</a:t>
            </a:r>
          </a:p>
        </p:txBody>
      </p:sp>
      <p:sp>
        <p:nvSpPr>
          <p:cNvPr id="24" name="!!cta-email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partner@auracoffee.com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/>
      <p:sp>
        <p:nvSpPr>
          <p:cNvPr id="2" name="!!deco-line"/>
          <p:cNvSpPr/>
          <p:nvPr/>
        </p:nvSpPr>
        <p:spPr>
          <a:xfrm xmlns:a="http://schemas.openxmlformats.org/drawingml/2006/main">
            <a:off x="1440000" y="1620000"/>
            <a:ext cx="180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latin typeface="Helvetica"/>
                <a:ea typeface="Helvetica"/>
              </a:rPr>
              <a:t/>
            </a:r>
          </a:p>
        </p:txBody>
      </p:sp>
      <p:sp>
        <p:nvSpPr>
          <p:cNvPr id="3" name="!!brand-title"/>
          <p:cNvSpPr/>
          <p:nvPr/>
        </p:nvSpPr>
        <p:spPr>
          <a:xfrm xmlns:a="http://schemas.openxmlformats.org/drawingml/2006/main">
            <a:off x="1440000" y="720000"/>
            <a:ext cx="36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555555"/>
                </a:solidFill>
                <a:latin typeface="Helvetica"/>
                <a:ea typeface="Helvetica"/>
              </a:rPr>
              <a:t>AURA COFFEE</a:t>
            </a:r>
          </a:p>
        </p:txBody>
      </p:sp>
      <p:sp>
        <p:nvSpPr>
          <p:cNvPr id="4" name="!!brand-sub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纯 粹 之 境 | 极简高级精品咖啡</a:t>
            </a:r>
          </a:p>
        </p:txBody>
      </p:sp>
      <p:sp>
        <p:nvSpPr>
          <p:cNvPr id="5" name="!!statement-main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少即是多，剥离繁杂，只为一杯纯粹好咖啡。</a:t>
            </a:r>
          </a:p>
        </p:txBody>
      </p:sp>
      <p:sp>
        <p:nvSpPr>
          <p:cNvPr id="6" name="!!statement-sub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在喧嚣的都市中，我们坚持做减法。</a:t>
            </a:r>
          </a:p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拒绝过度包装与人工添加，让咖啡回归最本真的风味，</a:t>
            </a:r>
          </a:p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这是 AURA 的美学，也是对品质的极致专注。</a:t>
            </a:r>
          </a:p>
        </p:txBody>
      </p:sp>
      <p:sp>
        <p:nvSpPr>
          <p:cNvPr id="7" name="!!pillar-title"/>
          <p:cNvSpPr/>
          <p:nvPr/>
        </p:nvSpPr>
        <p:spPr>
          <a:xfrm xmlns:a="http://schemas.openxmlformats.org/drawingml/2006/main">
            <a:off x="1440000" y="1080000"/>
            <a:ext cx="90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FFFFFF"/>
                </a:solidFill>
                <a:latin typeface="Helvetica"/>
                <a:ea typeface="Helvetica"/>
              </a:rPr>
              <a:t>三大核心原则</a:t>
            </a:r>
          </a:p>
        </p:txBody>
      </p:sp>
      <p:sp>
        <p:nvSpPr>
          <p:cNvPr id="8" name="!!box1-line"/>
          <p:cNvSpPr/>
          <p:nvPr/>
        </p:nvSpPr>
        <p:spPr>
          <a:xfrm xmlns:a="http://schemas.openxmlformats.org/drawingml/2006/main">
            <a:off x="1440000" y="2520000"/>
            <a:ext cx="36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latin typeface="Helvetica"/>
                <a:ea typeface="Helvetica"/>
              </a:rPr>
              <a:t/>
            </a:r>
          </a:p>
        </p:txBody>
      </p:sp>
      <p:sp>
        <p:nvSpPr>
          <p:cNvPr id="9" name="!!box1-title"/>
          <p:cNvSpPr/>
          <p:nvPr/>
        </p:nvSpPr>
        <p:spPr>
          <a:xfrm xmlns:a="http://schemas.openxmlformats.org/drawingml/2006/main">
            <a:off x="1620000" y="2520000"/>
            <a:ext cx="28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Helvetica"/>
                <a:ea typeface="Helvetica"/>
              </a:rPr>
              <a:t>01. 严苛寻豆</a:t>
            </a:r>
          </a:p>
        </p:txBody>
      </p:sp>
      <p:sp>
        <p:nvSpPr>
          <p:cNvPr id="10" name="!!box1-desc"/>
          <p:cNvSpPr/>
          <p:nvPr/>
        </p:nvSpPr>
        <p:spPr>
          <a:xfrm xmlns:a="http://schemas.openxmlformats.org/drawingml/2006/main">
            <a:off x="1620000" y="3060000"/>
            <a:ext cx="2700000" cy="18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深入埃塞俄比亚、哥伦比亚等原产地，仅甄选海拔 1500 米以上的 SCA 85+ 级精品生豆。</a:t>
            </a:r>
          </a:p>
        </p:txBody>
      </p:sp>
      <p:sp>
        <p:nvSpPr>
          <p:cNvPr id="11" name="!!box2-line"/>
          <p:cNvSpPr/>
          <p:nvPr/>
        </p:nvSpPr>
        <p:spPr>
          <a:xfrm xmlns:a="http://schemas.openxmlformats.org/drawingml/2006/main">
            <a:off x="4860000" y="2520000"/>
            <a:ext cx="36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latin typeface="Helvetica"/>
                <a:ea typeface="Helvetica"/>
              </a:rPr>
              <a:t/>
            </a:r>
          </a:p>
        </p:txBody>
      </p:sp>
      <p:sp>
        <p:nvSpPr>
          <p:cNvPr id="12" name="!!box2-title"/>
          <p:cNvSpPr/>
          <p:nvPr/>
        </p:nvSpPr>
        <p:spPr>
          <a:xfrm xmlns:a="http://schemas.openxmlformats.org/drawingml/2006/main">
            <a:off x="5040000" y="2520000"/>
            <a:ext cx="28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Helvetica"/>
                <a:ea typeface="Helvetica"/>
              </a:rPr>
              <a:t>02. 精准烘焙</a:t>
            </a:r>
          </a:p>
        </p:txBody>
      </p:sp>
      <p:sp>
        <p:nvSpPr>
          <p:cNvPr id="13" name="!!box2-desc"/>
          <p:cNvSpPr/>
          <p:nvPr/>
        </p:nvSpPr>
        <p:spPr>
          <a:xfrm xmlns:a="http://schemas.openxmlformats.org/drawingml/2006/main">
            <a:off x="5040000" y="3060000"/>
            <a:ext cx="2700000" cy="18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采用德国 Probat 烘焙机，结合气象数据微调曲线，激发每一支豆子的风土之味。</a:t>
            </a:r>
          </a:p>
        </p:txBody>
      </p:sp>
      <p:sp>
        <p:nvSpPr>
          <p:cNvPr id="14" name="!!box3-line"/>
          <p:cNvSpPr/>
          <p:nvPr/>
        </p:nvSpPr>
        <p:spPr>
          <a:xfrm xmlns:a="http://schemas.openxmlformats.org/drawingml/2006/main">
            <a:off x="8280000" y="2520000"/>
            <a:ext cx="36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latin typeface="Helvetica"/>
                <a:ea typeface="Helvetica"/>
              </a:rPr>
              <a:t/>
            </a:r>
          </a:p>
        </p:txBody>
      </p:sp>
      <p:sp>
        <p:nvSpPr>
          <p:cNvPr id="15" name="!!box3-title"/>
          <p:cNvSpPr/>
          <p:nvPr/>
        </p:nvSpPr>
        <p:spPr>
          <a:xfrm xmlns:a="http://schemas.openxmlformats.org/drawingml/2006/main">
            <a:off x="8460000" y="2520000"/>
            <a:ext cx="28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Helvetica"/>
                <a:ea typeface="Helvetica"/>
              </a:rPr>
              <a:t>03. 科学萃取</a:t>
            </a:r>
          </a:p>
        </p:txBody>
      </p:sp>
      <p:sp>
        <p:nvSpPr>
          <p:cNvPr id="16" name="!!box3-desc"/>
          <p:cNvSpPr/>
          <p:nvPr/>
        </p:nvSpPr>
        <p:spPr>
          <a:xfrm xmlns:a="http://schemas.openxmlformats.org/drawingml/2006/main">
            <a:off x="8460000" y="3060000"/>
            <a:ext cx="2700000" cy="18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</a:pPr>
            <a:r>
              <a:rPr lang="en-US" sz="1400">
                <a:solidFill>
                  <a:srgbClr val="888888"/>
                </a:solidFill>
                <a:latin typeface="Helvetica"/>
                <a:ea typeface="Helvetica"/>
              </a:rPr>
              <a:t>精准控制 93°C 水温与 9 Bar 压力，金杯法则护航，确保每一杯出品的稳定与完美。</a:t>
            </a:r>
          </a:p>
        </p:txBody>
      </p:sp>
      <p:sp>
        <p:nvSpPr>
          <p:cNvPr id="17" name="!!ev-number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1%</a:t>
            </a:r>
          </a:p>
        </p:txBody>
      </p:sp>
      <p:sp>
        <p:nvSpPr>
          <p:cNvPr id="18" name="!!ev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全球前 1% 极微批次特选</a:t>
            </a:r>
          </a:p>
        </p:txBody>
      </p:sp>
      <p:sp>
        <p:nvSpPr>
          <p:cNvPr id="19" name="!!ev-desc1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• 年度限量供应 500kg 庄园级瑰夏</a:t>
            </a:r>
          </a:p>
        </p:txBody>
      </p:sp>
      <p:sp>
        <p:nvSpPr>
          <p:cNvPr id="20" name="!!ev-desc2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• 100% 环保可降解极简材质包装</a:t>
            </a:r>
          </a:p>
        </p:txBody>
      </p:sp>
      <p:sp>
        <p:nvSpPr>
          <p:cNvPr id="21" name="!!ev-desc3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• 多位 Q-Grader 国际品鉴师严格把控</a:t>
            </a:r>
          </a:p>
        </p:txBody>
      </p:sp>
      <p:sp>
        <p:nvSpPr>
          <p:cNvPr id="22" name="!!cta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品味纯粹，即刻启程</a:t>
            </a:r>
          </a:p>
        </p:txBody>
      </p:sp>
      <p:sp>
        <p:nvSpPr>
          <p:cNvPr id="23" name="!!cta-web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www.auracoffee.com</a:t>
            </a:r>
          </a:p>
        </p:txBody>
      </p:sp>
      <p:sp>
        <p:nvSpPr>
          <p:cNvPr id="24" name="!!cta-email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partner@auracoffee.com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/>
      <p:sp>
        <p:nvSpPr>
          <p:cNvPr id="2" name="!!deco-line"/>
          <p:cNvSpPr/>
          <p:nvPr/>
        </p:nvSpPr>
        <p:spPr>
          <a:xfrm xmlns:a="http://schemas.openxmlformats.org/drawingml/2006/main">
            <a:off x="5400000" y="3780000"/>
            <a:ext cx="108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latin typeface="Helvetica"/>
                <a:ea typeface="Helvetica"/>
              </a:rPr>
              <a:t/>
            </a:r>
          </a:p>
        </p:txBody>
      </p:sp>
      <p:sp>
        <p:nvSpPr>
          <p:cNvPr id="3" name="!!brand-title"/>
          <p:cNvSpPr/>
          <p:nvPr/>
        </p:nvSpPr>
        <p:spPr>
          <a:xfrm xmlns:a="http://schemas.openxmlformats.org/drawingml/2006/main">
            <a:off x="1440000" y="720000"/>
            <a:ext cx="36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555555"/>
                </a:solidFill>
                <a:latin typeface="Helvetica"/>
                <a:ea typeface="Helvetica"/>
              </a:rPr>
              <a:t>AURA COFFEE</a:t>
            </a:r>
          </a:p>
        </p:txBody>
      </p:sp>
      <p:sp>
        <p:nvSpPr>
          <p:cNvPr id="4" name="!!brand-sub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纯 粹 之 境 | 极简高级精品咖啡</a:t>
            </a:r>
          </a:p>
        </p:txBody>
      </p:sp>
      <p:sp>
        <p:nvSpPr>
          <p:cNvPr id="5" name="!!statement-main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少即是多，剥离繁杂，只为一杯纯粹好咖啡。</a:t>
            </a:r>
          </a:p>
        </p:txBody>
      </p:sp>
      <p:sp>
        <p:nvSpPr>
          <p:cNvPr id="6" name="!!statement-sub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在喧嚣的都市中，我们坚持做减法。</a:t>
            </a:r>
          </a:p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拒绝过度包装与人工添加，让咖啡回归最本真的风味，</a:t>
            </a:r>
          </a:p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这是 AURA 的美学，也是对品质的极致专注。</a:t>
            </a:r>
          </a:p>
        </p:txBody>
      </p:sp>
      <p:sp>
        <p:nvSpPr>
          <p:cNvPr id="7" name="!!pillar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三大核心原则</a:t>
            </a:r>
          </a:p>
        </p:txBody>
      </p:sp>
      <p:sp>
        <p:nvSpPr>
          <p:cNvPr id="8" name="!!box1-lin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</p:txBody>
      </p:sp>
      <p:sp>
        <p:nvSpPr>
          <p:cNvPr id="9" name="!!box1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01. 严苛寻豆</a:t>
            </a:r>
          </a:p>
        </p:txBody>
      </p:sp>
      <p:sp>
        <p:nvSpPr>
          <p:cNvPr id="10" name="!!box1-desc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深入埃塞俄比亚、哥伦比亚等原产地，仅甄选海拔 1500 米以上的 SCA 85+ 级精品生豆。</a:t>
            </a:r>
          </a:p>
        </p:txBody>
      </p:sp>
      <p:sp>
        <p:nvSpPr>
          <p:cNvPr id="11" name="!!box2-lin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</p:txBody>
      </p:sp>
      <p:sp>
        <p:nvSpPr>
          <p:cNvPr id="12" name="!!box2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02. 精准烘焙</a:t>
            </a:r>
          </a:p>
        </p:txBody>
      </p:sp>
      <p:sp>
        <p:nvSpPr>
          <p:cNvPr id="13" name="!!box2-desc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采用德国 Probat 烘焙机，结合气象数据微调曲线，激发每一支豆子的风土之味。</a:t>
            </a:r>
          </a:p>
        </p:txBody>
      </p:sp>
      <p:sp>
        <p:nvSpPr>
          <p:cNvPr id="14" name="!!box3-lin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</p:txBody>
      </p:sp>
      <p:sp>
        <p:nvSpPr>
          <p:cNvPr id="15" name="!!box3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03. 科学萃取</a:t>
            </a:r>
          </a:p>
        </p:txBody>
      </p:sp>
      <p:sp>
        <p:nvSpPr>
          <p:cNvPr id="16" name="!!box3-desc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精准控制 93°C 水温与 9 Bar 压力，金杯法则护航，确保每一杯出品的稳定与完美。</a:t>
            </a:r>
          </a:p>
        </p:txBody>
      </p:sp>
      <p:sp>
        <p:nvSpPr>
          <p:cNvPr id="17" name="!!ev-number"/>
          <p:cNvSpPr/>
          <p:nvPr/>
        </p:nvSpPr>
        <p:spPr>
          <a:xfrm xmlns:a="http://schemas.openxmlformats.org/drawingml/2006/main">
            <a:off x="1440000" y="2520000"/>
            <a:ext cx="3600000" cy="18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0" b="1">
                <a:solidFill>
                  <a:srgbClr val="D4AF37"/>
                </a:solidFill>
                <a:latin typeface="Arial"/>
                <a:ea typeface="Arial"/>
              </a:rPr>
              <a:t>1%</a:t>
            </a:r>
          </a:p>
        </p:txBody>
      </p:sp>
      <p:sp>
        <p:nvSpPr>
          <p:cNvPr id="18" name="!!ev-title"/>
          <p:cNvSpPr/>
          <p:nvPr/>
        </p:nvSpPr>
        <p:spPr>
          <a:xfrm xmlns:a="http://schemas.openxmlformats.org/drawingml/2006/main">
            <a:off x="1440000" y="4320000"/>
            <a:ext cx="432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Helvetica"/>
                <a:ea typeface="Helvetica"/>
              </a:rPr>
              <a:t>全球前 1% 极微批次特选</a:t>
            </a:r>
          </a:p>
        </p:txBody>
      </p:sp>
      <p:sp>
        <p:nvSpPr>
          <p:cNvPr id="19" name="!!ev-desc1"/>
          <p:cNvSpPr/>
          <p:nvPr/>
        </p:nvSpPr>
        <p:spPr>
          <a:xfrm xmlns:a="http://schemas.openxmlformats.org/drawingml/2006/main">
            <a:off x="5400000" y="2520000"/>
            <a:ext cx="54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CCCCCC"/>
                </a:solidFill>
                <a:latin typeface="Helvetica"/>
                <a:ea typeface="Helvetica"/>
              </a:rPr>
              <a:t>• 年度限量供应 500kg 庄园级瑰夏</a:t>
            </a:r>
          </a:p>
        </p:txBody>
      </p:sp>
      <p:sp>
        <p:nvSpPr>
          <p:cNvPr id="20" name="!!ev-desc2"/>
          <p:cNvSpPr/>
          <p:nvPr/>
        </p:nvSpPr>
        <p:spPr>
          <a:xfrm xmlns:a="http://schemas.openxmlformats.org/drawingml/2006/main">
            <a:off x="5400000" y="3060000"/>
            <a:ext cx="54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CCCCCC"/>
                </a:solidFill>
                <a:latin typeface="Helvetica"/>
                <a:ea typeface="Helvetica"/>
              </a:rPr>
              <a:t>• 100% 环保可降解极简材质包装</a:t>
            </a:r>
          </a:p>
        </p:txBody>
      </p:sp>
      <p:sp>
        <p:nvSpPr>
          <p:cNvPr id="21" name="!!ev-desc3"/>
          <p:cNvSpPr/>
          <p:nvPr/>
        </p:nvSpPr>
        <p:spPr>
          <a:xfrm xmlns:a="http://schemas.openxmlformats.org/drawingml/2006/main">
            <a:off x="5400000" y="4320000"/>
            <a:ext cx="54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CCCCCC"/>
                </a:solidFill>
                <a:latin typeface="Helvetica"/>
                <a:ea typeface="Helvetica"/>
              </a:rPr>
              <a:t>• 多位 Q-Grader 国际品鉴师严格把控</a:t>
            </a:r>
          </a:p>
        </p:txBody>
      </p:sp>
      <p:sp>
        <p:nvSpPr>
          <p:cNvPr id="22" name="!!cta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品味纯粹，即刻启程</a:t>
            </a:r>
          </a:p>
        </p:txBody>
      </p:sp>
      <p:sp>
        <p:nvSpPr>
          <p:cNvPr id="23" name="!!cta-web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www.auracoffee.com</a:t>
            </a:r>
          </a:p>
        </p:txBody>
      </p:sp>
      <p:sp>
        <p:nvSpPr>
          <p:cNvPr id="24" name="!!cta-email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partner@auracoffee.com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/>
      <p:sp>
        <p:nvSpPr>
          <p:cNvPr id="2" name="!!deco-line"/>
          <p:cNvSpPr/>
          <p:nvPr/>
        </p:nvSpPr>
        <p:spPr>
          <a:xfrm xmlns:a="http://schemas.openxmlformats.org/drawingml/2006/main">
            <a:off x="1440000" y="2520000"/>
            <a:ext cx="72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latin typeface="Helvetica"/>
                <a:ea typeface="Helvetica"/>
              </a:rPr>
              <a:t/>
            </a:r>
          </a:p>
        </p:txBody>
      </p:sp>
      <p:sp>
        <p:nvSpPr>
          <p:cNvPr id="3" name="!!brand-title"/>
          <p:cNvSpPr/>
          <p:nvPr/>
        </p:nvSpPr>
        <p:spPr>
          <a:xfrm xmlns:a="http://schemas.openxmlformats.org/drawingml/2006/main">
            <a:off x="1440000" y="4320000"/>
            <a:ext cx="54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888888"/>
                </a:solidFill>
                <a:latin typeface="Helvetica"/>
                <a:ea typeface="Helvetica"/>
              </a:rPr>
              <a:t>AURA COFFEE</a:t>
            </a:r>
          </a:p>
        </p:txBody>
      </p:sp>
      <p:sp>
        <p:nvSpPr>
          <p:cNvPr id="4" name="!!brand-sub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纯 粹 之 境 | 极简高级精品咖啡</a:t>
            </a:r>
          </a:p>
        </p:txBody>
      </p:sp>
      <p:sp>
        <p:nvSpPr>
          <p:cNvPr id="5" name="!!statement-main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少即是多，剥离繁杂，只为一杯纯粹好咖啡。</a:t>
            </a:r>
          </a:p>
        </p:txBody>
      </p:sp>
      <p:sp>
        <p:nvSpPr>
          <p:cNvPr id="6" name="!!statement-sub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在喧嚣的都市中，我们坚持做减法。</a:t>
            </a:r>
          </a:p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拒绝过度包装与人工添加，让咖啡回归最本真的风味，</a:t>
            </a:r>
          </a:p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这是 AURA 的美学，也是对品质的极致专注。</a:t>
            </a:r>
          </a:p>
        </p:txBody>
      </p:sp>
      <p:sp>
        <p:nvSpPr>
          <p:cNvPr id="7" name="!!pillar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三大核心原则</a:t>
            </a:r>
          </a:p>
        </p:txBody>
      </p:sp>
      <p:sp>
        <p:nvSpPr>
          <p:cNvPr id="8" name="!!box1-lin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</p:txBody>
      </p:sp>
      <p:sp>
        <p:nvSpPr>
          <p:cNvPr id="9" name="!!box1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01. 严苛寻豆</a:t>
            </a:r>
          </a:p>
        </p:txBody>
      </p:sp>
      <p:sp>
        <p:nvSpPr>
          <p:cNvPr id="10" name="!!box1-desc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深入埃塞俄比亚、哥伦比亚等原产地，仅甄选海拔 1500 米以上的 SCA 85+ 级精品生豆。</a:t>
            </a:r>
          </a:p>
        </p:txBody>
      </p:sp>
      <p:sp>
        <p:nvSpPr>
          <p:cNvPr id="11" name="!!box2-lin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</p:txBody>
      </p:sp>
      <p:sp>
        <p:nvSpPr>
          <p:cNvPr id="12" name="!!box2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02. 精准烘焙</a:t>
            </a:r>
          </a:p>
        </p:txBody>
      </p:sp>
      <p:sp>
        <p:nvSpPr>
          <p:cNvPr id="13" name="!!box2-desc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采用德国 Probat 烘焙机，结合气象数据微调曲线，激发每一支豆子的风土之味。</a:t>
            </a:r>
          </a:p>
        </p:txBody>
      </p:sp>
      <p:sp>
        <p:nvSpPr>
          <p:cNvPr id="14" name="!!box3-lin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</p:txBody>
      </p:sp>
      <p:sp>
        <p:nvSpPr>
          <p:cNvPr id="15" name="!!box3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03. 科学萃取</a:t>
            </a:r>
          </a:p>
        </p:txBody>
      </p:sp>
      <p:sp>
        <p:nvSpPr>
          <p:cNvPr id="16" name="!!box3-desc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精准控制 93°C 水温与 9 Bar 压力，金杯法则护航，确保每一杯出品的稳定与完美。</a:t>
            </a:r>
          </a:p>
        </p:txBody>
      </p:sp>
      <p:sp>
        <p:nvSpPr>
          <p:cNvPr id="17" name="!!ev-number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1%</a:t>
            </a:r>
          </a:p>
        </p:txBody>
      </p:sp>
      <p:sp>
        <p:nvSpPr>
          <p:cNvPr id="18" name="!!ev-title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全球前 1% 极微批次特选</a:t>
            </a:r>
          </a:p>
        </p:txBody>
      </p:sp>
      <p:sp>
        <p:nvSpPr>
          <p:cNvPr id="19" name="!!ev-desc1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• 年度限量供应 500kg 庄园级瑰夏</a:t>
            </a:r>
          </a:p>
        </p:txBody>
      </p:sp>
      <p:sp>
        <p:nvSpPr>
          <p:cNvPr id="20" name="!!ev-desc2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• 100% 环保可降解极简材质包装</a:t>
            </a:r>
          </a:p>
        </p:txBody>
      </p:sp>
      <p:sp>
        <p:nvSpPr>
          <p:cNvPr id="21" name="!!ev-desc3"/>
          <p:cNvSpPr/>
          <p:nvPr/>
        </p:nvSpPr>
        <p:spPr>
          <a:xfrm xmlns:a="http://schemas.openxmlformats.org/drawingml/2006/main">
            <a:off x="12960000" y="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000000"/>
                </a:solidFill>
                <a:latin typeface="Helvetica"/>
                <a:ea typeface="Helvetica"/>
              </a:rPr>
              <a:t>• 多位 Q-Grader 国际品鉴师严格把控</a:t>
            </a:r>
          </a:p>
        </p:txBody>
      </p:sp>
      <p:sp>
        <p:nvSpPr>
          <p:cNvPr id="22" name="!!cta-title"/>
          <p:cNvSpPr/>
          <p:nvPr/>
        </p:nvSpPr>
        <p:spPr>
          <a:xfrm xmlns:a="http://schemas.openxmlformats.org/drawingml/2006/main">
            <a:off x="1440000" y="2880000"/>
            <a:ext cx="90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>
                <a:solidFill>
                  <a:srgbClr val="FFFFFF"/>
                </a:solidFill>
                <a:latin typeface="Helvetica"/>
                <a:ea typeface="Helvetica"/>
              </a:rPr>
              <a:t>品味纯粹，即刻启程</a:t>
            </a:r>
          </a:p>
        </p:txBody>
      </p:sp>
      <p:sp>
        <p:nvSpPr>
          <p:cNvPr id="23" name="!!cta-web"/>
          <p:cNvSpPr/>
          <p:nvPr/>
        </p:nvSpPr>
        <p:spPr>
          <a:xfrm xmlns:a="http://schemas.openxmlformats.org/drawingml/2006/main">
            <a:off x="1440000" y="5040000"/>
            <a:ext cx="36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55555"/>
                </a:solidFill>
                <a:latin typeface="Helvetica"/>
                <a:ea typeface="Helvetica"/>
              </a:rPr>
              <a:t>www.auracoffee.com</a:t>
            </a:r>
          </a:p>
        </p:txBody>
      </p:sp>
      <p:sp>
        <p:nvSpPr>
          <p:cNvPr id="24" name="!!cta-email"/>
          <p:cNvSpPr/>
          <p:nvPr/>
        </p:nvSpPr>
        <p:spPr>
          <a:xfrm xmlns:a="http://schemas.openxmlformats.org/drawingml/2006/main">
            <a:off x="3600000" y="5040000"/>
            <a:ext cx="36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55555"/>
                </a:solidFill>
                <a:latin typeface="Helvetica"/>
                <a:ea typeface="Helvetica"/>
              </a:rPr>
              <a:t>partner@auracoffee.com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