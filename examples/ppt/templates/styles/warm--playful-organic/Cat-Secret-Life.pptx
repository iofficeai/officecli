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1aeea0cade641d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eb1961c2e0d455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eb1961c2e0d455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7f5cf405c4e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b58524cc149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c56e2105a42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3b7d208b540b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cf04c1b342c470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5c1d019ce410b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/>
      <p:sp>
        <p:nvSpPr>
          <p:cNvPr id="2" name="blob-main"/>
          <p:cNvSpPr/>
          <p:nvPr/>
        </p:nvSpPr>
        <p:spPr>
          <a:xfrm rot="900000">
            <a:off x="6480000" y="1800000"/>
            <a:ext cx="7200000" cy="5400000"/>
          </a:xfrm>
          <a:prstGeom prst="roundRect">
            <a:avLst/>
          </a:prstGeom>
          <a:solidFill>
            <a:srgbClr val="FF8A65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dot-orange"/>
          <p:cNvSpPr/>
          <p:nvPr/>
        </p:nvSpPr>
        <p:spPr>
          <a:xfrm>
            <a:off x="0" y="4320000"/>
            <a:ext cx="4320000" cy="4320000"/>
          </a:xfrm>
          <a:prstGeom prst="ellipse">
            <a:avLst/>
          </a:prstGeom>
          <a:solidFill>
            <a:srgbClr val="FF8A6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dot-yellow"/>
          <p:cNvSpPr/>
          <p:nvPr/>
        </p:nvSpPr>
        <p:spPr>
          <a:xfrm>
            <a:off x="9360000" y="0"/>
            <a:ext cx="2880000" cy="2880000"/>
          </a:xfrm>
          <a:prstGeom prst="ellipse">
            <a:avLst/>
          </a:prstGeom>
          <a:solidFill>
            <a:srgbClr val="FFD54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line-teal"/>
          <p:cNvSpPr/>
          <p:nvPr/>
        </p:nvSpPr>
        <p:spPr>
          <a:xfrm rot="-1200000">
            <a:off x="2160000" y="1440000"/>
            <a:ext cx="1080000" cy="216000"/>
          </a:xfrm>
          <a:prstGeom prst="roundRect">
            <a:avLst/>
          </a:prstGeom>
          <a:solidFill>
            <a:srgbClr val="4DB6A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ri-dark"/>
          <p:cNvSpPr/>
          <p:nvPr/>
        </p:nvSpPr>
        <p:spPr>
          <a:xfrm rot="2700000">
            <a:off x="10800000" y="5400000"/>
            <a:ext cx="1080000" cy="1080000"/>
          </a:xfrm>
          <a:prstGeom prst="triangle">
            <a:avLst/>
          </a:prstGeom>
          <a:solidFill>
            <a:srgbClr val="3D3B3C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accent-star"/>
          <p:cNvSpPr/>
          <p:nvPr/>
        </p:nvSpPr>
        <p:spPr>
          <a:xfrm rot="600000">
            <a:off x="3600000" y="5760000"/>
            <a:ext cx="720000" cy="720000"/>
          </a:xfrm>
          <a:prstGeom prst="star5">
            <a:avLst/>
          </a:prstGeom>
          <a:solidFill>
            <a:srgbClr val="FFD54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hero-title"/>
          <p:cNvSpPr/>
          <p:nvPr/>
        </p:nvSpPr>
        <p:spPr>
          <a:xfrm>
            <a:off x="1584000" y="2520000"/>
            <a:ext cx="9000000" cy="126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7200" b="1">
                <a:solidFill>
                  <a:srgbClr val="3D3B3C"/>
                </a:solidFill>
                <a:latin typeface="思源黑体"/>
                <a:ea typeface="思源黑体"/>
              </a:rPr>
              <a:t>猫的秘密生活</a:t>
            </a:r>
          </a:p>
        </p:txBody>
      </p:sp>
      <p:sp>
        <p:nvSpPr>
          <p:cNvPr id="9" name="hero-sub"/>
          <p:cNvSpPr/>
          <p:nvPr/>
        </p:nvSpPr>
        <p:spPr>
          <a:xfrm>
            <a:off x="1584000" y="3780000"/>
            <a:ext cx="9000000" cy="72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3200">
                <a:solidFill>
                  <a:srgbClr val="3D3B3C"/>
                </a:solidFill>
                <a:latin typeface="思源黑体"/>
                <a:ea typeface="思源黑体"/>
              </a:rPr>
              <a:t>人类观察报告（代号：喵星卧底）</a:t>
            </a:r>
          </a:p>
        </p:txBody>
      </p:sp>
      <p:sp>
        <p:nvSpPr>
          <p:cNvPr id="10" name="statement-main"/>
          <p:cNvSpPr/>
          <p:nvPr/>
        </p:nvSpPr>
        <p:spPr>
          <a:xfrm>
            <a:off x="12960000" y="2160000"/>
            <a:ext cx="9360000" cy="2160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思源黑体"/>
                <a:ea typeface="思源黑体"/>
              </a:rPr>
              <a:t>你以为你在养猫？</a:t>
            </a:r>
          </a:p>
          <a:p>
            <a:pPr algn="ctr"/>
            <a:r>
              <a:rPr lang="en-US" sz="5400" b="1">
                <a:solidFill>
                  <a:srgbClr val="FFFFFF"/>
                </a:solidFill>
                <a:latin typeface="思源黑体"/>
                <a:ea typeface="思源黑体"/>
              </a:rPr>
              <a:t>其实是猫在观察你。</a:t>
            </a:r>
          </a:p>
        </p:txBody>
      </p:sp>
      <p:sp>
        <p:nvSpPr>
          <p:cNvPr id="11" name="pillar-bg-1"/>
          <p:cNvSpPr/>
          <p:nvPr/>
        </p:nvSpPr>
        <p:spPr>
          <a:xfrm>
            <a:off x="12960000" y="2880000"/>
            <a:ext cx="2880000" cy="2880000"/>
          </a:xfrm>
          <a:prstGeom prst="roundRect">
            <a:avLst/>
          </a:prstGeom>
          <a:solidFill>
            <a:srgbClr val="3D3B3C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pillar-num-1"/>
          <p:cNvSpPr/>
          <p:nvPr/>
        </p:nvSpPr>
        <p:spPr>
          <a:xfrm>
            <a:off x="12960000" y="2880000"/>
            <a:ext cx="21600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4800" b="1">
                <a:solidFill>
                  <a:srgbClr val="FF8A65"/>
                </a:solidFill>
                <a:latin typeface="Montserrat"/>
                <a:ea typeface="Montserrat"/>
              </a:rPr>
              <a:t>01</a:t>
            </a:r>
          </a:p>
        </p:txBody>
      </p:sp>
      <p:sp>
        <p:nvSpPr>
          <p:cNvPr id="13" name="pillar-title-1"/>
          <p:cNvSpPr/>
          <p:nvPr/>
        </p:nvSpPr>
        <p:spPr>
          <a:xfrm>
            <a:off x="12960000" y="3600000"/>
            <a:ext cx="2160000" cy="54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>
                <a:solidFill>
                  <a:srgbClr val="3D3B3C"/>
                </a:solidFill>
                <a:latin typeface="思源黑体"/>
                <a:ea typeface="思源黑体"/>
              </a:rPr>
              <a:t>日常充电</a:t>
            </a:r>
          </a:p>
        </p:txBody>
      </p:sp>
      <p:sp>
        <p:nvSpPr>
          <p:cNvPr id="14" name="pillar-desc-1"/>
          <p:cNvSpPr/>
          <p:nvPr/>
        </p:nvSpPr>
        <p:spPr>
          <a:xfrm>
            <a:off x="12960000" y="4140000"/>
            <a:ext cx="2340000" cy="144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>
                <a:solidFill>
                  <a:srgbClr val="3D3B3C"/>
                </a:solidFill>
                <a:latin typeface="思源黑体"/>
                <a:ea typeface="思源黑体"/>
              </a:rPr>
              <a:t>寻找阳光最充足的位置，进入深度休眠模式，补充能量。</a:t>
            </a:r>
          </a:p>
        </p:txBody>
      </p:sp>
      <p:sp>
        <p:nvSpPr>
          <p:cNvPr id="15" name="pillar-bg-2"/>
          <p:cNvSpPr/>
          <p:nvPr/>
        </p:nvSpPr>
        <p:spPr>
          <a:xfrm>
            <a:off x="12960000" y="2880000"/>
            <a:ext cx="2880000" cy="2880000"/>
          </a:xfrm>
          <a:prstGeom prst="roundRect">
            <a:avLst/>
          </a:prstGeom>
          <a:solidFill>
            <a:srgbClr val="3D3B3C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pillar-num-2"/>
          <p:cNvSpPr/>
          <p:nvPr/>
        </p:nvSpPr>
        <p:spPr>
          <a:xfrm>
            <a:off x="12960000" y="2880000"/>
            <a:ext cx="21600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4800" b="1">
                <a:solidFill>
                  <a:srgbClr val="FF8A65"/>
                </a:solidFill>
                <a:latin typeface="Montserrat"/>
                <a:ea typeface="Montserrat"/>
              </a:rPr>
              <a:t>02</a:t>
            </a:r>
          </a:p>
        </p:txBody>
      </p:sp>
      <p:sp>
        <p:nvSpPr>
          <p:cNvPr id="17" name="pillar-title-2"/>
          <p:cNvSpPr/>
          <p:nvPr/>
        </p:nvSpPr>
        <p:spPr>
          <a:xfrm>
            <a:off x="12960000" y="3600000"/>
            <a:ext cx="2160000" cy="54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>
                <a:solidFill>
                  <a:srgbClr val="3D3B3C"/>
                </a:solidFill>
                <a:latin typeface="思源黑体"/>
                <a:ea typeface="思源黑体"/>
              </a:rPr>
              <a:t>幻觉狩猎</a:t>
            </a:r>
          </a:p>
        </p:txBody>
      </p:sp>
      <p:sp>
        <p:nvSpPr>
          <p:cNvPr id="18" name="pillar-desc-2"/>
          <p:cNvSpPr/>
          <p:nvPr/>
        </p:nvSpPr>
        <p:spPr>
          <a:xfrm>
            <a:off x="12960000" y="4140000"/>
            <a:ext cx="2340000" cy="144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>
                <a:solidFill>
                  <a:srgbClr val="3D3B3C"/>
                </a:solidFill>
                <a:latin typeface="思源黑体"/>
                <a:ea typeface="思源黑体"/>
              </a:rPr>
              <a:t>在夜深人静时，捕捉人类看不见的“空气猎物”。</a:t>
            </a:r>
          </a:p>
        </p:txBody>
      </p:sp>
      <p:sp>
        <p:nvSpPr>
          <p:cNvPr id="19" name="pillar-bg-3"/>
          <p:cNvSpPr/>
          <p:nvPr/>
        </p:nvSpPr>
        <p:spPr>
          <a:xfrm>
            <a:off x="12960000" y="2880000"/>
            <a:ext cx="2880000" cy="2880000"/>
          </a:xfrm>
          <a:prstGeom prst="roundRect">
            <a:avLst/>
          </a:prstGeom>
          <a:solidFill>
            <a:srgbClr val="3D3B3C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pillar-num-3"/>
          <p:cNvSpPr/>
          <p:nvPr/>
        </p:nvSpPr>
        <p:spPr>
          <a:xfrm>
            <a:off x="12960000" y="2880000"/>
            <a:ext cx="21600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4800" b="1">
                <a:solidFill>
                  <a:srgbClr val="FF8A65"/>
                </a:solidFill>
                <a:latin typeface="Montserrat"/>
                <a:ea typeface="Montserrat"/>
              </a:rPr>
              <a:t>03</a:t>
            </a:r>
          </a:p>
        </p:txBody>
      </p:sp>
      <p:sp>
        <p:nvSpPr>
          <p:cNvPr id="21" name="pillar-title-3"/>
          <p:cNvSpPr/>
          <p:nvPr/>
        </p:nvSpPr>
        <p:spPr>
          <a:xfrm>
            <a:off x="12960000" y="3600000"/>
            <a:ext cx="2160000" cy="54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>
                <a:solidFill>
                  <a:srgbClr val="3D3B3C"/>
                </a:solidFill>
                <a:latin typeface="思源黑体"/>
                <a:ea typeface="思源黑体"/>
              </a:rPr>
              <a:t>高冷监视</a:t>
            </a:r>
          </a:p>
        </p:txBody>
      </p:sp>
      <p:sp>
        <p:nvSpPr>
          <p:cNvPr id="22" name="pillar-desc-3"/>
          <p:cNvSpPr/>
          <p:nvPr/>
        </p:nvSpPr>
        <p:spPr>
          <a:xfrm>
            <a:off x="12960000" y="4140000"/>
            <a:ext cx="2340000" cy="144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>
                <a:solidFill>
                  <a:srgbClr val="3D3B3C"/>
                </a:solidFill>
                <a:latin typeface="思源黑体"/>
                <a:ea typeface="思源黑体"/>
              </a:rPr>
              <a:t>居高临下，用充满智慧的眼神审视人类的愚蠢行为。</a:t>
            </a:r>
          </a:p>
        </p:txBody>
      </p:sp>
      <p:sp>
        <p:nvSpPr>
          <p:cNvPr id="23" name="evi-num"/>
          <p:cNvSpPr/>
          <p:nvPr/>
        </p:nvSpPr>
        <p:spPr>
          <a:xfrm>
            <a:off x="12960000" y="1800000"/>
            <a:ext cx="5400000" cy="216000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sz="12000" b="1">
                <a:solidFill>
                  <a:srgbClr val="FFFFFF"/>
                </a:solidFill>
                <a:latin typeface="Montserrat"/>
                <a:ea typeface="Montserrat"/>
              </a:rPr>
              <a:t>70%</a:t>
            </a:r>
          </a:p>
        </p:txBody>
      </p:sp>
      <p:sp>
        <p:nvSpPr>
          <p:cNvPr id="24" name="evi-desc"/>
          <p:cNvSpPr/>
          <p:nvPr/>
        </p:nvSpPr>
        <p:spPr>
          <a:xfrm>
            <a:off x="12960000" y="3960000"/>
            <a:ext cx="4320000" cy="180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400">
                <a:solidFill>
                  <a:srgbClr val="FFFFFF"/>
                </a:solidFill>
                <a:latin typeface="思源黑体"/>
                <a:ea typeface="思源黑体"/>
              </a:rPr>
              <a:t>猫咪一生中睡觉的时间占比。剩余时间里，一半在舔毛，一半在夜间跑酷。</a:t>
            </a:r>
          </a:p>
        </p:txBody>
      </p:sp>
      <p:sp>
        <p:nvSpPr>
          <p:cNvPr id="25" name="comp-title-l"/>
          <p:cNvSpPr/>
          <p:nvPr/>
        </p:nvSpPr>
        <p:spPr>
          <a:xfrm>
            <a:off x="12960000" y="1440000"/>
            <a:ext cx="360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6400" b="1">
                <a:solidFill>
                  <a:srgbClr val="FFFFFF"/>
                </a:solidFill>
                <a:latin typeface="思源黑体"/>
                <a:ea typeface="思源黑体"/>
              </a:rPr>
              <a:t>狗</a:t>
            </a:r>
          </a:p>
        </p:txBody>
      </p:sp>
      <p:sp>
        <p:nvSpPr>
          <p:cNvPr id="26" name="comp-desc-l"/>
          <p:cNvSpPr/>
          <p:nvPr/>
        </p:nvSpPr>
        <p:spPr>
          <a:xfrm>
            <a:off x="12960000" y="2880000"/>
            <a:ext cx="4320000" cy="18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200">
                <a:solidFill>
                  <a:srgbClr val="FFFFFF"/>
                </a:solidFill>
                <a:latin typeface="思源黑体"/>
                <a:ea typeface="思源黑体"/>
              </a:rPr>
              <a:t>“你是神！</a:t>
            </a:r>
          </a:p>
          <a:p>
            <a:pPr algn="ctr"/>
            <a:r>
              <a:rPr lang="en-US" sz="3200">
                <a:solidFill>
                  <a:srgbClr val="FFFFFF"/>
                </a:solidFill>
                <a:latin typeface="思源黑体"/>
                <a:ea typeface="思源黑体"/>
              </a:rPr>
              <a:t>你给我吃的！”</a:t>
            </a:r>
          </a:p>
        </p:txBody>
      </p:sp>
      <p:sp>
        <p:nvSpPr>
          <p:cNvPr id="27" name="comp-title-r"/>
          <p:cNvSpPr/>
          <p:nvPr/>
        </p:nvSpPr>
        <p:spPr>
          <a:xfrm>
            <a:off x="12960000" y="1440000"/>
            <a:ext cx="360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6400" b="1">
                <a:solidFill>
                  <a:srgbClr val="FFFFFF"/>
                </a:solidFill>
                <a:latin typeface="思源黑体"/>
                <a:ea typeface="思源黑体"/>
              </a:rPr>
              <a:t>猫</a:t>
            </a:r>
          </a:p>
        </p:txBody>
      </p:sp>
      <p:sp>
        <p:nvSpPr>
          <p:cNvPr id="28" name="comp-desc-r"/>
          <p:cNvSpPr/>
          <p:nvPr/>
        </p:nvSpPr>
        <p:spPr>
          <a:xfrm>
            <a:off x="12960000" y="2880000"/>
            <a:ext cx="4320000" cy="18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200">
                <a:solidFill>
                  <a:srgbClr val="FFFFFF"/>
                </a:solidFill>
                <a:latin typeface="思源黑体"/>
                <a:ea typeface="思源黑体"/>
              </a:rPr>
              <a:t>“我是神！</a:t>
            </a:r>
          </a:p>
          <a:p>
            <a:pPr algn="ctr"/>
            <a:r>
              <a:rPr lang="en-US" sz="3200">
                <a:solidFill>
                  <a:srgbClr val="FFFFFF"/>
                </a:solidFill>
                <a:latin typeface="思源黑体"/>
                <a:ea typeface="思源黑体"/>
              </a:rPr>
              <a:t>你给我吃的！”</a:t>
            </a:r>
          </a:p>
        </p:txBody>
      </p:sp>
      <p:sp>
        <p:nvSpPr>
          <p:cNvPr id="29" name="cta-title"/>
          <p:cNvSpPr/>
          <p:nvPr/>
        </p:nvSpPr>
        <p:spPr>
          <a:xfrm>
            <a:off x="12960000" y="2160000"/>
            <a:ext cx="936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400" b="1">
                <a:solidFill>
                  <a:srgbClr val="3D3B3C"/>
                </a:solidFill>
                <a:latin typeface="思源黑体"/>
                <a:ea typeface="思源黑体"/>
              </a:rPr>
              <a:t>观察结束，去开罐头吧！</a:t>
            </a:r>
          </a:p>
        </p:txBody>
      </p:sp>
      <p:sp>
        <p:nvSpPr>
          <p:cNvPr id="30" name="cta-sub"/>
          <p:cNvSpPr/>
          <p:nvPr/>
        </p:nvSpPr>
        <p:spPr>
          <a:xfrm>
            <a:off x="12960000" y="3600000"/>
            <a:ext cx="936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>
                <a:solidFill>
                  <a:srgbClr val="3D3B3C"/>
                </a:solidFill>
                <a:latin typeface="思源黑体"/>
                <a:ea typeface="思源黑体"/>
              </a:rPr>
              <a:t>毕竟，主子已经等急了。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