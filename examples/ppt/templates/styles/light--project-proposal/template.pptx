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f6e6a577d1940da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76ef93dd591f4e19"/>
    <p:sldId id="257" r:id="Rfc4eee9289694aed"/>
    <p:sldId id="258" r:id="Rf2aa576522c54103"/>
    <p:sldId id="259" r:id="Rf3f00d6d6f444354"/>
    <p:sldId id="260" r:id="R1f16122a7927432a"/>
    <p:sldId id="261" r:id="Rd1dc741e64234070"/>
    <p:sldId id="262" r:id="R8a32033f488c4673"/>
    <p:sldId id="263" r:id="R61b51a9b99f04ecc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76ef93dd591f4e19" /><Relationship Type="http://schemas.openxmlformats.org/officeDocument/2006/relationships/slide" Target="/ppt/slides/slide2.xml" Id="Rfc4eee9289694aed" /><Relationship Type="http://schemas.openxmlformats.org/officeDocument/2006/relationships/slide" Target="/ppt/slides/slide3.xml" Id="Rf2aa576522c54103" /><Relationship Type="http://schemas.openxmlformats.org/officeDocument/2006/relationships/slide" Target="/ppt/slides/slide4.xml" Id="Rf3f00d6d6f444354" /><Relationship Type="http://schemas.openxmlformats.org/officeDocument/2006/relationships/slide" Target="/ppt/slides/slide5.xml" Id="R1f16122a7927432a" /><Relationship Type="http://schemas.openxmlformats.org/officeDocument/2006/relationships/slide" Target="/ppt/slides/slide6.xml" Id="Rd1dc741e64234070" /><Relationship Type="http://schemas.openxmlformats.org/officeDocument/2006/relationships/slide" Target="/ppt/slides/slide7.xml" Id="R8a32033f488c4673" /><Relationship Type="http://schemas.openxmlformats.org/officeDocument/2006/relationships/slide" Target="/ppt/slides/slide8.xml" Id="R61b51a9b99f04ecc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a0657a080546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0f7a7765b947e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56da813dc24db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584f1a2b104fb7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028903940dc54666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58639ace04f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9fa2cd2f44d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3a751ebf84b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3a68114f84f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e6bdc117147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8d8f31a7849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5ea9c554b40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648ada291435c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E8EEF4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0" y="0"/>
            <a:ext cx="6480000" cy="685800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360000" y="1800000"/>
            <a:ext cx="1440000" cy="21600"/>
          </a:xfrm>
          <a:prstGeom prst="rect">
            <a:avLst/>
          </a:prstGeom>
          <a:solidFill>
            <a:srgbClr val="D4A84B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360000" y="3600000"/>
            <a:ext cx="1080000" cy="14400"/>
          </a:xfrm>
          <a:prstGeom prst="rect">
            <a:avLst/>
          </a:prstGeom>
          <a:solidFill>
            <a:srgbClr val="3498DB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360000" y="5400000"/>
            <a:ext cx="1260000" cy="10800"/>
          </a:xfrm>
          <a:prstGeom prst="rect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360000" y="2160000"/>
            <a:ext cx="72000" cy="72000"/>
          </a:xfrm>
          <a:prstGeom prst="ellipse">
            <a:avLst/>
          </a:prstGeom>
          <a:solidFill>
            <a:srgbClr val="D4A84B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2520000"/>
            <a:ext cx="54000" cy="54000"/>
          </a:xfrm>
          <a:prstGeom prst="ellipse">
            <a:avLst/>
          </a:prstGeom>
          <a:solidFill>
            <a:srgbClr val="3498DB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540000" y="2880000"/>
            <a:ext cx="36000" cy="36000"/>
          </a:xfrm>
          <a:prstGeom prst="ellipse">
            <a:avLst/>
          </a:prstGeom>
          <a:solidFill>
            <a:srgbClr val="FFFFFF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720000" y="144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800">
                <a:solidFill>
                  <a:srgbClr val="D4A84B"/>
                </a:solidFill>
                <a:latin typeface="Arial"/>
                <a:ea typeface="Arial"/>
              </a:rPr>
              <a:t>PROJECT</a:t>
            </a:r>
          </a:p>
        </p:txBody>
      </p:sp>
      <p:sp>
        <p:nvSpPr>
          <p:cNvPr id="10" name="TextBox 10"/>
          <p:cNvSpPr/>
          <p:nvPr/>
        </p:nvSpPr>
        <p:spPr>
          <a:xfrm>
            <a:off x="720000" y="1980000"/>
            <a:ext cx="4320000" cy="108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4800" b="1">
                <a:solidFill>
                  <a:srgbClr val="FFFFFF"/>
                </a:solidFill>
                <a:latin typeface="Microsoft YaHei"/>
                <a:ea typeface="Microsoft YaHei"/>
              </a:rPr>
              <a:t>项目提案</a:t>
            </a:r>
          </a:p>
        </p:txBody>
      </p:sp>
      <p:sp>
        <p:nvSpPr>
          <p:cNvPr id="11" name="TextBox 11"/>
          <p:cNvSpPr/>
          <p:nvPr/>
        </p:nvSpPr>
        <p:spPr>
          <a:xfrm>
            <a:off x="720000" y="3240000"/>
            <a:ext cx="4320000" cy="54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3200" b="1">
                <a:solidFill>
                  <a:srgbClr val="D4A84B"/>
                </a:solidFill>
                <a:latin typeface="Arial"/>
                <a:ea typeface="Arial"/>
              </a:rPr>
              <a:t>PROPOSAL</a:t>
            </a:r>
          </a:p>
        </p:txBody>
      </p:sp>
      <p:sp>
        <p:nvSpPr>
          <p:cNvPr id="12" name="TextBox 12"/>
          <p:cNvSpPr/>
          <p:nvPr/>
        </p:nvSpPr>
        <p:spPr>
          <a:xfrm>
            <a:off x="720000" y="3960000"/>
            <a:ext cx="2880000" cy="36000"/>
          </a:xfrm>
          <a:prstGeom prst="rect">
            <a:avLst/>
          </a:prstGeom>
          <a:solidFill>
            <a:srgbClr val="D4A84B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720000" y="4320000"/>
            <a:ext cx="3600000" cy="288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400">
                <a:solidFill>
                  <a:srgbClr val="3498DB"/>
                </a:solidFill>
                <a:latin typeface="Microsoft YaHei"/>
                <a:ea typeface="Microsoft YaHei"/>
              </a:rPr>
              <a:t>企业数字化转型方案</a:t>
            </a:r>
          </a:p>
        </p:txBody>
      </p:sp>
      <p:sp>
        <p:nvSpPr>
          <p:cNvPr id="14" name="TextBox 14"/>
          <p:cNvSpPr/>
          <p:nvPr/>
        </p:nvSpPr>
        <p:spPr>
          <a:xfrm>
            <a:off x="720000" y="4752000"/>
            <a:ext cx="3600000" cy="21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2026年度重点项目立项报告</a:t>
            </a:r>
          </a:p>
        </p:txBody>
      </p:sp>
      <p:sp>
        <p:nvSpPr>
          <p:cNvPr id="15" name="TextBox 15"/>
          <p:cNvSpPr/>
          <p:nvPr/>
        </p:nvSpPr>
        <p:spPr>
          <a:xfrm>
            <a:off x="7200000" y="720000"/>
            <a:ext cx="4320000" cy="3240000"/>
          </a:xfrm>
          <a:prstGeom prst="round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7200000" y="720000"/>
            <a:ext cx="4320000" cy="54000"/>
          </a:xfrm>
          <a:prstGeom prst="rect">
            <a:avLst/>
          </a:prstGeom>
          <a:solidFill>
            <a:srgbClr val="D4A84B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7560000" y="1008000"/>
            <a:ext cx="3600000" cy="288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600" b="1">
                <a:solidFill>
                  <a:srgbClr val="1E3A5F"/>
                </a:solidFill>
                <a:latin typeface="Microsoft YaHei"/>
                <a:ea typeface="Microsoft YaHei"/>
              </a:rPr>
              <a:t>提案信息</a:t>
            </a:r>
          </a:p>
        </p:txBody>
      </p:sp>
      <p:sp>
        <p:nvSpPr>
          <p:cNvPr id="18" name="TextBox 18"/>
          <p:cNvSpPr/>
          <p:nvPr/>
        </p:nvSpPr>
        <p:spPr>
          <a:xfrm>
            <a:off x="7560000" y="1440000"/>
            <a:ext cx="1440000" cy="18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100">
                <a:solidFill>
                  <a:srgbClr val="95A5A6"/>
                </a:solidFill>
                <a:latin typeface="Microsoft YaHei"/>
                <a:ea typeface="Microsoft YaHei"/>
              </a:rPr>
              <a:t>项目编号</a:t>
            </a:r>
          </a:p>
        </p:txBody>
      </p:sp>
      <p:sp>
        <p:nvSpPr>
          <p:cNvPr id="19" name="TextBox 19"/>
          <p:cNvSpPr/>
          <p:nvPr/>
        </p:nvSpPr>
        <p:spPr>
          <a:xfrm>
            <a:off x="7560000" y="1620000"/>
            <a:ext cx="2160000" cy="21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400">
                <a:solidFill>
                  <a:srgbClr val="1E3A5F"/>
                </a:solidFill>
                <a:latin typeface="Arial"/>
                <a:ea typeface="Arial"/>
              </a:rPr>
              <a:t>PRJ-2026-0128</a:t>
            </a:r>
          </a:p>
        </p:txBody>
      </p:sp>
      <p:sp>
        <p:nvSpPr>
          <p:cNvPr id="20" name="TextBox 20"/>
          <p:cNvSpPr/>
          <p:nvPr/>
        </p:nvSpPr>
        <p:spPr>
          <a:xfrm>
            <a:off x="7560000" y="1980000"/>
            <a:ext cx="1440000" cy="18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100">
                <a:solidFill>
                  <a:srgbClr val="95A5A6"/>
                </a:solidFill>
                <a:latin typeface="Microsoft YaHei"/>
                <a:ea typeface="Microsoft YaHei"/>
              </a:rPr>
              <a:t>提案日期</a:t>
            </a:r>
          </a:p>
        </p:txBody>
      </p:sp>
      <p:sp>
        <p:nvSpPr>
          <p:cNvPr id="21" name="TextBox 21"/>
          <p:cNvSpPr/>
          <p:nvPr/>
        </p:nvSpPr>
        <p:spPr>
          <a:xfrm>
            <a:off x="7560000" y="2160000"/>
            <a:ext cx="2160000" cy="21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400">
                <a:solidFill>
                  <a:srgbClr val="1E3A5F"/>
                </a:solidFill>
                <a:latin typeface="Arial"/>
                <a:ea typeface="Arial"/>
              </a:rPr>
              <a:t>2026.03.21</a:t>
            </a:r>
          </a:p>
        </p:txBody>
      </p:sp>
      <p:sp>
        <p:nvSpPr>
          <p:cNvPr id="22" name="TextBox 22"/>
          <p:cNvSpPr/>
          <p:nvPr/>
        </p:nvSpPr>
        <p:spPr>
          <a:xfrm>
            <a:off x="7560000" y="2520000"/>
            <a:ext cx="1440000" cy="18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100">
                <a:solidFill>
                  <a:srgbClr val="95A5A6"/>
                </a:solidFill>
                <a:latin typeface="Microsoft YaHei"/>
                <a:ea typeface="Microsoft YaHei"/>
              </a:rPr>
              <a:t>提案部门</a:t>
            </a:r>
          </a:p>
        </p:txBody>
      </p:sp>
      <p:sp>
        <p:nvSpPr>
          <p:cNvPr id="23" name="TextBox 23"/>
          <p:cNvSpPr/>
          <p:nvPr/>
        </p:nvSpPr>
        <p:spPr>
          <a:xfrm>
            <a:off x="7560000" y="2700000"/>
            <a:ext cx="2160000" cy="21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400">
                <a:solidFill>
                  <a:srgbClr val="1E3A5F"/>
                </a:solidFill>
                <a:latin typeface="Microsoft YaHei"/>
                <a:ea typeface="Microsoft YaHei"/>
              </a:rPr>
              <a:t>战略发展部</a:t>
            </a:r>
          </a:p>
        </p:txBody>
      </p:sp>
      <p:sp>
        <p:nvSpPr>
          <p:cNvPr id="24" name="TextBox 24"/>
          <p:cNvSpPr/>
          <p:nvPr/>
        </p:nvSpPr>
        <p:spPr>
          <a:xfrm>
            <a:off x="7560000" y="3060000"/>
            <a:ext cx="1440000" cy="18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100">
                <a:solidFill>
                  <a:srgbClr val="95A5A6"/>
                </a:solidFill>
                <a:latin typeface="Microsoft YaHei"/>
                <a:ea typeface="Microsoft YaHei"/>
              </a:rPr>
              <a:t>项目负责人</a:t>
            </a:r>
          </a:p>
        </p:txBody>
      </p:sp>
      <p:sp>
        <p:nvSpPr>
          <p:cNvPr id="25" name="TextBox 25"/>
          <p:cNvSpPr/>
          <p:nvPr/>
        </p:nvSpPr>
        <p:spPr>
          <a:xfrm>
            <a:off x="7560000" y="3240000"/>
            <a:ext cx="2880000" cy="21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400">
                <a:solidFill>
                  <a:srgbClr val="1E3A5F"/>
                </a:solidFill>
                <a:latin typeface="Microsoft YaHei"/>
                <a:ea typeface="Microsoft YaHei"/>
              </a:rPr>
              <a:t>张明 / 项目总监</a:t>
            </a:r>
          </a:p>
        </p:txBody>
      </p:sp>
      <p:sp>
        <p:nvSpPr>
          <p:cNvPr id="26" name="TextBox 26"/>
          <p:cNvSpPr/>
          <p:nvPr/>
        </p:nvSpPr>
        <p:spPr>
          <a:xfrm>
            <a:off x="7200000" y="4320000"/>
            <a:ext cx="4320000" cy="1800000"/>
          </a:xfrm>
          <a:prstGeom prst="roundRect">
            <a:avLst/>
          </a:prstGeom>
          <a:solidFill>
            <a:srgbClr val="3498DB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" name="TextBox 27"/>
          <p:cNvSpPr/>
          <p:nvPr/>
        </p:nvSpPr>
        <p:spPr>
          <a:xfrm>
            <a:off x="7560000" y="4608000"/>
            <a:ext cx="1440000" cy="18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100">
                <a:solidFill>
                  <a:srgbClr val="FFFFFF"/>
                </a:solidFill>
                <a:latin typeface="Microsoft YaHei"/>
                <a:ea typeface="Microsoft YaHei"/>
              </a:rPr>
              <a:t>项目周期</a:t>
            </a:r>
          </a:p>
        </p:txBody>
      </p:sp>
      <p:sp>
        <p:nvSpPr>
          <p:cNvPr id="28" name="TextBox 28"/>
          <p:cNvSpPr/>
          <p:nvPr/>
        </p:nvSpPr>
        <p:spPr>
          <a:xfrm>
            <a:off x="7560000" y="4788000"/>
            <a:ext cx="2160000" cy="432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rial"/>
                <a:ea typeface="Arial"/>
              </a:rPr>
              <a:t>18个月</a:t>
            </a:r>
          </a:p>
        </p:txBody>
      </p:sp>
      <p:sp>
        <p:nvSpPr>
          <p:cNvPr id="29" name="TextBox 29"/>
          <p:cNvSpPr/>
          <p:nvPr/>
        </p:nvSpPr>
        <p:spPr>
          <a:xfrm>
            <a:off x="7560000" y="5328000"/>
            <a:ext cx="1440000" cy="18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100">
                <a:solidFill>
                  <a:srgbClr val="FFFFFF"/>
                </a:solidFill>
                <a:latin typeface="Microsoft YaHei"/>
                <a:ea typeface="Microsoft YaHei"/>
              </a:rPr>
              <a:t>预算金额</a:t>
            </a:r>
          </a:p>
        </p:txBody>
      </p:sp>
      <p:sp>
        <p:nvSpPr>
          <p:cNvPr id="30" name="TextBox 30"/>
          <p:cNvSpPr/>
          <p:nvPr/>
        </p:nvSpPr>
        <p:spPr>
          <a:xfrm>
            <a:off x="7560000" y="5508000"/>
            <a:ext cx="2160000" cy="432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2800" b="1">
                <a:solidFill>
                  <a:srgbClr val="D4A84B"/>
                </a:solidFill>
                <a:latin typeface="Arial"/>
                <a:ea typeface="Arial"/>
              </a:rPr>
              <a:t>￥580万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8EEF4"/>
        </a:solidFill>
      </p:bgPr>
    </p:bg>
    <p:spTree>
      <p:nvGrpSpPr>
        <p:cNvPr id="1" name=""/>
        <p:cNvGrpSpPr/>
        <p:nvPr/>
      </p:nvGrpSpPr>
      <p:grpSpPr/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8EEF4"/>
        </a:solidFill>
      </p:bgPr>
    </p:bg>
    <p:spTree>
      <p:nvGrpSpPr>
        <p:cNvPr id="1" name=""/>
        <p:cNvGrpSpPr/>
        <p:nvPr/>
      </p:nvGrpSpPr>
      <p:grpSpPr/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8EEF4"/>
        </a:solidFill>
      </p:bgPr>
    </p:bg>
    <p:spTree>
      <p:nvGrpSpPr>
        <p:cNvPr id="1" name=""/>
        <p:cNvGrpSpPr/>
        <p:nvPr/>
      </p:nvGrpSpPr>
      <p:grpSpPr/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8EEF4"/>
        </a:solidFill>
      </p:bgPr>
    </p:bg>
    <p:spTree>
      <p:nvGrpSpPr>
        <p:cNvPr id="1" name=""/>
        <p:cNvGrpSpPr/>
        <p:nvPr/>
      </p:nvGrpSpPr>
      <p:grpSpPr/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8EEF4"/>
        </a:solidFill>
      </p:bgPr>
    </p:bg>
    <p:spTree>
      <p:nvGrpSpPr>
        <p:cNvPr id="1" name=""/>
        <p:cNvGrpSpPr/>
        <p:nvPr/>
      </p:nvGrpSpPr>
      <p:grpSpPr/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8EEF4"/>
        </a:solidFill>
      </p:bgPr>
    </p:bg>
    <p:spTree>
      <p:nvGrpSpPr>
        <p:cNvPr id="1" name=""/>
        <p:cNvGrpSpPr/>
        <p:nvPr/>
      </p:nvGrpSpPr>
      <p:grpSpPr/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8EEF4"/>
        </a:solidFill>
      </p:bgPr>
    </p:bg>
    <p:spTree>
      <p:nvGrpSpPr>
        <p:cNvPr id="1" name=""/>
        <p:cNvGrpSpPr/>
        <p:nvPr/>
      </p:nvGrpSpPr>
      <p:grpSpPr/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