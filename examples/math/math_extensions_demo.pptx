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4a5456bcd6b428f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c751f0c9bd6d4d6d"/>
    <p:sldId id="257" r:id="R1256c67722cc4efb"/>
    <p:sldId id="258" r:id="Rfbeb3bc16d4b48be"/>
    <p:sldId id="259" r:id="R63ab7e6c15794b90"/>
    <p:sldId id="260" r:id="Rf89a415ce1cb4f02"/>
    <p:sldId id="261" r:id="R6f6d20a203e1451b"/>
    <p:sldId id="262" r:id="Rff427f84997b4ee9"/>
    <p:sldId id="263" r:id="R52dd52ebe0b446ad"/>
    <p:sldId id="264" r:id="Rd34bffa8bc40489e"/>
    <p:sldId id="265" r:id="Rfcc0dd498f5d47f4"/>
    <p:sldId id="266" r:id="Rce2fc854d7d1442f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c751f0c9bd6d4d6d" /><Relationship Type="http://schemas.openxmlformats.org/officeDocument/2006/relationships/slide" Target="/ppt/slides/slide2.xml" Id="R1256c67722cc4efb" /><Relationship Type="http://schemas.openxmlformats.org/officeDocument/2006/relationships/slide" Target="/ppt/slides/slide3.xml" Id="Rfbeb3bc16d4b48be" /><Relationship Type="http://schemas.openxmlformats.org/officeDocument/2006/relationships/slide" Target="/ppt/slides/slide4.xml" Id="R63ab7e6c15794b90" /><Relationship Type="http://schemas.openxmlformats.org/officeDocument/2006/relationships/slide" Target="/ppt/slides/slide5.xml" Id="Rf89a415ce1cb4f02" /><Relationship Type="http://schemas.openxmlformats.org/officeDocument/2006/relationships/slide" Target="/ppt/slides/slide6.xml" Id="R6f6d20a203e1451b" /><Relationship Type="http://schemas.openxmlformats.org/officeDocument/2006/relationships/slide" Target="/ppt/slides/slide7.xml" Id="Rff427f84997b4ee9" /><Relationship Type="http://schemas.openxmlformats.org/officeDocument/2006/relationships/slide" Target="/ppt/slides/slide8.xml" Id="R52dd52ebe0b446ad" /><Relationship Type="http://schemas.openxmlformats.org/officeDocument/2006/relationships/slide" Target="/ppt/slides/slide9.xml" Id="Rd34bffa8bc40489e" /><Relationship Type="http://schemas.openxmlformats.org/officeDocument/2006/relationships/slide" Target="/ppt/slides/slide10.xml" Id="Rfcc0dd498f5d47f4" /><Relationship Type="http://schemas.openxmlformats.org/officeDocument/2006/relationships/slide" Target="/ppt/slides/slide11.xml" Id="Rce2fc854d7d1442f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90556b051649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e96e461593465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0a6f8e48049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113816cea34ff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9a656cf66949bf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3c2c4ebd74843d7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857c651e44a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336f132be47c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19987b0a4145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642c0218b941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bb5cadd7ac48c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f6c39fb22241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e5de064cd4f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076a589e04d2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13a4e53b2441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0dd53e19d40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97f5119ab4c23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OfficeCLI Math Extensions</a:t>
            </a:r>
          </a:p>
        </p:txBody>
      </p:sp>
      <p:sp>
        <p:nvSpPr>
          <p:cNvPr id="3" name="TextBox 3"/>
          <p:cNvSpPr/>
          <p:nvPr/>
        </p:nvSpPr>
        <p:spPr>
          <a:xfrm>
            <a:off x="720000" y="1080000"/>
            <a:ext cx="10800000" cy="72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LaTeX → OMML Converter Fixes</a:t>
            </a:r>
          </a:p>
        </p:txBody>
      </p:sp>
      <p:sp>
        <p:nvSpPr>
          <p:cNvPr id="4" name="TextBox 4"/>
          <p:cNvSpPr/>
          <p:nvPr/>
        </p:nvSpPr>
        <p:spPr>
          <a:xfrm>
            <a:off x="720000" y="2160000"/>
            <a:ext cx="10800000" cy="108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000">
                <a:solidFill>
                  <a:srgbClr val="AAAACC"/>
                </a:solidFill>
                <a:latin typeface="Calibri"/>
                <a:ea typeface="Calibri"/>
              </a:rPr>
              <a:t>10 constructs that previously rendered as literal text</a:t>
            </a:r>
          </a:p>
          <a:p>
            <a:pPr algn="ctr"/>
            <a:r>
              <a:rPr lang="en-US" sz="2000">
                <a:solidFill>
                  <a:srgbClr val="AAAACC"/>
                </a:solidFill>
                <a:latin typeface="Calibri"/>
                <a:ea typeface="Calibri"/>
              </a:rPr>
              <a:t>now generate proper Office Math (OMML)</a:t>
            </a:r>
          </a:p>
        </p:txBody>
      </p:sp>
      <p:sp>
        <p:nvSpPr>
          <p:cNvPr id="5" name="TextBox 5"/>
          <p:cNvSpPr/>
          <p:nvPr/>
        </p:nvSpPr>
        <p:spPr>
          <a:xfrm>
            <a:off x="720000" y="5040000"/>
            <a:ext cx="10800000" cy="5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600">
                <a:solidFill>
                  <a:srgbClr val="666688"/>
                </a:solidFill>
                <a:latin typeface="Calibri"/>
                <a:ea typeface="Calibri"/>
              </a:rPr>
              <a:t>FormulaParser.cs  •  278 lines added  •  0 errors  •  100% validation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360000" y="180000"/>
            <a:ext cx="11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Calibri"/>
                <a:ea typeface="Calibri"/>
              </a:rPr>
              <a:t>1. \boxed{}</a:t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720000"/>
            <a:ext cx="11520000" cy="432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555555"/>
                </a:solidFill>
                <a:latin typeface="Calibri"/>
                <a:ea typeface="Calibri"/>
              </a:rPr>
              <a:t>Wraps an equation in a visible border — used for highlighting final answers</a:t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CC0000"/>
                </a:solidFill>
                <a:latin typeface="Calibri"/>
                <a:ea typeface="Calibri"/>
              </a:rPr>
              <a:t>BEFORE</a:t>
            </a:r>
          </a:p>
        </p:txBody>
      </p:sp>
      <p:sp>
        <p:nvSpPr>
          <p:cNvPr id="5" name="TextBox 5"/>
          <p:cNvSpPr/>
          <p:nvPr/>
        </p:nvSpPr>
        <p:spPr>
          <a:xfrm>
            <a:off x="360000" y="1800000"/>
            <a:ext cx="5400000" cy="720000"/>
          </a:xfrm>
          <a:prstGeom prst="rect">
            <a:avLst/>
          </a:prstGeom>
          <a:solidFill>
            <a:srgbClr val="FFF0F0"/>
          </a:solidFill>
        </p:spPr>
        <p:txBody>
          <a:bodyPr/>
          <a:lstStyle/>
          <a:p>
            <a:r>
              <a:rPr lang="en-US" sz="2000">
                <a:solidFill>
                  <a:srgbClr val="CC0000"/>
                </a:solidFill>
                <a:latin typeface="Courier New"/>
                <a:ea typeface="Courier New"/>
              </a:rPr>
              <a:t>\boxedx = 5</a:t>
            </a:r>
          </a:p>
        </p:txBody>
      </p:sp>
      <p:sp>
        <p:nvSpPr>
          <p:cNvPr id="6" name="TextBox 6"/>
          <p:cNvSpPr/>
          <p:nvPr/>
        </p:nvSpPr>
        <p:spPr>
          <a:xfrm>
            <a:off x="360000" y="2592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200" i="1">
                <a:solidFill>
                  <a:srgbClr val="999999"/>
                </a:solidFill>
                <a:latin typeface="Calibri"/>
                <a:ea typeface="Calibri"/>
              </a:rPr>
              <a:t>(literal backslash text — not rendered)</a:t>
            </a:r>
          </a:p>
        </p:txBody>
      </p:sp>
      <p:sp>
        <p:nvSpPr>
          <p:cNvPr id="7" name="TextBox 7"/>
          <p:cNvSpPr/>
          <p:nvPr/>
        </p:nvSpPr>
        <p:spPr>
          <a:xfrm>
            <a:off x="648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008800"/>
                </a:solidFill>
                <a:latin typeface="Calibri"/>
                <a:ea typeface="Calibri"/>
              </a:rPr>
              <a:t>AFTER</a:t>
            </a:r>
          </a:p>
        </p:txBody>
      </p:sp>
      <p:sp>
        <p:nvSpPr>
          <p:cNvPr id="8" name="Equation 8"/>
          <p:cNvSpPr/>
          <p:nvPr/>
        </p:nvSpPr>
        <p:spPr>
          <a:xfrm>
            <a:off x="6480000" y="1800000"/>
            <a:ext cx="5400000" cy="72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borderBox>
                        <m:borderBoxPr/>
                        <m:e>
                          <m:r>
                            <m:t xml:space="preserve">x = 5</m:t>
                          </m:r>
                        </m:e>
                      </m:borderBox>
                    </m:oMath>
                  </m:oMathPara>
                </a14:m>
              </mc:Choice>
              <mc:Fallback>
                <a:r>
                  <a:rPr lang="en-US"/>
                  <a:t>x = 5</a:t>
                </a:r>
              </mc:Fallback>
            </mc:AlternateContent>
          </a:p>
        </p:txBody>
      </p:sp>
      <p:sp>
        <p:nvSpPr>
          <p:cNvPr id="9" name="TextBox 9"/>
          <p:cNvSpPr/>
          <p:nvPr/>
        </p:nvSpPr>
        <p:spPr>
          <a:xfrm>
            <a:off x="6480000" y="2592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200" i="1">
                <a:solidFill>
                  <a:srgbClr val="999999"/>
                </a:solidFill>
                <a:latin typeface="Calibri"/>
                <a:ea typeface="Calibri"/>
              </a:rPr>
              <a:t>m:borderBox — renders natively in Word/PPT</a:t>
            </a:r>
          </a:p>
        </p:txBody>
      </p:sp>
      <p:sp>
        <p:nvSpPr>
          <p:cNvPr id="10" name="TextBox 10"/>
          <p:cNvSpPr/>
          <p:nvPr/>
        </p:nvSpPr>
        <p:spPr>
          <a:xfrm>
            <a:off x="360000" y="3420000"/>
            <a:ext cx="11520000" cy="432000"/>
          </a:xfrm>
          <a:prstGeom prst="rect">
            <a:avLst/>
          </a:prstGeom>
          <a:solidFill>
            <a:srgbClr val="F0F0FF"/>
          </a:solidFill>
        </p:spPr>
        <p:txBody>
          <a:bodyPr/>
          <a:lstStyle/>
          <a:p>
            <a:r>
              <a:rPr lang="en-US" sz="1400">
                <a:solidFill>
                  <a:srgbClr val="333366"/>
                </a:solidFill>
                <a:latin typeface="Courier New"/>
                <a:ea typeface="Courier New"/>
              </a:rPr>
              <a:t>LaTeX: \boxed{x = 5}</a:t>
            </a:r>
          </a:p>
        </p:txBody>
      </p:sp>
      <p:sp>
        <p:nvSpPr>
          <p:cNvPr id="11" name="TextBox 11"/>
          <p:cNvSpPr/>
          <p:nvPr/>
        </p:nvSpPr>
        <p:spPr>
          <a:xfrm>
            <a:off x="360000" y="3960000"/>
            <a:ext cx="11520000" cy="432000"/>
          </a:xfrm>
          <a:prstGeom prst="rect">
            <a:avLst/>
          </a:prstGeom>
          <a:solidFill>
            <a:srgbClr val="F0FFF0"/>
          </a:solidFill>
        </p:spPr>
        <p:txBody>
          <a:bodyPr/>
          <a:lstStyle/>
          <a:p>
            <a:r>
              <a:rPr lang="en-US" sz="1200">
                <a:solidFill>
                  <a:srgbClr val="336633"/>
                </a:solidFill>
                <a:latin typeface="Courier New"/>
                <a:ea typeface="Courier New"/>
              </a:rPr>
              <a:t>OMML: &lt;m:borderBox&gt;&lt;m:e&gt;&lt;m:r&gt;&lt;m:t&gt;x = 5&lt;/m:t&gt;&lt;/m:r&gt;&lt;/m:e&gt;&lt;/m:borderBox&gt;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360000" y="180000"/>
            <a:ext cx="11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Calibri"/>
                <a:ea typeface="Calibri"/>
              </a:rPr>
              <a:t>2. \underbrace{}_{label}</a:t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720000"/>
            <a:ext cx="11520000" cy="432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555555"/>
                </a:solidFill>
                <a:latin typeface="Calibri"/>
                <a:ea typeface="Calibri"/>
              </a:rPr>
              <a:t>Groups expression with a brace below and a label — common in proofs and derivations</a:t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CC0000"/>
                </a:solidFill>
                <a:latin typeface="Calibri"/>
                <a:ea typeface="Calibri"/>
              </a:rPr>
              <a:t>BEFORE</a:t>
            </a:r>
          </a:p>
        </p:txBody>
      </p:sp>
      <p:sp>
        <p:nvSpPr>
          <p:cNvPr id="5" name="TextBox 5"/>
          <p:cNvSpPr/>
          <p:nvPr/>
        </p:nvSpPr>
        <p:spPr>
          <a:xfrm>
            <a:off x="360000" y="1800000"/>
            <a:ext cx="5400000" cy="900000"/>
          </a:xfrm>
          <a:prstGeom prst="rect">
            <a:avLst/>
          </a:prstGeom>
          <a:solidFill>
            <a:srgbClr val="FFF0F0"/>
          </a:solidFill>
        </p:spPr>
        <p:txBody>
          <a:bodyPr/>
          <a:lstStyle/>
          <a:p>
            <a:r>
              <a:rPr lang="en-US" sz="1800">
                <a:solidFill>
                  <a:srgbClr val="CC0000"/>
                </a:solidFill>
                <a:latin typeface="Courier New"/>
                <a:ea typeface="Courier New"/>
              </a:rPr>
              <a:t>\underbracex + x + ... + x_n times  (mangled Unicode)</a:t>
            </a:r>
          </a:p>
        </p:txBody>
      </p:sp>
      <p:sp>
        <p:nvSpPr>
          <p:cNvPr id="6" name="TextBox 6"/>
          <p:cNvSpPr/>
          <p:nvPr/>
        </p:nvSpPr>
        <p:spPr>
          <a:xfrm>
            <a:off x="648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008800"/>
                </a:solidFill>
                <a:latin typeface="Calibri"/>
                <a:ea typeface="Calibri"/>
              </a:rPr>
              <a:t>AFTER</a:t>
            </a:r>
          </a:p>
        </p:txBody>
      </p:sp>
      <p:sp>
        <p:nvSpPr>
          <p:cNvPr id="7" name="Equation 7"/>
          <p:cNvSpPr/>
          <p:nvPr/>
        </p:nvSpPr>
        <p:spPr>
          <a:xfrm>
            <a:off x="6480000" y="1800000"/>
            <a:ext cx="5400000" cy="90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limLow>
                        <m:limLowPr/>
                        <m:e>
                          <m:groupChr>
                            <m:groupChrPr>
                              <m:chr m:val="⏟"/>
                              <m:pos m:val="bot"/>
                            </m:groupChrPr>
                            <m:e>
                              <m:r>
                                <m:t xml:space="preserve">x + x + </m:t>
                              </m:r>
                              <m:r>
                                <m:t xml:space="preserve">⋯</m:t>
                              </m:r>
                              <m:r>
                                <m:t xml:space="preserve"> + x</m:t>
                              </m:r>
                            </m:e>
                          </m:groupChr>
                        </m:e>
                        <m:lim>
                          <m:r>
                            <m:t xml:space="preserve">n </m:t>
                          </m:r>
                          <m:r>
                            <m:rPr>
                              <m:nor/>
                            </m:rPr>
                            <m:t xml:space="preserve"> times</m:t>
                          </m:r>
                        </m:lim>
                      </m:limLow>
                    </m:oMath>
                  </m:oMathPara>
                </a14:m>
              </mc:Choice>
              <mc:Fallback>
                <a:r>
                  <a:rPr lang="en-US"/>
                  <a:t>x + x + ⋯ + x(n  times)</a:t>
                </a:r>
              </mc:Fallback>
            </mc:AlternateContent>
          </a:p>
        </p:txBody>
      </p:sp>
      <p:sp>
        <p:nvSpPr>
          <p:cNvPr id="8" name="TextBox 8"/>
          <p:cNvSpPr/>
          <p:nvPr/>
        </p:nvSpPr>
        <p:spPr>
          <a:xfrm>
            <a:off x="360000" y="3240000"/>
            <a:ext cx="11520000" cy="432000"/>
          </a:xfrm>
          <a:prstGeom prst="rect">
            <a:avLst/>
          </a:prstGeom>
          <a:solidFill>
            <a:srgbClr val="F0F0FF"/>
          </a:solidFill>
        </p:spPr>
        <p:txBody>
          <a:bodyPr/>
          <a:lstStyle/>
          <a:p>
            <a:r>
              <a:rPr lang="en-US" sz="1300">
                <a:solidFill>
                  <a:srgbClr val="333366"/>
                </a:solidFill>
                <a:latin typeface="Courier New"/>
                <a:ea typeface="Courier New"/>
              </a:rPr>
              <a:t>LaTeX: \underbrace{x + x + \cdots + x}_{n \text{ times}}</a:t>
            </a:r>
          </a:p>
        </p:txBody>
      </p:sp>
      <p:sp>
        <p:nvSpPr>
          <p:cNvPr id="9" name="TextBox 9"/>
          <p:cNvSpPr/>
          <p:nvPr/>
        </p:nvSpPr>
        <p:spPr>
          <a:xfrm>
            <a:off x="360000" y="3780000"/>
            <a:ext cx="11520000" cy="432000"/>
          </a:xfrm>
          <a:prstGeom prst="rect">
            <a:avLst/>
          </a:prstGeom>
          <a:solidFill>
            <a:srgbClr val="F0FFF0"/>
          </a:solidFill>
        </p:spPr>
        <p:txBody>
          <a:bodyPr/>
          <a:lstStyle/>
          <a:p>
            <a:r>
              <a:rPr lang="en-US" sz="1100">
                <a:solidFill>
                  <a:srgbClr val="336633"/>
                </a:solidFill>
                <a:latin typeface="Courier New"/>
                <a:ea typeface="Courier New"/>
              </a:rPr>
              <a:t>OMML: &lt;m:groupChr chr="⏟" pos="bot"&gt; + &lt;m:limLow&gt;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360000" y="180000"/>
            <a:ext cx="11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Calibri"/>
                <a:ea typeface="Calibri"/>
              </a:rPr>
              <a:t>3. \color{name}{expr}</a:t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720000"/>
            <a:ext cx="11520000" cy="432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555555"/>
                </a:solidFill>
                <a:latin typeface="Calibri"/>
                <a:ea typeface="Calibri"/>
              </a:rPr>
              <a:t>Colors individual terms in equations — essential for teaching steps and highlighting</a:t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CC0000"/>
                </a:solidFill>
                <a:latin typeface="Calibri"/>
                <a:ea typeface="Calibri"/>
              </a:rPr>
              <a:t>BEFORE</a:t>
            </a:r>
          </a:p>
        </p:txBody>
      </p:sp>
      <p:sp>
        <p:nvSpPr>
          <p:cNvPr id="5" name="TextBox 5"/>
          <p:cNvSpPr/>
          <p:nvPr/>
        </p:nvSpPr>
        <p:spPr>
          <a:xfrm>
            <a:off x="360000" y="1800000"/>
            <a:ext cx="5400000" cy="900000"/>
          </a:xfrm>
          <a:prstGeom prst="rect">
            <a:avLst/>
          </a:prstGeom>
          <a:solidFill>
            <a:srgbClr val="FFF0F0"/>
          </a:solidFill>
        </p:spPr>
        <p:txBody>
          <a:bodyPr/>
          <a:lstStyle/>
          <a:p>
            <a:r>
              <a:rPr lang="en-US" sz="1800">
                <a:solidFill>
                  <a:srgbClr val="CC0000"/>
                </a:solidFill>
                <a:latin typeface="Courier New"/>
                <a:ea typeface="Courier New"/>
              </a:rPr>
              <a:t>\colorredx + \colorbluey  (literal text)</a:t>
            </a:r>
          </a:p>
        </p:txBody>
      </p:sp>
      <p:sp>
        <p:nvSpPr>
          <p:cNvPr id="6" name="TextBox 6"/>
          <p:cNvSpPr/>
          <p:nvPr/>
        </p:nvSpPr>
        <p:spPr>
          <a:xfrm>
            <a:off x="648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008800"/>
                </a:solidFill>
                <a:latin typeface="Calibri"/>
                <a:ea typeface="Calibri"/>
              </a:rPr>
              <a:t>AFTER</a:t>
            </a:r>
          </a:p>
        </p:txBody>
      </p:sp>
      <p:sp>
        <p:nvSpPr>
          <p:cNvPr id="7" name="Equation 7"/>
          <p:cNvSpPr/>
          <p:nvPr/>
        </p:nvSpPr>
        <p:spPr>
          <a:xfrm>
            <a:off x="6480000" y="1800000"/>
            <a:ext cx="5400000" cy="90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r>
                        <w:rPr xmlns:w="http://schemas.openxmlformats.org/wordprocessingml/2006/main">
                          <w:color w:val="FF0000"/>
                        </w:rPr>
                        <m:t xml:space="preserve">x</m:t>
                      </m:r>
                      <m:r>
                        <m:t xml:space="preserve"> + </m:t>
                      </m:r>
                      <m:r>
                        <w:rPr xmlns:w="http://schemas.openxmlformats.org/wordprocessingml/2006/main">
                          <w:color w:val="0000FF"/>
                        </w:rPr>
                        <m:t xml:space="preserve">y</m:t>
                      </m:r>
                    </m:oMath>
                  </m:oMathPara>
                </a14:m>
              </mc:Choice>
              <mc:Fallback>
                <a:r>
                  <a:rPr lang="en-US"/>
                  <a:t>x + y</a:t>
                </a:r>
              </mc:Fallback>
            </mc:AlternateContent>
          </a:p>
        </p:txBody>
      </p:sp>
      <p:sp>
        <p:nvSpPr>
          <p:cNvPr id="8" name="TextBox 8"/>
          <p:cNvSpPr/>
          <p:nvPr/>
        </p:nvSpPr>
        <p:spPr>
          <a:xfrm>
            <a:off x="360000" y="3240000"/>
            <a:ext cx="11520000" cy="432000"/>
          </a:xfrm>
          <a:prstGeom prst="rect">
            <a:avLst/>
          </a:prstGeom>
          <a:solidFill>
            <a:srgbClr val="F0F0FF"/>
          </a:solidFill>
        </p:spPr>
        <p:txBody>
          <a:bodyPr/>
          <a:lstStyle/>
          <a:p>
            <a:r>
              <a:rPr lang="en-US" sz="1300">
                <a:solidFill>
                  <a:srgbClr val="333366"/>
                </a:solidFill>
                <a:latin typeface="Courier New"/>
                <a:ea typeface="Courier New"/>
              </a:rPr>
              <a:t>LaTeX: \color{red}{x} + \color{blue}{y}</a:t>
            </a:r>
          </a:p>
        </p:txBody>
      </p:sp>
      <p:sp>
        <p:nvSpPr>
          <p:cNvPr id="9" name="TextBox 9"/>
          <p:cNvSpPr/>
          <p:nvPr/>
        </p:nvSpPr>
        <p:spPr>
          <a:xfrm>
            <a:off x="360000" y="3780000"/>
            <a:ext cx="11520000" cy="432000"/>
          </a:xfrm>
          <a:prstGeom prst="rect">
            <a:avLst/>
          </a:prstGeom>
          <a:solidFill>
            <a:srgbClr val="F0FFF0"/>
          </a:solidFill>
        </p:spPr>
        <p:txBody>
          <a:bodyPr/>
          <a:lstStyle/>
          <a:p>
            <a:r>
              <a:rPr lang="en-US" sz="1100">
                <a:solidFill>
                  <a:srgbClr val="336633"/>
                </a:solidFill>
                <a:latin typeface="Courier New"/>
                <a:ea typeface="Courier New"/>
              </a:rPr>
              <a:t>OMML: &lt;m:r&gt;&lt;w:rPr&gt;&lt;w:color val="FF0000"/&gt;&lt;/w:rPr&gt;&lt;m:t&gt;x&lt;/m:t&gt;&lt;/m:r&gt;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360000" y="180000"/>
            <a:ext cx="11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Calibri"/>
                <a:ea typeface="Calibri"/>
              </a:rPr>
              <a:t>4. \cancel{}</a:t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720000"/>
            <a:ext cx="11520000" cy="432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555555"/>
                </a:solidFill>
                <a:latin typeface="Calibri"/>
                <a:ea typeface="Calibri"/>
              </a:rPr>
              <a:t>Strikethrough for showing cancellation in simplification steps</a:t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CC0000"/>
                </a:solidFill>
                <a:latin typeface="Calibri"/>
                <a:ea typeface="Calibri"/>
              </a:rPr>
              <a:t>BEFORE</a:t>
            </a:r>
          </a:p>
        </p:txBody>
      </p:sp>
      <p:sp>
        <p:nvSpPr>
          <p:cNvPr id="5" name="TextBox 5"/>
          <p:cNvSpPr/>
          <p:nvPr/>
        </p:nvSpPr>
        <p:spPr>
          <a:xfrm>
            <a:off x="360000" y="1800000"/>
            <a:ext cx="5400000" cy="900000"/>
          </a:xfrm>
          <a:prstGeom prst="rect">
            <a:avLst/>
          </a:prstGeom>
          <a:solidFill>
            <a:srgbClr val="FFF0F0"/>
          </a:solidFill>
        </p:spPr>
        <p:txBody>
          <a:bodyPr/>
          <a:lstStyle/>
          <a:p>
            <a:r>
              <a:rPr lang="en-US" sz="1800">
                <a:solidFill>
                  <a:srgbClr val="CC0000"/>
                </a:solidFill>
                <a:latin typeface="Courier New"/>
                <a:ea typeface="Courier New"/>
              </a:rPr>
              <a:t>3̸x = 3̸ · 5  (Unicode combining hack)</a:t>
            </a:r>
          </a:p>
        </p:txBody>
      </p:sp>
      <p:sp>
        <p:nvSpPr>
          <p:cNvPr id="6" name="TextBox 6"/>
          <p:cNvSpPr/>
          <p:nvPr/>
        </p:nvSpPr>
        <p:spPr>
          <a:xfrm>
            <a:off x="648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008800"/>
                </a:solidFill>
                <a:latin typeface="Calibri"/>
                <a:ea typeface="Calibri"/>
              </a:rPr>
              <a:t>AFTER</a:t>
            </a:r>
          </a:p>
        </p:txBody>
      </p:sp>
      <p:sp>
        <p:nvSpPr>
          <p:cNvPr id="7" name="Equation 7"/>
          <p:cNvSpPr/>
          <p:nvPr/>
        </p:nvSpPr>
        <p:spPr>
          <a:xfrm>
            <a:off x="6480000" y="1800000"/>
            <a:ext cx="5400000" cy="90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borderBox>
                        <m:borderBoxPr>
                          <m:strikeH m:val="true"/>
                        </m:borderBoxPr>
                        <m:e>
                          <m:r>
                            <m:t xml:space="preserve">3</m:t>
                          </m:r>
                        </m:e>
                      </m:borderBox>
                      <m:r>
                        <m:t xml:space="preserve">x = </m:t>
                      </m:r>
                      <m:borderBox>
                        <m:borderBoxPr>
                          <m:strikeH m:val="true"/>
                        </m:borderBoxPr>
                        <m:e>
                          <m:r>
                            <m:t xml:space="preserve">3</m:t>
                          </m:r>
                        </m:e>
                      </m:borderBox>
                      <m:r>
                        <m:t xml:space="preserve"> </m:t>
                      </m:r>
                      <m:r>
                        <m:t xml:space="preserve">·</m:t>
                      </m:r>
                      <m:r>
                        <m:t xml:space="preserve"> 5</m:t>
                      </m:r>
                    </m:oMath>
                  </m:oMathPara>
                </a14:m>
              </mc:Choice>
              <mc:Fallback>
                <a:r>
                  <a:rPr lang="en-US"/>
                  <a:t>3x = 3 · 5</a:t>
                </a:r>
              </mc:Fallback>
            </mc:AlternateContent>
          </a:p>
        </p:txBody>
      </p:sp>
      <p:sp>
        <p:nvSpPr>
          <p:cNvPr id="8" name="TextBox 8"/>
          <p:cNvSpPr/>
          <p:nvPr/>
        </p:nvSpPr>
        <p:spPr>
          <a:xfrm>
            <a:off x="360000" y="3240000"/>
            <a:ext cx="11520000" cy="432000"/>
          </a:xfrm>
          <a:prstGeom prst="rect">
            <a:avLst/>
          </a:prstGeom>
          <a:solidFill>
            <a:srgbClr val="F0F0FF"/>
          </a:solidFill>
        </p:spPr>
        <p:txBody>
          <a:bodyPr/>
          <a:lstStyle/>
          <a:p>
            <a:r>
              <a:rPr lang="en-US" sz="1300">
                <a:solidFill>
                  <a:srgbClr val="333366"/>
                </a:solidFill>
                <a:latin typeface="Courier New"/>
                <a:ea typeface="Courier New"/>
              </a:rPr>
              <a:t>LaTeX: \cancel{3}x = \cancel{3} \cdot 5</a:t>
            </a:r>
          </a:p>
        </p:txBody>
      </p:sp>
      <p:sp>
        <p:nvSpPr>
          <p:cNvPr id="9" name="TextBox 9"/>
          <p:cNvSpPr/>
          <p:nvPr/>
        </p:nvSpPr>
        <p:spPr>
          <a:xfrm>
            <a:off x="360000" y="3780000"/>
            <a:ext cx="11520000" cy="432000"/>
          </a:xfrm>
          <a:prstGeom prst="rect">
            <a:avLst/>
          </a:prstGeom>
          <a:solidFill>
            <a:srgbClr val="F0FFF0"/>
          </a:solidFill>
        </p:spPr>
        <p:txBody>
          <a:bodyPr/>
          <a:lstStyle/>
          <a:p>
            <a:r>
              <a:rPr lang="en-US" sz="1100">
                <a:solidFill>
                  <a:srgbClr val="336633"/>
                </a:solidFill>
                <a:latin typeface="Courier New"/>
                <a:ea typeface="Courier New"/>
              </a:rPr>
              <a:t>OMML: &lt;m:borderBox&gt;&lt;m:borderBoxPr&gt;&lt;m:strikeH/&gt;&lt;/m:borderBoxPr&gt;...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360000" y="180000"/>
            <a:ext cx="11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Calibri"/>
                <a:ea typeface="Calibri"/>
              </a:rPr>
              <a:t>5. \pmod{n}</a:t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720000"/>
            <a:ext cx="11520000" cy="432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555555"/>
                </a:solidFill>
                <a:latin typeface="Calibri"/>
                <a:ea typeface="Calibri"/>
              </a:rPr>
              <a:t>Parenthesized modular arithmetic — used in number theory and discrete math</a:t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CC0000"/>
                </a:solidFill>
                <a:latin typeface="Calibri"/>
                <a:ea typeface="Calibri"/>
              </a:rPr>
              <a:t>BEFORE</a:t>
            </a:r>
          </a:p>
        </p:txBody>
      </p:sp>
      <p:sp>
        <p:nvSpPr>
          <p:cNvPr id="5" name="TextBox 5"/>
          <p:cNvSpPr/>
          <p:nvPr/>
        </p:nvSpPr>
        <p:spPr>
          <a:xfrm>
            <a:off x="360000" y="1800000"/>
            <a:ext cx="5400000" cy="900000"/>
          </a:xfrm>
          <a:prstGeom prst="rect">
            <a:avLst/>
          </a:prstGeom>
          <a:solidFill>
            <a:srgbClr val="FFF0F0"/>
          </a:solidFill>
        </p:spPr>
        <p:txBody>
          <a:bodyPr/>
          <a:lstStyle/>
          <a:p>
            <a:r>
              <a:rPr lang="en-US" sz="1800">
                <a:solidFill>
                  <a:srgbClr val="CC0000"/>
                </a:solidFill>
                <a:latin typeface="Courier New"/>
                <a:ea typeface="Courier New"/>
              </a:rPr>
              <a:t>\pmodn  (literal text, no parens)</a:t>
            </a:r>
          </a:p>
        </p:txBody>
      </p:sp>
      <p:sp>
        <p:nvSpPr>
          <p:cNvPr id="6" name="TextBox 6"/>
          <p:cNvSpPr/>
          <p:nvPr/>
        </p:nvSpPr>
        <p:spPr>
          <a:xfrm>
            <a:off x="648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008800"/>
                </a:solidFill>
                <a:latin typeface="Calibri"/>
                <a:ea typeface="Calibri"/>
              </a:rPr>
              <a:t>AFTER</a:t>
            </a:r>
          </a:p>
        </p:txBody>
      </p:sp>
      <p:sp>
        <p:nvSpPr>
          <p:cNvPr id="7" name="Equation 7"/>
          <p:cNvSpPr/>
          <p:nvPr/>
        </p:nvSpPr>
        <p:spPr>
          <a:xfrm>
            <a:off x="6480000" y="1800000"/>
            <a:ext cx="5400000" cy="90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r>
                        <m:t xml:space="preserve">a </m:t>
                      </m:r>
                      <m:r>
                        <m:t xml:space="preserve">≡</m:t>
                      </m:r>
                      <m:r>
                        <m:t xml:space="preserve"> b </m:t>
                      </m:r>
                      <m:d>
                        <m:dPr/>
                        <m:e>
                          <m:r>
                            <m:rPr>
                              <m:nor/>
                            </m:rPr>
                            <m:t xml:space="preserve">mod</m:t>
                          </m:r>
                          <m:r>
                            <m:t xml:space="preserve"> </m:t>
                          </m:r>
                          <m:r>
                            <m:t xml:space="preserve">n</m:t>
                          </m:r>
                        </m:e>
                      </m:d>
                    </m:oMath>
                  </m:oMathPara>
                </a14:m>
              </mc:Choice>
              <mc:Fallback>
                <a:r>
                  <a:rPr lang="en-US"/>
                  <a:t>a ≡ b (mod n)</a:t>
                </a:r>
              </mc:Fallback>
            </mc:AlternateContent>
          </a:p>
        </p:txBody>
      </p:sp>
      <p:sp>
        <p:nvSpPr>
          <p:cNvPr id="8" name="TextBox 8"/>
          <p:cNvSpPr/>
          <p:nvPr/>
        </p:nvSpPr>
        <p:spPr>
          <a:xfrm>
            <a:off x="360000" y="3240000"/>
            <a:ext cx="11520000" cy="432000"/>
          </a:xfrm>
          <a:prstGeom prst="rect">
            <a:avLst/>
          </a:prstGeom>
          <a:solidFill>
            <a:srgbClr val="F0F0FF"/>
          </a:solidFill>
        </p:spPr>
        <p:txBody>
          <a:bodyPr/>
          <a:lstStyle/>
          <a:p>
            <a:r>
              <a:rPr lang="en-US" sz="1300">
                <a:solidFill>
                  <a:srgbClr val="333366"/>
                </a:solidFill>
                <a:latin typeface="Courier New"/>
                <a:ea typeface="Courier New"/>
              </a:rPr>
              <a:t>LaTeX: a \equiv b \pmod{n}</a:t>
            </a:r>
          </a:p>
        </p:txBody>
      </p:sp>
      <p:sp>
        <p:nvSpPr>
          <p:cNvPr id="9" name="TextBox 9"/>
          <p:cNvSpPr/>
          <p:nvPr/>
        </p:nvSpPr>
        <p:spPr>
          <a:xfrm>
            <a:off x="360000" y="3780000"/>
            <a:ext cx="11520000" cy="432000"/>
          </a:xfrm>
          <a:prstGeom prst="rect">
            <a:avLst/>
          </a:prstGeom>
          <a:solidFill>
            <a:srgbClr val="F0FFF0"/>
          </a:solidFill>
        </p:spPr>
        <p:txBody>
          <a:bodyPr/>
          <a:lstStyle/>
          <a:p>
            <a:r>
              <a:rPr lang="en-US" sz="1100">
                <a:solidFill>
                  <a:srgbClr val="336633"/>
                </a:solidFill>
                <a:latin typeface="Courier New"/>
                <a:ea typeface="Courier New"/>
              </a:rPr>
              <a:t>OMML: &lt;m:d&gt;(mod &lt;m:r&gt;n&lt;/m:r&gt;)&lt;/m:d&gt;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360000" y="180000"/>
            <a:ext cx="11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Calibri"/>
                <a:ea typeface="Calibri"/>
              </a:rPr>
              <a:t>6. \arctan, \arcsin, \arccos</a:t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720000"/>
            <a:ext cx="11520000" cy="432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555555"/>
                </a:solidFill>
                <a:latin typeface="Calibri"/>
                <a:ea typeface="Calibri"/>
              </a:rPr>
              <a:t>Inverse trig functions — rendered upright like \sin and \cos</a:t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CC0000"/>
                </a:solidFill>
                <a:latin typeface="Calibri"/>
                <a:ea typeface="Calibri"/>
              </a:rPr>
              <a:t>BEFORE</a:t>
            </a:r>
          </a:p>
        </p:txBody>
      </p:sp>
      <p:sp>
        <p:nvSpPr>
          <p:cNvPr id="5" name="TextBox 5"/>
          <p:cNvSpPr/>
          <p:nvPr/>
        </p:nvSpPr>
        <p:spPr>
          <a:xfrm>
            <a:off x="360000" y="1800000"/>
            <a:ext cx="5400000" cy="900000"/>
          </a:xfrm>
          <a:prstGeom prst="rect">
            <a:avLst/>
          </a:prstGeom>
          <a:solidFill>
            <a:srgbClr val="FFF0F0"/>
          </a:solidFill>
        </p:spPr>
        <p:txBody>
          <a:bodyPr/>
          <a:lstStyle/>
          <a:p>
            <a:r>
              <a:rPr lang="en-US" sz="1800">
                <a:solidFill>
                  <a:srgbClr val="CC0000"/>
                </a:solidFill>
                <a:latin typeface="Courier New"/>
                <a:ea typeface="Courier New"/>
              </a:rPr>
              <a:t>\arctan(y/x)  (literal backslash text)</a:t>
            </a:r>
          </a:p>
        </p:txBody>
      </p:sp>
      <p:sp>
        <p:nvSpPr>
          <p:cNvPr id="6" name="TextBox 6"/>
          <p:cNvSpPr/>
          <p:nvPr/>
        </p:nvSpPr>
        <p:spPr>
          <a:xfrm>
            <a:off x="648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008800"/>
                </a:solidFill>
                <a:latin typeface="Calibri"/>
                <a:ea typeface="Calibri"/>
              </a:rPr>
              <a:t>AFTER</a:t>
            </a:r>
          </a:p>
        </p:txBody>
      </p:sp>
      <p:sp>
        <p:nvSpPr>
          <p:cNvPr id="7" name="Equation 7"/>
          <p:cNvSpPr/>
          <p:nvPr/>
        </p:nvSpPr>
        <p:spPr>
          <a:xfrm>
            <a:off x="6480000" y="1800000"/>
            <a:ext cx="5400000" cy="90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r>
                        <m:t xml:space="preserve">θ</m:t>
                      </m:r>
                      <m:r>
                        <m:t xml:space="preserve"> = </m:t>
                      </m:r>
                      <m:r>
                        <m:rPr>
                          <m:nor/>
                        </m:rPr>
                        <m:t xml:space="preserve">arctan</m:t>
                      </m:r>
                      <m:d>
                        <m:dPr/>
                        <m:e>
                          <m:f>
                            <m:num>
                              <m:r>
                                <m:t xml:space="preserve">y</m:t>
                              </m:r>
                            </m:num>
                            <m:den>
                              <m:r>
                                <m:t xml:space="preserve">x</m:t>
                              </m:r>
                            </m:den>
                          </m:f>
                        </m:e>
                      </m:d>
                    </m:oMath>
                  </m:oMathPara>
                </a14:m>
              </mc:Choice>
              <mc:Fallback>
                <a:r>
                  <a:rPr lang="en-US"/>
                  <a:t>θ = arctan((y)/(x))</a:t>
                </a:r>
              </mc:Fallback>
            </mc:AlternateContent>
          </a:p>
        </p:txBody>
      </p:sp>
      <p:sp>
        <p:nvSpPr>
          <p:cNvPr id="8" name="TextBox 8"/>
          <p:cNvSpPr/>
          <p:nvPr/>
        </p:nvSpPr>
        <p:spPr>
          <a:xfrm>
            <a:off x="360000" y="3240000"/>
            <a:ext cx="11520000" cy="432000"/>
          </a:xfrm>
          <a:prstGeom prst="rect">
            <a:avLst/>
          </a:prstGeom>
          <a:solidFill>
            <a:srgbClr val="F0F0FF"/>
          </a:solidFill>
        </p:spPr>
        <p:txBody>
          <a:bodyPr/>
          <a:lstStyle/>
          <a:p>
            <a:r>
              <a:rPr lang="en-US" sz="1300">
                <a:solidFill>
                  <a:srgbClr val="333366"/>
                </a:solidFill>
                <a:latin typeface="Courier New"/>
                <a:ea typeface="Courier New"/>
              </a:rPr>
              <a:t>LaTeX: \theta = \arctan\left(\frac{y}{x}\right)</a:t>
            </a:r>
          </a:p>
        </p:txBody>
      </p:sp>
      <p:sp>
        <p:nvSpPr>
          <p:cNvPr id="9" name="TextBox 9"/>
          <p:cNvSpPr/>
          <p:nvPr/>
        </p:nvSpPr>
        <p:spPr>
          <a:xfrm>
            <a:off x="360000" y="3780000"/>
            <a:ext cx="11520000" cy="432000"/>
          </a:xfrm>
          <a:prstGeom prst="rect">
            <a:avLst/>
          </a:prstGeom>
          <a:solidFill>
            <a:srgbClr val="F0FFF0"/>
          </a:solidFill>
        </p:spPr>
        <p:txBody>
          <a:bodyPr/>
          <a:lstStyle/>
          <a:p>
            <a:r>
              <a:rPr lang="en-US" sz="1100">
                <a:solidFill>
                  <a:srgbClr val="336633"/>
                </a:solidFill>
                <a:latin typeface="Courier New"/>
                <a:ea typeface="Courier New"/>
              </a:rPr>
              <a:t>OMML: &lt;m:r&gt;&lt;m:rPr&gt;&lt;m:nor/&gt;&lt;/m:rPr&gt;&lt;m:t&gt;arctan&lt;/m:t&gt;&lt;/m:r&gt;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360000" y="180000"/>
            <a:ext cx="11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Calibri"/>
                <a:ea typeface="Calibri"/>
              </a:rPr>
              <a:t>7. \left\langle ... \right\rangle</a:t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720000"/>
            <a:ext cx="11520000" cy="432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555555"/>
                </a:solidFill>
                <a:latin typeface="Calibri"/>
                <a:ea typeface="Calibri"/>
              </a:rPr>
              <a:t>Angle bracket delimiters — used for inner products, vectors, and bra-ket notation</a:t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1440000"/>
            <a:ext cx="5400000" cy="900000"/>
          </a:xfrm>
          <a:prstGeom prst="rect">
            <a:avLst/>
          </a:prstGeom>
          <a:solidFill>
            <a:srgbClr val="FFF0F0"/>
          </a:solidFill>
        </p:spPr>
        <p:txBody>
          <a:bodyPr/>
          <a:lstStyle/>
          <a:p>
            <a:r>
              <a:rPr lang="en-US" sz="1800">
                <a:solidFill>
                  <a:srgbClr val="CC0000"/>
                </a:solidFill>
                <a:latin typeface="Courier New"/>
                <a:ea typeface="Courier New"/>
              </a:rPr>
              <a:t>BEFORE: \langle a, b \rangle (literal text)</a:t>
            </a:r>
          </a:p>
        </p:txBody>
      </p:sp>
      <p:sp>
        <p:nvSpPr>
          <p:cNvPr id="5" name="TextBox 5"/>
          <p:cNvSpPr/>
          <p:nvPr/>
        </p:nvSpPr>
        <p:spPr>
          <a:xfrm>
            <a:off x="648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008800"/>
                </a:solidFill>
              </a:rPr>
              <a:t>AFTER</a:t>
            </a:r>
          </a:p>
        </p:txBody>
      </p:sp>
      <p:sp>
        <p:nvSpPr>
          <p:cNvPr id="6" name="Equation 6"/>
          <p:cNvSpPr/>
          <p:nvPr/>
        </p:nvSpPr>
        <p:spPr>
          <a:xfrm>
            <a:off x="6480000" y="1800000"/>
            <a:ext cx="5400000" cy="90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</m:accPr>
                        <m:e>
                          <m:r>
                            <m:t xml:space="preserve">v</m:t>
                          </m:r>
                        </m:e>
                      </m:acc>
                      <m:r>
                        <m:t xml:space="preserve"> = </m:t>
                      </m:r>
                      <m:d>
                        <m:dPr>
                          <m:begChr m:val="⟨"/>
                          <m:endChr m:val="⟩"/>
                        </m:dPr>
                        <m:e>
                          <m:r>
                            <m:t xml:space="preserve"> a, b </m:t>
                          </m:r>
                        </m:e>
                      </m:d>
                    </m:oMath>
                  </m:oMathPara>
                </a14:m>
              </mc:Choice>
              <mc:Fallback>
                <a:r>
                  <a:rPr lang="en-US"/>
                  <a:t>v⃗ = ⟨ a, b ⟩</a:t>
                </a:r>
              </mc:Fallback>
            </mc:AlternateContent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360000" y="180000"/>
            <a:ext cx="11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Calibri"/>
                <a:ea typeface="Calibri"/>
              </a:rPr>
              <a:t>8. \begin{align} / \begin{gathered}</a:t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720000"/>
            <a:ext cx="11520000" cy="432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555555"/>
                </a:solidFill>
                <a:latin typeface="Calibri"/>
                <a:ea typeface="Calibri"/>
              </a:rPr>
              <a:t>Multi-line aligned equations — essential for showing derivation steps</a:t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1440000"/>
            <a:ext cx="5400000" cy="900000"/>
          </a:xfrm>
          <a:prstGeom prst="rect">
            <a:avLst/>
          </a:prstGeom>
          <a:solidFill>
            <a:srgbClr val="FFF0F0"/>
          </a:solidFill>
        </p:spPr>
        <p:txBody>
          <a:bodyPr/>
          <a:lstStyle/>
          <a:p>
            <a:r>
              <a:rPr lang="en-US" sz="1600">
                <a:solidFill>
                  <a:srgbClr val="CC0000"/>
                </a:solidFill>
                <a:latin typeface="Courier New"/>
                <a:ea typeface="Courier New"/>
              </a:rPr>
              <a:t>BEFORE: \begin{align} x = 1  y = 2 (literal)</a:t>
            </a:r>
          </a:p>
        </p:txBody>
      </p:sp>
      <p:sp>
        <p:nvSpPr>
          <p:cNvPr id="5" name="TextBox 5"/>
          <p:cNvSpPr/>
          <p:nvPr/>
        </p:nvSpPr>
        <p:spPr>
          <a:xfrm>
            <a:off x="648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008800"/>
                </a:solidFill>
              </a:rPr>
              <a:t>AFTER</a:t>
            </a:r>
          </a:p>
        </p:txBody>
      </p:sp>
      <p:sp>
        <p:nvSpPr>
          <p:cNvPr id="6" name="Equation 6"/>
          <p:cNvSpPr/>
          <p:nvPr/>
        </p:nvSpPr>
        <p:spPr>
          <a:xfrm>
            <a:off x="6480000" y="1800000"/>
            <a:ext cx="5400000" cy="108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m>
                        <m:mPr/>
                        <m:mr>
                          <m:e>
                            <m:r>
                              <m:t xml:space="preserve"> x + y </m:t>
                            </m:r>
                          </m:e>
                          <m:e>
                            <m:r>
                              <m:t xml:space="preserve">= 10 </m:t>
                            </m:r>
                            <m:r>
                              <m:t xml:space="preserve"> </m:t>
                            </m:r>
                            <m:r>
                              <m:t xml:space="preserve">2x - y </m:t>
                            </m:r>
                          </m:e>
                          <m:e>
                            <m:r>
                              <m:t xml:space="preserve">= 5 </m:t>
                            </m:r>
                          </m:e>
                        </m:mr>
                      </m:m>
                    </m:oMath>
                  </m:oMathPara>
                </a14:m>
              </mc:Choice>
              <mc:Fallback>
                <a:r>
                  <a:rPr lang="en-US"/>
                  <a:t>[ x + y , = 10  2x - y , = 5 ]</a:t>
                </a:r>
              </mc:Fallback>
            </mc:AlternateContent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360000" y="180000"/>
            <a:ext cx="11520000" cy="54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1A1A2E"/>
                </a:solidFill>
                <a:latin typeface="Calibri"/>
                <a:ea typeface="Calibri"/>
              </a:rPr>
              <a:t>9. \operatorname{}</a:t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720000"/>
            <a:ext cx="11520000" cy="432000"/>
          </a:xfrm>
          <a:prstGeom prst="rect">
            <a:avLst/>
          </a:prstGeom>
        </p:spPr>
        <p:txBody>
          <a:bodyPr/>
          <a:lstStyle/>
          <a:p>
            <a:r>
              <a:rPr lang="en-US" sz="1600">
                <a:solidFill>
                  <a:srgbClr val="555555"/>
                </a:solidFill>
                <a:latin typeface="Calibri"/>
                <a:ea typeface="Calibri"/>
              </a:rPr>
              <a:t>Custom upright operator names — Var, Cov, MSE, etc.</a:t>
            </a:r>
          </a:p>
        </p:txBody>
      </p:sp>
      <p:sp>
        <p:nvSpPr>
          <p:cNvPr id="4" name="TextBox 4"/>
          <p:cNvSpPr/>
          <p:nvPr/>
        </p:nvSpPr>
        <p:spPr>
          <a:xfrm>
            <a:off x="360000" y="1440000"/>
            <a:ext cx="5400000" cy="900000"/>
          </a:xfrm>
          <a:prstGeom prst="rect">
            <a:avLst/>
          </a:prstGeom>
          <a:solidFill>
            <a:srgbClr val="FFF0F0"/>
          </a:solidFill>
        </p:spPr>
        <p:txBody>
          <a:bodyPr/>
          <a:lstStyle/>
          <a:p>
            <a:r>
              <a:rPr lang="en-US" sz="1800">
                <a:solidFill>
                  <a:srgbClr val="CC0000"/>
                </a:solidFill>
                <a:latin typeface="Courier New"/>
                <a:ea typeface="Courier New"/>
              </a:rPr>
              <a:t>BEFORE: \operatornameVar (literal text)</a:t>
            </a:r>
          </a:p>
        </p:txBody>
      </p:sp>
      <p:sp>
        <p:nvSpPr>
          <p:cNvPr id="5" name="TextBox 5"/>
          <p:cNvSpPr/>
          <p:nvPr/>
        </p:nvSpPr>
        <p:spPr>
          <a:xfrm>
            <a:off x="6480000" y="1440000"/>
            <a:ext cx="5400000" cy="360000"/>
          </a:xfrm>
          <a:prstGeom prst="rect">
            <a:avLst/>
          </a:prstGeom>
        </p:spPr>
        <p:txBody>
          <a:bodyPr/>
          <a:lstStyle/>
          <a:p>
            <a:r>
              <a:rPr lang="en-US" sz="1400" b="1">
                <a:solidFill>
                  <a:srgbClr val="008800"/>
                </a:solidFill>
              </a:rPr>
              <a:t>AFTER</a:t>
            </a:r>
          </a:p>
        </p:txBody>
      </p:sp>
      <p:sp>
        <p:nvSpPr>
          <p:cNvPr id="6" name="Equation 6"/>
          <p:cNvSpPr/>
          <p:nvPr/>
        </p:nvSpPr>
        <p:spPr>
          <a:xfrm>
            <a:off x="6480000" y="1800000"/>
            <a:ext cx="5400000" cy="90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m:t xml:space="preserve">Var</m:t>
                      </m:r>
                      <m:sSup>
                        <m:e>
                          <m:r>
                            <m:t xml:space="preserve">(X) = E(X</m:t>
                          </m:r>
                        </m:e>
                        <m:sup>
                          <m:r>
                            <m:t xml:space="preserve">2</m:t>
                          </m:r>
                        </m:sup>
                      </m:sSup>
                      <m:r>
                        <m:t xml:space="preserve">) - </m:t>
                      </m:r>
                      <m:r>
                        <m:t xml:space="preserve">[</m:t>
                      </m:r>
                      <m:r>
                        <m:t xml:space="preserve">E(X)</m:t>
                      </m:r>
                      <m:sSup>
                        <m:e>
                          <m:r>
                            <m:t xml:space="preserve">]</m:t>
                          </m:r>
                        </m:e>
                        <m:sup>
                          <m:r>
                            <m:t xml:space="preserve">2</m:t>
                          </m:r>
                        </m:sup>
                      </m:sSup>
                    </m:oMath>
                  </m:oMathPara>
                </a14:m>
              </mc:Choice>
              <mc:Fallback>
                <a:r>
                  <a:rPr lang="en-US"/>
                  <a:t>Var(X) = E(X²) - [E(X)]²</a:t>
                </a:r>
              </mc:Fallback>
            </mc:AlternateContent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 xmlns:a14="http://schemas.microsoft.com/office/drawing/2010/main" xmlns:mc="http://schemas.openxmlformats.org/markup-compatibility/2006" mc:Ignorable="a14">
  <p:cSld>
    <p:bg>
      <p:bgPr>
        <a:solidFill xmlns:a="http://schemas.openxmlformats.org/drawingml/2006/main">
          <a:srgbClr val="1A1A2E"/>
        </a:solidFill>
      </p:bgPr>
    </p:bg>
    <p:spTree>
      <p:nvGrpSpPr>
        <p:cNvPr id="1" name=""/>
        <p:cNvGrpSpPr/>
        <p:nvPr/>
      </p:nvGrpSpPr>
      <p:grpSpPr/>
      <p:sp>
        <p:nvSpPr>
          <p:cNvPr id="2" name="TextBox 2"/>
          <p:cNvSpPr/>
          <p:nvPr/>
        </p:nvSpPr>
        <p:spPr>
          <a:xfrm>
            <a:off x="360000" y="180000"/>
            <a:ext cx="11520000" cy="54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Calibri"/>
                <a:ea typeface="Calibri"/>
              </a:rPr>
              <a:t>Real-World: AP Statistics Formulas</a:t>
            </a:r>
          </a:p>
        </p:txBody>
      </p:sp>
      <p:sp>
        <p:nvSpPr>
          <p:cNvPr id="3" name="TextBox 3"/>
          <p:cNvSpPr/>
          <p:nvPr/>
        </p:nvSpPr>
        <p:spPr>
          <a:xfrm>
            <a:off x="360000" y="720000"/>
            <a:ext cx="11520000" cy="36000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600">
                <a:solidFill>
                  <a:srgbClr val="AAAACC"/>
                </a:solidFill>
                <a:latin typeface="Calibri"/>
                <a:ea typeface="Calibri"/>
              </a:rPr>
              <a:t>All of these now render natively as OMML in Word and PowerPoint:</a:t>
            </a:r>
          </a:p>
        </p:txBody>
      </p:sp>
      <p:sp>
        <p:nvSpPr>
          <p:cNvPr id="4" name="Equation 4"/>
          <p:cNvSpPr/>
          <p:nvPr/>
        </p:nvSpPr>
        <p:spPr>
          <a:xfrm>
            <a:off x="720000" y="1440000"/>
            <a:ext cx="5040000" cy="90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</m:accPr>
                        <m:e>
                          <m:r>
                            <m:t xml:space="preserve">p</m:t>
                          </m:r>
                        </m:e>
                      </m:acc>
                      <m:r>
                        <m:t xml:space="preserve"> </m:t>
                      </m:r>
                      <m:r>
                        <m:t xml:space="preserve">±</m:t>
                      </m:r>
                      <m:sSup>
                        <m:e>
                          <m:r>
                            <m:t xml:space="preserve"> z</m:t>
                          </m:r>
                        </m:e>
                        <m:sup>
                          <m:r>
                            <m:t xml:space="preserve">*</m:t>
                          </m:r>
                        </m:sup>
                      </m:sSup>
                      <m:r>
                        <m:t xml:space="preserve"> </m:t>
                      </m:r>
                      <m:rad>
                        <m:radPr>
                          <m:degHide m:val="true"/>
                        </m:radPr>
                        <m:deg/>
                        <m:e>
                          <m:f>
                            <m:num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 xml:space="preserve">p</m:t>
                                  </m:r>
                                </m:e>
                              </m:acc>
                              <m:r>
                                <m:t xml:space="preserve">(1-</m:t>
                              </m:r>
                              <m:acc>
                                <m:accPr>
                                  <m:chr m:val="̂"/>
                                </m:accPr>
                                <m:e>
                                  <m:r>
                                    <m:t xml:space="preserve">p</m:t>
                                  </m:r>
                                </m:e>
                              </m:acc>
                              <m:r>
                                <m:t xml:space="preserve">)</m:t>
                              </m:r>
                            </m:num>
                            <m:den>
                              <m:r>
                                <m:t xml:space="preserve">n</m:t>
                              </m:r>
                            </m:den>
                          </m:f>
                        </m:e>
                      </m:rad>
                    </m:oMath>
                  </m:oMathPara>
                </a14:m>
              </mc:Choice>
              <mc:Fallback>
                <a:r>
                  <a:rPr lang="en-US"/>
                  <a:t>p̂ ± z* √((p̂(1-p̂))/(n))</a:t>
                </a:r>
              </mc:Fallback>
            </mc:AlternateContent>
          </a:p>
        </p:txBody>
      </p:sp>
      <p:sp>
        <p:nvSpPr>
          <p:cNvPr id="5" name="TextBox 5"/>
          <p:cNvSpPr/>
          <p:nvPr/>
        </p:nvSpPr>
        <p:spPr>
          <a:xfrm>
            <a:off x="720000" y="2340000"/>
            <a:ext cx="5040000" cy="36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888888"/>
                </a:solidFill>
                <a:latin typeface="Calibri"/>
                <a:ea typeface="Calibri"/>
              </a:rPr>
              <a:t>Confidence interval for proportion</a:t>
            </a:r>
          </a:p>
        </p:txBody>
      </p:sp>
      <p:sp>
        <p:nvSpPr>
          <p:cNvPr id="6" name="Equation 6"/>
          <p:cNvSpPr/>
          <p:nvPr/>
        </p:nvSpPr>
        <p:spPr>
          <a:xfrm>
            <a:off x="6480000" y="1440000"/>
            <a:ext cx="5040000" cy="90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sSup>
                        <m:e>
                          <m:r>
                            <m:t xml:space="preserve">χ</m:t>
                          </m:r>
                        </m:e>
                        <m:sup>
                          <m:r>
                            <m:t xml:space="preserve">2</m:t>
                          </m:r>
                        </m:sup>
                      </m:sSup>
                      <m:r>
                        <m:t xml:space="preserve"> = </m:t>
                      </m:r>
                      <m:nary>
                        <m:naryPr>
                          <m:chr m:val="∑"/>
                          <m:subHide m:val="true"/>
                          <m:supHide m:val="true"/>
                        </m:naryPr>
                        <m:sub/>
                        <m:sup/>
                        <m:e>
                          <m:r>
                            <m:t xml:space="preserve"> </m:t>
                          </m:r>
                        </m:e>
                      </m:nary>
                      <m:f>
                        <m:num>
                          <m:sSub>
                            <m:e>
                              <m:r>
                                <m:t xml:space="preserve">(O</m:t>
                              </m:r>
                            </m:e>
                            <m:sub>
                              <m:r>
                                <m:t xml:space="preserve">i</m:t>
                              </m:r>
                            </m:sub>
                          </m:sSub>
                          <m:sSub>
                            <m:e>
                              <m:r>
                                <m:t xml:space="preserve"> - E</m:t>
                              </m:r>
                            </m:e>
                            <m:sub>
                              <m:r>
                                <m:t xml:space="preserve">i</m:t>
                              </m:r>
                            </m:sub>
                          </m:sSub>
                          <m:sSup>
                            <m:e>
                              <m:r>
                                <m:t xml:space="preserve">)</m:t>
                              </m:r>
                            </m:e>
                            <m:sup>
                              <m:r>
                                <m:t xml:space="preserve">2</m:t>
                              </m:r>
                            </m:sup>
                          </m:sSup>
                        </m:num>
                        <m:den>
                          <m:sSub>
                            <m:e>
                              <m:r>
                                <m:t xml:space="preserve">E</m:t>
                              </m:r>
                            </m:e>
                            <m:sub>
                              <m:r>
                                <m:t xml:space="preserve">i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>
                <a:r>
                  <a:rPr lang="en-US"/>
                  <a:t>χ² = ∑  ((Oᵢ - Eᵢ)²)/(Eᵢ)</a:t>
                </a:r>
              </mc:Fallback>
            </mc:AlternateContent>
          </a:p>
        </p:txBody>
      </p:sp>
      <p:sp>
        <p:nvSpPr>
          <p:cNvPr id="7" name="TextBox 7"/>
          <p:cNvSpPr/>
          <p:nvPr/>
        </p:nvSpPr>
        <p:spPr>
          <a:xfrm>
            <a:off x="6480000" y="2340000"/>
            <a:ext cx="5040000" cy="36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888888"/>
                </a:solidFill>
                <a:latin typeface="Calibri"/>
                <a:ea typeface="Calibri"/>
              </a:rPr>
              <a:t>Chi-squared test statistic</a:t>
            </a:r>
          </a:p>
        </p:txBody>
      </p:sp>
      <p:sp>
        <p:nvSpPr>
          <p:cNvPr id="8" name="Equation 8"/>
          <p:cNvSpPr/>
          <p:nvPr/>
        </p:nvSpPr>
        <p:spPr>
          <a:xfrm>
            <a:off x="720000" y="3060000"/>
            <a:ext cx="5040000" cy="90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r>
                        <m:t xml:space="preserve">f(x) = </m:t>
                      </m:r>
                      <m:f>
                        <m:num>
                          <m:r>
                            <m:t xml:space="preserve">1</m:t>
                          </m:r>
                        </m:num>
                        <m:den>
                          <m:r>
                            <m:t xml:space="preserve">σ</m:t>
                          </m:r>
                          <m:rad>
                            <m:radPr>
                              <m:degHide m:val="true"/>
                            </m:radPr>
                            <m:deg/>
                            <m:e>
                              <m:r>
                                <m:t xml:space="preserve">2</m:t>
                              </m:r>
                              <m:r>
                                <m:t xml:space="preserve">π</m:t>
                              </m:r>
                            </m:e>
                          </m:rad>
                        </m:den>
                      </m:f>
                      <m:sSup>
                        <m:e>
                          <m:r>
                            <m:t xml:space="preserve"> e</m:t>
                          </m:r>
                        </m:e>
                        <m:sup>
                          <m:r>
                            <m:t xml:space="preserve">-</m:t>
                          </m:r>
                          <m:f>
                            <m:num>
                              <m:r>
                                <m:t xml:space="preserve">(x-</m:t>
                              </m:r>
                              <m:r>
                                <m:t xml:space="preserve">μ</m:t>
                              </m:r>
                              <m:sSup>
                                <m:e>
                                  <m:r>
                                    <m:t xml:space="preserve">)</m:t>
                                  </m:r>
                                </m:e>
                                <m:sup>
                                  <m:r>
                                    <m:t xml:space="preserve">2</m:t>
                                  </m:r>
                                </m:sup>
                              </m:sSup>
                            </m:num>
                            <m:den>
                              <m:r>
                                <m:t xml:space="preserve">2</m:t>
                              </m:r>
                              <m:sSup>
                                <m:e>
                                  <m:r>
                                    <m:t xml:space="preserve">σ</m:t>
                                  </m:r>
                                </m:e>
                                <m:sup>
                                  <m:r>
                                    <m:t xml:space="preserve">2</m:t>
                                  </m:r>
                                </m:sup>
                              </m:sSup>
                            </m:den>
                          </m:f>
                        </m:sup>
                      </m:sSup>
                    </m:oMath>
                  </m:oMathPara>
                </a14:m>
              </mc:Choice>
              <mc:Fallback>
                <a:r>
                  <a:rPr lang="en-US"/>
                  <a:t>f(x) = (1)/(σ√(2π)) e⁻⁽⁽x⁻μ⁾²⁾/⁽²σ²⁾</a:t>
                </a:r>
              </mc:Fallback>
            </mc:AlternateContent>
          </a:p>
        </p:txBody>
      </p:sp>
      <p:sp>
        <p:nvSpPr>
          <p:cNvPr id="9" name="TextBox 9"/>
          <p:cNvSpPr/>
          <p:nvPr/>
        </p:nvSpPr>
        <p:spPr>
          <a:xfrm>
            <a:off x="720000" y="3960000"/>
            <a:ext cx="5040000" cy="36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888888"/>
                </a:solidFill>
                <a:latin typeface="Calibri"/>
                <a:ea typeface="Calibri"/>
              </a:rPr>
              <a:t>Normal distribution PDF</a:t>
            </a:r>
          </a:p>
        </p:txBody>
      </p:sp>
      <p:sp>
        <p:nvSpPr>
          <p:cNvPr id="10" name="Equation 10"/>
          <p:cNvSpPr/>
          <p:nvPr/>
        </p:nvSpPr>
        <p:spPr>
          <a:xfrm>
            <a:off x="6480000" y="3060000"/>
            <a:ext cx="5040000" cy="900000"/>
          </a:xfrm>
        </p:spPr>
        <p:txBody>
          <a:bodyPr/>
          <a:lstStyle/>
          <a:p>
            <mc:AlternateContent>
              <mc:Choice Requires="a14">
                <a14:m>
                  <m:oMathPara xmlns:m="http://schemas.openxmlformats.org/officeDocument/2006/math">
                    <m:oMath>
                      <m:r>
                        <m:t xml:space="preserve">r = </m:t>
                      </m:r>
                      <m:f>
                        <m:num>
                          <m:nary>
                            <m:naryPr>
                              <m:chr m:val="∑"/>
                              <m:subHide m:val="true"/>
                              <m:supHide m:val="true"/>
                            </m:naryPr>
                            <m:sub/>
                            <m:sup/>
                            <m:e>
                              <m:r>
                                <m:t xml:space="preserve">(</m:t>
                              </m:r>
                            </m:e>
                          </m:nary>
                          <m:sSub>
                            <m:e>
                              <m:r>
                                <m:t xml:space="preserve">x</m:t>
                              </m:r>
                            </m:e>
                            <m:sub>
                              <m:r>
                                <m:t xml:space="preserve">i</m:t>
                              </m:r>
                            </m:sub>
                          </m:sSub>
                          <m:r>
                            <m:t xml:space="preserve"> - </m:t>
                          </m:r>
                          <m:acc>
                            <m:accPr>
                              <m:chr m:val="̄"/>
                            </m:accPr>
                            <m:e>
                              <m:r>
                                <m:t xml:space="preserve">x</m:t>
                              </m:r>
                            </m:e>
                          </m:acc>
                          <m:sSub>
                            <m:e>
                              <m:r>
                                <m:t xml:space="preserve">)(y</m:t>
                              </m:r>
                            </m:e>
                            <m:sub>
                              <m:r>
                                <m:t xml:space="preserve">i</m:t>
                              </m:r>
                            </m:sub>
                          </m:sSub>
                          <m:r>
                            <m:t xml:space="preserve"> - </m:t>
                          </m:r>
                          <m:acc>
                            <m:accPr>
                              <m:chr m:val="̄"/>
                            </m:accPr>
                            <m:e>
                              <m:r>
                                <m:t xml:space="preserve">y</m:t>
                              </m:r>
                            </m:e>
                          </m:acc>
                          <m:r>
                            <m:t xml:space="preserve">)</m:t>
                          </m:r>
                        </m:num>
                        <m:den>
                          <m:rad>
                            <m:radPr>
                              <m:degHide m:val="true"/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bHide m:val="true"/>
                                  <m:supHide m:val="true"/>
                                </m:naryPr>
                                <m:sub/>
                                <m:sup/>
                                <m:e>
                                  <m:r>
                                    <m:t xml:space="preserve"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 xml:space="preserve">x</m:t>
                                  </m:r>
                                </m:e>
                                <m:sub>
                                  <m:r>
                                    <m:t xml:space="preserve">i</m:t>
                                  </m:r>
                                </m:sub>
                              </m:sSub>
                              <m:r>
                                <m:t xml:space="preserve">-</m:t>
                              </m:r>
                              <m:acc>
                                <m:accPr>
                                  <m:chr m:val="̄"/>
                                </m:accPr>
                                <m:e>
                                  <m:r>
                                    <m:t xml:space="preserve">x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t xml:space="preserve">)</m:t>
                                  </m:r>
                                </m:e>
                                <m:sup>
                                  <m:r>
                                    <m:t xml:space="preserve">2</m:t>
                                  </m:r>
                                </m:sup>
                              </m:sSup>
                              <m:r>
                                <m:t xml:space="preserve"> </m:t>
                              </m:r>
                              <m:r>
                                <m:t xml:space="preserve">·</m:t>
                              </m:r>
                              <m:r>
                                <m:t xml:space="preserve"> </m:t>
                              </m:r>
                              <m:nary>
                                <m:naryPr>
                                  <m:chr m:val="∑"/>
                                  <m:subHide m:val="true"/>
                                  <m:supHide m:val="true"/>
                                </m:naryPr>
                                <m:sub/>
                                <m:sup/>
                                <m:e>
                                  <m:r>
                                    <m:t xml:space="preserve">(</m:t>
                                  </m:r>
                                </m:e>
                              </m:nary>
                              <m:sSub>
                                <m:e>
                                  <m:r>
                                    <m:t xml:space="preserve">y</m:t>
                                  </m:r>
                                </m:e>
                                <m:sub>
                                  <m:r>
                                    <m:t xml:space="preserve">i</m:t>
                                  </m:r>
                                </m:sub>
                              </m:sSub>
                              <m:r>
                                <m:t xml:space="preserve">-</m:t>
                              </m:r>
                              <m:acc>
                                <m:accPr>
                                  <m:chr m:val="̄"/>
                                </m:accPr>
                                <m:e>
                                  <m:r>
                                    <m:t xml:space="preserve">y</m:t>
                                  </m:r>
                                </m:e>
                              </m:acc>
                              <m:sSup>
                                <m:e>
                                  <m:r>
                                    <m:t xml:space="preserve">)</m:t>
                                  </m:r>
                                </m:e>
                                <m:sup>
                                  <m:r>
                                    <m:t xml:space="preserve">2</m:t>
                                  </m:r>
                                </m:sup>
                              </m:sSup>
                            </m:e>
                          </m:rad>
                        </m:den>
                      </m:f>
                    </m:oMath>
                  </m:oMathPara>
                </a14:m>
              </mc:Choice>
              <mc:Fallback>
                <a:r>
                  <a:rPr lang="en-US"/>
                  <a:t>r = (∑ (xᵢ - x̄)(yᵢ - ȳ))/(√(∑ (xᵢ-x̄)² · ∑ (yᵢ-ȳ)²))</a:t>
                </a:r>
              </mc:Fallback>
            </mc:AlternateContent>
          </a:p>
        </p:txBody>
      </p:sp>
      <p:sp>
        <p:nvSpPr>
          <p:cNvPr id="11" name="TextBox 11"/>
          <p:cNvSpPr/>
          <p:nvPr/>
        </p:nvSpPr>
        <p:spPr>
          <a:xfrm>
            <a:off x="6480000" y="3960000"/>
            <a:ext cx="5040000" cy="360000"/>
          </a:xfrm>
          <a:prstGeom prst="rect">
            <a:avLst/>
          </a:prstGeom>
        </p:spPr>
        <p:txBody>
          <a:bodyPr/>
          <a:lstStyle/>
          <a:p>
            <a:r>
              <a:rPr lang="en-US" sz="1200">
                <a:solidFill>
                  <a:srgbClr val="888888"/>
                </a:solidFill>
                <a:latin typeface="Calibri"/>
                <a:ea typeface="Calibri"/>
              </a:rPr>
              <a:t>Pearson correlation coefficient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