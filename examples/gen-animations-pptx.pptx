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49bc81209f04d9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1d4340917dd042dd"/>
    <p:sldId id="257" r:id="R0c7059c162554011"/>
    <p:sldId id="258" r:id="R9fc68b462b2a4db1"/>
    <p:sldId id="259" r:id="R96a801cfb410498e"/>
    <p:sldId id="260" r:id="R93330af4a4344f85"/>
    <p:sldId id="261" r:id="R7e1fd86455ae4837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d4340917dd042dd" /><Relationship Type="http://schemas.openxmlformats.org/officeDocument/2006/relationships/slide" Target="/ppt/slides/slide2.xml" Id="R0c7059c162554011" /><Relationship Type="http://schemas.openxmlformats.org/officeDocument/2006/relationships/slide" Target="/ppt/slides/slide3.xml" Id="R9fc68b462b2a4db1" /><Relationship Type="http://schemas.openxmlformats.org/officeDocument/2006/relationships/slide" Target="/ppt/slides/slide4.xml" Id="R96a801cfb410498e" /><Relationship Type="http://schemas.openxmlformats.org/officeDocument/2006/relationships/slide" Target="/ppt/slides/slide5.xml" Id="R93330af4a4344f85" /><Relationship Type="http://schemas.openxmlformats.org/officeDocument/2006/relationships/slide" Target="/ppt/slides/slide6.xml" Id="R7e1fd86455ae483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32891e31144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5d4b56259438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348a8972341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57b080f8f04267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fab94ef018c43e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f394cbf7f42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4e4839b7d44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c3cbe5e9646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c8aa807c242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8d33b4a8a40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866f725af84170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D1B2A"/>
            </a:gs>
            <a:gs pos="100000">
              <a:srgbClr val="1B4F72"/>
            </a:gs>
          </a:gsLst>
          <a:path path="circle">
            <a:fillToRect l="0" t="100000" r="100000" b="0"/>
          </a:path>
        </a:gradFill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Animation Showcase</a:t>
            </a:r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animation effect in officecli</a:t>
            </a:r>
          </a:p>
        </p:txBody>
      </p:sp>
    </p:spTree>
  </p:cSld>
  <p:transition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>
                <a:solidFill>
                  <a:srgbClr val="FFFFFF"/>
                </a:solidFill>
              </a:rPr>
              <a:t>Entrance Effects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36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appear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252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fade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468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fly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6840000" y="144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zoom</a:t>
            </a:r>
          </a:p>
        </p:txBody>
      </p:sp>
      <p:sp>
        <p:nvSpPr>
          <p:cNvPr id="7" name="TextBox 6"/>
          <p:cNvSpPr/>
          <p:nvPr>
            <p:ph/>
          </p:nvPr>
        </p:nvSpPr>
        <p:spPr>
          <a:xfrm xmlns:a="http://schemas.openxmlformats.org/drawingml/2006/main">
            <a:off x="36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wipe</a:t>
            </a:r>
          </a:p>
        </p:txBody>
      </p:sp>
      <p:sp>
        <p:nvSpPr>
          <p:cNvPr id="8" name="TextBox 7"/>
          <p:cNvSpPr/>
          <p:nvPr>
            <p:ph/>
          </p:nvPr>
        </p:nvSpPr>
        <p:spPr>
          <a:xfrm xmlns:a="http://schemas.openxmlformats.org/drawingml/2006/main">
            <a:off x="252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bounce</a:t>
            </a:r>
          </a:p>
        </p:txBody>
      </p:sp>
      <p:sp>
        <p:nvSpPr>
          <p:cNvPr id="9" name="TextBox 8"/>
          <p:cNvSpPr/>
          <p:nvPr>
            <p:ph/>
          </p:nvPr>
        </p:nvSpPr>
        <p:spPr>
          <a:xfrm xmlns:a="http://schemas.openxmlformats.org/drawingml/2006/main">
            <a:off x="468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7E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float</a:t>
            </a:r>
          </a:p>
        </p:txBody>
      </p:sp>
      <p:sp>
        <p:nvSpPr>
          <p:cNvPr id="10" name="TextBox 9"/>
          <p:cNvSpPr/>
          <p:nvPr>
            <p:ph/>
          </p:nvPr>
        </p:nvSpPr>
        <p:spPr>
          <a:xfrm xmlns:a="http://schemas.openxmlformats.org/drawingml/2006/main">
            <a:off x="6840000" y="270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980B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split</a:t>
            </a:r>
          </a:p>
        </p:txBody>
      </p:sp>
      <p:sp>
        <p:nvSpPr>
          <p:cNvPr id="11" name="TextBox 10"/>
          <p:cNvSpPr/>
          <p:nvPr>
            <p:ph/>
          </p:nvPr>
        </p:nvSpPr>
        <p:spPr>
          <a:xfrm xmlns:a="http://schemas.openxmlformats.org/drawingml/2006/main">
            <a:off x="36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0392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wheel</a:t>
            </a:r>
          </a:p>
        </p:txBody>
      </p:sp>
      <p:sp>
        <p:nvSpPr>
          <p:cNvPr id="12" name="TextBox 11"/>
          <p:cNvSpPr/>
          <p:nvPr>
            <p:ph/>
          </p:nvPr>
        </p:nvSpPr>
        <p:spPr>
          <a:xfrm xmlns:a="http://schemas.openxmlformats.org/drawingml/2006/main">
            <a:off x="252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swivel</a:t>
            </a:r>
          </a:p>
        </p:txBody>
      </p:sp>
      <p:sp>
        <p:nvSpPr>
          <p:cNvPr id="13" name="TextBox 12"/>
          <p:cNvSpPr/>
          <p:nvPr>
            <p:ph/>
          </p:nvPr>
        </p:nvSpPr>
        <p:spPr>
          <a:xfrm xmlns:a="http://schemas.openxmlformats.org/drawingml/2006/main">
            <a:off x="468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354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checkerboard</a:t>
            </a:r>
          </a:p>
        </p:txBody>
      </p:sp>
      <p:sp>
        <p:nvSpPr>
          <p:cNvPr id="14" name="TextBox 13"/>
          <p:cNvSpPr/>
          <p:nvPr>
            <p:ph/>
          </p:nvPr>
        </p:nvSpPr>
        <p:spPr>
          <a:xfrm xmlns:a="http://schemas.openxmlformats.org/drawingml/2006/main">
            <a:off x="6840000" y="3960000"/>
            <a:ext cx="1800000" cy="7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D3C9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blinds</a:t>
            </a:r>
          </a:p>
        </p:txBody>
      </p:sp>
    </p:spTree>
  </p:cSld>
  <p:transition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5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">
                                      <p:cBhvr>
                                        <p:cTn id="41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5" presetClass="entr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9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3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wivel">
                                      <p:cBhvr>
                                        <p:cTn id="5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1" build="allAtOnce"/>
      <p:bldP spid="5" grpId="2" build="allAtOnce"/>
      <p:bldP spid="6" grpId="3" build="allAtOnce"/>
      <p:bldP spid="7" grpId="4" build="allAtOnce"/>
      <p:bldP spid="8" grpId="5" build="allAtOnce"/>
      <p:bldP spid="9" grpId="6" build="allAtOnce"/>
      <p:bldP spid="10" grpId="7" build="allAtOnce"/>
      <p:bldP spid="11" grpId="8" build="allAtOnce"/>
      <p:bldP spid="12" grpId="9" build="allAtOnce"/>
      <p:bldP spid="13" grpId="10" build="allAtOnce"/>
      <p:bldP spid="14" grpId="11" build="allAtOnce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>
                <a:solidFill>
                  <a:srgbClr val="FFFFFF"/>
                </a:solidFill>
              </a:rPr>
              <a:t>Exit Effects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36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fade out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324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fly out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6120000" y="144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zoom out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36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dissolve out</a:t>
            </a:r>
          </a:p>
        </p:txBody>
      </p:sp>
      <p:sp>
        <p:nvSpPr>
          <p:cNvPr id="7" name="TextBox 6"/>
          <p:cNvSpPr/>
          <p:nvPr>
            <p:ph/>
          </p:nvPr>
        </p:nvSpPr>
        <p:spPr>
          <a:xfrm xmlns:a="http://schemas.openxmlformats.org/drawingml/2006/main">
            <a:off x="324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wipe out</a:t>
            </a:r>
          </a:p>
        </p:txBody>
      </p:sp>
      <p:sp>
        <p:nvSpPr>
          <p:cNvPr id="8" name="TextBox 7"/>
          <p:cNvSpPr/>
          <p:nvPr>
            <p:ph/>
          </p:nvPr>
        </p:nvSpPr>
        <p:spPr>
          <a:xfrm xmlns:a="http://schemas.openxmlformats.org/drawingml/2006/main">
            <a:off x="6120000" y="2880000"/>
            <a:ext cx="2520000" cy="9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BC9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400">
                <a:solidFill>
                  <a:srgbClr val="FFFFFF"/>
                </a:solidFill>
                <a:latin typeface="Consolas"/>
                <a:ea typeface="Consolas"/>
              </a:rPr>
              <a:t>flash out</a:t>
            </a:r>
          </a:p>
        </p:txBody>
      </p:sp>
    </p:spTree>
  </p:cSld>
  <p:transition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ade">
                                      <p:cBhvr>
                                        <p:cTn id="5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ly">
                                      <p:cBhvr>
                                        <p:cTn id="11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zoom">
                                      <p:cBhvr>
                                        <p:cTn id="17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dissolv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xit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wipe(left)">
                                      <p:cBhvr>
                                        <p:cTn id="2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1" presetClass="exit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animEffect transition="out" filter="flash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1" build="allAtOnce"/>
      <p:bldP spid="5" grpId="2" build="allAtOnce"/>
      <p:bldP spid="6" grpId="3" build="allAtOnce"/>
      <p:bldP spid="7" grpId="4" build="allAtOnce"/>
      <p:bldP spid="8" grpId="5" build="allAtOnce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>
                <a:solidFill>
                  <a:srgbClr val="FFFFFF"/>
                </a:solidFill>
              </a:rPr>
              <a:t>Emphasis Effects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72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600">
                <a:solidFill>
                  <a:srgbClr val="FFFFFF"/>
                </a:solidFill>
                <a:latin typeface="Consolas"/>
                <a:ea typeface="Consolas"/>
              </a:rPr>
              <a:t>spin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288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600">
                <a:solidFill>
                  <a:srgbClr val="FFFFFF"/>
                </a:solidFill>
                <a:latin typeface="Consolas"/>
                <a:ea typeface="Consolas"/>
              </a:rPr>
              <a:t>grow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504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600">
                <a:solidFill>
                  <a:srgbClr val="FFFFFF"/>
                </a:solidFill>
                <a:latin typeface="Consolas"/>
                <a:ea typeface="Consolas"/>
              </a:rPr>
              <a:t>wave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7200000" y="1620000"/>
            <a:ext cx="1620000" cy="162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600">
                <a:solidFill>
                  <a:srgbClr val="FFFFFF"/>
                </a:solidFill>
                <a:latin typeface="Consolas"/>
                <a:ea typeface="Consolas"/>
              </a:rPr>
              <a:t>bold</a:t>
            </a:r>
          </a:p>
        </p:txBody>
      </p:sp>
    </p:spTree>
  </p:cSld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27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1" build="allAtOnce"/>
      <p:bldP spid="5" grpId="2" build="allAtOnce"/>
      <p:bldP spid="6" grpId="3" build="allAtOnce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>
                <a:solidFill>
                  <a:srgbClr val="FFFFFF"/>
                </a:solidFill>
              </a:rPr>
              <a:t>Slide Transitions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36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fade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252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wipe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468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push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6840000" y="14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split</a:t>
            </a:r>
          </a:p>
        </p:txBody>
      </p:sp>
      <p:sp>
        <p:nvSpPr>
          <p:cNvPr id="7" name="TextBox 6"/>
          <p:cNvSpPr/>
          <p:nvPr>
            <p:ph/>
          </p:nvPr>
        </p:nvSpPr>
        <p:spPr>
          <a:xfrm xmlns:a="http://schemas.openxmlformats.org/drawingml/2006/main">
            <a:off x="36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zoom</a:t>
            </a:r>
          </a:p>
        </p:txBody>
      </p:sp>
      <p:sp>
        <p:nvSpPr>
          <p:cNvPr id="8" name="TextBox 7"/>
          <p:cNvSpPr/>
          <p:nvPr>
            <p:ph/>
          </p:nvPr>
        </p:nvSpPr>
        <p:spPr>
          <a:xfrm xmlns:a="http://schemas.openxmlformats.org/drawingml/2006/main">
            <a:off x="252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wheel</a:t>
            </a:r>
          </a:p>
        </p:txBody>
      </p:sp>
      <p:sp>
        <p:nvSpPr>
          <p:cNvPr id="9" name="TextBox 8"/>
          <p:cNvSpPr/>
          <p:nvPr>
            <p:ph/>
          </p:nvPr>
        </p:nvSpPr>
        <p:spPr>
          <a:xfrm xmlns:a="http://schemas.openxmlformats.org/drawingml/2006/main">
            <a:off x="468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cover</a:t>
            </a:r>
          </a:p>
        </p:txBody>
      </p:sp>
      <p:sp>
        <p:nvSpPr>
          <p:cNvPr id="10" name="TextBox 9"/>
          <p:cNvSpPr/>
          <p:nvPr>
            <p:ph/>
          </p:nvPr>
        </p:nvSpPr>
        <p:spPr>
          <a:xfrm xmlns:a="http://schemas.openxmlformats.org/drawingml/2006/main">
            <a:off x="6840000" y="23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reveal</a:t>
            </a:r>
          </a:p>
        </p:txBody>
      </p:sp>
      <p:sp>
        <p:nvSpPr>
          <p:cNvPr id="11" name="TextBox 10"/>
          <p:cNvSpPr/>
          <p:nvPr>
            <p:ph/>
          </p:nvPr>
        </p:nvSpPr>
        <p:spPr>
          <a:xfrm xmlns:a="http://schemas.openxmlformats.org/drawingml/2006/main">
            <a:off x="36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dissolve</a:t>
            </a:r>
          </a:p>
        </p:txBody>
      </p:sp>
      <p:sp>
        <p:nvSpPr>
          <p:cNvPr id="12" name="TextBox 11"/>
          <p:cNvSpPr/>
          <p:nvPr>
            <p:ph/>
          </p:nvPr>
        </p:nvSpPr>
        <p:spPr>
          <a:xfrm xmlns:a="http://schemas.openxmlformats.org/drawingml/2006/main">
            <a:off x="252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random</a:t>
            </a:r>
          </a:p>
        </p:txBody>
      </p:sp>
      <p:sp>
        <p:nvSpPr>
          <p:cNvPr id="13" name="TextBox 12"/>
          <p:cNvSpPr/>
          <p:nvPr>
            <p:ph/>
          </p:nvPr>
        </p:nvSpPr>
        <p:spPr>
          <a:xfrm xmlns:a="http://schemas.openxmlformats.org/drawingml/2006/main">
            <a:off x="468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blinds</a:t>
            </a:r>
          </a:p>
        </p:txBody>
      </p:sp>
      <p:sp>
        <p:nvSpPr>
          <p:cNvPr id="14" name="TextBox 13"/>
          <p:cNvSpPr/>
          <p:nvPr>
            <p:ph/>
          </p:nvPr>
        </p:nvSpPr>
        <p:spPr>
          <a:xfrm xmlns:a="http://schemas.openxmlformats.org/drawingml/2006/main">
            <a:off x="6840000" y="32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checker</a:t>
            </a:r>
          </a:p>
        </p:txBody>
      </p:sp>
      <p:sp>
        <p:nvSpPr>
          <p:cNvPr id="15" name="TextBox 14"/>
          <p:cNvSpPr/>
          <p:nvPr>
            <p:ph/>
          </p:nvPr>
        </p:nvSpPr>
        <p:spPr>
          <a:xfrm xmlns:a="http://schemas.openxmlformats.org/drawingml/2006/main">
            <a:off x="360000" y="4140000"/>
            <a:ext cx="1800000" cy="648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C3E50"/>
          </a:solidFill>
          <a:ln xmlns:a="http://schemas.openxmlformats.org/drawingml/2006/main" w="6350">
            <a:solidFill>
              <a:srgbClr val="5DADE2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200">
                <a:solidFill>
                  <a:srgbClr val="FFFFFF"/>
                </a:solidFill>
                <a:latin typeface="Consolas"/>
                <a:ea typeface="Consolas"/>
              </a:rPr>
              <a:t>strips</a:t>
            </a:r>
          </a:p>
        </p:txBody>
      </p:sp>
    </p:spTree>
  </p:cSld>
  <p:transition>
    <p:split orient="horz" dir="in"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838"/>
        </a:solidFill>
      </p:bgPr>
    </p:bg>
    <p:spTree>
      <p:nvGrpSpPr>
        <p:cNvPr id="1" name=""/>
        <p:cNvGrpSpPr/>
        <p:nvPr/>
      </p:nvGrpSpPr>
      <p:grpSpPr/>
      <p:sp>
        <p:nvSpPr>
          <p:cNvPr id="1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2800">
                <a:solidFill>
                  <a:srgbClr val="FFFFFF"/>
                </a:solidFill>
              </a:rPr>
              <a:t>Timing &amp; Triggers</a:t>
            </a:r>
          </a:p>
        </p:txBody>
      </p:sp>
      <p:sp>
        <p:nvSpPr>
          <p:cNvPr id="3" name="TextBox 2"/>
          <p:cNvSpPr/>
          <p:nvPr>
            <p:ph/>
          </p:nvPr>
        </p:nvSpPr>
        <p:spPr>
          <a:xfrm xmlns:a="http://schemas.openxmlformats.org/drawingml/2006/main">
            <a:off x="36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E86C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Click to animate</a:t>
            </a:r>
          </a:p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(default trigger)</a:t>
            </a:r>
          </a:p>
        </p:txBody>
      </p:sp>
      <p:sp>
        <p:nvSpPr>
          <p:cNvPr id="4" name="TextBox 3"/>
          <p:cNvSpPr/>
          <p:nvPr>
            <p:ph/>
          </p:nvPr>
        </p:nvSpPr>
        <p:spPr>
          <a:xfrm xmlns:a="http://schemas.openxmlformats.org/drawingml/2006/main">
            <a:off x="324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7AE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After previous</a:t>
            </a:r>
          </a:p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(auto-follows)</a:t>
            </a:r>
          </a:p>
        </p:txBody>
      </p:sp>
      <p:sp>
        <p:nvSpPr>
          <p:cNvPr id="5" name="TextBox 4"/>
          <p:cNvSpPr/>
          <p:nvPr>
            <p:ph/>
          </p:nvPr>
        </p:nvSpPr>
        <p:spPr>
          <a:xfrm xmlns:a="http://schemas.openxmlformats.org/drawingml/2006/main">
            <a:off x="6120000" y="1440000"/>
            <a:ext cx="252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4C3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With previous</a:t>
            </a:r>
          </a:p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(simultaneous)</a:t>
            </a:r>
          </a:p>
        </p:txBody>
      </p:sp>
      <p:sp>
        <p:nvSpPr>
          <p:cNvPr id="6" name="TextBox 5"/>
          <p:cNvSpPr/>
          <p:nvPr>
            <p:ph/>
          </p:nvPr>
        </p:nvSpPr>
        <p:spPr>
          <a:xfrm xmlns:a="http://schemas.openxmlformats.org/drawingml/2006/main">
            <a:off x="360000" y="3240000"/>
            <a:ext cx="39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E44A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Slow (2000ms)</a:t>
            </a:r>
          </a:p>
        </p:txBody>
      </p:sp>
      <p:sp>
        <p:nvSpPr>
          <p:cNvPr id="7" name="TextBox 6"/>
          <p:cNvSpPr/>
          <p:nvPr>
            <p:ph/>
          </p:nvPr>
        </p:nvSpPr>
        <p:spPr>
          <a:xfrm xmlns:a="http://schemas.openxmlformats.org/drawingml/2006/main">
            <a:off x="4680000" y="3240000"/>
            <a:ext cx="3960000" cy="108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39C1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sz="1300">
                <a:solidFill>
                  <a:srgbClr val="FFFFFF"/>
                </a:solidFill>
                <a:latin typeface="Consolas"/>
                <a:ea typeface="Consolas"/>
              </a:rPr>
              <a:t>Fast (200ms)</a:t>
            </a:r>
          </a:p>
        </p:txBody>
      </p:sp>
    </p:spTree>
  </p:cSld>
  <p:transition advTm="5000">
    <p14:reveal xmlns:p14="http://schemas.microsoft.com/office/powerpoint/2010/ma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4" grpId="1" build="allAtOnce"/>
      <p:bldP spid="5" grpId="2" build="allAtOnce"/>
      <p:bldP spid="6" grpId="3" build="allAtOnce"/>
      <p:bldP spid="7" grpId="4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