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29ddf9a818c45b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3bd979be00f4d2e"/>
    <p:sldId id="257" r:id="R3a0bcbfa62cf4675"/>
    <p:sldId id="258" r:id="R753545cdaae14300"/>
    <p:sldId id="259" r:id="R2d6e9a09736242dc"/>
    <p:sldId id="260" r:id="Rbe4be12d65994005"/>
    <p:sldId id="261" r:id="R913e331e7c364d1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3bd979be00f4d2e" /><Relationship Type="http://schemas.openxmlformats.org/officeDocument/2006/relationships/slide" Target="/ppt/slides/slide2.xml" Id="R3a0bcbfa62cf4675" /><Relationship Type="http://schemas.openxmlformats.org/officeDocument/2006/relationships/slide" Target="/ppt/slides/slide3.xml" Id="R753545cdaae14300" /><Relationship Type="http://schemas.openxmlformats.org/officeDocument/2006/relationships/slide" Target="/ppt/slides/slide4.xml" Id="R2d6e9a09736242dc" /><Relationship Type="http://schemas.openxmlformats.org/officeDocument/2006/relationships/slide" Target="/ppt/slides/slide5.xml" Id="Rbe4be12d65994005" /><Relationship Type="http://schemas.openxmlformats.org/officeDocument/2006/relationships/slide" Target="/ppt/slides/slide6.xml" Id="R913e331e7c364d1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a8fa7b814e495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3ca31c469f449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1c8b65688a4ae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c36180bdd24fb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2278d40b0b345c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d16a47e6f4d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d8ea0efbb48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f684f265c49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888423e71428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5c2a25e4043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7643d62c440ca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7776000" y="3456000"/>
            <a:ext cx="6048000" cy="6048000"/>
          </a:xfrm>
          <a:prstGeom prst="ellipse">
            <a:avLst/>
          </a:prstGeom>
          <a:solidFill>
            <a:srgbClr val="FF8C00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072000" y="4752000"/>
            <a:ext cx="3456000" cy="3456000"/>
          </a:xfrm>
          <a:prstGeom prst="ellipse">
            <a:avLst/>
          </a:prstGeom>
          <a:solidFill>
            <a:srgbClr val="FF8C00">
              <a:alpha val="1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6120000" y="360000"/>
            <a:ext cx="5760000" cy="57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0" b="1">
                <a:solidFill>
                  <a:srgbClr val="120E04"/>
                </a:solidFill>
                <a:latin typeface="Segoe UI Black"/>
                <a:ea typeface="Segoe UI Black"/>
              </a:rPr>
              <a:t>01</a:t>
            </a:r>
          </a:p>
        </p:txBody>
      </p:sp>
      <p:sp>
        <p:nvSpPr>
          <p:cNvPr id="5" name="!!accent"/>
          <p:cNvSpPr/>
          <p:nvPr/>
        </p:nvSpPr>
        <p:spPr>
          <a:xfrm>
            <a:off x="720000" y="1152000"/>
            <a:ext cx="900000" cy="504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900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06050"/>
                </a:solidFill>
                <a:latin typeface="Segoe UI"/>
                <a:ea typeface="Segoe UI"/>
              </a:rPr>
              <a:t>MERIDIAN CAPITAL  ·  INVESTOR OVERVIEW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1440000"/>
            <a:ext cx="7920000" cy="39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gradFill>
                  <a:gsLst>
                    <a:gs pos="0">
                      <a:srgbClr val="FFFFFF"/>
                    </a:gs>
                    <a:gs pos="100000">
                      <a:srgbClr val="FF8C00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Redefining</a:t>
            </a:r>
          </a:p>
          <a:p>
            <a:r>
              <a:rPr lang="en-US" sz="5200" b="1">
                <a:gradFill>
                  <a:gsLst>
                    <a:gs pos="0">
                      <a:srgbClr val="FFFFFF"/>
                    </a:gs>
                    <a:gs pos="100000">
                      <a:srgbClr val="FF8C00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Alternative</a:t>
            </a:r>
          </a:p>
          <a:p>
            <a:r>
              <a:rPr lang="en-US" sz="5200" b="1">
                <a:gradFill>
                  <a:gsLst>
                    <a:gs pos="0">
                      <a:srgbClr val="FFFFFF"/>
                    </a:gs>
                    <a:gs pos="100000">
                      <a:srgbClr val="FF8C00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Assets.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5580000"/>
            <a:ext cx="72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C09050"/>
                </a:solidFill>
                <a:latin typeface="Segoe UI"/>
                <a:ea typeface="Segoe UI"/>
              </a:rPr>
              <a:t>Private credit, real assets, and systematic strategies</a:t>
            </a:r>
          </a:p>
          <a:p>
            <a:r>
              <a:rPr lang="en-US" sz="1400">
                <a:solidFill>
                  <a:srgbClr val="C09050"/>
                </a:solidFill>
                <a:latin typeface="Segoe UI"/>
                <a:ea typeface="Segoe UI"/>
              </a:rPr>
              <a:t>for the modern institutional investor.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6372000"/>
            <a:ext cx="792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06050"/>
                </a:solidFill>
                <a:latin typeface="Segoe UI"/>
                <a:ea typeface="Segoe UI"/>
              </a:rPr>
              <a:t>AUM $4.8B  ·  Founded 2014  ·  New York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0" y="4842000"/>
            <a:ext cx="4032000" cy="4032000"/>
          </a:xfrm>
          <a:prstGeom prst="ellipse">
            <a:avLst/>
          </a:prstGeom>
          <a:solidFill>
            <a:srgbClr val="FF8C00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0" y="5706000"/>
            <a:ext cx="2304000" cy="2304000"/>
          </a:xfrm>
          <a:prstGeom prst="ellipse">
            <a:avLst/>
          </a:prstGeom>
          <a:solidFill>
            <a:srgbClr val="FF8C00">
              <a:alpha val="1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3060000"/>
            <a:ext cx="10440000" cy="21600"/>
          </a:xfrm>
          <a:prstGeom prst="rect">
            <a:avLst/>
          </a:prstGeom>
          <a:solidFill>
            <a:srgbClr val="7060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"/>
          <p:cNvSpPr/>
          <p:nvPr/>
        </p:nvSpPr>
        <p:spPr>
          <a:xfrm>
            <a:off x="720000" y="792000"/>
            <a:ext cx="720000" cy="50400"/>
          </a:xfrm>
          <a:prstGeom prst="rect">
            <a:avLst/>
          </a:prstGeom>
          <a:solidFill>
            <a:srgbClr val="FFD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540000"/>
            <a:ext cx="576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06050"/>
                </a:solidFill>
                <a:latin typeface="Segoe UI"/>
                <a:ea typeface="Segoe UI"/>
              </a:rPr>
              <a:t>PERFORMANCE  ·  2024</a:t>
            </a:r>
          </a:p>
        </p:txBody>
      </p:sp>
      <p:sp>
        <p:nvSpPr>
          <p:cNvPr id="7" name="TextBox 7"/>
          <p:cNvSpPr/>
          <p:nvPr/>
        </p:nvSpPr>
        <p:spPr>
          <a:xfrm>
            <a:off x="360000" y="900000"/>
            <a:ext cx="1152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0" b="1">
                <a:gradFill>
                  <a:gsLst>
                    <a:gs pos="0">
                      <a:srgbClr val="FFD040"/>
                    </a:gs>
                    <a:gs pos="100000">
                      <a:srgbClr val="070708"/>
                    </a:gs>
                  </a:gsLst>
                  <a:lin ang="0" scaled="1"/>
                </a:gradFill>
                <a:latin typeface="Segoe UI Black"/>
                <a:ea typeface="Segoe UI Black"/>
              </a:rPr>
              <a:t>340%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3600000"/>
            <a:ext cx="792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Segoe UI Black"/>
                <a:ea typeface="Segoe UI Black"/>
              </a:rPr>
              <a:t>Cumulative net return</a:t>
            </a:r>
          </a:p>
          <a:p>
            <a:r>
              <a:rPr lang="en-US" sz="2200" b="1">
                <a:solidFill>
                  <a:srgbClr val="FFFFFF"/>
                </a:solidFill>
                <a:latin typeface="Segoe UI Black"/>
                <a:ea typeface="Segoe UI Black"/>
              </a:rPr>
              <a:t>across flagship fund since inception.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5220000"/>
            <a:ext cx="79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706050"/>
                </a:solidFill>
                <a:latin typeface="Segoe UI"/>
                <a:ea typeface="Segoe UI"/>
              </a:rPr>
              <a:t>Benchmark (S&amp;P 500): +187%  ·  Alpha: +153pp</a:t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6372000"/>
            <a:ext cx="86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900">
                <a:solidFill>
                  <a:srgbClr val="706050"/>
                </a:solidFill>
                <a:latin typeface="Segoe UI"/>
                <a:ea typeface="Segoe UI"/>
              </a:rPr>
              <a:t>Past performance does not guarantee future results.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3240000" cy="6858000"/>
          </a:xfrm>
          <a:prstGeom prst="rect">
            <a:avLst/>
          </a:prstGeom>
          <a:gradFill>
            <a:gsLst>
              <a:gs pos="0">
                <a:srgbClr val="FF8C00"/>
              </a:gs>
              <a:gs pos="100000">
                <a:srgbClr val="2A1800"/>
              </a:gs>
            </a:gsLst>
            <a:lin ang="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3420000" y="0"/>
            <a:ext cx="8773200" cy="6858000"/>
          </a:xfrm>
          <a:prstGeom prst="rect">
            <a:avLst/>
          </a:prstGeom>
          <a:solidFill>
            <a:srgbClr val="11121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glow"/>
          <p:cNvSpPr/>
          <p:nvPr/>
        </p:nvSpPr>
        <p:spPr>
          <a:xfrm>
            <a:off x="7920000" y="1800000"/>
            <a:ext cx="4320000" cy="4320000"/>
          </a:xfrm>
          <a:prstGeom prst="ellipse">
            <a:avLst/>
          </a:prstGeom>
          <a:solidFill>
            <a:srgbClr val="FF8C00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"/>
          <p:cNvSpPr/>
          <p:nvPr/>
        </p:nvSpPr>
        <p:spPr>
          <a:xfrm>
            <a:off x="3780000" y="1080000"/>
            <a:ext cx="720000" cy="504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360000" y="1800000"/>
            <a:ext cx="2520000" cy="32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F8C00"/>
                </a:solidFill>
                <a:latin typeface="Segoe UI Black"/>
                <a:ea typeface="Segoe UI Black"/>
              </a:rPr>
              <a:t>CASE</a:t>
            </a:r>
          </a:p>
          <a:p>
            <a:r>
              <a:rPr lang="en-US" sz="2800" b="1">
                <a:solidFill>
                  <a:srgbClr val="FF8C00"/>
                </a:solidFill>
                <a:latin typeface="Segoe UI Black"/>
                <a:ea typeface="Segoe UI Black"/>
              </a:rPr>
              <a:t>STUDY</a:t>
            </a:r>
          </a:p>
          <a:p>
            <a:r>
              <a:rPr lang="en-US" sz="2800" b="1">
                <a:solidFill>
                  <a:srgbClr val="FF8C00"/>
                </a:solidFill>
                <a:latin typeface="Segoe UI Black"/>
                <a:ea typeface="Segoe UI Black"/>
              </a:rPr>
              <a:t>→</a:t>
            </a:r>
          </a:p>
        </p:txBody>
      </p:sp>
      <p:sp>
        <p:nvSpPr>
          <p:cNvPr id="7" name="TextBox 7"/>
          <p:cNvSpPr/>
          <p:nvPr/>
        </p:nvSpPr>
        <p:spPr>
          <a:xfrm>
            <a:off x="360000" y="5040000"/>
            <a:ext cx="2520000" cy="16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>
                <a:solidFill>
                  <a:srgbClr val="C09050"/>
                </a:solidFill>
                <a:latin typeface="Segoe UI"/>
                <a:ea typeface="Segoe UI"/>
              </a:rPr>
              <a:t>2024</a:t>
            </a:r>
          </a:p>
          <a:p>
            <a:r>
              <a:rPr lang="en-US" sz="1300">
                <a:solidFill>
                  <a:srgbClr val="C09050"/>
                </a:solidFill>
                <a:latin typeface="Segoe UI"/>
                <a:ea typeface="Segoe UI"/>
              </a:rPr>
              <a:t>Fundamental</a:t>
            </a:r>
          </a:p>
          <a:p>
            <a:r>
              <a:rPr lang="en-US" sz="1300">
                <a:solidFill>
                  <a:srgbClr val="C09050"/>
                </a:solidFill>
                <a:latin typeface="Segoe UI"/>
                <a:ea typeface="Segoe UI"/>
              </a:rPr>
              <a:t>Private Credit</a:t>
            </a:r>
          </a:p>
        </p:txBody>
      </p:sp>
      <p:sp>
        <p:nvSpPr>
          <p:cNvPr id="8" name="TextBox 8"/>
          <p:cNvSpPr/>
          <p:nvPr/>
        </p:nvSpPr>
        <p:spPr>
          <a:xfrm>
            <a:off x="3780000" y="1260000"/>
            <a:ext cx="792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 b="1">
                <a:solidFill>
                  <a:srgbClr val="FFFFFF"/>
                </a:solidFill>
                <a:latin typeface="Segoe UI Black"/>
                <a:ea typeface="Segoe UI Black"/>
              </a:rPr>
              <a:t>Investment Thesis</a:t>
            </a:r>
          </a:p>
        </p:txBody>
      </p:sp>
      <p:sp>
        <p:nvSpPr>
          <p:cNvPr id="9" name="TextBox 9"/>
          <p:cNvSpPr/>
          <p:nvPr/>
        </p:nvSpPr>
        <p:spPr>
          <a:xfrm>
            <a:off x="3780000" y="2340000"/>
            <a:ext cx="792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C09050"/>
                </a:solidFill>
                <a:latin typeface="Segoe UI"/>
                <a:ea typeface="Segoe UI"/>
              </a:rPr>
              <a:t>Senior secured lending to mid-market companies in structural growth sectors — healthcare, infrastructure, and B2B software — with 8-12% target yield and capital preservation mandate.</a:t>
            </a:r>
          </a:p>
        </p:txBody>
      </p:sp>
      <p:sp>
        <p:nvSpPr>
          <p:cNvPr id="10" name="TextBox 10"/>
          <p:cNvSpPr/>
          <p:nvPr/>
        </p:nvSpPr>
        <p:spPr>
          <a:xfrm>
            <a:off x="3780000" y="4680000"/>
            <a:ext cx="7560000" cy="21600"/>
          </a:xfrm>
          <a:prstGeom prst="rect">
            <a:avLst/>
          </a:prstGeom>
          <a:solidFill>
            <a:srgbClr val="7060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3780000" y="486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06050"/>
                </a:solidFill>
                <a:latin typeface="Segoe UI"/>
                <a:ea typeface="Segoe UI"/>
              </a:rPr>
              <a:t>Target Return</a:t>
            </a:r>
          </a:p>
        </p:txBody>
      </p:sp>
      <p:sp>
        <p:nvSpPr>
          <p:cNvPr id="12" name="TextBox 12"/>
          <p:cNvSpPr/>
          <p:nvPr/>
        </p:nvSpPr>
        <p:spPr>
          <a:xfrm>
            <a:off x="3780000" y="5220000"/>
            <a:ext cx="288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D040"/>
                </a:solidFill>
                <a:latin typeface="Segoe UI Black"/>
                <a:ea typeface="Segoe UI Black"/>
              </a:rPr>
              <a:t>10.5% net</a:t>
            </a:r>
          </a:p>
        </p:txBody>
      </p:sp>
      <p:sp>
        <p:nvSpPr>
          <p:cNvPr id="13" name="TextBox 13"/>
          <p:cNvSpPr/>
          <p:nvPr/>
        </p:nvSpPr>
        <p:spPr>
          <a:xfrm>
            <a:off x="6660000" y="4860000"/>
            <a:ext cx="14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06050"/>
                </a:solidFill>
                <a:latin typeface="Segoe UI"/>
                <a:ea typeface="Segoe UI"/>
              </a:rPr>
              <a:t>LTV</a:t>
            </a:r>
          </a:p>
        </p:txBody>
      </p:sp>
      <p:sp>
        <p:nvSpPr>
          <p:cNvPr id="14" name="TextBox 14"/>
          <p:cNvSpPr/>
          <p:nvPr/>
        </p:nvSpPr>
        <p:spPr>
          <a:xfrm>
            <a:off x="6660000" y="5220000"/>
            <a:ext cx="216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≤65%</a:t>
            </a:r>
          </a:p>
        </p:txBody>
      </p:sp>
      <p:sp>
        <p:nvSpPr>
          <p:cNvPr id="15" name="TextBox 15"/>
          <p:cNvSpPr/>
          <p:nvPr/>
        </p:nvSpPr>
        <p:spPr>
          <a:xfrm>
            <a:off x="9000000" y="486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06050"/>
                </a:solidFill>
                <a:latin typeface="Segoe UI"/>
                <a:ea typeface="Segoe UI"/>
              </a:rPr>
              <a:t>Duration</a:t>
            </a:r>
          </a:p>
        </p:txBody>
      </p:sp>
      <p:sp>
        <p:nvSpPr>
          <p:cNvPr id="16" name="TextBox 16"/>
          <p:cNvSpPr/>
          <p:nvPr/>
        </p:nvSpPr>
        <p:spPr>
          <a:xfrm>
            <a:off x="9000000" y="5220000"/>
            <a:ext cx="216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800" b="1">
                <a:solidFill>
                  <a:srgbClr val="FFFFFF"/>
                </a:solidFill>
                <a:latin typeface="Segoe UI Black"/>
                <a:ea typeface="Segoe UI Black"/>
              </a:rPr>
              <a:t>3–4 yr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8280000" y="0"/>
            <a:ext cx="5040000" cy="5040000"/>
          </a:xfrm>
          <a:prstGeom prst="ellipse">
            <a:avLst/>
          </a:prstGeom>
          <a:solidFill>
            <a:srgbClr val="FF8C00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9360000" y="0"/>
            <a:ext cx="2880000" cy="2880000"/>
          </a:xfrm>
          <a:prstGeom prst="ellipse">
            <a:avLst/>
          </a:prstGeom>
          <a:solidFill>
            <a:srgbClr val="FF8C00">
              <a:alpha val="1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1980000"/>
            <a:ext cx="10440000" cy="1008000"/>
          </a:xfrm>
          <a:prstGeom prst="roundRect">
            <a:avLst/>
          </a:prstGeom>
          <a:solidFill>
            <a:srgbClr val="11121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864000" y="2160000"/>
            <a:ext cx="648000" cy="648000"/>
          </a:xfrm>
          <a:prstGeom prst="ellipse">
            <a:avLst/>
          </a:prstGeom>
          <a:solidFill>
            <a:srgbClr val="FF8C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728000" y="2160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Systematic Risk Management</a:t>
            </a:r>
          </a:p>
        </p:txBody>
      </p:sp>
      <p:sp>
        <p:nvSpPr>
          <p:cNvPr id="7" name="TextBox 7"/>
          <p:cNvSpPr/>
          <p:nvPr/>
        </p:nvSpPr>
        <p:spPr>
          <a:xfrm>
            <a:off x="1728000" y="2556000"/>
            <a:ext cx="86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06050"/>
                </a:solidFill>
                <a:latin typeface="Segoe UI"/>
                <a:ea typeface="Segoe UI"/>
              </a:rPr>
              <a:t>Multi-factor stress testing across 200+ macro scenarios per quarter.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3132000"/>
            <a:ext cx="10440000" cy="1008000"/>
          </a:xfrm>
          <a:prstGeom prst="roundRect">
            <a:avLst/>
          </a:prstGeom>
          <a:solidFill>
            <a:srgbClr val="11121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864000" y="3312000"/>
            <a:ext cx="648000" cy="648000"/>
          </a:xfrm>
          <a:prstGeom prst="ellipse">
            <a:avLst/>
          </a:prstGeom>
          <a:solidFill>
            <a:srgbClr val="FFD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728000" y="3312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Alignment of Interest</a:t>
            </a:r>
          </a:p>
        </p:txBody>
      </p:sp>
      <p:sp>
        <p:nvSpPr>
          <p:cNvPr id="11" name="TextBox 11"/>
          <p:cNvSpPr/>
          <p:nvPr/>
        </p:nvSpPr>
        <p:spPr>
          <a:xfrm>
            <a:off x="1728000" y="3708000"/>
            <a:ext cx="86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06050"/>
                </a:solidFill>
                <a:latin typeface="Segoe UI"/>
                <a:ea typeface="Segoe UI"/>
              </a:rPr>
              <a:t>GP co-invest minimum 3% — our capital alongside yours, always.</a:t>
            </a:r>
          </a:p>
        </p:txBody>
      </p:sp>
      <p:sp>
        <p:nvSpPr>
          <p:cNvPr id="12" name="TextBox 12"/>
          <p:cNvSpPr/>
          <p:nvPr/>
        </p:nvSpPr>
        <p:spPr>
          <a:xfrm>
            <a:off x="720000" y="4284000"/>
            <a:ext cx="10440000" cy="1008000"/>
          </a:xfrm>
          <a:prstGeom prst="roundRect">
            <a:avLst/>
          </a:prstGeom>
          <a:solidFill>
            <a:srgbClr val="11121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3" name="TextBox 13"/>
          <p:cNvSpPr/>
          <p:nvPr/>
        </p:nvSpPr>
        <p:spPr>
          <a:xfrm>
            <a:off x="864000" y="4464000"/>
            <a:ext cx="648000" cy="648000"/>
          </a:xfrm>
          <a:prstGeom prst="ellipse">
            <a:avLst/>
          </a:prstGeom>
          <a:solidFill>
            <a:srgbClr val="C0905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4" name="TextBox 14"/>
          <p:cNvSpPr/>
          <p:nvPr/>
        </p:nvSpPr>
        <p:spPr>
          <a:xfrm>
            <a:off x="1728000" y="4464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Operational Excellence</a:t>
            </a:r>
          </a:p>
        </p:txBody>
      </p:sp>
      <p:sp>
        <p:nvSpPr>
          <p:cNvPr id="15" name="TextBox 15"/>
          <p:cNvSpPr/>
          <p:nvPr/>
        </p:nvSpPr>
        <p:spPr>
          <a:xfrm>
            <a:off x="1728000" y="4860000"/>
            <a:ext cx="86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06050"/>
                </a:solidFill>
                <a:latin typeface="Segoe UI"/>
                <a:ea typeface="Segoe UI"/>
              </a:rPr>
              <a:t>Dedicated ops team embedded with each portfolio company.</a:t>
            </a:r>
          </a:p>
        </p:txBody>
      </p:sp>
      <p:sp>
        <p:nvSpPr>
          <p:cNvPr id="16" name="TextBox 16"/>
          <p:cNvSpPr/>
          <p:nvPr/>
        </p:nvSpPr>
        <p:spPr>
          <a:xfrm>
            <a:off x="720000" y="5436000"/>
            <a:ext cx="10440000" cy="1008000"/>
          </a:xfrm>
          <a:prstGeom prst="roundRect">
            <a:avLst/>
          </a:prstGeom>
          <a:solidFill>
            <a:srgbClr val="11121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7" name="TextBox 17"/>
          <p:cNvSpPr/>
          <p:nvPr/>
        </p:nvSpPr>
        <p:spPr>
          <a:xfrm>
            <a:off x="864000" y="5616000"/>
            <a:ext cx="648000" cy="648000"/>
          </a:xfrm>
          <a:prstGeom prst="ellipse">
            <a:avLst/>
          </a:prstGeom>
          <a:solidFill>
            <a:srgbClr val="FFFF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8" name="TextBox 18"/>
          <p:cNvSpPr/>
          <p:nvPr/>
        </p:nvSpPr>
        <p:spPr>
          <a:xfrm>
            <a:off x="1728000" y="5616000"/>
            <a:ext cx="468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 Black"/>
                <a:ea typeface="Segoe UI Black"/>
              </a:rPr>
              <a:t>Transparent Reporting</a:t>
            </a:r>
          </a:p>
        </p:txBody>
      </p:sp>
      <p:sp>
        <p:nvSpPr>
          <p:cNvPr id="19" name="TextBox 19"/>
          <p:cNvSpPr/>
          <p:nvPr/>
        </p:nvSpPr>
        <p:spPr>
          <a:xfrm>
            <a:off x="1728000" y="6012000"/>
            <a:ext cx="86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706050"/>
                </a:solidFill>
                <a:latin typeface="Segoe UI"/>
                <a:ea typeface="Segoe UI"/>
              </a:rPr>
              <a:t>Real-time NAV, weekly portfolio updates, full look-through.</a:t>
            </a:r>
          </a:p>
        </p:txBody>
      </p:sp>
      <p:sp>
        <p:nvSpPr>
          <p:cNvPr id="20" name="!!accent"/>
          <p:cNvSpPr/>
          <p:nvPr/>
        </p:nvSpPr>
        <p:spPr>
          <a:xfrm>
            <a:off x="720000" y="1152000"/>
            <a:ext cx="900000" cy="504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720000" y="90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06050"/>
                </a:solidFill>
                <a:latin typeface="Segoe UI"/>
                <a:ea typeface="Segoe UI"/>
              </a:rPr>
              <a:t>APPROACH</a:t>
            </a:r>
          </a:p>
        </p:txBody>
      </p:sp>
      <p:sp>
        <p:nvSpPr>
          <p:cNvPr id="22" name="TextBox 22"/>
          <p:cNvSpPr/>
          <p:nvPr/>
        </p:nvSpPr>
        <p:spPr>
          <a:xfrm>
            <a:off x="720000" y="1260000"/>
            <a:ext cx="648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>
                <a:solidFill>
                  <a:srgbClr val="FFFFFF"/>
                </a:solidFill>
                <a:latin typeface="Segoe UI Black"/>
                <a:ea typeface="Segoe UI Black"/>
              </a:rPr>
              <a:t>Why Meridian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/>
      <p:sp>
        <p:nvSpPr>
          <p:cNvPr id="2" name="!!glow"/>
          <p:cNvSpPr/>
          <p:nvPr/>
        </p:nvSpPr>
        <p:spPr>
          <a:xfrm>
            <a:off x="3888000" y="1728000"/>
            <a:ext cx="3024000" cy="3024000"/>
          </a:xfrm>
          <a:prstGeom prst="ellipse">
            <a:avLst/>
          </a:prstGeom>
          <a:solidFill>
            <a:srgbClr val="FF8C00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4536000" y="2376000"/>
            <a:ext cx="1728000" cy="1728000"/>
          </a:xfrm>
          <a:prstGeom prst="ellipse">
            <a:avLst/>
          </a:prstGeom>
          <a:solidFill>
            <a:srgbClr val="FF8C00">
              <a:alpha val="1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1080000" y="720000"/>
            <a:ext cx="10033200" cy="5400000"/>
          </a:xfrm>
          <a:prstGeom prst="roundRect">
            <a:avLst/>
          </a:prstGeom>
          <a:solidFill>
            <a:srgbClr val="F5EDE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"/>
          <p:cNvSpPr/>
          <p:nvPr/>
        </p:nvSpPr>
        <p:spPr>
          <a:xfrm>
            <a:off x="1440000" y="1080000"/>
            <a:ext cx="900000" cy="504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440000" y="126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06050"/>
                </a:solidFill>
                <a:latin typeface="Segoe UI"/>
                <a:ea typeface="Segoe UI"/>
              </a:rPr>
              <a:t>INVESTOR VOICE</a:t>
            </a:r>
          </a:p>
        </p:txBody>
      </p:sp>
      <p:sp>
        <p:nvSpPr>
          <p:cNvPr id="7" name="TextBox 7"/>
          <p:cNvSpPr/>
          <p:nvPr/>
        </p:nvSpPr>
        <p:spPr>
          <a:xfrm>
            <a:off x="1440000" y="1620000"/>
            <a:ext cx="900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1A1010"/>
                </a:solidFill>
                <a:latin typeface="Segoe UI"/>
                <a:ea typeface="Segoe UI"/>
              </a:rPr>
              <a:t>“Meridian’s credit team has the deepest fundamental underwriting we’ve seen in the mid-market. Three funds, consistent alpha.”</a:t>
            </a:r>
          </a:p>
        </p:txBody>
      </p:sp>
      <p:sp>
        <p:nvSpPr>
          <p:cNvPr id="8" name="TextBox 8"/>
          <p:cNvSpPr/>
          <p:nvPr/>
        </p:nvSpPr>
        <p:spPr>
          <a:xfrm>
            <a:off x="1440000" y="4140000"/>
            <a:ext cx="8640000" cy="288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440000" y="4320000"/>
            <a:ext cx="864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1A1010"/>
                </a:solidFill>
                <a:latin typeface="Segoe UI Black"/>
                <a:ea typeface="Segoe UI Black"/>
              </a:rPr>
              <a:t>Chief Investment Officer, Major Sovereign Wealth Fund</a:t>
            </a:r>
          </a:p>
        </p:txBody>
      </p:sp>
      <p:sp>
        <p:nvSpPr>
          <p:cNvPr id="10" name="TextBox 10"/>
          <p:cNvSpPr/>
          <p:nvPr/>
        </p:nvSpPr>
        <p:spPr>
          <a:xfrm>
            <a:off x="1440000" y="4860000"/>
            <a:ext cx="79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706050"/>
                </a:solidFill>
                <a:latin typeface="Segoe UI"/>
                <a:ea typeface="Segoe UI"/>
              </a:rPr>
              <a:t>$500M committed across Fund II and Fund III</a:t>
            </a:r>
          </a:p>
        </p:txBody>
      </p:sp>
      <p:sp>
        <p:nvSpPr>
          <p:cNvPr id="11" name="TextBox 11"/>
          <p:cNvSpPr/>
          <p:nvPr/>
        </p:nvSpPr>
        <p:spPr>
          <a:xfrm>
            <a:off x="720000" y="6372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06050"/>
                </a:solidFill>
                <a:latin typeface="Segoe UI"/>
                <a:ea typeface="Segoe UI"/>
              </a:rPr>
              <a:t>meridian-capital.com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070708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2880000" y="1080000"/>
            <a:ext cx="9360000" cy="5760000"/>
          </a:xfrm>
          <a:prstGeom prst="ellipse">
            <a:avLst/>
          </a:prstGeom>
          <a:gradFill>
            <a:gsLst>
              <a:gs pos="0">
                <a:srgbClr val="FF8C00">
                  <a:alpha val="45000"/>
                </a:srgbClr>
              </a:gs>
              <a:gs pos="100000">
                <a:srgbClr val="070708">
                  <a:alpha val="45000"/>
                </a:srgbClr>
              </a:gs>
            </a:gsLst>
            <a:lin ang="8100000" scaled="1"/>
          </a:gra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040000" y="1800000"/>
            <a:ext cx="5760000" cy="4320000"/>
          </a:xfrm>
          <a:prstGeom prst="ellipse">
            <a:avLst/>
          </a:prstGeom>
          <a:solidFill>
            <a:srgbClr val="FF8C00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glow"/>
          <p:cNvSpPr/>
          <p:nvPr/>
        </p:nvSpPr>
        <p:spPr>
          <a:xfrm>
            <a:off x="6480000" y="2160000"/>
            <a:ext cx="3600000" cy="3600000"/>
          </a:xfrm>
          <a:prstGeom prst="ellipse">
            <a:avLst/>
          </a:prstGeom>
          <a:solidFill>
            <a:srgbClr val="FFD040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accent"/>
          <p:cNvSpPr/>
          <p:nvPr/>
        </p:nvSpPr>
        <p:spPr>
          <a:xfrm>
            <a:off x="720000" y="1152000"/>
            <a:ext cx="900000" cy="50400"/>
          </a:xfrm>
          <a:prstGeom prst="rect">
            <a:avLst/>
          </a:prstGeom>
          <a:solidFill>
            <a:srgbClr val="FF8C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720000" y="900000"/>
            <a:ext cx="5040000" cy="32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000">
                <a:solidFill>
                  <a:srgbClr val="706050"/>
                </a:solidFill>
                <a:latin typeface="Segoe UI"/>
                <a:ea typeface="Segoe UI"/>
              </a:rPr>
              <a:t>CONTACT</a:t>
            </a:r>
          </a:p>
        </p:txBody>
      </p:sp>
      <p:sp>
        <p:nvSpPr>
          <p:cNvPr id="7" name="TextBox 7"/>
          <p:cNvSpPr/>
          <p:nvPr/>
        </p:nvSpPr>
        <p:spPr>
          <a:xfrm>
            <a:off x="720000" y="1440000"/>
            <a:ext cx="792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Begin the</a:t>
            </a:r>
          </a:p>
          <a:p>
            <a:r>
              <a:rPr lang="en-US" sz="5200" b="1">
                <a:solidFill>
                  <a:srgbClr val="FFFFFF"/>
                </a:solidFill>
                <a:latin typeface="Segoe UI Black"/>
                <a:ea typeface="Segoe UI Black"/>
              </a:rPr>
              <a:t>Conversation.</a:t>
            </a:r>
          </a:p>
        </p:txBody>
      </p:sp>
      <p:sp>
        <p:nvSpPr>
          <p:cNvPr id="8" name="TextBox 8"/>
          <p:cNvSpPr/>
          <p:nvPr/>
        </p:nvSpPr>
        <p:spPr>
          <a:xfrm>
            <a:off x="720000" y="4680000"/>
            <a:ext cx="720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C09050"/>
                </a:solidFill>
                <a:latin typeface="Segoe UI"/>
                <a:ea typeface="Segoe UI"/>
              </a:rPr>
              <a:t>Institutional inquiries and LP relations:</a:t>
            </a:r>
          </a:p>
        </p:txBody>
      </p:sp>
      <p:sp>
        <p:nvSpPr>
          <p:cNvPr id="9" name="TextBox 9"/>
          <p:cNvSpPr/>
          <p:nvPr/>
        </p:nvSpPr>
        <p:spPr>
          <a:xfrm>
            <a:off x="720000" y="5400000"/>
            <a:ext cx="4320000" cy="900000"/>
          </a:xfrm>
          <a:prstGeom prst="roundRect">
            <a:avLst/>
          </a:prstGeom>
          <a:solidFill>
            <a:srgbClr val="FF8C0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720000" y="5400000"/>
            <a:ext cx="4320000" cy="9000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en-US" sz="1300" b="1">
                <a:solidFill>
                  <a:srgbClr val="070708"/>
                </a:solidFill>
                <a:latin typeface="Segoe UI Black"/>
                <a:ea typeface="Segoe UI Black"/>
              </a:rPr>
              <a:t>ir@meridian-capital.com →</a:t>
            </a:r>
          </a:p>
        </p:txBody>
      </p:sp>
      <p:sp>
        <p:nvSpPr>
          <p:cNvPr id="11" name="TextBox 11"/>
          <p:cNvSpPr/>
          <p:nvPr/>
        </p:nvSpPr>
        <p:spPr>
          <a:xfrm>
            <a:off x="9360000" y="6300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r"/>
            <a:r>
              <a:rPr lang="en-US" sz="1000">
                <a:solidFill>
                  <a:srgbClr val="706050"/>
                </a:solidFill>
                <a:latin typeface="Segoe UI"/>
                <a:ea typeface="Segoe UI"/>
              </a:rPr>
              <a:t>meridian-capital.com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