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00f60e88a1940c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04030b17d29f4d2c"/>
    <p:sldId id="257" r:id="R136a5384315b4075"/>
    <p:sldId id="258" r:id="Rcc138d2e03494d22"/>
    <p:sldId id="259" r:id="R6825fe539fb94da2"/>
    <p:sldId id="260" r:id="Re995da0617d34d0f"/>
    <p:sldId id="261" r:id="Rc4b71028347f4db2"/>
    <p:sldId id="262" r:id="Rcf8565c43ed4407b"/>
    <p:sldId id="263" r:id="Rff48d330d8e946d5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4030b17d29f4d2c" /><Relationship Type="http://schemas.openxmlformats.org/officeDocument/2006/relationships/slide" Target="/ppt/slides/slide2.xml" Id="R136a5384315b4075" /><Relationship Type="http://schemas.openxmlformats.org/officeDocument/2006/relationships/slide" Target="/ppt/slides/slide3.xml" Id="Rcc138d2e03494d22" /><Relationship Type="http://schemas.openxmlformats.org/officeDocument/2006/relationships/slide" Target="/ppt/slides/slide4.xml" Id="R6825fe539fb94da2" /><Relationship Type="http://schemas.openxmlformats.org/officeDocument/2006/relationships/slide" Target="/ppt/slides/slide5.xml" Id="Re995da0617d34d0f" /><Relationship Type="http://schemas.openxmlformats.org/officeDocument/2006/relationships/slide" Target="/ppt/slides/slide6.xml" Id="Rc4b71028347f4db2" /><Relationship Type="http://schemas.openxmlformats.org/officeDocument/2006/relationships/slide" Target="/ppt/slides/slide7.xml" Id="Rcf8565c43ed4407b" /><Relationship Type="http://schemas.openxmlformats.org/officeDocument/2006/relationships/slide" Target="/ppt/slides/slide8.xml" Id="Rff48d330d8e946d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fe9067deb142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fec69399e45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140d87200b4f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62e43a240493e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d59e6cd40904b0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487b3803c4c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1f0791af645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5131b334a48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daa4deb6d4f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481ee850347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73a5e727446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e2615eb434c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9b03ec4f745b4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/>
      <p:sp>
        <p:nvSpPr>
          <p:cNvPr id="2" name="!!blob-main"/>
          <p:cNvSpPr/>
          <p:nvPr/>
        </p:nvSpPr>
        <p:spPr>
          <a:xfrm>
            <a:off x="0" y="0"/>
            <a:ext cx="5040000" cy="6858000"/>
          </a:xfrm>
          <a:solidFill>
            <a:srgbClr val="1E4D38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45" h="100">
                <a:moveTo>
                  <a:pt x="0" y="0"/>
                </a:moveTo>
                <a:cubicBezTo>
                  <a:pt x="16" y="0"/>
                  <a:pt x="36" y="4"/>
                  <a:pt x="41" y="17"/>
                </a:cubicBezTo>
                <a:cubicBezTo>
                  <a:pt x="46" y="30"/>
                  <a:pt x="38" y="42"/>
                  <a:pt x="45" y="54"/>
                </a:cubicBezTo>
                <a:cubicBezTo>
                  <a:pt x="51" y="64"/>
                  <a:pt x="43" y="76"/>
                  <a:pt x="36" y="86"/>
                </a:cubicBezTo>
                <a:cubicBezTo>
                  <a:pt x="28" y="96"/>
                  <a:pt x="13" y="100"/>
                  <a:pt x="0" y="10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hero-img"/>
          <p:cNvSpPr/>
          <p:nvPr/>
        </p:nvSpPr>
        <p:spPr>
          <a:xfrm>
            <a:off x="540000" y="1800000"/>
            <a:ext cx="1440000" cy="3240000"/>
          </a:xfrm>
          <a:prstGeom prst="ellipse">
            <a:avLst/>
          </a:prstGeom>
          <a:solidFill>
            <a:srgbClr val="C86830"/>
          </a:solidFill>
          <a:ln>
            <a:noFill/>
          </a:ln>
        </p:spPr>
        <p:txBody>
          <a:bodyPr anchor="b"/>
          <a:lstStyle/>
          <a:p>
            <a:pPr algn="ctr"/>
            <a:r>
              <a:rPr lang="en-US" sz="800">
                <a:solidFill>
                  <a:srgbClr val="F5DDA0"/>
                </a:solidFill>
              </a:rPr>
              <a:t>[food photo]</a:t>
            </a:r>
          </a:p>
        </p:txBody>
      </p:sp>
      <p:sp>
        <p:nvSpPr>
          <p:cNvPr id="4" name="TextBox 4"/>
          <p:cNvSpPr/>
          <p:nvPr/>
        </p:nvSpPr>
        <p:spPr>
          <a:xfrm>
            <a:off x="0" y="0"/>
            <a:ext cx="5040000" cy="6858000"/>
          </a:xfrm>
          <a:solidFill>
            <a:srgbClr val="1E4D38">
              <a:alpha val="20000"/>
            </a:srgbClr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45" h="100">
                <a:moveTo>
                  <a:pt x="0" y="0"/>
                </a:moveTo>
                <a:cubicBezTo>
                  <a:pt x="16" y="0"/>
                  <a:pt x="36" y="4"/>
                  <a:pt x="41" y="17"/>
                </a:cubicBezTo>
                <a:cubicBezTo>
                  <a:pt x="46" y="30"/>
                  <a:pt x="38" y="42"/>
                  <a:pt x="45" y="54"/>
                </a:cubicBezTo>
                <a:cubicBezTo>
                  <a:pt x="51" y="64"/>
                  <a:pt x="43" y="76"/>
                  <a:pt x="36" y="86"/>
                </a:cubicBezTo>
                <a:cubicBezTo>
                  <a:pt x="28" y="96"/>
                  <a:pt x="13" y="100"/>
                  <a:pt x="0" y="10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540000" y="540000"/>
            <a:ext cx="216000" cy="216000"/>
          </a:xfrm>
          <a:solidFill>
            <a:srgbClr val="F5DDA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3672000" y="792000"/>
            <a:ext cx="162000" cy="162000"/>
          </a:xfrm>
          <a:solidFill>
            <a:srgbClr val="FFFFFF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1260000" y="5940000"/>
            <a:ext cx="180000" cy="180000"/>
          </a:xfrm>
          <a:solidFill>
            <a:srgbClr val="F5DDA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3960000" y="5400000"/>
            <a:ext cx="126000" cy="126000"/>
          </a:xfrm>
          <a:solidFill>
            <a:srgbClr val="FFFFFF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3420000" y="432000"/>
            <a:ext cx="288000" cy="468000"/>
          </a:xfrm>
          <a:solidFill>
            <a:srgbClr val="FFF0E8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82" h="95">
                <a:moveTo>
                  <a:pt x="50" y="95"/>
                </a:moveTo>
                <a:cubicBezTo>
                  <a:pt x="25" y="68"/>
                  <a:pt x="6" y="38"/>
                  <a:pt x="18" y="14"/>
                </a:cubicBezTo>
                <a:cubicBezTo>
                  <a:pt x="27" y="2"/>
                  <a:pt x="42" y="0"/>
                  <a:pt x="50" y="0"/>
                </a:cubicBezTo>
                <a:cubicBezTo>
                  <a:pt x="58" y="0"/>
                  <a:pt x="73" y="2"/>
                  <a:pt x="82" y="14"/>
                </a:cubicBezTo>
                <a:cubicBezTo>
                  <a:pt x="94" y="38"/>
                  <a:pt x="75" y="68"/>
                  <a:pt x="50" y="95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3780000" y="504000"/>
            <a:ext cx="216000" cy="360000"/>
          </a:xfrm>
          <a:solidFill>
            <a:srgbClr val="FFF0E8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82" h="95">
                <a:moveTo>
                  <a:pt x="50" y="95"/>
                </a:moveTo>
                <a:cubicBezTo>
                  <a:pt x="25" y="68"/>
                  <a:pt x="6" y="38"/>
                  <a:pt x="18" y="14"/>
                </a:cubicBezTo>
                <a:cubicBezTo>
                  <a:pt x="27" y="2"/>
                  <a:pt x="42" y="0"/>
                  <a:pt x="50" y="0"/>
                </a:cubicBezTo>
                <a:cubicBezTo>
                  <a:pt x="58" y="0"/>
                  <a:pt x="73" y="2"/>
                  <a:pt x="82" y="14"/>
                </a:cubicBezTo>
                <a:cubicBezTo>
                  <a:pt x="94" y="38"/>
                  <a:pt x="75" y="68"/>
                  <a:pt x="50" y="95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180000" y="100800"/>
            <a:ext cx="936000" cy="223200"/>
          </a:xfrm>
          <a:prstGeom prst="roundRect">
            <a:avLst/>
          </a:prstGeom>
          <a:solidFill>
            <a:srgbClr val="1E4D3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750" b="1">
                <a:solidFill>
                  <a:srgbClr val="FFFFFF"/>
                </a:solidFill>
              </a:rPr>
              <a:t>Sweet Bliss</a:t>
            </a:r>
          </a:p>
        </p:txBody>
      </p:sp>
      <p:sp>
        <p:nvSpPr>
          <p:cNvPr id="12" name="TextBox 12"/>
          <p:cNvSpPr/>
          <p:nvPr/>
        </p:nvSpPr>
        <p:spPr>
          <a:xfrm>
            <a:off x="2520000" y="108000"/>
            <a:ext cx="7920000" cy="216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800">
                <a:solidFill>
                  <a:srgbClr val="7A6040"/>
                </a:solidFill>
              </a:rPr>
              <a:t>Home   About Us   Project   Blog   Reservation</a:t>
            </a:r>
          </a:p>
        </p:txBody>
      </p:sp>
      <p:sp>
        <p:nvSpPr>
          <p:cNvPr id="13" name="TextBox 13"/>
          <p:cNvSpPr/>
          <p:nvPr/>
        </p:nvSpPr>
        <p:spPr>
          <a:xfrm>
            <a:off x="11592000" y="64800"/>
            <a:ext cx="280800" cy="280800"/>
          </a:xfrm>
          <a:solidFill>
            <a:srgbClr val="F5DDA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cxnSp>
        <p:nvCxnSpPr>
          <p:cNvPr id="16" name="Connector 16"/>
          <p:cNvCxnSpPr/>
          <p:nvPr/>
        </p:nvCxnSpPr>
        <p:spPr>
          <a:xfrm>
            <a:off x="2000000" y="3000000"/>
            <a:ext cx="4000000" cy="0"/>
          </a:xfrm>
          <a:prstGeom prst="straightConnector1">
            <a:avLst/>
          </a:prstGeom>
          <a:ln w="12700">
            <a:solidFill>
              <a:srgbClr val="EAF4EE"/>
            </a:solidFill>
          </a:ln>
        </p:spPr>
      </p:cxnSp>
      <p:sp>
        <p:nvSpPr>
          <p:cNvPr id="17" name="TextBox 17"/>
          <p:cNvSpPr/>
          <p:nvPr/>
        </p:nvSpPr>
        <p:spPr>
          <a:xfrm>
            <a:off x="540000" y="540000"/>
            <a:ext cx="3600000" cy="28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800">
                <a:solidFill>
                  <a:srgbClr val="FFFFFF"/>
                </a:solidFill>
              </a:rPr>
              <a:t>Premium Bakery &amp; Cafe</a:t>
            </a:r>
          </a:p>
        </p:txBody>
      </p:sp>
      <p:sp>
        <p:nvSpPr>
          <p:cNvPr id="18" name="TextBox 18"/>
          <p:cNvSpPr/>
          <p:nvPr/>
        </p:nvSpPr>
        <p:spPr>
          <a:xfrm>
            <a:off x="5580000" y="1620000"/>
            <a:ext cx="6120000" cy="792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3600" b="1">
                <a:solidFill>
                  <a:srgbClr val="241C17"/>
                </a:solidFill>
              </a:rPr>
              <a:t>Best Service</a:t>
            </a:r>
          </a:p>
        </p:txBody>
      </p:sp>
      <p:sp>
        <p:nvSpPr>
          <p:cNvPr id="19" name="!!slide-title"/>
          <p:cNvSpPr/>
          <p:nvPr/>
        </p:nvSpPr>
        <p:spPr>
          <a:xfrm>
            <a:off x="5580000" y="2520000"/>
            <a:ext cx="6120000" cy="792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3600" b="1">
                <a:solidFill>
                  <a:srgbClr val="C4552A"/>
                </a:solidFill>
              </a:rPr>
              <a:t>Sweet Bliss</a:t>
            </a:r>
          </a:p>
        </p:txBody>
      </p:sp>
      <p:cxnSp>
        <p:nvCxnSpPr>
          <p:cNvPr id="20" name="!!title-accent"/>
          <p:cNvCxnSpPr/>
          <p:nvPr/>
        </p:nvCxnSpPr>
        <p:spPr>
          <a:xfrm>
            <a:off x="2000000" y="3000000"/>
            <a:ext cx="4000000" cy="0"/>
          </a:xfrm>
          <a:prstGeom prst="straightConnector1">
            <a:avLst/>
          </a:prstGeom>
          <a:ln w="12700">
            <a:solidFill>
              <a:srgbClr val="E8A838"/>
            </a:solidFill>
          </a:ln>
        </p:spPr>
      </p:cxnSp>
      <p:sp>
        <p:nvSpPr>
          <p:cNvPr id="21" name="TextBox 21"/>
          <p:cNvSpPr/>
          <p:nvPr/>
        </p:nvSpPr>
        <p:spPr>
          <a:xfrm>
            <a:off x="4860000" y="2700000"/>
            <a:ext cx="378000" cy="378000"/>
          </a:xfrm>
          <a:prstGeom prst="ellipse">
            <a:avLst/>
          </a:prstGeom>
          <a:solidFill>
            <a:srgbClr val="C4552A"/>
          </a:solidFill>
          <a:ln w="12700">
            <a:noFill/>
          </a:ln>
        </p:spPr>
        <p:txBody>
          <a:bodyPr anchor="ctr"/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>&lt;</a:t>
            </a:r>
          </a:p>
        </p:txBody>
      </p:sp>
      <p:sp>
        <p:nvSpPr>
          <p:cNvPr id="22" name="TextBox 22"/>
          <p:cNvSpPr/>
          <p:nvPr/>
        </p:nvSpPr>
        <p:spPr>
          <a:xfrm>
            <a:off x="4860000" y="3276000"/>
            <a:ext cx="378000" cy="378000"/>
          </a:xfrm>
          <a:prstGeom prst="ellipse">
            <a:avLst/>
          </a:prstGeom>
          <a:solidFill>
            <a:srgbClr val="C4552A"/>
          </a:solidFill>
          <a:ln w="12700">
            <a:noFill/>
          </a:ln>
        </p:spPr>
        <p:txBody>
          <a:bodyPr anchor="ctr"/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>&gt;</a:t>
            </a:r>
          </a:p>
        </p:txBody>
      </p:sp>
      <p:sp>
        <p:nvSpPr>
          <p:cNvPr id="23" name="TextBox 23"/>
          <p:cNvSpPr/>
          <p:nvPr/>
        </p:nvSpPr>
        <p:spPr>
          <a:xfrm>
            <a:off x="5580000" y="3672000"/>
            <a:ext cx="6120000" cy="306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100" b="1">
                <a:solidFill>
                  <a:srgbClr val="241C17"/>
                </a:solidFill>
              </a:rPr>
              <a:t>01. Service</a:t>
            </a:r>
          </a:p>
        </p:txBody>
      </p:sp>
      <p:sp>
        <p:nvSpPr>
          <p:cNvPr id="24" name="TextBox 24"/>
          <p:cNvSpPr/>
          <p:nvPr/>
        </p:nvSpPr>
        <p:spPr>
          <a:xfrm>
            <a:off x="5580000" y="4032000"/>
            <a:ext cx="6120000" cy="576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800">
                <a:solidFill>
                  <a:srgbClr val="7A6040"/>
                </a:solidFill>
              </a:rPr>
              <a:t>Lorem ipsum dolor sit amet, consectetur adipiscing elit. Maecenas tincidunt volutpat dui porta lorem consectetur.</a:t>
            </a:r>
          </a:p>
        </p:txBody>
      </p:sp>
      <p:sp>
        <p:nvSpPr>
          <p:cNvPr id="25" name="TextBox 25"/>
          <p:cNvSpPr/>
          <p:nvPr/>
        </p:nvSpPr>
        <p:spPr>
          <a:xfrm>
            <a:off x="5580000" y="4752000"/>
            <a:ext cx="6120000" cy="306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100" b="1">
                <a:solidFill>
                  <a:srgbClr val="241C17"/>
                </a:solidFill>
              </a:rPr>
              <a:t>02. Service</a:t>
            </a:r>
          </a:p>
        </p:txBody>
      </p:sp>
      <p:sp>
        <p:nvSpPr>
          <p:cNvPr id="26" name="TextBox 26"/>
          <p:cNvSpPr/>
          <p:nvPr/>
        </p:nvSpPr>
        <p:spPr>
          <a:xfrm>
            <a:off x="5580000" y="5112000"/>
            <a:ext cx="6120000" cy="576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800">
                <a:solidFill>
                  <a:srgbClr val="7A6040"/>
                </a:solidFill>
              </a:rPr>
              <a:t>Lorem ipsum dolor sit amet, consectetur adipiscing elit. Maecenas tincidunt volutpat dui porta lorem consectetur.</a:t>
            </a:r>
          </a:p>
        </p:txBody>
      </p:sp>
      <p:cxnSp>
        <p:nvCxnSpPr>
          <p:cNvPr id="27" name="!!footer-line"/>
          <p:cNvCxnSpPr/>
          <p:nvPr/>
        </p:nvCxnSpPr>
        <p:spPr>
          <a:xfrm>
            <a:off x="2000000" y="3000000"/>
            <a:ext cx="4000000" cy="0"/>
          </a:xfrm>
          <a:prstGeom prst="straightConnector1">
            <a:avLst/>
          </a:prstGeom>
          <a:ln w="12700">
            <a:solidFill>
              <a:srgbClr val="EAF4EE"/>
            </a:solidFill>
          </a:ln>
        </p:spPr>
      </p:cxnSp>
      <p:sp>
        <p:nvSpPr>
          <p:cNvPr id="28" name="TextBox 28"/>
          <p:cNvSpPr/>
          <p:nvPr/>
        </p:nvSpPr>
        <p:spPr>
          <a:xfrm>
            <a:off x="5580000" y="6408000"/>
            <a:ext cx="1080000" cy="18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700">
                <a:solidFill>
                  <a:srgbClr val="7A6040"/>
                </a:solidFill>
              </a:rPr>
              <a:t>1 / 8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/>
      <p:sp>
        <p:nvSpPr>
          <p:cNvPr id="2" name="!!blob-main"/>
          <p:cNvSpPr/>
          <p:nvPr/>
        </p:nvSpPr>
        <p:spPr>
          <a:xfrm>
            <a:off x="1260000" y="1152000"/>
            <a:ext cx="7200000" cy="4680000"/>
          </a:xfrm>
          <a:solidFill>
            <a:srgbClr val="E8A838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91" h="86">
                <a:moveTo>
                  <a:pt x="18" y="52"/>
                </a:moveTo>
                <a:cubicBezTo>
                  <a:pt x="16" y="34"/>
                  <a:pt x="26" y="18"/>
                  <a:pt x="42" y="22"/>
                </a:cubicBezTo>
                <a:cubicBezTo>
                  <a:pt x="44" y="10"/>
                  <a:pt x="58" y="6"/>
                  <a:pt x="68" y="18"/>
                </a:cubicBezTo>
                <a:cubicBezTo>
                  <a:pt x="76" y="6"/>
                  <a:pt x="92" y="16"/>
                  <a:pt x="91" y="34"/>
                </a:cubicBezTo>
                <a:cubicBezTo>
                  <a:pt x="99" y="38"/>
                  <a:pt x="100" y="54"/>
                  <a:pt x="91" y="62"/>
                </a:cubicBezTo>
                <a:cubicBezTo>
                  <a:pt x="93" y="74"/>
                  <a:pt x="81" y="84"/>
                  <a:pt x="68" y="80"/>
                </a:cubicBezTo>
                <a:cubicBezTo>
                  <a:pt x="62" y="90"/>
                  <a:pt x="48" y="92"/>
                  <a:pt x="38" y="86"/>
                </a:cubicBezTo>
                <a:cubicBezTo>
                  <a:pt x="24" y="80"/>
                  <a:pt x="16" y="68"/>
                  <a:pt x="16" y="60"/>
                </a:cubicBezTo>
                <a:cubicBezTo>
                  <a:pt x="14" y="57"/>
                  <a:pt x="14" y="54"/>
                  <a:pt x="18" y="52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1980000" y="1620000"/>
            <a:ext cx="252000" cy="252000"/>
          </a:xfrm>
          <a:solidFill>
            <a:srgbClr val="FFFFFF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200000" y="1800000"/>
            <a:ext cx="180000" cy="180000"/>
          </a:xfrm>
          <a:solidFill>
            <a:srgbClr val="F5DDA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2700000" y="5040000"/>
            <a:ext cx="162000" cy="162000"/>
          </a:xfrm>
          <a:solidFill>
            <a:srgbClr val="FFFFFF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7020000" y="5220000"/>
            <a:ext cx="144000" cy="144000"/>
          </a:xfrm>
          <a:solidFill>
            <a:srgbClr val="F5DDA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1800000" y="2700000"/>
            <a:ext cx="4680000" cy="100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3000" b="1">
                <a:solidFill>
                  <a:srgbClr val="FFFFFF"/>
                </a:solidFill>
              </a:rPr>
              <a:t>The Portfolio</a:t>
            </a:r>
          </a:p>
        </p:txBody>
      </p:sp>
      <p:sp>
        <p:nvSpPr>
          <p:cNvPr id="8" name="!!hero-img"/>
          <p:cNvSpPr/>
          <p:nvPr/>
        </p:nvSpPr>
        <p:spPr>
          <a:xfrm>
            <a:off x="8100000" y="648000"/>
            <a:ext cx="2592000" cy="2592000"/>
          </a:xfrm>
          <a:prstGeom prst="ellipse">
            <a:avLst/>
          </a:prstGeom>
          <a:solidFill>
            <a:srgbClr val="C86830"/>
          </a:solidFill>
          <a:ln w="38100">
            <a:solidFill>
              <a:srgbClr val="FFFFFF"/>
            </a:solidFill>
          </a:ln>
        </p:spPr>
        <p:txBody>
          <a:bodyPr anchor="b"/>
          <a:lstStyle/>
          <a:p>
            <a:pPr algn="ctr"/>
            <a:r>
              <a:rPr lang="en-US" sz="800">
                <a:solidFill>
                  <a:srgbClr val="F5DDA0"/>
                </a:solidFill>
              </a:rPr>
              <a:t>[photo]</a:t>
            </a:r>
          </a:p>
        </p:txBody>
      </p:sp>
      <p:sp>
        <p:nvSpPr>
          <p:cNvPr id="9" name="TextBox 9"/>
          <p:cNvSpPr/>
          <p:nvPr/>
        </p:nvSpPr>
        <p:spPr>
          <a:xfrm>
            <a:off x="9000000" y="3060000"/>
            <a:ext cx="2088000" cy="2088000"/>
          </a:xfrm>
          <a:prstGeom prst="ellipse">
            <a:avLst/>
          </a:prstGeom>
          <a:solidFill>
            <a:srgbClr val="C86830"/>
          </a:solidFill>
          <a:ln w="38100">
            <a:solidFill>
              <a:srgbClr val="FFFFFF"/>
            </a:solidFill>
          </a:ln>
        </p:spPr>
        <p:txBody>
          <a:bodyPr anchor="b"/>
          <a:lstStyle/>
          <a:p>
            <a:pPr algn="ctr"/>
            <a:r>
              <a:rPr lang="en-US" sz="800">
                <a:solidFill>
                  <a:srgbClr val="F5DDA0"/>
                </a:solidFill>
              </a:rPr>
              <a:t>[photo]</a:t>
            </a:r>
          </a:p>
        </p:txBody>
      </p:sp>
      <p:sp>
        <p:nvSpPr>
          <p:cNvPr id="10" name="TextBox 10"/>
          <p:cNvSpPr/>
          <p:nvPr/>
        </p:nvSpPr>
        <p:spPr>
          <a:xfrm>
            <a:off x="9900000" y="4752000"/>
            <a:ext cx="1800000" cy="1800000"/>
          </a:xfrm>
          <a:prstGeom prst="ellipse">
            <a:avLst/>
          </a:prstGeom>
          <a:solidFill>
            <a:srgbClr val="B85820"/>
          </a:solidFill>
          <a:ln w="38100">
            <a:solidFill>
              <a:srgbClr val="FFFFFF"/>
            </a:solidFill>
          </a:ln>
        </p:spPr>
        <p:txBody>
          <a:bodyPr anchor="b"/>
          <a:lstStyle/>
          <a:p>
            <a:pPr algn="ctr"/>
            <a:r>
              <a:rPr lang="en-US" sz="800">
                <a:solidFill>
                  <a:srgbClr val="F5DDA0"/>
                </a:solidFill>
              </a:rPr>
              <a:t>[photo]</a:t>
            </a:r>
          </a:p>
        </p:txBody>
      </p:sp>
      <p:sp>
        <p:nvSpPr>
          <p:cNvPr id="11" name="TextBox 11"/>
          <p:cNvSpPr/>
          <p:nvPr/>
        </p:nvSpPr>
        <p:spPr>
          <a:xfrm>
            <a:off x="10620000" y="432000"/>
            <a:ext cx="324000" cy="540000"/>
          </a:xfrm>
          <a:solidFill>
            <a:srgbClr val="D4EDE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82" h="95">
                <a:moveTo>
                  <a:pt x="50" y="95"/>
                </a:moveTo>
                <a:cubicBezTo>
                  <a:pt x="25" y="68"/>
                  <a:pt x="6" y="38"/>
                  <a:pt x="18" y="14"/>
                </a:cubicBezTo>
                <a:cubicBezTo>
                  <a:pt x="27" y="2"/>
                  <a:pt x="42" y="0"/>
                  <a:pt x="50" y="0"/>
                </a:cubicBezTo>
                <a:cubicBezTo>
                  <a:pt x="58" y="0"/>
                  <a:pt x="73" y="2"/>
                  <a:pt x="82" y="14"/>
                </a:cubicBezTo>
                <a:cubicBezTo>
                  <a:pt x="94" y="38"/>
                  <a:pt x="75" y="68"/>
                  <a:pt x="50" y="95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10980000" y="360000"/>
            <a:ext cx="252000" cy="432000"/>
          </a:xfrm>
          <a:solidFill>
            <a:srgbClr val="C6E8D2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82" h="95">
                <a:moveTo>
                  <a:pt x="50" y="95"/>
                </a:moveTo>
                <a:cubicBezTo>
                  <a:pt x="25" y="68"/>
                  <a:pt x="6" y="38"/>
                  <a:pt x="18" y="14"/>
                </a:cubicBezTo>
                <a:cubicBezTo>
                  <a:pt x="27" y="2"/>
                  <a:pt x="42" y="0"/>
                  <a:pt x="50" y="0"/>
                </a:cubicBezTo>
                <a:cubicBezTo>
                  <a:pt x="58" y="0"/>
                  <a:pt x="73" y="2"/>
                  <a:pt x="82" y="14"/>
                </a:cubicBezTo>
                <a:cubicBezTo>
                  <a:pt x="94" y="38"/>
                  <a:pt x="75" y="68"/>
                  <a:pt x="50" y="95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180000" y="4860000"/>
            <a:ext cx="432000" cy="648000"/>
          </a:xfrm>
          <a:solidFill>
            <a:srgbClr val="FFF0E8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94" h="100">
                <a:moveTo>
                  <a:pt x="50" y="100"/>
                </a:moveTo>
                <a:cubicBezTo>
                  <a:pt x="20" y="78"/>
                  <a:pt x="0" y="54"/>
                  <a:pt x="6" y="30"/>
                </a:cubicBezTo>
                <a:cubicBezTo>
                  <a:pt x="12" y="8"/>
                  <a:pt x="32" y="0"/>
                  <a:pt x="50" y="0"/>
                </a:cubicBezTo>
                <a:cubicBezTo>
                  <a:pt x="68" y="0"/>
                  <a:pt x="88" y="8"/>
                  <a:pt x="94" y="30"/>
                </a:cubicBezTo>
                <a:cubicBezTo>
                  <a:pt x="100" y="54"/>
                  <a:pt x="80" y="78"/>
                  <a:pt x="50" y="10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648000" y="5112000"/>
            <a:ext cx="324000" cy="504000"/>
          </a:xfrm>
          <a:solidFill>
            <a:srgbClr val="EAF4EE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94" h="100">
                <a:moveTo>
                  <a:pt x="50" y="100"/>
                </a:moveTo>
                <a:cubicBezTo>
                  <a:pt x="20" y="78"/>
                  <a:pt x="0" y="54"/>
                  <a:pt x="6" y="30"/>
                </a:cubicBezTo>
                <a:cubicBezTo>
                  <a:pt x="12" y="8"/>
                  <a:pt x="32" y="0"/>
                  <a:pt x="50" y="0"/>
                </a:cubicBezTo>
                <a:cubicBezTo>
                  <a:pt x="68" y="0"/>
                  <a:pt x="88" y="8"/>
                  <a:pt x="94" y="30"/>
                </a:cubicBezTo>
                <a:cubicBezTo>
                  <a:pt x="100" y="54"/>
                  <a:pt x="80" y="78"/>
                  <a:pt x="50" y="10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180000" y="100800"/>
            <a:ext cx="936000" cy="223200"/>
          </a:xfrm>
          <a:prstGeom prst="roundRect">
            <a:avLst/>
          </a:prstGeom>
          <a:solidFill>
            <a:srgbClr val="1E4D3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750" b="1">
                <a:solidFill>
                  <a:srgbClr val="FFFFFF"/>
                </a:solidFill>
              </a:rPr>
              <a:t>Sweet Bliss</a:t>
            </a:r>
          </a:p>
        </p:txBody>
      </p:sp>
      <p:sp>
        <p:nvSpPr>
          <p:cNvPr id="16" name="TextBox 16"/>
          <p:cNvSpPr/>
          <p:nvPr/>
        </p:nvSpPr>
        <p:spPr>
          <a:xfrm>
            <a:off x="2520000" y="108000"/>
            <a:ext cx="7920000" cy="216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800">
                <a:solidFill>
                  <a:srgbClr val="7A6040"/>
                </a:solidFill>
              </a:rPr>
              <a:t>Home   About Us   Project   Blog   Reservation</a:t>
            </a:r>
          </a:p>
        </p:txBody>
      </p:sp>
      <p:sp>
        <p:nvSpPr>
          <p:cNvPr id="17" name="TextBox 17"/>
          <p:cNvSpPr/>
          <p:nvPr/>
        </p:nvSpPr>
        <p:spPr>
          <a:xfrm>
            <a:off x="11592000" y="64800"/>
            <a:ext cx="280800" cy="280800"/>
          </a:xfrm>
          <a:solidFill>
            <a:srgbClr val="F5DDA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cxnSp>
        <p:nvCxnSpPr>
          <p:cNvPr id="20" name="Connector 20"/>
          <p:cNvCxnSpPr/>
          <p:nvPr/>
        </p:nvCxnSpPr>
        <p:spPr>
          <a:xfrm>
            <a:off x="2000000" y="3000000"/>
            <a:ext cx="4000000" cy="0"/>
          </a:xfrm>
          <a:prstGeom prst="straightConnector1">
            <a:avLst/>
          </a:prstGeom>
          <a:ln w="12700">
            <a:solidFill>
              <a:srgbClr val="EAF4EE"/>
            </a:solidFill>
          </a:ln>
        </p:spPr>
      </p:cxnSp>
      <p:cxnSp>
        <p:nvCxnSpPr>
          <p:cNvPr id="21" name="!!footer-line"/>
          <p:cNvCxnSpPr/>
          <p:nvPr/>
        </p:nvCxnSpPr>
        <p:spPr>
          <a:xfrm>
            <a:off x="2000000" y="3000000"/>
            <a:ext cx="4000000" cy="0"/>
          </a:xfrm>
          <a:prstGeom prst="straightConnector1">
            <a:avLst/>
          </a:prstGeom>
          <a:ln w="12700">
            <a:solidFill>
              <a:srgbClr val="EAF4EE"/>
            </a:solidFill>
          </a:ln>
        </p:spPr>
      </p:cxnSp>
      <p:sp>
        <p:nvSpPr>
          <p:cNvPr id="22" name="TextBox 22"/>
          <p:cNvSpPr/>
          <p:nvPr/>
        </p:nvSpPr>
        <p:spPr>
          <a:xfrm>
            <a:off x="360000" y="6408000"/>
            <a:ext cx="1080000" cy="18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700">
                <a:solidFill>
                  <a:srgbClr val="7A6040"/>
                </a:solidFill>
              </a:rPr>
              <a:t>2 / 8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/>
      <p:sp>
        <p:nvSpPr>
          <p:cNvPr id="2" name="!!blob-main"/>
          <p:cNvSpPr/>
          <p:nvPr/>
        </p:nvSpPr>
        <p:spPr>
          <a:xfrm>
            <a:off x="0" y="0"/>
            <a:ext cx="5040000" cy="6858000"/>
          </a:xfrm>
          <a:solidFill>
            <a:srgbClr val="C4552A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47" h="100">
                <a:moveTo>
                  <a:pt x="0" y="0"/>
                </a:moveTo>
                <a:cubicBezTo>
                  <a:pt x="18" y="0"/>
                  <a:pt x="38" y="6"/>
                  <a:pt x="44" y="20"/>
                </a:cubicBezTo>
                <a:cubicBezTo>
                  <a:pt x="49" y="34"/>
                  <a:pt x="40" y="46"/>
                  <a:pt x="47" y="58"/>
                </a:cubicBezTo>
                <a:cubicBezTo>
                  <a:pt x="52" y="68"/>
                  <a:pt x="44" y="80"/>
                  <a:pt x="38" y="88"/>
                </a:cubicBezTo>
                <a:cubicBezTo>
                  <a:pt x="30" y="96"/>
                  <a:pt x="14" y="100"/>
                  <a:pt x="0" y="10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hero-img"/>
          <p:cNvSpPr/>
          <p:nvPr/>
        </p:nvSpPr>
        <p:spPr>
          <a:xfrm>
            <a:off x="540000" y="1800000"/>
            <a:ext cx="1440000" cy="3240000"/>
          </a:xfrm>
          <a:prstGeom prst="ellipse">
            <a:avLst/>
          </a:prstGeom>
          <a:solidFill>
            <a:srgbClr val="C86830"/>
          </a:solidFill>
          <a:ln>
            <a:noFill/>
          </a:ln>
        </p:spPr>
        <p:txBody>
          <a:bodyPr anchor="b"/>
          <a:lstStyle/>
          <a:p>
            <a:pPr algn="ctr"/>
            <a:r>
              <a:rPr lang="en-US" sz="800">
                <a:solidFill>
                  <a:srgbClr val="F5DDA0"/>
                </a:solidFill>
              </a:rPr>
              <a:t>[food photo]</a:t>
            </a:r>
          </a:p>
        </p:txBody>
      </p:sp>
      <p:sp>
        <p:nvSpPr>
          <p:cNvPr id="4" name="TextBox 4"/>
          <p:cNvSpPr/>
          <p:nvPr/>
        </p:nvSpPr>
        <p:spPr>
          <a:xfrm>
            <a:off x="3420000" y="720000"/>
            <a:ext cx="1008000" cy="1008000"/>
          </a:xfrm>
          <a:prstGeom prst="ellipse">
            <a:avLst/>
          </a:prstGeom>
          <a:solidFill>
            <a:srgbClr val="1E4D3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850" b="1">
                <a:solidFill>
                  <a:srgbClr val="FFFFFF"/>
                </a:solidFill>
              </a:rPr>
              <a:t>Since 2018</a:t>
            </a:r>
          </a:p>
        </p:txBody>
      </p:sp>
      <p:sp>
        <p:nvSpPr>
          <p:cNvPr id="5" name="TextBox 5"/>
          <p:cNvSpPr/>
          <p:nvPr/>
        </p:nvSpPr>
        <p:spPr>
          <a:xfrm>
            <a:off x="540000" y="540000"/>
            <a:ext cx="216000" cy="216000"/>
          </a:xfrm>
          <a:solidFill>
            <a:srgbClr val="F5DDA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4140000" y="5760000"/>
            <a:ext cx="162000" cy="162000"/>
          </a:xfrm>
          <a:solidFill>
            <a:srgbClr val="FFFFFF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180000" y="5940000"/>
            <a:ext cx="288000" cy="468000"/>
          </a:xfrm>
          <a:solidFill>
            <a:srgbClr val="C6E8D2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82" h="95">
                <a:moveTo>
                  <a:pt x="50" y="95"/>
                </a:moveTo>
                <a:cubicBezTo>
                  <a:pt x="25" y="68"/>
                  <a:pt x="6" y="38"/>
                  <a:pt x="18" y="14"/>
                </a:cubicBezTo>
                <a:cubicBezTo>
                  <a:pt x="27" y="2"/>
                  <a:pt x="42" y="0"/>
                  <a:pt x="50" y="0"/>
                </a:cubicBezTo>
                <a:cubicBezTo>
                  <a:pt x="58" y="0"/>
                  <a:pt x="73" y="2"/>
                  <a:pt x="82" y="14"/>
                </a:cubicBezTo>
                <a:cubicBezTo>
                  <a:pt x="94" y="38"/>
                  <a:pt x="75" y="68"/>
                  <a:pt x="50" y="95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540000" y="5832000"/>
            <a:ext cx="216000" cy="360000"/>
          </a:xfrm>
          <a:solidFill>
            <a:srgbClr val="D4EDE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82" h="95">
                <a:moveTo>
                  <a:pt x="50" y="95"/>
                </a:moveTo>
                <a:cubicBezTo>
                  <a:pt x="25" y="68"/>
                  <a:pt x="6" y="38"/>
                  <a:pt x="18" y="14"/>
                </a:cubicBezTo>
                <a:cubicBezTo>
                  <a:pt x="27" y="2"/>
                  <a:pt x="42" y="0"/>
                  <a:pt x="50" y="0"/>
                </a:cubicBezTo>
                <a:cubicBezTo>
                  <a:pt x="58" y="0"/>
                  <a:pt x="73" y="2"/>
                  <a:pt x="82" y="14"/>
                </a:cubicBezTo>
                <a:cubicBezTo>
                  <a:pt x="94" y="38"/>
                  <a:pt x="75" y="68"/>
                  <a:pt x="50" y="95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4860000" y="2700000"/>
            <a:ext cx="378000" cy="378000"/>
          </a:xfrm>
          <a:prstGeom prst="ellipse">
            <a:avLst/>
          </a:prstGeom>
          <a:solidFill>
            <a:srgbClr val="C4552A"/>
          </a:solidFill>
          <a:ln w="12700">
            <a:noFill/>
          </a:ln>
        </p:spPr>
        <p:txBody>
          <a:bodyPr anchor="ctr"/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>&lt;</a:t>
            </a:r>
          </a:p>
        </p:txBody>
      </p:sp>
      <p:sp>
        <p:nvSpPr>
          <p:cNvPr id="10" name="TextBox 10"/>
          <p:cNvSpPr/>
          <p:nvPr/>
        </p:nvSpPr>
        <p:spPr>
          <a:xfrm>
            <a:off x="4860000" y="3276000"/>
            <a:ext cx="378000" cy="378000"/>
          </a:xfrm>
          <a:prstGeom prst="ellipse">
            <a:avLst/>
          </a:prstGeom>
          <a:solidFill>
            <a:srgbClr val="C4552A"/>
          </a:solidFill>
          <a:ln w="12700">
            <a:noFill/>
          </a:ln>
        </p:spPr>
        <p:txBody>
          <a:bodyPr anchor="ctr"/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>&gt;</a:t>
            </a:r>
          </a:p>
        </p:txBody>
      </p:sp>
      <p:sp>
        <p:nvSpPr>
          <p:cNvPr id="11" name="TextBox 11"/>
          <p:cNvSpPr/>
          <p:nvPr/>
        </p:nvSpPr>
        <p:spPr>
          <a:xfrm>
            <a:off x="180000" y="100800"/>
            <a:ext cx="936000" cy="223200"/>
          </a:xfrm>
          <a:prstGeom prst="roundRect">
            <a:avLst/>
          </a:prstGeom>
          <a:solidFill>
            <a:srgbClr val="1E4D3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750" b="1">
                <a:solidFill>
                  <a:srgbClr val="FFFFFF"/>
                </a:solidFill>
              </a:rPr>
              <a:t>Sweet Bliss</a:t>
            </a:r>
          </a:p>
        </p:txBody>
      </p:sp>
      <p:sp>
        <p:nvSpPr>
          <p:cNvPr id="12" name="TextBox 12"/>
          <p:cNvSpPr/>
          <p:nvPr/>
        </p:nvSpPr>
        <p:spPr>
          <a:xfrm>
            <a:off x="2520000" y="108000"/>
            <a:ext cx="7920000" cy="216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800">
                <a:solidFill>
                  <a:srgbClr val="7A6040"/>
                </a:solidFill>
              </a:rPr>
              <a:t>Home   About Us   Project   Blog   Reservation</a:t>
            </a:r>
          </a:p>
        </p:txBody>
      </p:sp>
      <p:sp>
        <p:nvSpPr>
          <p:cNvPr id="13" name="TextBox 13"/>
          <p:cNvSpPr/>
          <p:nvPr/>
        </p:nvSpPr>
        <p:spPr>
          <a:xfrm>
            <a:off x="11592000" y="64800"/>
            <a:ext cx="280800" cy="280800"/>
          </a:xfrm>
          <a:solidFill>
            <a:srgbClr val="F5DDA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cxnSp>
        <p:nvCxnSpPr>
          <p:cNvPr id="16" name="Connector 16"/>
          <p:cNvCxnSpPr/>
          <p:nvPr/>
        </p:nvCxnSpPr>
        <p:spPr>
          <a:xfrm>
            <a:off x="2000000" y="3000000"/>
            <a:ext cx="4000000" cy="0"/>
          </a:xfrm>
          <a:prstGeom prst="straightConnector1">
            <a:avLst/>
          </a:prstGeom>
          <a:ln w="12700">
            <a:solidFill>
              <a:srgbClr val="EAF4EE"/>
            </a:solidFill>
          </a:ln>
        </p:spPr>
      </p:cxnSp>
      <p:sp>
        <p:nvSpPr>
          <p:cNvPr id="17" name="TextBox 17"/>
          <p:cNvSpPr/>
          <p:nvPr/>
        </p:nvSpPr>
        <p:spPr>
          <a:xfrm>
            <a:off x="5580000" y="720000"/>
            <a:ext cx="6120000" cy="576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2800" b="1">
                <a:solidFill>
                  <a:srgbClr val="241C17"/>
                </a:solidFill>
              </a:rPr>
              <a:t>About Us</a:t>
            </a:r>
          </a:p>
        </p:txBody>
      </p:sp>
      <p:cxnSp>
        <p:nvCxnSpPr>
          <p:cNvPr id="18" name="!!title-accent"/>
          <p:cNvCxnSpPr/>
          <p:nvPr/>
        </p:nvCxnSpPr>
        <p:spPr>
          <a:xfrm>
            <a:off x="2000000" y="3000000"/>
            <a:ext cx="4000000" cy="0"/>
          </a:xfrm>
          <a:prstGeom prst="straightConnector1">
            <a:avLst/>
          </a:prstGeom>
          <a:ln w="12700">
            <a:solidFill>
              <a:srgbClr val="E8A838"/>
            </a:solidFill>
          </a:ln>
        </p:spPr>
      </p:cxnSp>
      <p:sp>
        <p:nvSpPr>
          <p:cNvPr id="19" name="TextBox 19"/>
          <p:cNvSpPr/>
          <p:nvPr/>
        </p:nvSpPr>
        <p:spPr>
          <a:xfrm>
            <a:off x="5580000" y="1512000"/>
            <a:ext cx="6120000" cy="9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900">
                <a:solidFill>
                  <a:srgbClr val="7A6040"/>
                </a:solidFill>
              </a:rPr>
              <a:t>We are a premium artisan bakery dedicated to creating extraordinary pastries, cakes, and confections that bring joy to every occasion.</a:t>
            </a:r>
          </a:p>
        </p:txBody>
      </p:sp>
      <p:sp>
        <p:nvSpPr>
          <p:cNvPr id="20" name="TextBox 20"/>
          <p:cNvSpPr/>
          <p:nvPr/>
        </p:nvSpPr>
        <p:spPr>
          <a:xfrm>
            <a:off x="5580000" y="2700000"/>
            <a:ext cx="1800000" cy="1512000"/>
          </a:xfrm>
          <a:prstGeom prst="roundRect">
            <a:avLst/>
          </a:prstGeom>
          <a:solidFill>
            <a:srgbClr val="EAF4EE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5688000" y="2736000"/>
            <a:ext cx="180000" cy="180000"/>
          </a:xfrm>
          <a:solidFill>
            <a:srgbClr val="1E4D38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5580000" y="2916000"/>
            <a:ext cx="1800000" cy="576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2600" b="1">
                <a:solidFill>
                  <a:srgbClr val="1E4D38"/>
                </a:solidFill>
              </a:rPr>
              <a:t>120+</a:t>
            </a:r>
          </a:p>
        </p:txBody>
      </p:sp>
      <p:sp>
        <p:nvSpPr>
          <p:cNvPr id="23" name="TextBox 23"/>
          <p:cNvSpPr/>
          <p:nvPr/>
        </p:nvSpPr>
        <p:spPr>
          <a:xfrm>
            <a:off x="5580000" y="3528000"/>
            <a:ext cx="1800000" cy="28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850">
                <a:solidFill>
                  <a:srgbClr val="7A6040"/>
                </a:solidFill>
              </a:rPr>
              <a:t>Recipes</a:t>
            </a:r>
          </a:p>
        </p:txBody>
      </p:sp>
      <p:sp>
        <p:nvSpPr>
          <p:cNvPr id="24" name="TextBox 24"/>
          <p:cNvSpPr/>
          <p:nvPr/>
        </p:nvSpPr>
        <p:spPr>
          <a:xfrm>
            <a:off x="7560000" y="2700000"/>
            <a:ext cx="1800000" cy="1512000"/>
          </a:xfrm>
          <a:prstGeom prst="roundRect">
            <a:avLst/>
          </a:prstGeom>
          <a:solidFill>
            <a:srgbClr val="FFF0E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TextBox 25"/>
          <p:cNvSpPr/>
          <p:nvPr/>
        </p:nvSpPr>
        <p:spPr>
          <a:xfrm>
            <a:off x="7668000" y="2736000"/>
            <a:ext cx="180000" cy="180000"/>
          </a:xfrm>
          <a:solidFill>
            <a:srgbClr val="C4552A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7560000" y="2916000"/>
            <a:ext cx="1800000" cy="576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2600" b="1">
                <a:solidFill>
                  <a:srgbClr val="1E4D38"/>
                </a:solidFill>
              </a:rPr>
              <a:t>98%</a:t>
            </a:r>
          </a:p>
        </p:txBody>
      </p:sp>
      <p:sp>
        <p:nvSpPr>
          <p:cNvPr id="27" name="TextBox 27"/>
          <p:cNvSpPr/>
          <p:nvPr/>
        </p:nvSpPr>
        <p:spPr>
          <a:xfrm>
            <a:off x="7560000" y="3528000"/>
            <a:ext cx="1800000" cy="28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850">
                <a:solidFill>
                  <a:srgbClr val="7A6040"/>
                </a:solidFill>
              </a:rPr>
              <a:t>Happy Clients</a:t>
            </a:r>
          </a:p>
        </p:txBody>
      </p:sp>
      <p:sp>
        <p:nvSpPr>
          <p:cNvPr id="28" name="TextBox 28"/>
          <p:cNvSpPr/>
          <p:nvPr/>
        </p:nvSpPr>
        <p:spPr>
          <a:xfrm>
            <a:off x="9540000" y="2700000"/>
            <a:ext cx="1980000" cy="1512000"/>
          </a:xfrm>
          <a:prstGeom prst="roundRect">
            <a:avLst/>
          </a:prstGeom>
          <a:solidFill>
            <a:srgbClr val="D4EDE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TextBox 29"/>
          <p:cNvSpPr/>
          <p:nvPr/>
        </p:nvSpPr>
        <p:spPr>
          <a:xfrm>
            <a:off x="9648000" y="2736000"/>
            <a:ext cx="180000" cy="180000"/>
          </a:xfrm>
          <a:solidFill>
            <a:srgbClr val="C4552A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" name="TextBox 30"/>
          <p:cNvSpPr/>
          <p:nvPr/>
        </p:nvSpPr>
        <p:spPr>
          <a:xfrm>
            <a:off x="9540000" y="2916000"/>
            <a:ext cx="1980000" cy="576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2600" b="1">
                <a:solidFill>
                  <a:srgbClr val="C4552A"/>
                </a:solidFill>
              </a:rPr>
              <a:t>15+</a:t>
            </a:r>
          </a:p>
        </p:txBody>
      </p:sp>
      <p:sp>
        <p:nvSpPr>
          <p:cNvPr id="31" name="TextBox 31"/>
          <p:cNvSpPr/>
          <p:nvPr/>
        </p:nvSpPr>
        <p:spPr>
          <a:xfrm>
            <a:off x="9540000" y="3528000"/>
            <a:ext cx="1980000" cy="28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850">
                <a:solidFill>
                  <a:srgbClr val="7A6040"/>
                </a:solidFill>
              </a:rPr>
              <a:t>Awards Won</a:t>
            </a:r>
          </a:p>
        </p:txBody>
      </p:sp>
      <p:sp>
        <p:nvSpPr>
          <p:cNvPr id="32" name="TextBox 32"/>
          <p:cNvSpPr/>
          <p:nvPr/>
        </p:nvSpPr>
        <p:spPr>
          <a:xfrm>
            <a:off x="5580000" y="4608000"/>
            <a:ext cx="6120000" cy="28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>
                <a:solidFill>
                  <a:srgbClr val="241C17"/>
                </a:solidFill>
              </a:rPr>
              <a:t>Handcrafted with finest ingredients daily</a:t>
            </a:r>
          </a:p>
        </p:txBody>
      </p:sp>
      <p:sp>
        <p:nvSpPr>
          <p:cNvPr id="33" name="TextBox 33"/>
          <p:cNvSpPr/>
          <p:nvPr/>
        </p:nvSpPr>
        <p:spPr>
          <a:xfrm>
            <a:off x="5580000" y="5004000"/>
            <a:ext cx="6120000" cy="28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>
                <a:solidFill>
                  <a:srgbClr val="241C17"/>
                </a:solidFill>
              </a:rPr>
              <a:t>Custom cakes for every celebration</a:t>
            </a:r>
          </a:p>
        </p:txBody>
      </p:sp>
      <p:sp>
        <p:nvSpPr>
          <p:cNvPr id="34" name="TextBox 34"/>
          <p:cNvSpPr/>
          <p:nvPr/>
        </p:nvSpPr>
        <p:spPr>
          <a:xfrm>
            <a:off x="5580000" y="5400000"/>
            <a:ext cx="6120000" cy="28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>
                <a:solidFill>
                  <a:srgbClr val="241C17"/>
                </a:solidFill>
              </a:rPr>
              <a:t>Seasonal menu with local produce</a:t>
            </a:r>
          </a:p>
        </p:txBody>
      </p:sp>
      <p:sp>
        <p:nvSpPr>
          <p:cNvPr id="35" name="TextBox 35"/>
          <p:cNvSpPr/>
          <p:nvPr/>
        </p:nvSpPr>
        <p:spPr>
          <a:xfrm>
            <a:off x="5580000" y="5796000"/>
            <a:ext cx="6120000" cy="28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>
                <a:solidFill>
                  <a:srgbClr val="241C17"/>
                </a:solidFill>
              </a:rPr>
              <a:t>Delivered fresh to your doorstep</a:t>
            </a:r>
          </a:p>
        </p:txBody>
      </p:sp>
      <p:cxnSp>
        <p:nvCxnSpPr>
          <p:cNvPr id="36" name="!!footer-line"/>
          <p:cNvCxnSpPr/>
          <p:nvPr/>
        </p:nvCxnSpPr>
        <p:spPr>
          <a:xfrm>
            <a:off x="2000000" y="3000000"/>
            <a:ext cx="4000000" cy="0"/>
          </a:xfrm>
          <a:prstGeom prst="straightConnector1">
            <a:avLst/>
          </a:prstGeom>
          <a:ln w="12700">
            <a:solidFill>
              <a:srgbClr val="EAF4EE"/>
            </a:solidFill>
          </a:ln>
        </p:spPr>
      </p:cxnSp>
      <p:sp>
        <p:nvSpPr>
          <p:cNvPr id="37" name="TextBox 37"/>
          <p:cNvSpPr/>
          <p:nvPr/>
        </p:nvSpPr>
        <p:spPr>
          <a:xfrm>
            <a:off x="5580000" y="6408000"/>
            <a:ext cx="1080000" cy="18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700">
                <a:solidFill>
                  <a:srgbClr val="7A6040"/>
                </a:solidFill>
              </a:rPr>
              <a:t>3 / 8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/>
      <p:sp>
        <p:nvSpPr>
          <p:cNvPr id="2" name="!!blob-main"/>
          <p:cNvSpPr/>
          <p:nvPr/>
        </p:nvSpPr>
        <p:spPr>
          <a:xfrm>
            <a:off x="0" y="0"/>
            <a:ext cx="5040000" cy="6858000"/>
          </a:xfrm>
          <a:solidFill>
            <a:srgbClr val="1E4D38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46" h="100">
                <a:moveTo>
                  <a:pt x="0" y="6"/>
                </a:moveTo>
                <a:cubicBezTo>
                  <a:pt x="14" y="2"/>
                  <a:pt x="34" y="10"/>
                  <a:pt x="42" y="26"/>
                </a:cubicBezTo>
                <a:cubicBezTo>
                  <a:pt x="48" y="40"/>
                  <a:pt x="39" y="52"/>
                  <a:pt x="46" y="64"/>
                </a:cubicBezTo>
                <a:cubicBezTo>
                  <a:pt x="52" y="74"/>
                  <a:pt x="45" y="86"/>
                  <a:pt x="33" y="92"/>
                </a:cubicBezTo>
                <a:cubicBezTo>
                  <a:pt x="21" y="98"/>
                  <a:pt x="7" y="100"/>
                  <a:pt x="0" y="10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hero-img"/>
          <p:cNvSpPr/>
          <p:nvPr/>
        </p:nvSpPr>
        <p:spPr>
          <a:xfrm>
            <a:off x="540000" y="1800000"/>
            <a:ext cx="1440000" cy="3240000"/>
          </a:xfrm>
          <a:prstGeom prst="ellipse">
            <a:avLst/>
          </a:prstGeom>
          <a:solidFill>
            <a:srgbClr val="C86830"/>
          </a:solidFill>
          <a:ln>
            <a:noFill/>
          </a:ln>
        </p:spPr>
        <p:txBody>
          <a:bodyPr anchor="b"/>
          <a:lstStyle/>
          <a:p>
            <a:pPr algn="ctr"/>
            <a:r>
              <a:rPr lang="en-US" sz="800">
                <a:solidFill>
                  <a:srgbClr val="F5DDA0"/>
                </a:solidFill>
              </a:rPr>
              <a:t>[food photo]</a:t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540000"/>
            <a:ext cx="216000" cy="216000"/>
          </a:xfrm>
          <a:solidFill>
            <a:srgbClr val="F5DDA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3780000" y="900000"/>
            <a:ext cx="180000" cy="180000"/>
          </a:xfrm>
          <a:solidFill>
            <a:srgbClr val="FFFFFF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1440000" y="5940000"/>
            <a:ext cx="144000" cy="144000"/>
          </a:xfrm>
          <a:solidFill>
            <a:srgbClr val="FFFFFF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3528000" y="5220000"/>
            <a:ext cx="288000" cy="432000"/>
          </a:xfrm>
          <a:solidFill>
            <a:srgbClr val="FFF0E8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94" h="100">
                <a:moveTo>
                  <a:pt x="50" y="100"/>
                </a:moveTo>
                <a:cubicBezTo>
                  <a:pt x="20" y="78"/>
                  <a:pt x="0" y="54"/>
                  <a:pt x="6" y="30"/>
                </a:cubicBezTo>
                <a:cubicBezTo>
                  <a:pt x="12" y="8"/>
                  <a:pt x="32" y="0"/>
                  <a:pt x="50" y="0"/>
                </a:cubicBezTo>
                <a:cubicBezTo>
                  <a:pt x="68" y="0"/>
                  <a:pt x="88" y="8"/>
                  <a:pt x="94" y="30"/>
                </a:cubicBezTo>
                <a:cubicBezTo>
                  <a:pt x="100" y="54"/>
                  <a:pt x="80" y="78"/>
                  <a:pt x="50" y="10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4824000" y="3168000"/>
            <a:ext cx="396000" cy="3960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&gt;</a:t>
            </a:r>
          </a:p>
        </p:txBody>
      </p:sp>
      <p:sp>
        <p:nvSpPr>
          <p:cNvPr id="9" name="TextBox 9"/>
          <p:cNvSpPr/>
          <p:nvPr/>
        </p:nvSpPr>
        <p:spPr>
          <a:xfrm>
            <a:off x="180000" y="100800"/>
            <a:ext cx="936000" cy="223200"/>
          </a:xfrm>
          <a:prstGeom prst="roundRect">
            <a:avLst/>
          </a:prstGeom>
          <a:solidFill>
            <a:srgbClr val="1E4D3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750" b="1">
                <a:solidFill>
                  <a:srgbClr val="FFFFFF"/>
                </a:solidFill>
              </a:rPr>
              <a:t>Sweet Bliss</a:t>
            </a:r>
          </a:p>
        </p:txBody>
      </p:sp>
      <p:sp>
        <p:nvSpPr>
          <p:cNvPr id="10" name="TextBox 10"/>
          <p:cNvSpPr/>
          <p:nvPr/>
        </p:nvSpPr>
        <p:spPr>
          <a:xfrm>
            <a:off x="2520000" y="108000"/>
            <a:ext cx="7920000" cy="216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800">
                <a:solidFill>
                  <a:srgbClr val="7A6040"/>
                </a:solidFill>
              </a:rPr>
              <a:t>Home   About Us   Project   Blog   Reservation</a:t>
            </a:r>
          </a:p>
        </p:txBody>
      </p:sp>
      <p:sp>
        <p:nvSpPr>
          <p:cNvPr id="11" name="TextBox 11"/>
          <p:cNvSpPr/>
          <p:nvPr/>
        </p:nvSpPr>
        <p:spPr>
          <a:xfrm>
            <a:off x="11592000" y="64800"/>
            <a:ext cx="280800" cy="280800"/>
          </a:xfrm>
          <a:solidFill>
            <a:srgbClr val="F5DDA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cxnSp>
        <p:nvCxnSpPr>
          <p:cNvPr id="14" name="Connector 14"/>
          <p:cNvCxnSpPr/>
          <p:nvPr/>
        </p:nvCxnSpPr>
        <p:spPr>
          <a:xfrm>
            <a:off x="2000000" y="3000000"/>
            <a:ext cx="4000000" cy="0"/>
          </a:xfrm>
          <a:prstGeom prst="straightConnector1">
            <a:avLst/>
          </a:prstGeom>
          <a:ln w="12700">
            <a:solidFill>
              <a:srgbClr val="EAF4EE"/>
            </a:solidFill>
          </a:ln>
        </p:spPr>
      </p:cxnSp>
      <p:sp>
        <p:nvSpPr>
          <p:cNvPr id="15" name="TextBox 15"/>
          <p:cNvSpPr/>
          <p:nvPr/>
        </p:nvSpPr>
        <p:spPr>
          <a:xfrm>
            <a:off x="5580000" y="648000"/>
            <a:ext cx="6120000" cy="54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2600" b="1">
                <a:solidFill>
                  <a:srgbClr val="241C17"/>
                </a:solidFill>
              </a:rPr>
              <a:t>Creative Infographic</a:t>
            </a:r>
          </a:p>
        </p:txBody>
      </p:sp>
      <p:cxnSp>
        <p:nvCxnSpPr>
          <p:cNvPr id="16" name="!!title-accent"/>
          <p:cNvCxnSpPr/>
          <p:nvPr/>
        </p:nvCxnSpPr>
        <p:spPr>
          <a:xfrm>
            <a:off x="2000000" y="3000000"/>
            <a:ext cx="4000000" cy="0"/>
          </a:xfrm>
          <a:prstGeom prst="straightConnector1">
            <a:avLst/>
          </a:prstGeom>
          <a:ln w="12700">
            <a:solidFill>
              <a:srgbClr val="E8A838"/>
            </a:solidFill>
          </a:ln>
        </p:spPr>
      </p:cxnSp>
      <p:sp>
        <p:nvSpPr>
          <p:cNvPr id="17" name="TextBox 17"/>
          <p:cNvSpPr/>
          <p:nvPr/>
        </p:nvSpPr>
        <p:spPr>
          <a:xfrm>
            <a:off x="5580000" y="1512000"/>
            <a:ext cx="6120000" cy="1728000"/>
          </a:xfrm>
          <a:prstGeom prst="roundRect">
            <a:avLst/>
          </a:prstGeom>
          <a:solidFill>
            <a:srgbClr val="EAF4EE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5688000" y="1548000"/>
            <a:ext cx="216000" cy="216000"/>
          </a:xfrm>
          <a:solidFill>
            <a:srgbClr val="1E4D38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5760000" y="1692000"/>
            <a:ext cx="1080000" cy="1152000"/>
          </a:xfrm>
          <a:prstGeom prst="roundRect">
            <a:avLst/>
          </a:prstGeom>
          <a:solidFill>
            <a:srgbClr val="1E4D3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0" name="TextBox 20"/>
          <p:cNvSpPr/>
          <p:nvPr/>
        </p:nvSpPr>
        <p:spPr>
          <a:xfrm>
            <a:off x="7128000" y="1800000"/>
            <a:ext cx="4320000" cy="396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300" b="1">
                <a:solidFill>
                  <a:srgbClr val="241C17"/>
                </a:solidFill>
              </a:rPr>
              <a:t>Title Here</a:t>
            </a:r>
          </a:p>
        </p:txBody>
      </p:sp>
      <p:sp>
        <p:nvSpPr>
          <p:cNvPr id="21" name="TextBox 21"/>
          <p:cNvSpPr/>
          <p:nvPr/>
        </p:nvSpPr>
        <p:spPr>
          <a:xfrm>
            <a:off x="7128000" y="2268000"/>
            <a:ext cx="4320000" cy="72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800">
                <a:solidFill>
                  <a:srgbClr val="7A6040"/>
                </a:solidFill>
              </a:rPr>
              <a:t>Lorem ipsum dolor sit amet, consectetur adipiscing elit. Maecenas tincidunt volutpat dui porta lorem.</a:t>
            </a:r>
          </a:p>
        </p:txBody>
      </p:sp>
      <p:sp>
        <p:nvSpPr>
          <p:cNvPr id="22" name="TextBox 22"/>
          <p:cNvSpPr/>
          <p:nvPr/>
        </p:nvSpPr>
        <p:spPr>
          <a:xfrm>
            <a:off x="5580000" y="3600000"/>
            <a:ext cx="6120000" cy="1728000"/>
          </a:xfrm>
          <a:prstGeom prst="roundRect">
            <a:avLst/>
          </a:prstGeom>
          <a:solidFill>
            <a:srgbClr val="FFF0E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5688000" y="3636000"/>
            <a:ext cx="216000" cy="216000"/>
          </a:xfrm>
          <a:solidFill>
            <a:srgbClr val="C4552A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TextBox 24"/>
          <p:cNvSpPr/>
          <p:nvPr/>
        </p:nvSpPr>
        <p:spPr>
          <a:xfrm>
            <a:off x="5760000" y="3780000"/>
            <a:ext cx="1080000" cy="1152000"/>
          </a:xfrm>
          <a:prstGeom prst="roundRect">
            <a:avLst/>
          </a:prstGeom>
          <a:solidFill>
            <a:srgbClr val="C4552A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8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5"/>
          <p:cNvSpPr/>
          <p:nvPr/>
        </p:nvSpPr>
        <p:spPr>
          <a:xfrm>
            <a:off x="7128000" y="3888000"/>
            <a:ext cx="4320000" cy="396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300" b="1">
                <a:solidFill>
                  <a:srgbClr val="241C17"/>
                </a:solidFill>
              </a:rPr>
              <a:t>Title Here</a:t>
            </a:r>
          </a:p>
        </p:txBody>
      </p:sp>
      <p:sp>
        <p:nvSpPr>
          <p:cNvPr id="26" name="TextBox 26"/>
          <p:cNvSpPr/>
          <p:nvPr/>
        </p:nvSpPr>
        <p:spPr>
          <a:xfrm>
            <a:off x="7128000" y="4356000"/>
            <a:ext cx="4320000" cy="72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800">
                <a:solidFill>
                  <a:srgbClr val="7A6040"/>
                </a:solidFill>
              </a:rPr>
              <a:t>Lorem ipsum dolor sit amet, consectetur adipiscing elit. Maecenas tincidunt volutpat dui porta lorem.</a:t>
            </a:r>
          </a:p>
        </p:txBody>
      </p:sp>
      <p:cxnSp>
        <p:nvCxnSpPr>
          <p:cNvPr id="27" name="!!footer-line"/>
          <p:cNvCxnSpPr/>
          <p:nvPr/>
        </p:nvCxnSpPr>
        <p:spPr>
          <a:xfrm>
            <a:off x="2000000" y="3000000"/>
            <a:ext cx="4000000" cy="0"/>
          </a:xfrm>
          <a:prstGeom prst="straightConnector1">
            <a:avLst/>
          </a:prstGeom>
          <a:ln w="12700">
            <a:solidFill>
              <a:srgbClr val="EAF4EE"/>
            </a:solidFill>
          </a:ln>
        </p:spPr>
      </p:cxnSp>
      <p:sp>
        <p:nvSpPr>
          <p:cNvPr id="28" name="TextBox 28"/>
          <p:cNvSpPr/>
          <p:nvPr/>
        </p:nvSpPr>
        <p:spPr>
          <a:xfrm>
            <a:off x="5580000" y="6408000"/>
            <a:ext cx="1080000" cy="18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700">
                <a:solidFill>
                  <a:srgbClr val="7A6040"/>
                </a:solidFill>
              </a:rPr>
              <a:t>4 / 8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/>
      <p:sp>
        <p:nvSpPr>
          <p:cNvPr id="2" name="!!blob-main"/>
          <p:cNvSpPr/>
          <p:nvPr/>
        </p:nvSpPr>
        <p:spPr>
          <a:xfrm>
            <a:off x="7200000" y="0"/>
            <a:ext cx="4993200" cy="6858000"/>
          </a:xfrm>
          <a:solidFill>
            <a:srgbClr val="EAF4EE">
              <a:alpha val="50000"/>
            </a:srgbClr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100" y="0"/>
                </a:moveTo>
                <a:cubicBezTo>
                  <a:pt x="84" y="0"/>
                  <a:pt x="64" y="4"/>
                  <a:pt x="59" y="17"/>
                </a:cubicBezTo>
                <a:cubicBezTo>
                  <a:pt x="54" y="30"/>
                  <a:pt x="62" y="42"/>
                  <a:pt x="55" y="54"/>
                </a:cubicBezTo>
                <a:cubicBezTo>
                  <a:pt x="49" y="64"/>
                  <a:pt x="57" y="76"/>
                  <a:pt x="64" y="86"/>
                </a:cubicBezTo>
                <a:cubicBezTo>
                  <a:pt x="72" y="96"/>
                  <a:pt x="87" y="100"/>
                  <a:pt x="100" y="10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288000" y="540000"/>
            <a:ext cx="180000" cy="180000"/>
          </a:xfrm>
          <a:solidFill>
            <a:srgbClr val="1E4D38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11700000" y="1260000"/>
            <a:ext cx="216000" cy="216000"/>
          </a:xfrm>
          <a:solidFill>
            <a:srgbClr val="F5DDA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11880000" y="5760000"/>
            <a:ext cx="144000" cy="144000"/>
          </a:xfrm>
          <a:solidFill>
            <a:srgbClr val="C4552A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3960000" y="5580000"/>
            <a:ext cx="162000" cy="162000"/>
          </a:xfrm>
          <a:solidFill>
            <a:srgbClr val="1E4D38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180000" y="100800"/>
            <a:ext cx="936000" cy="223200"/>
          </a:xfrm>
          <a:prstGeom prst="roundRect">
            <a:avLst/>
          </a:prstGeom>
          <a:solidFill>
            <a:srgbClr val="1E4D3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750" b="1">
                <a:solidFill>
                  <a:srgbClr val="FFFFFF"/>
                </a:solidFill>
              </a:rPr>
              <a:t>Sweet Bliss</a:t>
            </a:r>
          </a:p>
        </p:txBody>
      </p:sp>
      <p:sp>
        <p:nvSpPr>
          <p:cNvPr id="8" name="TextBox 8"/>
          <p:cNvSpPr/>
          <p:nvPr/>
        </p:nvSpPr>
        <p:spPr>
          <a:xfrm>
            <a:off x="2520000" y="108000"/>
            <a:ext cx="7920000" cy="216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800">
                <a:solidFill>
                  <a:srgbClr val="7A6040"/>
                </a:solidFill>
              </a:rPr>
              <a:t>Home   About Us   Project   Blog   Reservation</a:t>
            </a:r>
          </a:p>
        </p:txBody>
      </p:sp>
      <p:sp>
        <p:nvSpPr>
          <p:cNvPr id="9" name="TextBox 9"/>
          <p:cNvSpPr/>
          <p:nvPr/>
        </p:nvSpPr>
        <p:spPr>
          <a:xfrm>
            <a:off x="11592000" y="64800"/>
            <a:ext cx="280800" cy="280800"/>
          </a:xfrm>
          <a:solidFill>
            <a:srgbClr val="F5DDA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cxnSp>
        <p:nvCxnSpPr>
          <p:cNvPr id="12" name="Connector 12"/>
          <p:cNvCxnSpPr/>
          <p:nvPr/>
        </p:nvCxnSpPr>
        <p:spPr>
          <a:xfrm>
            <a:off x="2000000" y="3000000"/>
            <a:ext cx="4000000" cy="0"/>
          </a:xfrm>
          <a:prstGeom prst="straightConnector1">
            <a:avLst/>
          </a:prstGeom>
          <a:ln w="12700">
            <a:solidFill>
              <a:srgbClr val="EAF4EE"/>
            </a:solidFill>
          </a:ln>
        </p:spPr>
      </p:cxnSp>
      <p:sp>
        <p:nvSpPr>
          <p:cNvPr id="13" name="TextBox 13"/>
          <p:cNvSpPr/>
          <p:nvPr/>
        </p:nvSpPr>
        <p:spPr>
          <a:xfrm>
            <a:off x="3060000" y="504000"/>
            <a:ext cx="612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2600" b="1">
                <a:solidFill>
                  <a:srgbClr val="241C17"/>
                </a:solidFill>
              </a:rPr>
              <a:t>Creative Infographic</a:t>
            </a:r>
          </a:p>
        </p:txBody>
      </p:sp>
      <p:sp>
        <p:nvSpPr>
          <p:cNvPr id="14" name="!!hero-img"/>
          <p:cNvSpPr/>
          <p:nvPr/>
        </p:nvSpPr>
        <p:spPr>
          <a:xfrm>
            <a:off x="180000" y="1260000"/>
            <a:ext cx="3420000" cy="4320000"/>
          </a:xfrm>
          <a:prstGeom prst="ellipse">
            <a:avLst/>
          </a:prstGeom>
          <a:solidFill>
            <a:srgbClr val="C86830"/>
          </a:solidFill>
          <a:ln>
            <a:noFill/>
          </a:ln>
        </p:spPr>
        <p:txBody>
          <a:bodyPr anchor="b"/>
          <a:lstStyle/>
          <a:p>
            <a:pPr algn="ctr"/>
            <a:r>
              <a:rPr lang="en-US" sz="800">
                <a:solidFill>
                  <a:srgbClr val="F5DDA0"/>
                </a:solidFill>
              </a:rPr>
              <a:t>[food photo]</a:t>
            </a:r>
          </a:p>
        </p:txBody>
      </p:sp>
      <p:sp>
        <p:nvSpPr>
          <p:cNvPr id="15" name="TextBox 15"/>
          <p:cNvSpPr/>
          <p:nvPr/>
        </p:nvSpPr>
        <p:spPr>
          <a:xfrm>
            <a:off x="180000" y="1152000"/>
            <a:ext cx="1368000" cy="504000"/>
          </a:xfrm>
          <a:prstGeom prst="roundRect">
            <a:avLst/>
          </a:prstGeom>
          <a:solidFill>
            <a:srgbClr val="1E4D3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</a:rPr>
              <a:t>$900</a:t>
            </a:r>
          </a:p>
        </p:txBody>
      </p:sp>
      <p:sp>
        <p:nvSpPr>
          <p:cNvPr id="16" name="TextBox 16"/>
          <p:cNvSpPr/>
          <p:nvPr/>
        </p:nvSpPr>
        <p:spPr>
          <a:xfrm>
            <a:off x="3420000" y="1080000"/>
            <a:ext cx="288000" cy="468000"/>
          </a:xfrm>
          <a:solidFill>
            <a:srgbClr val="D4EDE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82" h="95">
                <a:moveTo>
                  <a:pt x="50" y="95"/>
                </a:moveTo>
                <a:cubicBezTo>
                  <a:pt x="25" y="68"/>
                  <a:pt x="6" y="38"/>
                  <a:pt x="18" y="14"/>
                </a:cubicBezTo>
                <a:cubicBezTo>
                  <a:pt x="27" y="2"/>
                  <a:pt x="42" y="0"/>
                  <a:pt x="50" y="0"/>
                </a:cubicBezTo>
                <a:cubicBezTo>
                  <a:pt x="58" y="0"/>
                  <a:pt x="73" y="2"/>
                  <a:pt x="82" y="14"/>
                </a:cubicBezTo>
                <a:cubicBezTo>
                  <a:pt x="94" y="38"/>
                  <a:pt x="75" y="68"/>
                  <a:pt x="50" y="95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3780000" y="3060000"/>
            <a:ext cx="396000" cy="3960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&gt;</a:t>
            </a:r>
          </a:p>
        </p:txBody>
      </p:sp>
      <p:sp>
        <p:nvSpPr>
          <p:cNvPr id="18" name="TextBox 18"/>
          <p:cNvSpPr/>
          <p:nvPr/>
        </p:nvSpPr>
        <p:spPr>
          <a:xfrm>
            <a:off x="4320000" y="1368000"/>
            <a:ext cx="3060000" cy="1980000"/>
          </a:xfrm>
          <a:prstGeom prst="roundRect">
            <a:avLst/>
          </a:prstGeom>
          <a:solidFill>
            <a:srgbClr val="FBF3E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4428000" y="1440000"/>
            <a:ext cx="198000" cy="198000"/>
          </a:xfrm>
          <a:solidFill>
            <a:srgbClr val="F5DDA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4500000" y="1584000"/>
            <a:ext cx="2700000" cy="396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200" b="1">
                <a:solidFill>
                  <a:srgbClr val="241C17"/>
                </a:solidFill>
              </a:rPr>
              <a:t>Title Here</a:t>
            </a:r>
          </a:p>
        </p:txBody>
      </p:sp>
      <p:sp>
        <p:nvSpPr>
          <p:cNvPr id="21" name="TextBox 21"/>
          <p:cNvSpPr/>
          <p:nvPr/>
        </p:nvSpPr>
        <p:spPr>
          <a:xfrm>
            <a:off x="4500000" y="2088000"/>
            <a:ext cx="2700000" cy="1008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800">
                <a:solidFill>
                  <a:srgbClr val="7A6040"/>
                </a:solidFill>
              </a:rPr>
              <a:t>Lorem ipsum dolor sit amet, consectetur adipiscing elit. Maecenas tincidunt volutpat dui porta lorem ipsum.</a:t>
            </a:r>
          </a:p>
        </p:txBody>
      </p:sp>
      <p:sp>
        <p:nvSpPr>
          <p:cNvPr id="22" name="TextBox 22"/>
          <p:cNvSpPr/>
          <p:nvPr/>
        </p:nvSpPr>
        <p:spPr>
          <a:xfrm>
            <a:off x="7920000" y="1260000"/>
            <a:ext cx="3420000" cy="4320000"/>
          </a:xfrm>
          <a:prstGeom prst="ellipse">
            <a:avLst/>
          </a:prstGeom>
          <a:solidFill>
            <a:srgbClr val="C86830"/>
          </a:solidFill>
          <a:ln>
            <a:noFill/>
          </a:ln>
        </p:spPr>
        <p:txBody>
          <a:bodyPr anchor="b"/>
          <a:lstStyle/>
          <a:p>
            <a:pPr algn="ctr"/>
            <a:r>
              <a:rPr lang="en-US" sz="800">
                <a:solidFill>
                  <a:srgbClr val="F5DDA0"/>
                </a:solidFill>
              </a:rPr>
              <a:t>[food photo]</a:t>
            </a:r>
          </a:p>
        </p:txBody>
      </p:sp>
      <p:sp>
        <p:nvSpPr>
          <p:cNvPr id="23" name="TextBox 23"/>
          <p:cNvSpPr/>
          <p:nvPr/>
        </p:nvSpPr>
        <p:spPr>
          <a:xfrm>
            <a:off x="10152000" y="1152000"/>
            <a:ext cx="1260000" cy="504000"/>
          </a:xfrm>
          <a:prstGeom prst="roundRect">
            <a:avLst/>
          </a:prstGeom>
          <a:solidFill>
            <a:srgbClr val="C4552A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</a:rPr>
              <a:t>$400</a:t>
            </a:r>
          </a:p>
        </p:txBody>
      </p:sp>
      <p:sp>
        <p:nvSpPr>
          <p:cNvPr id="24" name="TextBox 24"/>
          <p:cNvSpPr/>
          <p:nvPr/>
        </p:nvSpPr>
        <p:spPr>
          <a:xfrm>
            <a:off x="7740000" y="1080000"/>
            <a:ext cx="288000" cy="468000"/>
          </a:xfrm>
          <a:solidFill>
            <a:srgbClr val="D4EDE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82" h="95">
                <a:moveTo>
                  <a:pt x="50" y="95"/>
                </a:moveTo>
                <a:cubicBezTo>
                  <a:pt x="25" y="68"/>
                  <a:pt x="6" y="38"/>
                  <a:pt x="18" y="14"/>
                </a:cubicBezTo>
                <a:cubicBezTo>
                  <a:pt x="27" y="2"/>
                  <a:pt x="42" y="0"/>
                  <a:pt x="50" y="0"/>
                </a:cubicBezTo>
                <a:cubicBezTo>
                  <a:pt x="58" y="0"/>
                  <a:pt x="73" y="2"/>
                  <a:pt x="82" y="14"/>
                </a:cubicBezTo>
                <a:cubicBezTo>
                  <a:pt x="94" y="38"/>
                  <a:pt x="75" y="68"/>
                  <a:pt x="50" y="95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cxnSp>
        <p:nvCxnSpPr>
          <p:cNvPr id="25" name="!!footer-line"/>
          <p:cNvCxnSpPr/>
          <p:nvPr/>
        </p:nvCxnSpPr>
        <p:spPr>
          <a:xfrm>
            <a:off x="2000000" y="3000000"/>
            <a:ext cx="4000000" cy="0"/>
          </a:xfrm>
          <a:prstGeom prst="straightConnector1">
            <a:avLst/>
          </a:prstGeom>
          <a:ln w="12700">
            <a:solidFill>
              <a:srgbClr val="EAF4EE"/>
            </a:solidFill>
          </a:ln>
        </p:spPr>
      </p:cxnSp>
      <p:sp>
        <p:nvSpPr>
          <p:cNvPr id="26" name="TextBox 26"/>
          <p:cNvSpPr/>
          <p:nvPr/>
        </p:nvSpPr>
        <p:spPr>
          <a:xfrm>
            <a:off x="5580000" y="6408000"/>
            <a:ext cx="1080000" cy="18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700">
                <a:solidFill>
                  <a:srgbClr val="7A6040"/>
                </a:solidFill>
              </a:rPr>
              <a:t>5 / 8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/>
      <p:sp>
        <p:nvSpPr>
          <p:cNvPr id="2" name="!!blob-main"/>
          <p:cNvSpPr/>
          <p:nvPr/>
        </p:nvSpPr>
        <p:spPr>
          <a:xfrm>
            <a:off x="7153200" y="0"/>
            <a:ext cx="5040000" cy="6858000"/>
          </a:xfrm>
          <a:solidFill>
            <a:srgbClr val="C4552A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100" y="0"/>
                </a:moveTo>
                <a:cubicBezTo>
                  <a:pt x="84" y="0"/>
                  <a:pt x="64" y="4"/>
                  <a:pt x="59" y="17"/>
                </a:cubicBezTo>
                <a:cubicBezTo>
                  <a:pt x="54" y="30"/>
                  <a:pt x="62" y="42"/>
                  <a:pt x="55" y="54"/>
                </a:cubicBezTo>
                <a:cubicBezTo>
                  <a:pt x="49" y="64"/>
                  <a:pt x="57" y="76"/>
                  <a:pt x="64" y="86"/>
                </a:cubicBezTo>
                <a:cubicBezTo>
                  <a:pt x="72" y="96"/>
                  <a:pt x="87" y="100"/>
                  <a:pt x="100" y="10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hero-img"/>
          <p:cNvSpPr/>
          <p:nvPr/>
        </p:nvSpPr>
        <p:spPr>
          <a:xfrm>
            <a:off x="7740000" y="1260000"/>
            <a:ext cx="3960000" cy="4680000"/>
          </a:xfrm>
          <a:prstGeom prst="ellipse">
            <a:avLst/>
          </a:prstGeom>
          <a:solidFill>
            <a:srgbClr val="C86830"/>
          </a:solidFill>
          <a:ln>
            <a:noFill/>
          </a:ln>
        </p:spPr>
        <p:txBody>
          <a:bodyPr anchor="b"/>
          <a:lstStyle/>
          <a:p>
            <a:pPr algn="ctr"/>
            <a:r>
              <a:rPr lang="en-US" sz="800">
                <a:solidFill>
                  <a:srgbClr val="F5DDA0"/>
                </a:solidFill>
              </a:rPr>
              <a:t>[food photo]</a:t>
            </a:r>
          </a:p>
        </p:txBody>
      </p:sp>
      <p:sp>
        <p:nvSpPr>
          <p:cNvPr id="4" name="TextBox 4"/>
          <p:cNvSpPr/>
          <p:nvPr/>
        </p:nvSpPr>
        <p:spPr>
          <a:xfrm>
            <a:off x="7380000" y="540000"/>
            <a:ext cx="216000" cy="216000"/>
          </a:xfrm>
          <a:solidFill>
            <a:srgbClr val="F5DDA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11340000" y="720000"/>
            <a:ext cx="180000" cy="180000"/>
          </a:xfrm>
          <a:solidFill>
            <a:srgbClr val="FFFFFF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7920000" y="5760000"/>
            <a:ext cx="162000" cy="162000"/>
          </a:xfrm>
          <a:solidFill>
            <a:srgbClr val="FFFFFF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11700000" y="5220000"/>
            <a:ext cx="288000" cy="468000"/>
          </a:xfrm>
          <a:solidFill>
            <a:srgbClr val="C6E8D2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82" h="95">
                <a:moveTo>
                  <a:pt x="50" y="95"/>
                </a:moveTo>
                <a:cubicBezTo>
                  <a:pt x="25" y="68"/>
                  <a:pt x="6" y="38"/>
                  <a:pt x="18" y="14"/>
                </a:cubicBezTo>
                <a:cubicBezTo>
                  <a:pt x="27" y="2"/>
                  <a:pt x="42" y="0"/>
                  <a:pt x="50" y="0"/>
                </a:cubicBezTo>
                <a:cubicBezTo>
                  <a:pt x="58" y="0"/>
                  <a:pt x="73" y="2"/>
                  <a:pt x="82" y="14"/>
                </a:cubicBezTo>
                <a:cubicBezTo>
                  <a:pt x="94" y="38"/>
                  <a:pt x="75" y="68"/>
                  <a:pt x="50" y="95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12060000" y="5112000"/>
            <a:ext cx="216000" cy="360000"/>
          </a:xfrm>
          <a:solidFill>
            <a:srgbClr val="D4EDE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82" h="95">
                <a:moveTo>
                  <a:pt x="50" y="95"/>
                </a:moveTo>
                <a:cubicBezTo>
                  <a:pt x="25" y="68"/>
                  <a:pt x="6" y="38"/>
                  <a:pt x="18" y="14"/>
                </a:cubicBezTo>
                <a:cubicBezTo>
                  <a:pt x="27" y="2"/>
                  <a:pt x="42" y="0"/>
                  <a:pt x="50" y="0"/>
                </a:cubicBezTo>
                <a:cubicBezTo>
                  <a:pt x="58" y="0"/>
                  <a:pt x="73" y="2"/>
                  <a:pt x="82" y="14"/>
                </a:cubicBezTo>
                <a:cubicBezTo>
                  <a:pt x="94" y="38"/>
                  <a:pt x="75" y="68"/>
                  <a:pt x="50" y="95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6768000" y="2700000"/>
            <a:ext cx="378000" cy="378000"/>
          </a:xfrm>
          <a:prstGeom prst="ellipse">
            <a:avLst/>
          </a:prstGeom>
          <a:solidFill>
            <a:srgbClr val="C4552A"/>
          </a:solidFill>
          <a:ln w="12700">
            <a:noFill/>
          </a:ln>
        </p:spPr>
        <p:txBody>
          <a:bodyPr anchor="ctr"/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>&gt;</a:t>
            </a:r>
          </a:p>
        </p:txBody>
      </p:sp>
      <p:sp>
        <p:nvSpPr>
          <p:cNvPr id="10" name="TextBox 10"/>
          <p:cNvSpPr/>
          <p:nvPr/>
        </p:nvSpPr>
        <p:spPr>
          <a:xfrm>
            <a:off x="6768000" y="3276000"/>
            <a:ext cx="378000" cy="378000"/>
          </a:xfrm>
          <a:prstGeom prst="ellipse">
            <a:avLst/>
          </a:prstGeom>
          <a:solidFill>
            <a:srgbClr val="C4552A"/>
          </a:solidFill>
          <a:ln w="12700">
            <a:noFill/>
          </a:ln>
        </p:spPr>
        <p:txBody>
          <a:bodyPr anchor="ctr"/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>&lt;</a:t>
            </a:r>
          </a:p>
        </p:txBody>
      </p:sp>
      <p:sp>
        <p:nvSpPr>
          <p:cNvPr id="11" name="TextBox 11"/>
          <p:cNvSpPr/>
          <p:nvPr/>
        </p:nvSpPr>
        <p:spPr>
          <a:xfrm>
            <a:off x="180000" y="100800"/>
            <a:ext cx="936000" cy="223200"/>
          </a:xfrm>
          <a:prstGeom prst="roundRect">
            <a:avLst/>
          </a:prstGeom>
          <a:solidFill>
            <a:srgbClr val="1E4D3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750" b="1">
                <a:solidFill>
                  <a:srgbClr val="FFFFFF"/>
                </a:solidFill>
              </a:rPr>
              <a:t>Sweet Bliss</a:t>
            </a:r>
          </a:p>
        </p:txBody>
      </p:sp>
      <p:sp>
        <p:nvSpPr>
          <p:cNvPr id="12" name="TextBox 12"/>
          <p:cNvSpPr/>
          <p:nvPr/>
        </p:nvSpPr>
        <p:spPr>
          <a:xfrm>
            <a:off x="2520000" y="108000"/>
            <a:ext cx="7920000" cy="216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800">
                <a:solidFill>
                  <a:srgbClr val="7A6040"/>
                </a:solidFill>
              </a:rPr>
              <a:t>Home   About Us   Project   Blog   Reservation</a:t>
            </a:r>
          </a:p>
        </p:txBody>
      </p:sp>
      <p:sp>
        <p:nvSpPr>
          <p:cNvPr id="13" name="TextBox 13"/>
          <p:cNvSpPr/>
          <p:nvPr/>
        </p:nvSpPr>
        <p:spPr>
          <a:xfrm>
            <a:off x="11592000" y="64800"/>
            <a:ext cx="280800" cy="280800"/>
          </a:xfrm>
          <a:solidFill>
            <a:srgbClr val="F5DDA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cxnSp>
        <p:nvCxnSpPr>
          <p:cNvPr id="16" name="Connector 16"/>
          <p:cNvCxnSpPr/>
          <p:nvPr/>
        </p:nvCxnSpPr>
        <p:spPr>
          <a:xfrm>
            <a:off x="2000000" y="3000000"/>
            <a:ext cx="4000000" cy="0"/>
          </a:xfrm>
          <a:prstGeom prst="straightConnector1">
            <a:avLst/>
          </a:prstGeom>
          <a:ln w="12700">
            <a:solidFill>
              <a:srgbClr val="EAF4EE"/>
            </a:solidFill>
          </a:ln>
        </p:spPr>
      </p:cxnSp>
      <p:sp>
        <p:nvSpPr>
          <p:cNvPr id="17" name="TextBox 17"/>
          <p:cNvSpPr/>
          <p:nvPr/>
        </p:nvSpPr>
        <p:spPr>
          <a:xfrm>
            <a:off x="360000" y="720000"/>
            <a:ext cx="6120000" cy="54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2800" b="1">
                <a:solidFill>
                  <a:srgbClr val="241C17"/>
                </a:solidFill>
              </a:rPr>
              <a:t>Our Sweet Menu</a:t>
            </a:r>
          </a:p>
        </p:txBody>
      </p:sp>
      <p:cxnSp>
        <p:nvCxnSpPr>
          <p:cNvPr id="18" name="!!title-accent"/>
          <p:cNvCxnSpPr/>
          <p:nvPr/>
        </p:nvCxnSpPr>
        <p:spPr>
          <a:xfrm>
            <a:off x="2000000" y="3000000"/>
            <a:ext cx="4000000" cy="0"/>
          </a:xfrm>
          <a:prstGeom prst="straightConnector1">
            <a:avLst/>
          </a:prstGeom>
          <a:ln w="12700">
            <a:solidFill>
              <a:srgbClr val="E8A838"/>
            </a:solidFill>
          </a:ln>
        </p:spPr>
      </p:cxnSp>
      <p:sp>
        <p:nvSpPr>
          <p:cNvPr id="19" name="TextBox 19"/>
          <p:cNvSpPr/>
          <p:nvPr/>
        </p:nvSpPr>
        <p:spPr>
          <a:xfrm>
            <a:off x="360000" y="1512000"/>
            <a:ext cx="5940000" cy="1188000"/>
          </a:xfrm>
          <a:prstGeom prst="roundRect">
            <a:avLst/>
          </a:prstGeom>
          <a:solidFill>
            <a:srgbClr val="FBF3E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468000" y="1548000"/>
            <a:ext cx="180000" cy="180000"/>
          </a:xfrm>
          <a:solidFill>
            <a:srgbClr val="F5DDA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648000" y="1692000"/>
            <a:ext cx="3600000" cy="36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100" b="1">
                <a:solidFill>
                  <a:srgbClr val="241C17"/>
                </a:solidFill>
              </a:rPr>
              <a:t>Artisan Croissants</a:t>
            </a:r>
          </a:p>
        </p:txBody>
      </p:sp>
      <p:sp>
        <p:nvSpPr>
          <p:cNvPr id="22" name="TextBox 22"/>
          <p:cNvSpPr/>
          <p:nvPr/>
        </p:nvSpPr>
        <p:spPr>
          <a:xfrm>
            <a:off x="648000" y="2124000"/>
            <a:ext cx="3600000" cy="432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800">
                <a:solidFill>
                  <a:srgbClr val="7A6040"/>
                </a:solidFill>
              </a:rPr>
              <a:t>Freshly baked every morning with French butter and 72-hour fermentation.</a:t>
            </a:r>
          </a:p>
        </p:txBody>
      </p:sp>
      <p:sp>
        <p:nvSpPr>
          <p:cNvPr id="23" name="TextBox 23"/>
          <p:cNvSpPr/>
          <p:nvPr/>
        </p:nvSpPr>
        <p:spPr>
          <a:xfrm>
            <a:off x="4860000" y="1728000"/>
            <a:ext cx="1080000" cy="432000"/>
          </a:xfrm>
          <a:prstGeom prst="roundRect">
            <a:avLst/>
          </a:prstGeom>
          <a:solidFill>
            <a:srgbClr val="1E4D3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900" b="1">
                <a:solidFill>
                  <a:srgbClr val="FFFFFF"/>
                </a:solidFill>
              </a:rPr>
              <a:t>From $8</a:t>
            </a:r>
          </a:p>
        </p:txBody>
      </p:sp>
      <p:sp>
        <p:nvSpPr>
          <p:cNvPr id="24" name="TextBox 24"/>
          <p:cNvSpPr/>
          <p:nvPr/>
        </p:nvSpPr>
        <p:spPr>
          <a:xfrm>
            <a:off x="360000" y="2952000"/>
            <a:ext cx="5940000" cy="1188000"/>
          </a:xfrm>
          <a:prstGeom prst="roundRect">
            <a:avLst/>
          </a:prstGeom>
          <a:solidFill>
            <a:srgbClr val="FFF0E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TextBox 25"/>
          <p:cNvSpPr/>
          <p:nvPr/>
        </p:nvSpPr>
        <p:spPr>
          <a:xfrm>
            <a:off x="468000" y="2988000"/>
            <a:ext cx="180000" cy="180000"/>
          </a:xfrm>
          <a:solidFill>
            <a:srgbClr val="C4552A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648000" y="3132000"/>
            <a:ext cx="3600000" cy="36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100" b="1">
                <a:solidFill>
                  <a:srgbClr val="241C17"/>
                </a:solidFill>
              </a:rPr>
              <a:t>Specialty Cakes</a:t>
            </a:r>
          </a:p>
        </p:txBody>
      </p:sp>
      <p:sp>
        <p:nvSpPr>
          <p:cNvPr id="27" name="TextBox 27"/>
          <p:cNvSpPr/>
          <p:nvPr/>
        </p:nvSpPr>
        <p:spPr>
          <a:xfrm>
            <a:off x="648000" y="3564000"/>
            <a:ext cx="3600000" cy="432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800">
                <a:solidFill>
                  <a:srgbClr val="7A6040"/>
                </a:solidFill>
              </a:rPr>
              <a:t>Custom designed for your special occasions, handcrafted to perfection.</a:t>
            </a:r>
          </a:p>
        </p:txBody>
      </p:sp>
      <p:sp>
        <p:nvSpPr>
          <p:cNvPr id="28" name="TextBox 28"/>
          <p:cNvSpPr/>
          <p:nvPr/>
        </p:nvSpPr>
        <p:spPr>
          <a:xfrm>
            <a:off x="4860000" y="3168000"/>
            <a:ext cx="1080000" cy="432000"/>
          </a:xfrm>
          <a:prstGeom prst="roundRect">
            <a:avLst/>
          </a:prstGeom>
          <a:solidFill>
            <a:srgbClr val="C4552A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900" b="1">
                <a:solidFill>
                  <a:srgbClr val="FFFFFF"/>
                </a:solidFill>
              </a:rPr>
              <a:t>From $45</a:t>
            </a:r>
          </a:p>
        </p:txBody>
      </p:sp>
      <p:sp>
        <p:nvSpPr>
          <p:cNvPr id="29" name="TextBox 29"/>
          <p:cNvSpPr/>
          <p:nvPr/>
        </p:nvSpPr>
        <p:spPr>
          <a:xfrm>
            <a:off x="360000" y="4392000"/>
            <a:ext cx="5940000" cy="1188000"/>
          </a:xfrm>
          <a:prstGeom prst="roundRect">
            <a:avLst/>
          </a:prstGeom>
          <a:solidFill>
            <a:srgbClr val="EAF4EE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" name="TextBox 30"/>
          <p:cNvSpPr/>
          <p:nvPr/>
        </p:nvSpPr>
        <p:spPr>
          <a:xfrm>
            <a:off x="468000" y="4428000"/>
            <a:ext cx="180000" cy="180000"/>
          </a:xfrm>
          <a:solidFill>
            <a:srgbClr val="1E4D38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" name="TextBox 31"/>
          <p:cNvSpPr/>
          <p:nvPr/>
        </p:nvSpPr>
        <p:spPr>
          <a:xfrm>
            <a:off x="648000" y="4572000"/>
            <a:ext cx="3600000" cy="36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100" b="1">
                <a:solidFill>
                  <a:srgbClr val="241C17"/>
                </a:solidFill>
              </a:rPr>
              <a:t>Coffee &amp; Drinks</a:t>
            </a:r>
          </a:p>
        </p:txBody>
      </p:sp>
      <p:sp>
        <p:nvSpPr>
          <p:cNvPr id="32" name="TextBox 32"/>
          <p:cNvSpPr/>
          <p:nvPr/>
        </p:nvSpPr>
        <p:spPr>
          <a:xfrm>
            <a:off x="648000" y="5004000"/>
            <a:ext cx="3600000" cy="432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800">
                <a:solidFill>
                  <a:srgbClr val="7A6040"/>
                </a:solidFill>
              </a:rPr>
              <a:t>Single origin coffee paired perfectly with our house-baked goods.</a:t>
            </a:r>
          </a:p>
        </p:txBody>
      </p:sp>
      <p:sp>
        <p:nvSpPr>
          <p:cNvPr id="33" name="TextBox 33"/>
          <p:cNvSpPr/>
          <p:nvPr/>
        </p:nvSpPr>
        <p:spPr>
          <a:xfrm>
            <a:off x="4860000" y="4608000"/>
            <a:ext cx="1080000" cy="432000"/>
          </a:xfrm>
          <a:prstGeom prst="roundRect">
            <a:avLst/>
          </a:prstGeom>
          <a:solidFill>
            <a:srgbClr val="1E4D3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900" b="1">
                <a:solidFill>
                  <a:srgbClr val="FFFFFF"/>
                </a:solidFill>
              </a:rPr>
              <a:t>From $5</a:t>
            </a:r>
          </a:p>
        </p:txBody>
      </p:sp>
      <p:cxnSp>
        <p:nvCxnSpPr>
          <p:cNvPr id="34" name="!!footer-line"/>
          <p:cNvCxnSpPr/>
          <p:nvPr/>
        </p:nvCxnSpPr>
        <p:spPr>
          <a:xfrm>
            <a:off x="2000000" y="3000000"/>
            <a:ext cx="4000000" cy="0"/>
          </a:xfrm>
          <a:prstGeom prst="straightConnector1">
            <a:avLst/>
          </a:prstGeom>
          <a:ln w="12700">
            <a:solidFill>
              <a:srgbClr val="EAF4EE"/>
            </a:solidFill>
          </a:ln>
        </p:spPr>
      </p:cxnSp>
      <p:sp>
        <p:nvSpPr>
          <p:cNvPr id="35" name="TextBox 35"/>
          <p:cNvSpPr/>
          <p:nvPr/>
        </p:nvSpPr>
        <p:spPr>
          <a:xfrm>
            <a:off x="360000" y="6408000"/>
            <a:ext cx="1080000" cy="18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700">
                <a:solidFill>
                  <a:srgbClr val="7A6040"/>
                </a:solidFill>
              </a:rPr>
              <a:t>6 / 8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/>
      <p:sp>
        <p:nvSpPr>
          <p:cNvPr id="2" name="!!blob-main"/>
          <p:cNvSpPr/>
          <p:nvPr/>
        </p:nvSpPr>
        <p:spPr>
          <a:xfrm>
            <a:off x="0" y="900000"/>
            <a:ext cx="3240000" cy="5958000"/>
          </a:xfrm>
          <a:solidFill>
            <a:srgbClr val="1E4D38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40" h="100">
                <a:moveTo>
                  <a:pt x="0" y="15"/>
                </a:moveTo>
                <a:cubicBezTo>
                  <a:pt x="12" y="10"/>
                  <a:pt x="30" y="18"/>
                  <a:pt x="36" y="32"/>
                </a:cubicBezTo>
                <a:cubicBezTo>
                  <a:pt x="42" y="46"/>
                  <a:pt x="34" y="58"/>
                  <a:pt x="40" y="70"/>
                </a:cubicBezTo>
                <a:cubicBezTo>
                  <a:pt x="45" y="80"/>
                  <a:pt x="38" y="90"/>
                  <a:pt x="26" y="94"/>
                </a:cubicBezTo>
                <a:cubicBezTo>
                  <a:pt x="14" y="98"/>
                  <a:pt x="5" y="100"/>
                  <a:pt x="0" y="10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hero-img"/>
          <p:cNvSpPr/>
          <p:nvPr/>
        </p:nvSpPr>
        <p:spPr>
          <a:xfrm>
            <a:off x="180000" y="1800000"/>
            <a:ext cx="2700000" cy="3960000"/>
          </a:xfrm>
          <a:prstGeom prst="ellipse">
            <a:avLst/>
          </a:prstGeom>
          <a:solidFill>
            <a:srgbClr val="C86830"/>
          </a:solidFill>
          <a:ln>
            <a:noFill/>
          </a:ln>
        </p:spPr>
        <p:txBody>
          <a:bodyPr anchor="b"/>
          <a:lstStyle/>
          <a:p>
            <a:pPr algn="ctr"/>
            <a:r>
              <a:rPr lang="en-US" sz="800">
                <a:solidFill>
                  <a:srgbClr val="F5DDA0"/>
                </a:solidFill>
              </a:rPr>
              <a:t>[food photo]</a:t>
            </a:r>
          </a:p>
        </p:txBody>
      </p:sp>
      <p:sp>
        <p:nvSpPr>
          <p:cNvPr id="4" name="TextBox 4"/>
          <p:cNvSpPr/>
          <p:nvPr/>
        </p:nvSpPr>
        <p:spPr>
          <a:xfrm>
            <a:off x="432000" y="1008000"/>
            <a:ext cx="216000" cy="216000"/>
          </a:xfrm>
          <a:solidFill>
            <a:srgbClr val="F5DDA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2700000" y="900000"/>
            <a:ext cx="162000" cy="162000"/>
          </a:xfrm>
          <a:solidFill>
            <a:srgbClr val="FFFFFF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6300000"/>
            <a:ext cx="144000" cy="144000"/>
          </a:xfrm>
          <a:solidFill>
            <a:srgbClr val="FFFFFF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2448000" y="5940000"/>
            <a:ext cx="252000" cy="396000"/>
          </a:xfrm>
          <a:solidFill>
            <a:srgbClr val="FFF0E8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94" h="100">
                <a:moveTo>
                  <a:pt x="50" y="100"/>
                </a:moveTo>
                <a:cubicBezTo>
                  <a:pt x="20" y="78"/>
                  <a:pt x="0" y="54"/>
                  <a:pt x="6" y="30"/>
                </a:cubicBezTo>
                <a:cubicBezTo>
                  <a:pt x="12" y="8"/>
                  <a:pt x="32" y="0"/>
                  <a:pt x="50" y="0"/>
                </a:cubicBezTo>
                <a:cubicBezTo>
                  <a:pt x="68" y="0"/>
                  <a:pt x="88" y="8"/>
                  <a:pt x="94" y="30"/>
                </a:cubicBezTo>
                <a:cubicBezTo>
                  <a:pt x="100" y="54"/>
                  <a:pt x="80" y="78"/>
                  <a:pt x="50" y="10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11160000" y="4860000"/>
            <a:ext cx="396000" cy="648000"/>
          </a:xfrm>
          <a:solidFill>
            <a:srgbClr val="D4EDE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82" h="95">
                <a:moveTo>
                  <a:pt x="50" y="95"/>
                </a:moveTo>
                <a:cubicBezTo>
                  <a:pt x="25" y="68"/>
                  <a:pt x="6" y="38"/>
                  <a:pt x="18" y="14"/>
                </a:cubicBezTo>
                <a:cubicBezTo>
                  <a:pt x="27" y="2"/>
                  <a:pt x="42" y="0"/>
                  <a:pt x="50" y="0"/>
                </a:cubicBezTo>
                <a:cubicBezTo>
                  <a:pt x="58" y="0"/>
                  <a:pt x="73" y="2"/>
                  <a:pt x="82" y="14"/>
                </a:cubicBezTo>
                <a:cubicBezTo>
                  <a:pt x="94" y="38"/>
                  <a:pt x="75" y="68"/>
                  <a:pt x="50" y="95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1592000" y="4608000"/>
            <a:ext cx="324000" cy="540000"/>
          </a:xfrm>
          <a:solidFill>
            <a:srgbClr val="C6E8D2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82" h="95">
                <a:moveTo>
                  <a:pt x="50" y="95"/>
                </a:moveTo>
                <a:cubicBezTo>
                  <a:pt x="25" y="68"/>
                  <a:pt x="6" y="38"/>
                  <a:pt x="18" y="14"/>
                </a:cubicBezTo>
                <a:cubicBezTo>
                  <a:pt x="27" y="2"/>
                  <a:pt x="42" y="0"/>
                  <a:pt x="50" y="0"/>
                </a:cubicBezTo>
                <a:cubicBezTo>
                  <a:pt x="58" y="0"/>
                  <a:pt x="73" y="2"/>
                  <a:pt x="82" y="14"/>
                </a:cubicBezTo>
                <a:cubicBezTo>
                  <a:pt x="94" y="38"/>
                  <a:pt x="75" y="68"/>
                  <a:pt x="50" y="95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1700000" y="5328000"/>
            <a:ext cx="288000" cy="468000"/>
          </a:xfrm>
          <a:solidFill>
            <a:srgbClr val="EAF4EE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82" h="95">
                <a:moveTo>
                  <a:pt x="50" y="95"/>
                </a:moveTo>
                <a:cubicBezTo>
                  <a:pt x="25" y="68"/>
                  <a:pt x="6" y="38"/>
                  <a:pt x="18" y="14"/>
                </a:cubicBezTo>
                <a:cubicBezTo>
                  <a:pt x="27" y="2"/>
                  <a:pt x="42" y="0"/>
                  <a:pt x="50" y="0"/>
                </a:cubicBezTo>
                <a:cubicBezTo>
                  <a:pt x="58" y="0"/>
                  <a:pt x="73" y="2"/>
                  <a:pt x="82" y="14"/>
                </a:cubicBezTo>
                <a:cubicBezTo>
                  <a:pt x="94" y="38"/>
                  <a:pt x="75" y="68"/>
                  <a:pt x="50" y="95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11448000" y="5688000"/>
            <a:ext cx="252000" cy="396000"/>
          </a:xfrm>
          <a:solidFill>
            <a:srgbClr val="FFF0E8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94" h="100">
                <a:moveTo>
                  <a:pt x="50" y="100"/>
                </a:moveTo>
                <a:cubicBezTo>
                  <a:pt x="20" y="78"/>
                  <a:pt x="0" y="54"/>
                  <a:pt x="6" y="30"/>
                </a:cubicBezTo>
                <a:cubicBezTo>
                  <a:pt x="12" y="8"/>
                  <a:pt x="32" y="0"/>
                  <a:pt x="50" y="0"/>
                </a:cubicBezTo>
                <a:cubicBezTo>
                  <a:pt x="68" y="0"/>
                  <a:pt x="88" y="8"/>
                  <a:pt x="94" y="30"/>
                </a:cubicBezTo>
                <a:cubicBezTo>
                  <a:pt x="100" y="54"/>
                  <a:pt x="80" y="78"/>
                  <a:pt x="50" y="10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10980000" y="4680000"/>
            <a:ext cx="900000" cy="900000"/>
          </a:xfrm>
          <a:prstGeom prst="ellipse">
            <a:avLst/>
          </a:prstGeom>
          <a:noFill/>
          <a:ln w="12700">
            <a:solidFill>
              <a:srgbClr val="EAF4EE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180000" y="100800"/>
            <a:ext cx="936000" cy="223200"/>
          </a:xfrm>
          <a:prstGeom prst="roundRect">
            <a:avLst/>
          </a:prstGeom>
          <a:solidFill>
            <a:srgbClr val="1E4D3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750" b="1">
                <a:solidFill>
                  <a:srgbClr val="FFFFFF"/>
                </a:solidFill>
              </a:rPr>
              <a:t>Sweet Bliss</a:t>
            </a:r>
          </a:p>
        </p:txBody>
      </p:sp>
      <p:sp>
        <p:nvSpPr>
          <p:cNvPr id="14" name="TextBox 14"/>
          <p:cNvSpPr/>
          <p:nvPr/>
        </p:nvSpPr>
        <p:spPr>
          <a:xfrm>
            <a:off x="2520000" y="108000"/>
            <a:ext cx="7920000" cy="216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800">
                <a:solidFill>
                  <a:srgbClr val="7A6040"/>
                </a:solidFill>
              </a:rPr>
              <a:t>Home   About Us   Project   Blog   Reservation</a:t>
            </a:r>
          </a:p>
        </p:txBody>
      </p:sp>
      <p:sp>
        <p:nvSpPr>
          <p:cNvPr id="15" name="TextBox 15"/>
          <p:cNvSpPr/>
          <p:nvPr/>
        </p:nvSpPr>
        <p:spPr>
          <a:xfrm>
            <a:off x="11592000" y="64800"/>
            <a:ext cx="280800" cy="280800"/>
          </a:xfrm>
          <a:solidFill>
            <a:srgbClr val="F5DDA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cxnSp>
        <p:nvCxnSpPr>
          <p:cNvPr id="18" name="Connector 18"/>
          <p:cNvCxnSpPr/>
          <p:nvPr/>
        </p:nvCxnSpPr>
        <p:spPr>
          <a:xfrm>
            <a:off x="2000000" y="3000000"/>
            <a:ext cx="4000000" cy="0"/>
          </a:xfrm>
          <a:prstGeom prst="straightConnector1">
            <a:avLst/>
          </a:prstGeom>
          <a:ln w="12700">
            <a:solidFill>
              <a:srgbClr val="EAF4EE"/>
            </a:solidFill>
          </a:ln>
        </p:spPr>
      </p:cxnSp>
      <p:sp>
        <p:nvSpPr>
          <p:cNvPr id="19" name="TextBox 19"/>
          <p:cNvSpPr/>
          <p:nvPr/>
        </p:nvSpPr>
        <p:spPr>
          <a:xfrm>
            <a:off x="3780000" y="648000"/>
            <a:ext cx="7920000" cy="54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2600" b="1">
                <a:solidFill>
                  <a:srgbClr val="241C17"/>
                </a:solidFill>
              </a:rPr>
              <a:t>Our Process</a:t>
            </a:r>
          </a:p>
        </p:txBody>
      </p:sp>
      <p:cxnSp>
        <p:nvCxnSpPr>
          <p:cNvPr id="20" name="!!title-accent"/>
          <p:cNvCxnSpPr/>
          <p:nvPr/>
        </p:nvCxnSpPr>
        <p:spPr>
          <a:xfrm>
            <a:off x="2000000" y="3000000"/>
            <a:ext cx="4000000" cy="0"/>
          </a:xfrm>
          <a:prstGeom prst="straightConnector1">
            <a:avLst/>
          </a:prstGeom>
          <a:ln w="12700">
            <a:solidFill>
              <a:srgbClr val="E8A838"/>
            </a:solidFill>
          </a:ln>
        </p:spPr>
      </p:cxnSp>
      <p:sp>
        <p:nvSpPr>
          <p:cNvPr id="21" name="TextBox 21"/>
          <p:cNvSpPr/>
          <p:nvPr/>
        </p:nvSpPr>
        <p:spPr>
          <a:xfrm>
            <a:off x="3780000" y="1440000"/>
            <a:ext cx="432000" cy="432000"/>
          </a:xfrm>
          <a:prstGeom prst="ellipse">
            <a:avLst/>
          </a:prstGeom>
          <a:solidFill>
            <a:srgbClr val="1E4D3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22" name="TextBox 22"/>
          <p:cNvSpPr/>
          <p:nvPr/>
        </p:nvSpPr>
        <p:spPr>
          <a:xfrm>
            <a:off x="4428000" y="1440000"/>
            <a:ext cx="6480000" cy="36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200" b="1">
                <a:solidFill>
                  <a:srgbClr val="241C17"/>
                </a:solidFill>
              </a:rPr>
              <a:t>Select Ingredients</a:t>
            </a:r>
          </a:p>
        </p:txBody>
      </p:sp>
      <p:sp>
        <p:nvSpPr>
          <p:cNvPr id="23" name="TextBox 23"/>
          <p:cNvSpPr/>
          <p:nvPr/>
        </p:nvSpPr>
        <p:spPr>
          <a:xfrm>
            <a:off x="4428000" y="1836000"/>
            <a:ext cx="6480000" cy="54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850">
                <a:solidFill>
                  <a:srgbClr val="7A6040"/>
                </a:solidFill>
              </a:rPr>
              <a:t>We source only the finest local and imported ingredients each morning.</a:t>
            </a:r>
          </a:p>
        </p:txBody>
      </p:sp>
      <p:cxnSp>
        <p:nvCxnSpPr>
          <p:cNvPr id="24" name="Connector 24"/>
          <p:cNvCxnSpPr/>
          <p:nvPr/>
        </p:nvCxnSpPr>
        <p:spPr>
          <a:xfrm>
            <a:off x="2000000" y="3000000"/>
            <a:ext cx="4000000" cy="0"/>
          </a:xfrm>
          <a:prstGeom prst="straightConnector1">
            <a:avLst/>
          </a:prstGeom>
          <a:ln w="12700">
            <a:solidFill>
              <a:srgbClr val="EAF4EE"/>
            </a:solidFill>
          </a:ln>
        </p:spPr>
      </p:cxnSp>
      <p:sp>
        <p:nvSpPr>
          <p:cNvPr id="25" name="TextBox 25"/>
          <p:cNvSpPr/>
          <p:nvPr/>
        </p:nvSpPr>
        <p:spPr>
          <a:xfrm>
            <a:off x="3780000" y="3060000"/>
            <a:ext cx="432000" cy="432000"/>
          </a:xfrm>
          <a:prstGeom prst="ellipse">
            <a:avLst/>
          </a:prstGeom>
          <a:solidFill>
            <a:srgbClr val="C4552A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6" name="TextBox 26"/>
          <p:cNvSpPr/>
          <p:nvPr/>
        </p:nvSpPr>
        <p:spPr>
          <a:xfrm>
            <a:off x="4428000" y="3060000"/>
            <a:ext cx="6480000" cy="36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200" b="1">
                <a:solidFill>
                  <a:srgbClr val="241C17"/>
                </a:solidFill>
              </a:rPr>
              <a:t>Craft &amp; Bake</a:t>
            </a:r>
          </a:p>
        </p:txBody>
      </p:sp>
      <p:sp>
        <p:nvSpPr>
          <p:cNvPr id="27" name="TextBox 27"/>
          <p:cNvSpPr/>
          <p:nvPr/>
        </p:nvSpPr>
        <p:spPr>
          <a:xfrm>
            <a:off x="4428000" y="3456000"/>
            <a:ext cx="6480000" cy="54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850">
                <a:solidFill>
                  <a:srgbClr val="7A6040"/>
                </a:solidFill>
              </a:rPr>
              <a:t>Our master bakers handcraft every item with care and precision daily.</a:t>
            </a:r>
          </a:p>
        </p:txBody>
      </p:sp>
      <p:cxnSp>
        <p:nvCxnSpPr>
          <p:cNvPr id="28" name="Connector 28"/>
          <p:cNvCxnSpPr/>
          <p:nvPr/>
        </p:nvCxnSpPr>
        <p:spPr>
          <a:xfrm>
            <a:off x="2000000" y="3000000"/>
            <a:ext cx="4000000" cy="0"/>
          </a:xfrm>
          <a:prstGeom prst="straightConnector1">
            <a:avLst/>
          </a:prstGeom>
          <a:ln w="12700">
            <a:solidFill>
              <a:srgbClr val="EAF4EE"/>
            </a:solidFill>
          </a:ln>
        </p:spPr>
      </p:cxnSp>
      <p:sp>
        <p:nvSpPr>
          <p:cNvPr id="29" name="TextBox 29"/>
          <p:cNvSpPr/>
          <p:nvPr/>
        </p:nvSpPr>
        <p:spPr>
          <a:xfrm>
            <a:off x="3780000" y="4680000"/>
            <a:ext cx="432000" cy="432000"/>
          </a:xfrm>
          <a:prstGeom prst="ellipse">
            <a:avLst/>
          </a:prstGeom>
          <a:solidFill>
            <a:srgbClr val="C4552A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0" name="TextBox 30"/>
          <p:cNvSpPr/>
          <p:nvPr/>
        </p:nvSpPr>
        <p:spPr>
          <a:xfrm>
            <a:off x="4428000" y="4680000"/>
            <a:ext cx="6480000" cy="36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200" b="1">
                <a:solidFill>
                  <a:srgbClr val="241C17"/>
                </a:solidFill>
              </a:rPr>
              <a:t>Deliver Fresh</a:t>
            </a:r>
          </a:p>
        </p:txBody>
      </p:sp>
      <p:sp>
        <p:nvSpPr>
          <p:cNvPr id="31" name="TextBox 31"/>
          <p:cNvSpPr/>
          <p:nvPr/>
        </p:nvSpPr>
        <p:spPr>
          <a:xfrm>
            <a:off x="4428000" y="5076000"/>
            <a:ext cx="6480000" cy="54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850">
                <a:solidFill>
                  <a:srgbClr val="7A6040"/>
                </a:solidFill>
              </a:rPr>
              <a:t>Delivered fresh within hours of baking to preserve perfect taste.</a:t>
            </a:r>
          </a:p>
        </p:txBody>
      </p:sp>
      <p:cxnSp>
        <p:nvCxnSpPr>
          <p:cNvPr id="32" name="!!footer-line"/>
          <p:cNvCxnSpPr/>
          <p:nvPr/>
        </p:nvCxnSpPr>
        <p:spPr>
          <a:xfrm>
            <a:off x="2000000" y="3000000"/>
            <a:ext cx="4000000" cy="0"/>
          </a:xfrm>
          <a:prstGeom prst="straightConnector1">
            <a:avLst/>
          </a:prstGeom>
          <a:ln w="12700">
            <a:solidFill>
              <a:srgbClr val="EAF4EE"/>
            </a:solidFill>
          </a:ln>
        </p:spPr>
      </p:cxnSp>
      <p:sp>
        <p:nvSpPr>
          <p:cNvPr id="33" name="TextBox 33"/>
          <p:cNvSpPr/>
          <p:nvPr/>
        </p:nvSpPr>
        <p:spPr>
          <a:xfrm>
            <a:off x="3780000" y="6408000"/>
            <a:ext cx="1080000" cy="18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700">
                <a:solidFill>
                  <a:srgbClr val="7A6040"/>
                </a:solidFill>
              </a:rPr>
              <a:t>7 / 8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152E22"/>
        </a:solidFill>
      </p:bgPr>
    </p:bg>
    <p:spTree>
      <p:nvGrpSpPr>
        <p:cNvPr id="1" name=""/>
        <p:cNvGrpSpPr/>
        <p:nvPr/>
      </p:nvGrpSpPr>
      <p:grpSpPr/>
      <p:sp>
        <p:nvSpPr>
          <p:cNvPr id="2" name="!!blob-main"/>
          <p:cNvSpPr/>
          <p:nvPr/>
        </p:nvSpPr>
        <p:spPr>
          <a:xfrm>
            <a:off x="1260000" y="540000"/>
            <a:ext cx="9720000" cy="5760000"/>
          </a:xfrm>
          <a:solidFill>
            <a:srgbClr val="FFFDF8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95" h="90">
                <a:moveTo>
                  <a:pt x="15" y="55"/>
                </a:moveTo>
                <a:cubicBezTo>
                  <a:pt x="12" y="36"/>
                  <a:pt x="22" y="18"/>
                  <a:pt x="40" y="20"/>
                </a:cubicBezTo>
                <a:cubicBezTo>
                  <a:pt x="44" y="6"/>
                  <a:pt x="62" y="2"/>
                  <a:pt x="72" y="16"/>
                </a:cubicBezTo>
                <a:cubicBezTo>
                  <a:pt x="84" y="8"/>
                  <a:pt x="96" y="22"/>
                  <a:pt x="95" y="42"/>
                </a:cubicBezTo>
                <a:cubicBezTo>
                  <a:pt x="100" y="50"/>
                  <a:pt x="98" y="66"/>
                  <a:pt x="88" y="72"/>
                </a:cubicBezTo>
                <a:cubicBezTo>
                  <a:pt x="86" y="84"/>
                  <a:pt x="72" y="94"/>
                  <a:pt x="56" y="90"/>
                </a:cubicBezTo>
                <a:cubicBezTo>
                  <a:pt x="40" y="96"/>
                  <a:pt x="20" y="84"/>
                  <a:pt x="14" y="72"/>
                </a:cubicBezTo>
                <a:cubicBezTo>
                  <a:pt x="12" y="68"/>
                  <a:pt x="12" y="62"/>
                  <a:pt x="15" y="55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180000" y="360000"/>
            <a:ext cx="288000" cy="288000"/>
          </a:xfrm>
          <a:solidFill>
            <a:srgbClr val="EAF4EE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11520000" y="720000"/>
            <a:ext cx="234000" cy="234000"/>
          </a:xfrm>
          <a:solidFill>
            <a:srgbClr val="F5DDA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540000" y="5940000"/>
            <a:ext cx="180000" cy="180000"/>
          </a:xfrm>
          <a:solidFill>
            <a:srgbClr val="FFF0E8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11700000" y="5760000"/>
            <a:ext cx="216000" cy="216000"/>
          </a:xfrm>
          <a:solidFill>
            <a:srgbClr val="EAF4EE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360000" y="3240000"/>
            <a:ext cx="162000" cy="162000"/>
          </a:xfrm>
          <a:solidFill>
            <a:srgbClr val="F5DDA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11880000" y="3420000"/>
            <a:ext cx="144000" cy="144000"/>
          </a:xfrm>
          <a:solidFill>
            <a:srgbClr val="FFF0E8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0" y="0"/>
            <a:ext cx="1620000" cy="1620000"/>
          </a:xfrm>
          <a:prstGeom prst="ellipse">
            <a:avLst/>
          </a:prstGeom>
          <a:noFill/>
          <a:ln w="10160">
            <a:solidFill>
              <a:srgbClr val="EAF4EE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0440000" y="5400000"/>
            <a:ext cx="1800000" cy="1800000"/>
          </a:xfrm>
          <a:prstGeom prst="ellipse">
            <a:avLst/>
          </a:prstGeom>
          <a:noFill/>
          <a:ln w="10160">
            <a:solidFill>
              <a:srgbClr val="EAF4EE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10800000" y="0"/>
            <a:ext cx="1260000" cy="1260000"/>
          </a:xfrm>
          <a:prstGeom prst="ellipse">
            <a:avLst/>
          </a:prstGeom>
          <a:noFill/>
          <a:ln w="7620">
            <a:solidFill>
              <a:srgbClr val="C4552A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0" y="5220000"/>
            <a:ext cx="432000" cy="720000"/>
          </a:xfrm>
          <a:solidFill>
            <a:srgbClr val="EAF4EE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82" h="95">
                <a:moveTo>
                  <a:pt x="50" y="95"/>
                </a:moveTo>
                <a:cubicBezTo>
                  <a:pt x="25" y="68"/>
                  <a:pt x="6" y="38"/>
                  <a:pt x="18" y="14"/>
                </a:cubicBezTo>
                <a:cubicBezTo>
                  <a:pt x="27" y="2"/>
                  <a:pt x="42" y="0"/>
                  <a:pt x="50" y="0"/>
                </a:cubicBezTo>
                <a:cubicBezTo>
                  <a:pt x="58" y="0"/>
                  <a:pt x="73" y="2"/>
                  <a:pt x="82" y="14"/>
                </a:cubicBezTo>
                <a:cubicBezTo>
                  <a:pt x="94" y="38"/>
                  <a:pt x="75" y="68"/>
                  <a:pt x="50" y="95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432000" y="5400000"/>
            <a:ext cx="324000" cy="540000"/>
          </a:xfrm>
          <a:solidFill>
            <a:srgbClr val="FFF0E8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82" h="95">
                <a:moveTo>
                  <a:pt x="50" y="95"/>
                </a:moveTo>
                <a:cubicBezTo>
                  <a:pt x="25" y="68"/>
                  <a:pt x="6" y="38"/>
                  <a:pt x="18" y="14"/>
                </a:cubicBezTo>
                <a:cubicBezTo>
                  <a:pt x="27" y="2"/>
                  <a:pt x="42" y="0"/>
                  <a:pt x="50" y="0"/>
                </a:cubicBezTo>
                <a:cubicBezTo>
                  <a:pt x="58" y="0"/>
                  <a:pt x="73" y="2"/>
                  <a:pt x="82" y="14"/>
                </a:cubicBezTo>
                <a:cubicBezTo>
                  <a:pt x="94" y="38"/>
                  <a:pt x="75" y="68"/>
                  <a:pt x="50" y="95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!!hero-img"/>
          <p:cNvSpPr/>
          <p:nvPr/>
        </p:nvSpPr>
        <p:spPr>
          <a:xfrm>
            <a:off x="6120000" y="1080000"/>
            <a:ext cx="3960000" cy="4680000"/>
          </a:xfrm>
          <a:prstGeom prst="ellipse">
            <a:avLst/>
          </a:prstGeom>
          <a:solidFill>
            <a:srgbClr val="C86830"/>
          </a:solidFill>
          <a:ln>
            <a:noFill/>
          </a:ln>
        </p:spPr>
        <p:txBody>
          <a:bodyPr anchor="b"/>
          <a:lstStyle/>
          <a:p>
            <a:pPr algn="ctr"/>
            <a:r>
              <a:rPr lang="en-US" sz="800">
                <a:solidFill>
                  <a:srgbClr val="F5DDA0"/>
                </a:solidFill>
              </a:rPr>
              <a:t>[food photo]</a:t>
            </a:r>
          </a:p>
        </p:txBody>
      </p:sp>
      <p:sp>
        <p:nvSpPr>
          <p:cNvPr id="15" name="TextBox 15"/>
          <p:cNvSpPr/>
          <p:nvPr/>
        </p:nvSpPr>
        <p:spPr>
          <a:xfrm>
            <a:off x="1980000" y="900000"/>
            <a:ext cx="180000" cy="180000"/>
          </a:xfrm>
          <a:solidFill>
            <a:srgbClr val="F5DDA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5760000" y="5220000"/>
            <a:ext cx="162000" cy="162000"/>
          </a:xfrm>
          <a:solidFill>
            <a:srgbClr val="1E4D38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cubicBezTo>
                  <a:pt x="52" y="24"/>
                  <a:pt x="76" y="48"/>
                  <a:pt x="100" y="50"/>
                </a:cubicBezTo>
                <a:cubicBezTo>
                  <a:pt x="76" y="52"/>
                  <a:pt x="52" y="76"/>
                  <a:pt x="50" y="100"/>
                </a:cubicBezTo>
                <a:cubicBezTo>
                  <a:pt x="48" y="76"/>
                  <a:pt x="24" y="52"/>
                  <a:pt x="0" y="50"/>
                </a:cubicBezTo>
                <a:cubicBezTo>
                  <a:pt x="24" y="48"/>
                  <a:pt x="48" y="24"/>
                  <a:pt x="50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5580000" y="1080000"/>
            <a:ext cx="288000" cy="432000"/>
          </a:xfrm>
          <a:solidFill>
            <a:srgbClr val="D4EDE0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82" h="95">
                <a:moveTo>
                  <a:pt x="50" y="95"/>
                </a:moveTo>
                <a:cubicBezTo>
                  <a:pt x="25" y="68"/>
                  <a:pt x="6" y="38"/>
                  <a:pt x="18" y="14"/>
                </a:cubicBezTo>
                <a:cubicBezTo>
                  <a:pt x="27" y="2"/>
                  <a:pt x="42" y="0"/>
                  <a:pt x="50" y="0"/>
                </a:cubicBezTo>
                <a:cubicBezTo>
                  <a:pt x="58" y="0"/>
                  <a:pt x="73" y="2"/>
                  <a:pt x="82" y="14"/>
                </a:cubicBezTo>
                <a:cubicBezTo>
                  <a:pt x="94" y="38"/>
                  <a:pt x="75" y="68"/>
                  <a:pt x="50" y="95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1800000" y="1620000"/>
            <a:ext cx="4320000" cy="72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3400" b="1">
                <a:solidFill>
                  <a:srgbClr val="1E4D38"/>
                </a:solidFill>
              </a:rPr>
              <a:t>Taste the</a:t>
            </a:r>
          </a:p>
        </p:txBody>
      </p:sp>
      <p:sp>
        <p:nvSpPr>
          <p:cNvPr id="19" name="TextBox 19"/>
          <p:cNvSpPr/>
          <p:nvPr/>
        </p:nvSpPr>
        <p:spPr>
          <a:xfrm>
            <a:off x="1800000" y="2412000"/>
            <a:ext cx="4320000" cy="72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3400" b="1">
                <a:solidFill>
                  <a:srgbClr val="1E4D38"/>
                </a:solidFill>
              </a:rPr>
              <a:t>Difference</a:t>
            </a:r>
          </a:p>
        </p:txBody>
      </p:sp>
      <p:cxnSp>
        <p:nvCxnSpPr>
          <p:cNvPr id="22" name="!!title-accent"/>
          <p:cNvCxnSpPr/>
          <p:nvPr/>
        </p:nvCxnSpPr>
        <p:spPr>
          <a:xfrm>
            <a:off x="2000000" y="3000000"/>
            <a:ext cx="4000000" cy="0"/>
          </a:xfrm>
          <a:prstGeom prst="straightConnector1">
            <a:avLst/>
          </a:prstGeom>
          <a:ln w="12700">
            <a:solidFill>
              <a:srgbClr val="E8A838"/>
            </a:solidFill>
          </a:ln>
        </p:spPr>
      </p:cxnSp>
      <p:sp>
        <p:nvSpPr>
          <p:cNvPr id="23" name="TextBox 23"/>
          <p:cNvSpPr/>
          <p:nvPr/>
        </p:nvSpPr>
        <p:spPr>
          <a:xfrm>
            <a:off x="1800000" y="3384000"/>
            <a:ext cx="3960000" cy="72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900">
                <a:solidFill>
                  <a:srgbClr val="7A6040"/>
                </a:solidFill>
              </a:rPr>
              <a:t>Visit us at our downtown cafe or order online for same-day delivery.</a:t>
            </a:r>
          </a:p>
        </p:txBody>
      </p:sp>
      <p:sp>
        <p:nvSpPr>
          <p:cNvPr id="24" name="!!cta-btn"/>
          <p:cNvSpPr/>
          <p:nvPr/>
        </p:nvSpPr>
        <p:spPr>
          <a:xfrm>
            <a:off x="1800000" y="4320000"/>
            <a:ext cx="1980000" cy="468000"/>
          </a:xfrm>
          <a:prstGeom prst="roundRect">
            <a:avLst/>
          </a:prstGeom>
          <a:solidFill>
            <a:srgbClr val="1E4D3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950" b="1">
                <a:solidFill>
                  <a:srgbClr val="FFFFFF"/>
                </a:solidFill>
              </a:rPr>
              <a:t>Order Now &gt;</a:t>
            </a:r>
          </a:p>
        </p:txBody>
      </p:sp>
      <p:sp>
        <p:nvSpPr>
          <p:cNvPr id="25" name="TextBox 25"/>
          <p:cNvSpPr/>
          <p:nvPr/>
        </p:nvSpPr>
        <p:spPr>
          <a:xfrm>
            <a:off x="180000" y="100800"/>
            <a:ext cx="936000" cy="22320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750" b="1">
                <a:solidFill>
                  <a:srgbClr val="1E4D38"/>
                </a:solidFill>
              </a:rPr>
              <a:t>Sweet Bliss</a:t>
            </a:r>
          </a:p>
        </p:txBody>
      </p:sp>
      <p:sp>
        <p:nvSpPr>
          <p:cNvPr id="26" name="TextBox 26"/>
          <p:cNvSpPr/>
          <p:nvPr/>
        </p:nvSpPr>
        <p:spPr>
          <a:xfrm>
            <a:off x="2520000" y="108000"/>
            <a:ext cx="7920000" cy="216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800">
                <a:solidFill>
                  <a:srgbClr val="EAF4EE"/>
                </a:solidFill>
              </a:rPr>
              <a:t>Home   About Us   Project   Blog   Reservation</a:t>
            </a:r>
          </a:p>
        </p:txBody>
      </p:sp>
      <p:sp>
        <p:nvSpPr>
          <p:cNvPr id="27" name="TextBox 27"/>
          <p:cNvSpPr/>
          <p:nvPr/>
        </p:nvSpPr>
        <p:spPr>
          <a:xfrm>
            <a:off x="720000" y="5940000"/>
            <a:ext cx="5760000" cy="28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800">
                <a:solidFill>
                  <a:srgbClr val="EAF4EE"/>
                </a:solidFill>
              </a:rPr>
              <a:t>sweetbliss@example.com  |  +1 (555) 234-5678</a:t>
            </a:r>
          </a:p>
        </p:txBody>
      </p:sp>
      <p:sp>
        <p:nvSpPr>
          <p:cNvPr id="28" name="TextBox 28"/>
          <p:cNvSpPr/>
          <p:nvPr/>
        </p:nvSpPr>
        <p:spPr>
          <a:xfrm>
            <a:off x="6840000" y="5940000"/>
            <a:ext cx="5040000" cy="28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800">
                <a:solidFill>
                  <a:srgbClr val="EAF4EE"/>
                </a:solidFill>
              </a:rPr>
              <a:t>@sweetbliss  |  sweetbliss.com</a:t>
            </a:r>
          </a:p>
        </p:txBody>
      </p:sp>
      <p:cxnSp>
        <p:nvCxnSpPr>
          <p:cNvPr id="29" name="!!footer-line"/>
          <p:cNvCxnSpPr/>
          <p:nvPr/>
        </p:nvCxnSpPr>
        <p:spPr>
          <a:xfrm>
            <a:off x="2000000" y="3000000"/>
            <a:ext cx="4000000" cy="0"/>
          </a:xfrm>
          <a:prstGeom prst="straightConnector1">
            <a:avLst/>
          </a:prstGeom>
          <a:ln w="12700">
            <a:solidFill>
              <a:srgbClr val="1E4D38"/>
            </a:solidFill>
          </a:ln>
        </p:spPr>
      </p:cxnSp>
      <p:sp>
        <p:nvSpPr>
          <p:cNvPr id="30" name="TextBox 30"/>
          <p:cNvSpPr/>
          <p:nvPr/>
        </p:nvSpPr>
        <p:spPr>
          <a:xfrm>
            <a:off x="5580000" y="6408000"/>
            <a:ext cx="1080000" cy="18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700">
                <a:solidFill>
                  <a:srgbClr val="EAF4EE"/>
                </a:solidFill>
              </a:rPr>
              <a:t>8 / 8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