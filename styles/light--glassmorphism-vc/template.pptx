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81f960ac28144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5f50f506fc04c73"/>
    <p:sldId id="257" r:id="Raa20c9a816c0455b"/>
    <p:sldId id="258" r:id="R9c70a7bf46c9477f"/>
    <p:sldId id="259" r:id="Rfc52c5f4a6184ba0"/>
    <p:sldId id="260" r:id="Rc74a22ff10924d7c"/>
    <p:sldId id="261" r:id="R77940efb82aa471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5f50f506fc04c73" /><Relationship Type="http://schemas.openxmlformats.org/officeDocument/2006/relationships/slide" Target="/ppt/slides/slide2.xml" Id="Raa20c9a816c0455b" /><Relationship Type="http://schemas.openxmlformats.org/officeDocument/2006/relationships/slide" Target="/ppt/slides/slide3.xml" Id="R9c70a7bf46c9477f" /><Relationship Type="http://schemas.openxmlformats.org/officeDocument/2006/relationships/slide" Target="/ppt/slides/slide4.xml" Id="Rfc52c5f4a6184ba0" /><Relationship Type="http://schemas.openxmlformats.org/officeDocument/2006/relationships/slide" Target="/ppt/slides/slide5.xml" Id="Rc74a22ff10924d7c" /><Relationship Type="http://schemas.openxmlformats.org/officeDocument/2006/relationships/slide" Target="/ppt/slides/slide6.xml" Id="R77940efb82aa471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af13fd9df4e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98393d7c245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259b1b4dd4e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95f4227fd4ee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447b9fbfebf450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e476e37fc48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d37d81bc147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203e4491e4f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abd09768542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c60b1ad7144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31c5db63a4edf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C8E8FF"/>
            </a:gs>
            <a:gs pos="100000">
              <a:srgbClr val="A0D4F8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6120000" y="180000"/>
            <a:ext cx="6480000" cy="6480000"/>
          </a:xfrm>
          <a:prstGeom prst="ellipse">
            <a:avLst/>
          </a:prstGeom>
          <a:gradFill>
            <a:gsLst>
              <a:gs pos="0">
                <a:srgbClr val="C4B5FD">
                  <a:alpha val="70000"/>
                </a:srgbClr>
              </a:gs>
              <a:gs pos="100000">
                <a:srgbClr val="8B5CF6">
                  <a:alpha val="7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8820000" y="0"/>
            <a:ext cx="3960000" cy="3960000"/>
          </a:xfrm>
          <a:prstGeom prst="ellipse">
            <a:avLst/>
          </a:prstGeom>
          <a:gradFill>
            <a:gsLst>
              <a:gs pos="0">
                <a:srgbClr val="FED7AA">
                  <a:alpha val="65000"/>
                </a:srgbClr>
              </a:gs>
              <a:gs pos="100000">
                <a:srgbClr val="F97316">
                  <a:alpha val="6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120000" y="3600000"/>
            <a:ext cx="3600000" cy="3600000"/>
          </a:xfrm>
          <a:prstGeom prst="ellipse">
            <a:avLst/>
          </a:prstGeom>
          <a:gradFill>
            <a:gsLst>
              <a:gs pos="0">
                <a:srgbClr val="99F6E4">
                  <a:alpha val="60000"/>
                </a:srgbClr>
              </a:gs>
              <a:gs pos="100000">
                <a:srgbClr val="14B8A6">
                  <a:alpha val="6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260000" y="3780000"/>
            <a:ext cx="2520000" cy="2520000"/>
          </a:xfrm>
          <a:prstGeom prst="ellipse">
            <a:avLst/>
          </a:prstGeom>
          <a:gradFill>
            <a:gsLst>
              <a:gs pos="0">
                <a:srgbClr val="FEF08A">
                  <a:alpha val="55000"/>
                </a:srgbClr>
              </a:gs>
              <a:gs pos="100000">
                <a:srgbClr val="EAB308">
                  <a:alpha val="5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6120000" y="0"/>
            <a:ext cx="2160000" cy="2160000"/>
          </a:xfrm>
          <a:prstGeom prst="ellipse">
            <a:avLst/>
          </a:prstGeom>
          <a:gradFill>
            <a:gsLst>
              <a:gs pos="0">
                <a:srgbClr val="F9A8D4">
                  <a:alpha val="50000"/>
                </a:srgbClr>
              </a:gs>
              <a:gs pos="100000">
                <a:srgbClr val="EC4899">
                  <a:alpha val="5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180000" y="5220000"/>
            <a:ext cx="1800000" cy="1800000"/>
          </a:xfrm>
          <a:prstGeom prst="ellipse">
            <a:avLst/>
          </a:prstGeom>
          <a:gradFill>
            <a:gsLst>
              <a:gs pos="0">
                <a:srgbClr val="C4B5FD">
                  <a:alpha val="45000"/>
                </a:srgbClr>
              </a:gs>
              <a:gs pos="100000">
                <a:srgbClr val="8B5CF6">
                  <a:alpha val="4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orb-a"/>
          <p:cNvSpPr/>
          <p:nvPr/>
        </p:nvSpPr>
        <p:spPr>
          <a:xfrm>
            <a:off x="7200000" y="1260000"/>
            <a:ext cx="4320000" cy="4320000"/>
          </a:xfrm>
          <a:prstGeom prst="ellipse">
            <a:avLst/>
          </a:prstGeom>
          <a:gradFill>
            <a:gsLst>
              <a:gs pos="0">
                <a:srgbClr val="C4B5FD">
                  <a:alpha val="88000"/>
                </a:srgbClr>
              </a:gs>
              <a:gs pos="100000">
                <a:srgbClr val="8B5CF6">
                  <a:alpha val="88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glass"/>
          <p:cNvSpPr/>
          <p:nvPr/>
        </p:nvSpPr>
        <p:spPr>
          <a:xfrm>
            <a:off x="540000" y="720000"/>
            <a:ext cx="6840000" cy="5400000"/>
          </a:xfrm>
          <a:prstGeom prst="roundRect">
            <a:avLst/>
          </a:prstGeom>
          <a:solidFill>
            <a:srgbClr val="FFFF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720000"/>
            <a:ext cx="6840000" cy="5400000"/>
          </a:xfrm>
          <a:prstGeom prst="roundRect">
            <a:avLst/>
          </a:prstGeom>
          <a:solidFill>
            <a:srgbClr val="FFFFFF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900000" y="1008000"/>
            <a:ext cx="61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1B4B"/>
                </a:solidFill>
                <a:latin typeface="Segoe UI"/>
                <a:ea typeface="Segoe UI"/>
              </a:rPr>
              <a:t>HORIZON VENTURES</a:t>
            </a:r>
          </a:p>
        </p:txBody>
      </p:sp>
      <p:sp>
        <p:nvSpPr>
          <p:cNvPr id="12" name="TextBox 12"/>
          <p:cNvSpPr/>
          <p:nvPr/>
        </p:nvSpPr>
        <p:spPr>
          <a:xfrm>
            <a:off x="900000" y="1440000"/>
            <a:ext cx="1440000" cy="43200"/>
          </a:xfrm>
          <a:prstGeom prst="rect">
            <a:avLst/>
          </a:prstGeom>
          <a:solidFill>
            <a:srgbClr val="8B5CF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900000" y="1728000"/>
            <a:ext cx="612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E1B4B"/>
                </a:solidFill>
                <a:latin typeface="Segoe UI Black"/>
                <a:ea typeface="Segoe UI Black"/>
              </a:rPr>
              <a:t>HORIZON.</a:t>
            </a:r>
          </a:p>
        </p:txBody>
      </p:sp>
      <p:sp>
        <p:nvSpPr>
          <p:cNvPr id="14" name="TextBox 14"/>
          <p:cNvSpPr/>
          <p:nvPr/>
        </p:nvSpPr>
        <p:spPr>
          <a:xfrm>
            <a:off x="900000" y="4500000"/>
            <a:ext cx="61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B7280"/>
                </a:solidFill>
                <a:latin typeface="Segoe UI"/>
                <a:ea typeface="Segoe UI"/>
              </a:rPr>
              <a:t>Backing founders who build</a:t>
            </a:r>
          </a:p>
          <a:p>
            <a:r>
              <a:rPr lang="en-US" sz="1400">
                <a:solidFill>
                  <a:srgbClr val="6B7280"/>
                </a:solidFill>
                <a:latin typeface="Segoe UI"/>
                <a:ea typeface="Segoe UI"/>
              </a:rPr>
              <a:t>the infrastructure of tomorrow.</a:t>
            </a:r>
          </a:p>
        </p:txBody>
      </p:sp>
      <p:sp>
        <p:nvSpPr>
          <p:cNvPr id="15" name="TextBox 15"/>
          <p:cNvSpPr/>
          <p:nvPr/>
        </p:nvSpPr>
        <p:spPr>
          <a:xfrm>
            <a:off x="900000" y="5580000"/>
            <a:ext cx="61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7280"/>
                </a:solidFill>
                <a:latin typeface="Segoe UI"/>
                <a:ea typeface="Segoe UI"/>
              </a:rPr>
              <a:t>Seed &amp; Series A  ·  $180M AUM  ·  Est. 2018</a:t>
            </a:r>
          </a:p>
        </p:txBody>
      </p:sp>
      <p:sp>
        <p:nvSpPr>
          <p:cNvPr id="16" name="TextBox 16"/>
          <p:cNvSpPr/>
          <p:nvPr/>
        </p:nvSpPr>
        <p:spPr>
          <a:xfrm>
            <a:off x="10080000" y="6408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1E1B4B"/>
                </a:solidFill>
                <a:latin typeface="Segoe UI"/>
                <a:ea typeface="Segoe UI"/>
              </a:rPr>
              <a:t>horizon.vc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C8E8FF"/>
            </a:gs>
            <a:gs pos="100000">
              <a:srgbClr val="A0D4F8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280000" y="0"/>
            <a:ext cx="5040000" cy="5040000"/>
          </a:xfrm>
          <a:prstGeom prst="ellipse">
            <a:avLst/>
          </a:prstGeom>
          <a:gradFill>
            <a:gsLst>
              <a:gs pos="0">
                <a:srgbClr val="99F6E4">
                  <a:alpha val="60000"/>
                </a:srgbClr>
              </a:gs>
              <a:gs pos="100000">
                <a:srgbClr val="14B8A6">
                  <a:alpha val="6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560000" y="3600000"/>
            <a:ext cx="3600000" cy="3600000"/>
          </a:xfrm>
          <a:prstGeom prst="ellipse">
            <a:avLst/>
          </a:prstGeom>
          <a:gradFill>
            <a:gsLst>
              <a:gs pos="0">
                <a:srgbClr val="FED7AA">
                  <a:alpha val="55000"/>
                </a:srgbClr>
              </a:gs>
              <a:gs pos="100000">
                <a:srgbClr val="F97316">
                  <a:alpha val="5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260000" y="3060000"/>
            <a:ext cx="2520000" cy="2520000"/>
          </a:xfrm>
          <a:prstGeom prst="ellipse">
            <a:avLst/>
          </a:prstGeom>
          <a:gradFill>
            <a:gsLst>
              <a:gs pos="0">
                <a:srgbClr val="FEF08A">
                  <a:alpha val="50000"/>
                </a:srgbClr>
              </a:gs>
              <a:gs pos="100000">
                <a:srgbClr val="EAB308">
                  <a:alpha val="5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6120000" y="0"/>
            <a:ext cx="2160000" cy="2160000"/>
          </a:xfrm>
          <a:prstGeom prst="ellipse">
            <a:avLst/>
          </a:prstGeom>
          <a:gradFill>
            <a:gsLst>
              <a:gs pos="0">
                <a:srgbClr val="C4B5FD">
                  <a:alpha val="45000"/>
                </a:srgbClr>
              </a:gs>
              <a:gs pos="100000">
                <a:srgbClr val="8B5CF6">
                  <a:alpha val="4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orb-a"/>
          <p:cNvSpPr/>
          <p:nvPr/>
        </p:nvSpPr>
        <p:spPr>
          <a:xfrm>
            <a:off x="9000000" y="0"/>
            <a:ext cx="3600000" cy="3600000"/>
          </a:xfrm>
          <a:prstGeom prst="ellipse">
            <a:avLst/>
          </a:prstGeom>
          <a:gradFill>
            <a:gsLst>
              <a:gs pos="0">
                <a:srgbClr val="99F6E4">
                  <a:alpha val="85000"/>
                </a:srgbClr>
              </a:gs>
              <a:gs pos="100000">
                <a:srgbClr val="14B8A6">
                  <a:alpha val="8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glass"/>
          <p:cNvSpPr/>
          <p:nvPr/>
        </p:nvSpPr>
        <p:spPr>
          <a:xfrm>
            <a:off x="540000" y="540000"/>
            <a:ext cx="5400000" cy="5760000"/>
          </a:xfrm>
          <a:prstGeom prst="roundRect">
            <a:avLst/>
          </a:prstGeom>
          <a:solidFill>
            <a:srgbClr val="FFFF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" y="540000"/>
            <a:ext cx="5400000" cy="5760000"/>
          </a:xfrm>
          <a:prstGeom prst="roundRect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900000" y="792000"/>
            <a:ext cx="46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1B4B"/>
                </a:solidFill>
                <a:latin typeface="Segoe UI"/>
                <a:ea typeface="Segoe UI"/>
              </a:rPr>
              <a:t>INVESTMENT THESIS</a:t>
            </a:r>
          </a:p>
        </p:txBody>
      </p:sp>
      <p:sp>
        <p:nvSpPr>
          <p:cNvPr id="10" name="TextBox 10"/>
          <p:cNvSpPr/>
          <p:nvPr/>
        </p:nvSpPr>
        <p:spPr>
          <a:xfrm>
            <a:off x="900000" y="1224000"/>
            <a:ext cx="1260000" cy="43200"/>
          </a:xfrm>
          <a:prstGeom prst="rect">
            <a:avLst/>
          </a:prstGeom>
          <a:solidFill>
            <a:srgbClr val="14B8A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900000" y="1440000"/>
            <a:ext cx="468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000" b="1">
                <a:solidFill>
                  <a:srgbClr val="1E1B4B"/>
                </a:solidFill>
                <a:latin typeface="Segoe UI Black"/>
                <a:ea typeface="Segoe UI Black"/>
              </a:rPr>
              <a:t>Where we</a:t>
            </a:r>
          </a:p>
          <a:p>
            <a:r>
              <a:rPr lang="en-US" sz="3000" b="1">
                <a:solidFill>
                  <a:srgbClr val="1E1B4B"/>
                </a:solidFill>
                <a:latin typeface="Segoe UI Black"/>
                <a:ea typeface="Segoe UI Black"/>
              </a:rPr>
              <a:t>build conviction.</a:t>
            </a:r>
          </a:p>
        </p:txBody>
      </p:sp>
      <p:sp>
        <p:nvSpPr>
          <p:cNvPr id="12" name="TextBox 12"/>
          <p:cNvSpPr/>
          <p:nvPr/>
        </p:nvSpPr>
        <p:spPr>
          <a:xfrm>
            <a:off x="900000" y="3060000"/>
            <a:ext cx="46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B7280"/>
                </a:solidFill>
                <a:latin typeface="Segoe UI"/>
                <a:ea typeface="Segoe UI"/>
              </a:rPr>
              <a:t>We invest at the intersection</a:t>
            </a:r>
          </a:p>
          <a:p>
            <a:r>
              <a:rPr lang="en-US" sz="1200">
                <a:solidFill>
                  <a:srgbClr val="6B7280"/>
                </a:solidFill>
                <a:latin typeface="Segoe UI"/>
                <a:ea typeface="Segoe UI"/>
              </a:rPr>
              <a:t>of infrastructure, AI, and</a:t>
            </a:r>
          </a:p>
          <a:p>
            <a:r>
              <a:rPr lang="en-US" sz="1200">
                <a:solidFill>
                  <a:srgbClr val="6B7280"/>
                </a:solidFill>
                <a:latin typeface="Segoe UI"/>
                <a:ea typeface="Segoe UI"/>
              </a:rPr>
              <a:t>human-centred systems.</a:t>
            </a:r>
          </a:p>
        </p:txBody>
      </p:sp>
      <p:sp>
        <p:nvSpPr>
          <p:cNvPr id="13" name="TextBox 13"/>
          <p:cNvSpPr/>
          <p:nvPr/>
        </p:nvSpPr>
        <p:spPr>
          <a:xfrm>
            <a:off x="900000" y="4320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8B5CF6"/>
                </a:solidFill>
                <a:latin typeface="Segoe UI Black"/>
                <a:ea typeface="Segoe UI Black"/>
              </a:rPr>
              <a:t>Cheque size: $500K – $3M</a:t>
            </a:r>
          </a:p>
        </p:txBody>
      </p:sp>
      <p:sp>
        <p:nvSpPr>
          <p:cNvPr id="14" name="TextBox 14"/>
          <p:cNvSpPr/>
          <p:nvPr/>
        </p:nvSpPr>
        <p:spPr>
          <a:xfrm>
            <a:off x="900000" y="4752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7280"/>
                </a:solidFill>
                <a:latin typeface="Segoe UI"/>
                <a:ea typeface="Segoe UI"/>
              </a:rPr>
              <a:t>First-round reserve: 3× follow-on</a:t>
            </a:r>
          </a:p>
        </p:txBody>
      </p:sp>
      <p:sp>
        <p:nvSpPr>
          <p:cNvPr id="15" name="TextBox 15"/>
          <p:cNvSpPr/>
          <p:nvPr/>
        </p:nvSpPr>
        <p:spPr>
          <a:xfrm>
            <a:off x="900000" y="5184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6B7280"/>
                </a:solidFill>
                <a:latin typeface="Segoe UI"/>
                <a:ea typeface="Segoe UI"/>
              </a:rPr>
              <a:t>Average holding: 7 years</a:t>
            </a:r>
          </a:p>
        </p:txBody>
      </p:sp>
      <p:sp>
        <p:nvSpPr>
          <p:cNvPr id="16" name="TextBox 16"/>
          <p:cNvSpPr/>
          <p:nvPr/>
        </p:nvSpPr>
        <p:spPr>
          <a:xfrm>
            <a:off x="6480000" y="900000"/>
            <a:ext cx="54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1B4B"/>
                </a:solidFill>
                <a:latin typeface="Segoe UI"/>
                <a:ea typeface="Segoe UI"/>
              </a:rPr>
              <a:t>FOCUS SECTORS</a:t>
            </a:r>
          </a:p>
        </p:txBody>
      </p:sp>
      <p:sp>
        <p:nvSpPr>
          <p:cNvPr id="17" name="TextBox 17"/>
          <p:cNvSpPr/>
          <p:nvPr/>
        </p:nvSpPr>
        <p:spPr>
          <a:xfrm>
            <a:off x="6480000" y="1440000"/>
            <a:ext cx="5220000" cy="720000"/>
          </a:xfrm>
          <a:prstGeom prst="roundRect">
            <a:avLst/>
          </a:prstGeom>
          <a:solidFill>
            <a:srgbClr val="8B5CF6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660000" y="1440000"/>
            <a:ext cx="4860000" cy="72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AI Infrastructure</a:t>
            </a:r>
          </a:p>
        </p:txBody>
      </p:sp>
      <p:sp>
        <p:nvSpPr>
          <p:cNvPr id="19" name="TextBox 19"/>
          <p:cNvSpPr/>
          <p:nvPr/>
        </p:nvSpPr>
        <p:spPr>
          <a:xfrm>
            <a:off x="6480000" y="2448000"/>
            <a:ext cx="5220000" cy="720000"/>
          </a:xfrm>
          <a:prstGeom prst="roundRect">
            <a:avLst/>
          </a:prstGeom>
          <a:solidFill>
            <a:srgbClr val="14B8A6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6660000" y="2448000"/>
            <a:ext cx="4860000" cy="72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Climate Tech</a:t>
            </a:r>
          </a:p>
        </p:txBody>
      </p:sp>
      <p:sp>
        <p:nvSpPr>
          <p:cNvPr id="21" name="TextBox 21"/>
          <p:cNvSpPr/>
          <p:nvPr/>
        </p:nvSpPr>
        <p:spPr>
          <a:xfrm>
            <a:off x="6480000" y="3456000"/>
            <a:ext cx="5220000" cy="720000"/>
          </a:xfrm>
          <a:prstGeom prst="roundRect">
            <a:avLst/>
          </a:prstGeom>
          <a:solidFill>
            <a:srgbClr val="F97316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6660000" y="3456000"/>
            <a:ext cx="4860000" cy="72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Developer Tools</a:t>
            </a:r>
          </a:p>
        </p:txBody>
      </p:sp>
      <p:sp>
        <p:nvSpPr>
          <p:cNvPr id="23" name="TextBox 23"/>
          <p:cNvSpPr/>
          <p:nvPr/>
        </p:nvSpPr>
        <p:spPr>
          <a:xfrm>
            <a:off x="6480000" y="4464000"/>
            <a:ext cx="5220000" cy="720000"/>
          </a:xfrm>
          <a:prstGeom prst="roundRect">
            <a:avLst/>
          </a:prstGeom>
          <a:solidFill>
            <a:srgbClr val="EAB308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6660000" y="4464000"/>
            <a:ext cx="4860000" cy="72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200" b="1">
                <a:solidFill>
                  <a:srgbClr val="1E1B4B"/>
                </a:solidFill>
                <a:latin typeface="Segoe UI Black"/>
                <a:ea typeface="Segoe UI Black"/>
              </a:rPr>
              <a:t>Health Data</a:t>
            </a:r>
          </a:p>
        </p:txBody>
      </p:sp>
      <p:sp>
        <p:nvSpPr>
          <p:cNvPr id="25" name="TextBox 25"/>
          <p:cNvSpPr/>
          <p:nvPr/>
        </p:nvSpPr>
        <p:spPr>
          <a:xfrm>
            <a:off x="6480000" y="5472000"/>
            <a:ext cx="5220000" cy="720000"/>
          </a:xfrm>
          <a:prstGeom prst="roundRect">
            <a:avLst/>
          </a:prstGeom>
          <a:solidFill>
            <a:srgbClr val="EC4899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6660000" y="5472000"/>
            <a:ext cx="4860000" cy="72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Future of Work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C8E8FF"/>
            </a:gs>
            <a:gs pos="100000">
              <a:srgbClr val="A0D4F8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7560000" y="2880000"/>
            <a:ext cx="5040000" cy="5040000"/>
          </a:xfrm>
          <a:prstGeom prst="ellipse">
            <a:avLst/>
          </a:prstGeom>
          <a:gradFill>
            <a:gsLst>
              <a:gs pos="0">
                <a:srgbClr val="FED7AA">
                  <a:alpha val="65000"/>
                </a:srgbClr>
              </a:gs>
              <a:gs pos="100000">
                <a:srgbClr val="F97316">
                  <a:alpha val="6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020000" y="4500000"/>
            <a:ext cx="3240000" cy="3240000"/>
          </a:xfrm>
          <a:prstGeom prst="ellipse">
            <a:avLst/>
          </a:prstGeom>
          <a:gradFill>
            <a:gsLst>
              <a:gs pos="0">
                <a:srgbClr val="C4B5FD">
                  <a:alpha val="55000"/>
                </a:srgbClr>
              </a:gs>
              <a:gs pos="100000">
                <a:srgbClr val="8B5CF6">
                  <a:alpha val="5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080000" y="2160000"/>
            <a:ext cx="2880000" cy="2880000"/>
          </a:xfrm>
          <a:prstGeom prst="ellipse">
            <a:avLst/>
          </a:prstGeom>
          <a:gradFill>
            <a:gsLst>
              <a:gs pos="0">
                <a:srgbClr val="99F6E4">
                  <a:alpha val="50000"/>
                </a:srgbClr>
              </a:gs>
              <a:gs pos="100000">
                <a:srgbClr val="14B8A6">
                  <a:alpha val="5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720000" y="1080000"/>
            <a:ext cx="2160000" cy="2160000"/>
          </a:xfrm>
          <a:prstGeom prst="ellipse">
            <a:avLst/>
          </a:prstGeom>
          <a:gradFill>
            <a:gsLst>
              <a:gs pos="0">
                <a:srgbClr val="FEF08A">
                  <a:alpha val="45000"/>
                </a:srgbClr>
              </a:gs>
              <a:gs pos="100000">
                <a:srgbClr val="EAB308">
                  <a:alpha val="4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orb-a"/>
          <p:cNvSpPr/>
          <p:nvPr/>
        </p:nvSpPr>
        <p:spPr>
          <a:xfrm>
            <a:off x="8280000" y="3600000"/>
            <a:ext cx="3600000" cy="3600000"/>
          </a:xfrm>
          <a:prstGeom prst="ellipse">
            <a:avLst/>
          </a:prstGeom>
          <a:gradFill>
            <a:gsLst>
              <a:gs pos="0">
                <a:srgbClr val="FED7AA">
                  <a:alpha val="85000"/>
                </a:srgbClr>
              </a:gs>
              <a:gs pos="100000">
                <a:srgbClr val="F97316">
                  <a:alpha val="8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glass"/>
          <p:cNvSpPr/>
          <p:nvPr/>
        </p:nvSpPr>
        <p:spPr>
          <a:xfrm>
            <a:off x="540000" y="540000"/>
            <a:ext cx="7920000" cy="5760000"/>
          </a:xfrm>
          <a:prstGeom prst="roundRect">
            <a:avLst/>
          </a:prstGeom>
          <a:solidFill>
            <a:srgbClr val="FFFF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40000" y="540000"/>
            <a:ext cx="7920000" cy="5760000"/>
          </a:xfrm>
          <a:prstGeom prst="roundRect">
            <a:avLst/>
          </a:prstGeom>
          <a:solidFill>
            <a:srgbClr val="FFFFFF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900000" y="792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1B4B"/>
                </a:solidFill>
                <a:latin typeface="Segoe UI"/>
                <a:ea typeface="Segoe UI"/>
              </a:rPr>
              <a:t>PORTFOLIO</a:t>
            </a:r>
          </a:p>
        </p:txBody>
      </p:sp>
      <p:sp>
        <p:nvSpPr>
          <p:cNvPr id="10" name="TextBox 10"/>
          <p:cNvSpPr/>
          <p:nvPr/>
        </p:nvSpPr>
        <p:spPr>
          <a:xfrm>
            <a:off x="900000" y="1224000"/>
            <a:ext cx="1260000" cy="432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900000" y="1440000"/>
            <a:ext cx="72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800" b="1">
                <a:solidFill>
                  <a:srgbClr val="1E1B4B"/>
                </a:solidFill>
                <a:latin typeface="Segoe UI Black"/>
                <a:ea typeface="Segoe UI Black"/>
              </a:rPr>
              <a:t>23 companies.</a:t>
            </a:r>
          </a:p>
          <a:p>
            <a:r>
              <a:rPr lang="en-US" sz="3800" b="1">
                <a:solidFill>
                  <a:srgbClr val="1E1B4B"/>
                </a:solidFill>
                <a:latin typeface="Segoe UI Black"/>
                <a:ea typeface="Segoe UI Black"/>
              </a:rPr>
              <a:t>4 exits.</a:t>
            </a:r>
          </a:p>
        </p:txBody>
      </p:sp>
      <p:sp>
        <p:nvSpPr>
          <p:cNvPr id="12" name="TextBox 12"/>
          <p:cNvSpPr/>
          <p:nvPr/>
        </p:nvSpPr>
        <p:spPr>
          <a:xfrm>
            <a:off x="900000" y="3240000"/>
            <a:ext cx="32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E1B4B"/>
                </a:solidFill>
                <a:latin typeface="Segoe UI Black"/>
                <a:ea typeface="Segoe UI Black"/>
              </a:rPr>
              <a:t>Archon AI</a:t>
            </a:r>
          </a:p>
        </p:txBody>
      </p:sp>
      <p:sp>
        <p:nvSpPr>
          <p:cNvPr id="13" name="TextBox 13"/>
          <p:cNvSpPr/>
          <p:nvPr/>
        </p:nvSpPr>
        <p:spPr>
          <a:xfrm>
            <a:off x="900000" y="3672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B7280"/>
                </a:solidFill>
                <a:latin typeface="Segoe UI"/>
                <a:ea typeface="Segoe UI"/>
              </a:rPr>
              <a:t>AI Infrastructure · Series B</a:t>
            </a:r>
          </a:p>
        </p:txBody>
      </p:sp>
      <p:sp>
        <p:nvSpPr>
          <p:cNvPr id="14" name="TextBox 14"/>
          <p:cNvSpPr/>
          <p:nvPr/>
        </p:nvSpPr>
        <p:spPr>
          <a:xfrm>
            <a:off x="4680000" y="3240000"/>
            <a:ext cx="1440000" cy="432000"/>
          </a:xfrm>
          <a:prstGeom prst="roundRect">
            <a:avLst/>
          </a:prstGeom>
          <a:solidFill>
            <a:srgbClr val="8B5CF6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4680000" y="3240000"/>
            <a:ext cx="1440000" cy="432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 Black"/>
                <a:ea typeface="Segoe UI Black"/>
              </a:rPr>
              <a:t>$48M raised</a:t>
            </a:r>
          </a:p>
        </p:txBody>
      </p:sp>
      <p:sp>
        <p:nvSpPr>
          <p:cNvPr id="16" name="TextBox 16"/>
          <p:cNvSpPr/>
          <p:nvPr/>
        </p:nvSpPr>
        <p:spPr>
          <a:xfrm>
            <a:off x="900000" y="4104000"/>
            <a:ext cx="6840000" cy="180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900000" y="4320000"/>
            <a:ext cx="32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E1B4B"/>
                </a:solidFill>
                <a:latin typeface="Segoe UI Black"/>
                <a:ea typeface="Segoe UI Black"/>
              </a:rPr>
              <a:t>Lumen Health</a:t>
            </a:r>
          </a:p>
        </p:txBody>
      </p:sp>
      <p:sp>
        <p:nvSpPr>
          <p:cNvPr id="18" name="TextBox 18"/>
          <p:cNvSpPr/>
          <p:nvPr/>
        </p:nvSpPr>
        <p:spPr>
          <a:xfrm>
            <a:off x="900000" y="4752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B7280"/>
                </a:solidFill>
                <a:latin typeface="Segoe UI"/>
                <a:ea typeface="Segoe UI"/>
              </a:rPr>
              <a:t>Health Data · Seed</a:t>
            </a:r>
          </a:p>
        </p:txBody>
      </p:sp>
      <p:sp>
        <p:nvSpPr>
          <p:cNvPr id="19" name="TextBox 19"/>
          <p:cNvSpPr/>
          <p:nvPr/>
        </p:nvSpPr>
        <p:spPr>
          <a:xfrm>
            <a:off x="4680000" y="4320000"/>
            <a:ext cx="1440000" cy="432000"/>
          </a:xfrm>
          <a:prstGeom prst="roundRect">
            <a:avLst/>
          </a:prstGeom>
          <a:solidFill>
            <a:srgbClr val="14B8A6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4680000" y="4320000"/>
            <a:ext cx="1440000" cy="432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 Black"/>
                <a:ea typeface="Segoe UI Black"/>
              </a:rPr>
              <a:t>$3.2M raised</a:t>
            </a:r>
          </a:p>
        </p:txBody>
      </p:sp>
      <p:sp>
        <p:nvSpPr>
          <p:cNvPr id="21" name="TextBox 21"/>
          <p:cNvSpPr/>
          <p:nvPr/>
        </p:nvSpPr>
        <p:spPr>
          <a:xfrm>
            <a:off x="900000" y="5184000"/>
            <a:ext cx="6840000" cy="180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900000" y="5400000"/>
            <a:ext cx="32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E1B4B"/>
                </a:solidFill>
                <a:latin typeface="Segoe UI Black"/>
                <a:ea typeface="Segoe UI Black"/>
              </a:rPr>
              <a:t>Gridline</a:t>
            </a:r>
          </a:p>
        </p:txBody>
      </p:sp>
      <p:sp>
        <p:nvSpPr>
          <p:cNvPr id="23" name="TextBox 23"/>
          <p:cNvSpPr/>
          <p:nvPr/>
        </p:nvSpPr>
        <p:spPr>
          <a:xfrm>
            <a:off x="900000" y="5832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B7280"/>
                </a:solidFill>
                <a:latin typeface="Segoe UI"/>
                <a:ea typeface="Segoe UI"/>
              </a:rPr>
              <a:t>Climate Tech · Series A</a:t>
            </a:r>
          </a:p>
        </p:txBody>
      </p:sp>
      <p:sp>
        <p:nvSpPr>
          <p:cNvPr id="24" name="TextBox 24"/>
          <p:cNvSpPr/>
          <p:nvPr/>
        </p:nvSpPr>
        <p:spPr>
          <a:xfrm>
            <a:off x="4680000" y="5400000"/>
            <a:ext cx="1440000" cy="432000"/>
          </a:xfrm>
          <a:prstGeom prst="roundRect">
            <a:avLst/>
          </a:prstGeom>
          <a:solidFill>
            <a:srgbClr val="F97316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4680000" y="5400000"/>
            <a:ext cx="1440000" cy="432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Segoe UI Black"/>
                <a:ea typeface="Segoe UI Black"/>
              </a:rPr>
              <a:t>$22M raised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C8E8FF"/>
            </a:gs>
            <a:gs pos="100000">
              <a:srgbClr val="A0D4F8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6300000" y="4575600"/>
            <a:ext cx="900000" cy="1616400"/>
          </a:xfrm>
          <a:prstGeom prst="roundRect">
            <a:avLst/>
          </a:prstGeom>
          <a:gradFill>
            <a:gsLst>
              <a:gs pos="0">
                <a:srgbClr val="8B5CF6">
                  <a:alpha val="85000"/>
                </a:srgbClr>
              </a:gs>
              <a:gs pos="100000">
                <a:srgbClr val="1E1B4B">
                  <a:alpha val="85000"/>
                </a:srgbClr>
              </a:gs>
            </a:gsLst>
            <a:lin ang="108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300000" y="6264000"/>
            <a:ext cx="9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1E1B4B"/>
                </a:solidFill>
                <a:latin typeface="Segoe UI"/>
                <a:ea typeface="Segoe UI"/>
              </a:rPr>
              <a:t>Archon</a:t>
            </a:r>
          </a:p>
        </p:txBody>
      </p:sp>
      <p:sp>
        <p:nvSpPr>
          <p:cNvPr id="4" name="TextBox 4"/>
          <p:cNvSpPr/>
          <p:nvPr/>
        </p:nvSpPr>
        <p:spPr>
          <a:xfrm>
            <a:off x="7416000" y="5234400"/>
            <a:ext cx="900000" cy="957600"/>
          </a:xfrm>
          <a:prstGeom prst="roundRect">
            <a:avLst/>
          </a:prstGeom>
          <a:gradFill>
            <a:gsLst>
              <a:gs pos="0">
                <a:srgbClr val="14B8A6">
                  <a:alpha val="85000"/>
                </a:srgbClr>
              </a:gs>
              <a:gs pos="100000">
                <a:srgbClr val="1E1B4B">
                  <a:alpha val="85000"/>
                </a:srgbClr>
              </a:gs>
            </a:gsLst>
            <a:lin ang="108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416000" y="6264000"/>
            <a:ext cx="9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1E1B4B"/>
                </a:solidFill>
                <a:latin typeface="Segoe UI"/>
                <a:ea typeface="Segoe UI"/>
              </a:rPr>
              <a:t>Lumen</a:t>
            </a:r>
          </a:p>
        </p:txBody>
      </p:sp>
      <p:sp>
        <p:nvSpPr>
          <p:cNvPr id="6" name="TextBox 6"/>
          <p:cNvSpPr/>
          <p:nvPr/>
        </p:nvSpPr>
        <p:spPr>
          <a:xfrm>
            <a:off x="8532000" y="3672000"/>
            <a:ext cx="900000" cy="2520000"/>
          </a:xfrm>
          <a:prstGeom prst="roundRect">
            <a:avLst/>
          </a:prstGeom>
          <a:gradFill>
            <a:gsLst>
              <a:gs pos="0">
                <a:srgbClr val="F97316">
                  <a:alpha val="85000"/>
                </a:srgbClr>
              </a:gs>
              <a:gs pos="100000">
                <a:srgbClr val="1E1B4B">
                  <a:alpha val="85000"/>
                </a:srgbClr>
              </a:gs>
            </a:gsLst>
            <a:lin ang="108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8532000" y="6264000"/>
            <a:ext cx="9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1E1B4B"/>
                </a:solidFill>
                <a:latin typeface="Segoe UI"/>
                <a:ea typeface="Segoe UI"/>
              </a:rPr>
              <a:t>Grid</a:t>
            </a:r>
          </a:p>
        </p:txBody>
      </p:sp>
      <p:sp>
        <p:nvSpPr>
          <p:cNvPr id="8" name="TextBox 8"/>
          <p:cNvSpPr/>
          <p:nvPr/>
        </p:nvSpPr>
        <p:spPr>
          <a:xfrm>
            <a:off x="9648000" y="5472000"/>
            <a:ext cx="900000" cy="720000"/>
          </a:xfrm>
          <a:prstGeom prst="roundRect">
            <a:avLst/>
          </a:prstGeom>
          <a:gradFill>
            <a:gsLst>
              <a:gs pos="0">
                <a:srgbClr val="EAB308">
                  <a:alpha val="85000"/>
                </a:srgbClr>
              </a:gs>
              <a:gs pos="100000">
                <a:srgbClr val="1E1B4B">
                  <a:alpha val="85000"/>
                </a:srgbClr>
              </a:gs>
            </a:gsLst>
            <a:lin ang="108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9648000" y="6264000"/>
            <a:ext cx="9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1E1B4B"/>
                </a:solidFill>
                <a:latin typeface="Segoe UI"/>
                <a:ea typeface="Segoe UI"/>
              </a:rPr>
              <a:t>Flux</a:t>
            </a:r>
          </a:p>
        </p:txBody>
      </p:sp>
      <p:sp>
        <p:nvSpPr>
          <p:cNvPr id="10" name="TextBox 10"/>
          <p:cNvSpPr/>
          <p:nvPr/>
        </p:nvSpPr>
        <p:spPr>
          <a:xfrm>
            <a:off x="10764000" y="4255200"/>
            <a:ext cx="900000" cy="1936800"/>
          </a:xfrm>
          <a:prstGeom prst="roundRect">
            <a:avLst/>
          </a:prstGeom>
          <a:gradFill>
            <a:gsLst>
              <a:gs pos="0">
                <a:srgbClr val="EC4899">
                  <a:alpha val="85000"/>
                </a:srgbClr>
              </a:gs>
              <a:gs pos="100000">
                <a:srgbClr val="1E1B4B">
                  <a:alpha val="85000"/>
                </a:srgbClr>
              </a:gs>
            </a:gsLst>
            <a:lin ang="108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0764000" y="6264000"/>
            <a:ext cx="90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1E1B4B"/>
                </a:solidFill>
                <a:latin typeface="Segoe UI"/>
                <a:ea typeface="Segoe UI"/>
              </a:rPr>
              <a:t>Nova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0"/>
            <a:ext cx="4320000" cy="4320000"/>
          </a:xfrm>
          <a:prstGeom prst="ellipse">
            <a:avLst/>
          </a:prstGeom>
          <a:gradFill>
            <a:gsLst>
              <a:gs pos="0">
                <a:srgbClr val="FEF08A">
                  <a:alpha val="55000"/>
                </a:srgbClr>
              </a:gs>
              <a:gs pos="100000">
                <a:srgbClr val="EAB308">
                  <a:alpha val="5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0" y="3420000"/>
            <a:ext cx="3240000" cy="3240000"/>
          </a:xfrm>
          <a:prstGeom prst="ellipse">
            <a:avLst/>
          </a:prstGeom>
          <a:gradFill>
            <a:gsLst>
              <a:gs pos="0">
                <a:srgbClr val="99F6E4">
                  <a:alpha val="50000"/>
                </a:srgbClr>
              </a:gs>
              <a:gs pos="100000">
                <a:srgbClr val="14B8A6">
                  <a:alpha val="5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3060000" y="4860000"/>
            <a:ext cx="2520000" cy="2520000"/>
          </a:xfrm>
          <a:prstGeom prst="ellipse">
            <a:avLst/>
          </a:prstGeom>
          <a:gradFill>
            <a:gsLst>
              <a:gs pos="0">
                <a:srgbClr val="FED7AA">
                  <a:alpha val="45000"/>
                </a:srgbClr>
              </a:gs>
              <a:gs pos="100000">
                <a:srgbClr val="F97316">
                  <a:alpha val="4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orb-a"/>
          <p:cNvSpPr/>
          <p:nvPr/>
        </p:nvSpPr>
        <p:spPr>
          <a:xfrm>
            <a:off x="1260000" y="0"/>
            <a:ext cx="3240000" cy="3240000"/>
          </a:xfrm>
          <a:prstGeom prst="ellipse">
            <a:avLst/>
          </a:prstGeom>
          <a:gradFill>
            <a:gsLst>
              <a:gs pos="0">
                <a:srgbClr val="FEF08A">
                  <a:alpha val="82000"/>
                </a:srgbClr>
              </a:gs>
              <a:gs pos="100000">
                <a:srgbClr val="EAB308">
                  <a:alpha val="82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glass"/>
          <p:cNvSpPr/>
          <p:nvPr/>
        </p:nvSpPr>
        <p:spPr>
          <a:xfrm>
            <a:off x="5580000" y="540000"/>
            <a:ext cx="6480000" cy="6120000"/>
          </a:xfrm>
          <a:prstGeom prst="roundRect">
            <a:avLst/>
          </a:prstGeom>
          <a:solidFill>
            <a:srgbClr val="FFFF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580000" y="540000"/>
            <a:ext cx="6480000" cy="6120000"/>
          </a:xfrm>
          <a:prstGeom prst="roundRect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5940000" y="792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1B4B"/>
                </a:solidFill>
                <a:latin typeface="Segoe UI"/>
                <a:ea typeface="Segoe UI"/>
              </a:rPr>
              <a:t>FUND PERFORMANCE</a:t>
            </a:r>
          </a:p>
        </p:txBody>
      </p:sp>
      <p:sp>
        <p:nvSpPr>
          <p:cNvPr id="19" name="TextBox 19"/>
          <p:cNvSpPr/>
          <p:nvPr/>
        </p:nvSpPr>
        <p:spPr>
          <a:xfrm>
            <a:off x="5940000" y="1224000"/>
            <a:ext cx="1260000" cy="43200"/>
          </a:xfrm>
          <a:prstGeom prst="rect">
            <a:avLst/>
          </a:prstGeom>
          <a:solidFill>
            <a:srgbClr val="EAB30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5940000" y="1440000"/>
            <a:ext cx="57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E1B4B"/>
                </a:solidFill>
                <a:latin typeface="Segoe UI Black"/>
                <a:ea typeface="Segoe UI Black"/>
              </a:rPr>
              <a:t>Markups by</a:t>
            </a:r>
          </a:p>
          <a:p>
            <a:r>
              <a:rPr lang="en-US" sz="2200" b="1">
                <a:solidFill>
                  <a:srgbClr val="1E1B4B"/>
                </a:solidFill>
                <a:latin typeface="Segoe UI Black"/>
                <a:ea typeface="Segoe UI Black"/>
              </a:rPr>
              <a:t>portfolio company.</a:t>
            </a:r>
          </a:p>
        </p:txBody>
      </p:sp>
      <p:sp>
        <p:nvSpPr>
          <p:cNvPr id="21" name="TextBox 21"/>
          <p:cNvSpPr/>
          <p:nvPr/>
        </p:nvSpPr>
        <p:spPr>
          <a:xfrm>
            <a:off x="5940000" y="270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B7280"/>
                </a:solidFill>
                <a:latin typeface="Segoe UI"/>
                <a:ea typeface="Segoe UI"/>
              </a:rPr>
              <a:t>x = current markup vs entry</a:t>
            </a:r>
          </a:p>
        </p:txBody>
      </p:sp>
      <p:sp>
        <p:nvSpPr>
          <p:cNvPr id="22" name="TextBox 22"/>
          <p:cNvSpPr/>
          <p:nvPr/>
        </p:nvSpPr>
        <p:spPr>
          <a:xfrm>
            <a:off x="8100000" y="3312000"/>
            <a:ext cx="18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97316"/>
                </a:solidFill>
                <a:latin typeface="Segoe UI Black"/>
                <a:ea typeface="Segoe UI Black"/>
              </a:rPr>
              <a:t>2.34×</a:t>
            </a:r>
          </a:p>
        </p:txBody>
      </p:sp>
      <p:sp>
        <p:nvSpPr>
          <p:cNvPr id="23" name="TextBox 23"/>
          <p:cNvSpPr/>
          <p:nvPr/>
        </p:nvSpPr>
        <p:spPr>
          <a:xfrm>
            <a:off x="8100000" y="3744000"/>
            <a:ext cx="18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B7280"/>
                </a:solidFill>
                <a:latin typeface="Segoe UI"/>
                <a:ea typeface="Segoe UI"/>
              </a:rPr>
              <a:t>Top performer</a:t>
            </a:r>
          </a:p>
        </p:txBody>
      </p:sp>
      <p:sp>
        <p:nvSpPr>
          <p:cNvPr id="24" name="TextBox 24"/>
          <p:cNvSpPr/>
          <p:nvPr/>
        </p:nvSpPr>
        <p:spPr>
          <a:xfrm>
            <a:off x="540000" y="720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1B4B"/>
                </a:solidFill>
                <a:latin typeface="Segoe UI"/>
                <a:ea typeface="Segoe UI"/>
              </a:rPr>
              <a:t>FUND METRICS</a:t>
            </a:r>
          </a:p>
        </p:txBody>
      </p:sp>
      <p:sp>
        <p:nvSpPr>
          <p:cNvPr id="25" name="TextBox 25"/>
          <p:cNvSpPr/>
          <p:nvPr/>
        </p:nvSpPr>
        <p:spPr>
          <a:xfrm>
            <a:off x="540000" y="1152000"/>
            <a:ext cx="4320000" cy="28800"/>
          </a:xfrm>
          <a:prstGeom prst="rect">
            <a:avLst/>
          </a:prstGeom>
          <a:solidFill>
            <a:srgbClr val="1E1B4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540000" y="1440000"/>
            <a:ext cx="432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8B5CF6"/>
                </a:solidFill>
                <a:latin typeface="Segoe UI Black"/>
                <a:ea typeface="Segoe UI Black"/>
              </a:rPr>
              <a:t>1.6×</a:t>
            </a:r>
          </a:p>
        </p:txBody>
      </p:sp>
      <p:sp>
        <p:nvSpPr>
          <p:cNvPr id="27" name="TextBox 27"/>
          <p:cNvSpPr/>
          <p:nvPr/>
        </p:nvSpPr>
        <p:spPr>
          <a:xfrm>
            <a:off x="540000" y="2592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B7280"/>
                </a:solidFill>
                <a:latin typeface="Segoe UI"/>
                <a:ea typeface="Segoe UI"/>
              </a:rPr>
              <a:t>TVPI (Total Value Paid-In)</a:t>
            </a:r>
          </a:p>
        </p:txBody>
      </p:sp>
      <p:sp>
        <p:nvSpPr>
          <p:cNvPr id="28" name="TextBox 28"/>
          <p:cNvSpPr/>
          <p:nvPr/>
        </p:nvSpPr>
        <p:spPr>
          <a:xfrm>
            <a:off x="540000" y="3240000"/>
            <a:ext cx="43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14B8A6"/>
                </a:solidFill>
                <a:latin typeface="Segoe UI Black"/>
                <a:ea typeface="Segoe UI Black"/>
              </a:rPr>
              <a:t>0.3×</a:t>
            </a:r>
          </a:p>
        </p:txBody>
      </p:sp>
      <p:sp>
        <p:nvSpPr>
          <p:cNvPr id="29" name="TextBox 29"/>
          <p:cNvSpPr/>
          <p:nvPr/>
        </p:nvSpPr>
        <p:spPr>
          <a:xfrm>
            <a:off x="540000" y="4212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B7280"/>
                </a:solidFill>
                <a:latin typeface="Segoe UI"/>
                <a:ea typeface="Segoe UI"/>
              </a:rPr>
              <a:t>DPI (Distributions Paid-In)</a:t>
            </a:r>
          </a:p>
        </p:txBody>
      </p:sp>
      <p:sp>
        <p:nvSpPr>
          <p:cNvPr id="30" name="TextBox 30"/>
          <p:cNvSpPr/>
          <p:nvPr/>
        </p:nvSpPr>
        <p:spPr>
          <a:xfrm>
            <a:off x="540000" y="4860000"/>
            <a:ext cx="43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F97316"/>
                </a:solidFill>
                <a:latin typeface="Segoe UI Black"/>
                <a:ea typeface="Segoe UI Black"/>
              </a:rPr>
              <a:t>2.1×</a:t>
            </a:r>
          </a:p>
        </p:txBody>
      </p:sp>
      <p:sp>
        <p:nvSpPr>
          <p:cNvPr id="31" name="TextBox 31"/>
          <p:cNvSpPr/>
          <p:nvPr/>
        </p:nvSpPr>
        <p:spPr>
          <a:xfrm>
            <a:off x="540000" y="5832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6B7280"/>
                </a:solidFill>
                <a:latin typeface="Segoe UI"/>
                <a:ea typeface="Segoe UI"/>
              </a:rPr>
              <a:t>RVPI (Residual Value)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C8E8FF"/>
            </a:gs>
            <a:gs pos="100000">
              <a:srgbClr val="A0D4F8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0"/>
            <a:ext cx="2880000" cy="2880000"/>
          </a:xfrm>
          <a:prstGeom prst="ellipse">
            <a:avLst/>
          </a:prstGeom>
          <a:gradFill>
            <a:gsLst>
              <a:gs pos="0">
                <a:srgbClr val="F9A8D4">
                  <a:alpha val="55000"/>
                </a:srgbClr>
              </a:gs>
              <a:gs pos="100000">
                <a:srgbClr val="EC4899">
                  <a:alpha val="5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8820000" y="3420000"/>
            <a:ext cx="3960000" cy="3960000"/>
          </a:xfrm>
          <a:prstGeom prst="ellipse">
            <a:avLst/>
          </a:prstGeom>
          <a:gradFill>
            <a:gsLst>
              <a:gs pos="0">
                <a:srgbClr val="99F6E4">
                  <a:alpha val="55000"/>
                </a:srgbClr>
              </a:gs>
              <a:gs pos="100000">
                <a:srgbClr val="14B8A6">
                  <a:alpha val="5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8640000" y="0"/>
            <a:ext cx="2880000" cy="2880000"/>
          </a:xfrm>
          <a:prstGeom prst="ellipse">
            <a:avLst/>
          </a:prstGeom>
          <a:gradFill>
            <a:gsLst>
              <a:gs pos="0">
                <a:srgbClr val="C4B5FD">
                  <a:alpha val="50000"/>
                </a:srgbClr>
              </a:gs>
              <a:gs pos="100000">
                <a:srgbClr val="8B5CF6">
                  <a:alpha val="5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orb-a"/>
          <p:cNvSpPr/>
          <p:nvPr/>
        </p:nvSpPr>
        <p:spPr>
          <a:xfrm>
            <a:off x="9360000" y="3960000"/>
            <a:ext cx="2880000" cy="2880000"/>
          </a:xfrm>
          <a:prstGeom prst="ellipse">
            <a:avLst/>
          </a:prstGeom>
          <a:gradFill>
            <a:gsLst>
              <a:gs pos="0">
                <a:srgbClr val="99F6E4">
                  <a:alpha val="82000"/>
                </a:srgbClr>
              </a:gs>
              <a:gs pos="100000">
                <a:srgbClr val="14B8A6">
                  <a:alpha val="82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glass"/>
          <p:cNvSpPr/>
          <p:nvPr/>
        </p:nvSpPr>
        <p:spPr>
          <a:xfrm>
            <a:off x="720000" y="720000"/>
            <a:ext cx="10800000" cy="5400000"/>
          </a:xfrm>
          <a:prstGeom prst="roundRect">
            <a:avLst/>
          </a:prstGeom>
          <a:solidFill>
            <a:srgbClr val="FFFF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720000"/>
            <a:ext cx="10800000" cy="5400000"/>
          </a:xfrm>
          <a:prstGeom prst="roundRect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080000" y="1008000"/>
            <a:ext cx="100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1B4B"/>
                </a:solidFill>
                <a:latin typeface="Segoe UI"/>
                <a:ea typeface="Segoe UI"/>
              </a:rPr>
              <a:t>THE TEAM</a:t>
            </a:r>
          </a:p>
        </p:txBody>
      </p:sp>
      <p:sp>
        <p:nvSpPr>
          <p:cNvPr id="9" name="TextBox 9"/>
          <p:cNvSpPr/>
          <p:nvPr/>
        </p:nvSpPr>
        <p:spPr>
          <a:xfrm>
            <a:off x="1080000" y="1440000"/>
            <a:ext cx="1260000" cy="432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" y="1728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1E1B4B"/>
                </a:solidFill>
                <a:latin typeface="Segoe UI Black"/>
                <a:ea typeface="Segoe UI Black"/>
              </a:rPr>
              <a:t>The partners.</a:t>
            </a:r>
          </a:p>
        </p:txBody>
      </p:sp>
      <p:sp>
        <p:nvSpPr>
          <p:cNvPr id="11" name="TextBox 11"/>
          <p:cNvSpPr/>
          <p:nvPr/>
        </p:nvSpPr>
        <p:spPr>
          <a:xfrm>
            <a:off x="1080000" y="2880000"/>
            <a:ext cx="2880000" cy="2880000"/>
          </a:xfrm>
          <a:prstGeom prst="roundRect">
            <a:avLst/>
          </a:prstGeom>
          <a:solidFill>
            <a:srgbClr val="8B5CF6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260000" y="3060000"/>
            <a:ext cx="25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Mia Chen</a:t>
            </a:r>
          </a:p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Managing Partner</a:t>
            </a:r>
          </a:p>
        </p:txBody>
      </p:sp>
      <p:sp>
        <p:nvSpPr>
          <p:cNvPr id="13" name="TextBox 13"/>
          <p:cNvSpPr/>
          <p:nvPr/>
        </p:nvSpPr>
        <p:spPr>
          <a:xfrm>
            <a:off x="1260000" y="4140000"/>
            <a:ext cx="25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Ex-Google Ventures.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12 years in deep tech.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Former founder × 2.</a:t>
            </a:r>
          </a:p>
        </p:txBody>
      </p:sp>
      <p:sp>
        <p:nvSpPr>
          <p:cNvPr id="14" name="TextBox 14"/>
          <p:cNvSpPr/>
          <p:nvPr/>
        </p:nvSpPr>
        <p:spPr>
          <a:xfrm>
            <a:off x="4500000" y="2880000"/>
            <a:ext cx="2880000" cy="2880000"/>
          </a:xfrm>
          <a:prstGeom prst="roundRect">
            <a:avLst/>
          </a:prstGeom>
          <a:solidFill>
            <a:srgbClr val="14B8A6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4680000" y="3060000"/>
            <a:ext cx="25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Jordan Ali</a:t>
            </a:r>
          </a:p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General Partner</a:t>
            </a:r>
          </a:p>
        </p:txBody>
      </p:sp>
      <p:sp>
        <p:nvSpPr>
          <p:cNvPr id="16" name="TextBox 16"/>
          <p:cNvSpPr/>
          <p:nvPr/>
        </p:nvSpPr>
        <p:spPr>
          <a:xfrm>
            <a:off x="4680000" y="4140000"/>
            <a:ext cx="25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Ex-Sequoia Capital.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CFO background.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Operator-first mindset.</a:t>
            </a:r>
          </a:p>
        </p:txBody>
      </p:sp>
      <p:sp>
        <p:nvSpPr>
          <p:cNvPr id="17" name="TextBox 17"/>
          <p:cNvSpPr/>
          <p:nvPr/>
        </p:nvSpPr>
        <p:spPr>
          <a:xfrm>
            <a:off x="7920000" y="2880000"/>
            <a:ext cx="2880000" cy="2880000"/>
          </a:xfrm>
          <a:prstGeom prst="roundRect">
            <a:avLst/>
          </a:prstGeom>
          <a:solidFill>
            <a:srgbClr val="F97316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8100000" y="3060000"/>
            <a:ext cx="25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Sam Reeves</a:t>
            </a:r>
          </a:p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Venture Partner</a:t>
            </a:r>
          </a:p>
        </p:txBody>
      </p:sp>
      <p:sp>
        <p:nvSpPr>
          <p:cNvPr id="19" name="TextBox 19"/>
          <p:cNvSpPr/>
          <p:nvPr/>
        </p:nvSpPr>
        <p:spPr>
          <a:xfrm>
            <a:off x="8100000" y="4140000"/>
            <a:ext cx="25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Serial founder.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3 exits above $100M.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Advisor to 20+ startups.</a:t>
            </a:r>
          </a:p>
        </p:txBody>
      </p:sp>
      <p:sp>
        <p:nvSpPr>
          <p:cNvPr id="20" name="TextBox 20"/>
          <p:cNvSpPr/>
          <p:nvPr/>
        </p:nvSpPr>
        <p:spPr>
          <a:xfrm>
            <a:off x="10080000" y="63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1E1B4B"/>
                </a:solidFill>
                <a:latin typeface="Segoe UI"/>
                <a:ea typeface="Segoe UI"/>
              </a:rPr>
              <a:t>horizon.vc/team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C8E8FF"/>
            </a:gs>
            <a:gs pos="100000">
              <a:srgbClr val="A0D4F8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5760000" y="0"/>
            <a:ext cx="7200000" cy="7200000"/>
          </a:xfrm>
          <a:prstGeom prst="ellipse">
            <a:avLst/>
          </a:prstGeom>
          <a:gradFill>
            <a:gsLst>
              <a:gs pos="0">
                <a:srgbClr val="C4B5FD">
                  <a:alpha val="65000"/>
                </a:srgbClr>
              </a:gs>
              <a:gs pos="100000">
                <a:srgbClr val="8B5CF6">
                  <a:alpha val="6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000000" y="0"/>
            <a:ext cx="4320000" cy="4320000"/>
          </a:xfrm>
          <a:prstGeom prst="ellipse">
            <a:avLst/>
          </a:prstGeom>
          <a:gradFill>
            <a:gsLst>
              <a:gs pos="0">
                <a:srgbClr val="FED7AA">
                  <a:alpha val="60000"/>
                </a:srgbClr>
              </a:gs>
              <a:gs pos="100000">
                <a:srgbClr val="F97316">
                  <a:alpha val="6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5940000" y="3780000"/>
            <a:ext cx="3960000" cy="3960000"/>
          </a:xfrm>
          <a:prstGeom prst="ellipse">
            <a:avLst/>
          </a:prstGeom>
          <a:gradFill>
            <a:gsLst>
              <a:gs pos="0">
                <a:srgbClr val="99F6E4">
                  <a:alpha val="55000"/>
                </a:srgbClr>
              </a:gs>
              <a:gs pos="100000">
                <a:srgbClr val="14B8A6">
                  <a:alpha val="5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080000" y="4320000"/>
            <a:ext cx="2880000" cy="2880000"/>
          </a:xfrm>
          <a:prstGeom prst="ellipse">
            <a:avLst/>
          </a:prstGeom>
          <a:gradFill>
            <a:gsLst>
              <a:gs pos="0">
                <a:srgbClr val="FEF08A">
                  <a:alpha val="50000"/>
                </a:srgbClr>
              </a:gs>
              <a:gs pos="100000">
                <a:srgbClr val="EAB308">
                  <a:alpha val="50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5940000" y="180000"/>
            <a:ext cx="2520000" cy="2520000"/>
          </a:xfrm>
          <a:prstGeom prst="ellipse">
            <a:avLst/>
          </a:prstGeom>
          <a:gradFill>
            <a:gsLst>
              <a:gs pos="0">
                <a:srgbClr val="F9A8D4">
                  <a:alpha val="48000"/>
                </a:srgbClr>
              </a:gs>
              <a:gs pos="100000">
                <a:srgbClr val="EC4899">
                  <a:alpha val="48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9540000" y="3420000"/>
            <a:ext cx="1800000" cy="1800000"/>
          </a:xfrm>
          <a:prstGeom prst="ellipse">
            <a:avLst/>
          </a:prstGeom>
          <a:gradFill>
            <a:gsLst>
              <a:gs pos="0">
                <a:srgbClr val="C4B5FD">
                  <a:alpha val="45000"/>
                </a:srgbClr>
              </a:gs>
              <a:gs pos="100000">
                <a:srgbClr val="8B5CF6">
                  <a:alpha val="4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orb-a"/>
          <p:cNvSpPr/>
          <p:nvPr/>
        </p:nvSpPr>
        <p:spPr>
          <a:xfrm>
            <a:off x="6840000" y="900000"/>
            <a:ext cx="5040000" cy="5040000"/>
          </a:xfrm>
          <a:prstGeom prst="ellipse">
            <a:avLst/>
          </a:prstGeom>
          <a:gradFill>
            <a:gsLst>
              <a:gs pos="0">
                <a:srgbClr val="C4B5FD">
                  <a:alpha val="88000"/>
                </a:srgbClr>
              </a:gs>
              <a:gs pos="100000">
                <a:srgbClr val="8B5CF6">
                  <a:alpha val="88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glass"/>
          <p:cNvSpPr/>
          <p:nvPr/>
        </p:nvSpPr>
        <p:spPr>
          <a:xfrm>
            <a:off x="540000" y="720000"/>
            <a:ext cx="7560000" cy="5400000"/>
          </a:xfrm>
          <a:prstGeom prst="roundRect">
            <a:avLst/>
          </a:prstGeom>
          <a:solidFill>
            <a:srgbClr val="FFFF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720000"/>
            <a:ext cx="7560000" cy="5400000"/>
          </a:xfrm>
          <a:prstGeom prst="roundRect">
            <a:avLst/>
          </a:prstGeom>
          <a:solidFill>
            <a:srgbClr val="FFFFFF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900000" y="1008000"/>
            <a:ext cx="68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1E1B4B"/>
                </a:solidFill>
                <a:latin typeface="Segoe UI"/>
                <a:ea typeface="Segoe UI"/>
              </a:rPr>
              <a:t>WORK WITH US</a:t>
            </a:r>
          </a:p>
        </p:txBody>
      </p:sp>
      <p:sp>
        <p:nvSpPr>
          <p:cNvPr id="12" name="TextBox 12"/>
          <p:cNvSpPr/>
          <p:nvPr/>
        </p:nvSpPr>
        <p:spPr>
          <a:xfrm>
            <a:off x="900000" y="1440000"/>
            <a:ext cx="1440000" cy="43200"/>
          </a:xfrm>
          <a:prstGeom prst="rect">
            <a:avLst/>
          </a:prstGeom>
          <a:solidFill>
            <a:srgbClr val="8B5CF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900000" y="1728000"/>
            <a:ext cx="684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1E1B4B"/>
                </a:solidFill>
                <a:latin typeface="Segoe UI Black"/>
                <a:ea typeface="Segoe UI Black"/>
              </a:rPr>
              <a:t>Let's build</a:t>
            </a:r>
          </a:p>
          <a:p>
            <a:r>
              <a:rPr lang="en-US" sz="4400" b="1">
                <a:solidFill>
                  <a:srgbClr val="1E1B4B"/>
                </a:solidFill>
                <a:latin typeface="Segoe UI Black"/>
                <a:ea typeface="Segoe UI Black"/>
              </a:rPr>
              <a:t>the future</a:t>
            </a:r>
          </a:p>
          <a:p>
            <a:r>
              <a:rPr lang="en-US" sz="4400" b="1">
                <a:solidFill>
                  <a:srgbClr val="1E1B4B"/>
                </a:solidFill>
                <a:latin typeface="Segoe UI Black"/>
                <a:ea typeface="Segoe UI Black"/>
              </a:rPr>
              <a:t>together.</a:t>
            </a:r>
          </a:p>
        </p:txBody>
      </p:sp>
      <p:sp>
        <p:nvSpPr>
          <p:cNvPr id="14" name="TextBox 14"/>
          <p:cNvSpPr/>
          <p:nvPr/>
        </p:nvSpPr>
        <p:spPr>
          <a:xfrm>
            <a:off x="900000" y="5040000"/>
            <a:ext cx="68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6B7280"/>
                </a:solidFill>
                <a:latin typeface="Segoe UI"/>
                <a:ea typeface="Segoe UI"/>
              </a:rPr>
              <a:t>We back founders at the earliest stage.</a:t>
            </a:r>
          </a:p>
          <a:p>
            <a:r>
              <a:rPr lang="en-US" sz="1300">
                <a:solidFill>
                  <a:srgbClr val="6B7280"/>
                </a:solidFill>
                <a:latin typeface="Segoe UI"/>
                <a:ea typeface="Segoe UI"/>
              </a:rPr>
              <a:t>Meeting-to-term-sheet in 2 weeks.</a:t>
            </a:r>
          </a:p>
        </p:txBody>
      </p:sp>
      <p:sp>
        <p:nvSpPr>
          <p:cNvPr id="15" name="TextBox 15"/>
          <p:cNvSpPr/>
          <p:nvPr/>
        </p:nvSpPr>
        <p:spPr>
          <a:xfrm>
            <a:off x="900000" y="5940000"/>
            <a:ext cx="4320000" cy="792000"/>
          </a:xfrm>
          <a:prstGeom prst="roundRect">
            <a:avLst/>
          </a:prstGeom>
          <a:solidFill>
            <a:srgbClr val="8B5CF6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900000" y="5940000"/>
            <a:ext cx="4320000" cy="792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Pitch to Us  →</a:t>
            </a:r>
          </a:p>
        </p:txBody>
      </p:sp>
      <p:sp>
        <p:nvSpPr>
          <p:cNvPr id="17" name="TextBox 17"/>
          <p:cNvSpPr/>
          <p:nvPr/>
        </p:nvSpPr>
        <p:spPr>
          <a:xfrm>
            <a:off x="900000" y="6804000"/>
            <a:ext cx="68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1E1B4B"/>
                </a:solidFill>
                <a:latin typeface="Segoe UI"/>
                <a:ea typeface="Segoe UI"/>
              </a:rPr>
              <a:t>founders@horizon.vc  ·  horizon.vc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