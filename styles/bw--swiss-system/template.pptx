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4b63a9f99824282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89175b0126f741a9"/>
    <p:sldId id="257" r:id="Rea58dd36e2644ba8"/>
    <p:sldId id="258" r:id="R468694c6aff24704"/>
    <p:sldId id="259" r:id="R7264c5dc75614905"/>
    <p:sldId id="260" r:id="R00bb6d6251e846a6"/>
    <p:sldId id="261" r:id="R6195d4308d3048cb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89175b0126f741a9" /><Relationship Type="http://schemas.openxmlformats.org/officeDocument/2006/relationships/slide" Target="/ppt/slides/slide2.xml" Id="Rea58dd36e2644ba8" /><Relationship Type="http://schemas.openxmlformats.org/officeDocument/2006/relationships/slide" Target="/ppt/slides/slide3.xml" Id="R468694c6aff24704" /><Relationship Type="http://schemas.openxmlformats.org/officeDocument/2006/relationships/slide" Target="/ppt/slides/slide4.xml" Id="R7264c5dc75614905" /><Relationship Type="http://schemas.openxmlformats.org/officeDocument/2006/relationships/slide" Target="/ppt/slides/slide5.xml" Id="R00bb6d6251e846a6" /><Relationship Type="http://schemas.openxmlformats.org/officeDocument/2006/relationships/slide" Target="/ppt/slides/slide6.xml" Id="R6195d4308d3048cb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87f1f692134b4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7cd22178ca4a0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fd65007eb8448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78268f0401448c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132e13c485a84df0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4bbf7396441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1db0bf06041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abff1a4a345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8a098979041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fb625eacd41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9709a248542b9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!!rule"/>
          <p:cNvSpPr/>
          <p:nvPr/>
        </p:nvSpPr>
        <p:spPr>
          <a:xfrm>
            <a:off x="0" y="3204000"/>
            <a:ext cx="12193200" cy="288000"/>
          </a:xfrm>
          <a:prstGeom prst="rect">
            <a:avLst/>
          </a:prstGeom>
          <a:solidFill>
            <a:srgbClr val="111111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720000" y="540000"/>
            <a:ext cx="10800000" cy="27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8000" b="1">
                <a:solidFill>
                  <a:srgbClr val="111111"/>
                </a:solidFill>
                <a:latin typeface="Segoe UI Black"/>
                <a:ea typeface="Segoe UI Black"/>
              </a:rPr>
              <a:t>MERIDIAN</a:t>
            </a:r>
          </a:p>
        </p:txBody>
      </p:sp>
      <p:sp>
        <p:nvSpPr>
          <p:cNvPr id="4" name="TextBox 4"/>
          <p:cNvSpPr/>
          <p:nvPr/>
        </p:nvSpPr>
        <p:spPr>
          <a:xfrm>
            <a:off x="720000" y="432000"/>
            <a:ext cx="216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E30613"/>
                </a:solidFill>
                <a:latin typeface="Segoe UI"/>
                <a:ea typeface="Segoe UI"/>
              </a:rPr>
              <a:t>01</a:t>
            </a:r>
          </a:p>
        </p:txBody>
      </p:sp>
      <p:sp>
        <p:nvSpPr>
          <p:cNvPr id="5" name="TextBox 5"/>
          <p:cNvSpPr/>
          <p:nvPr/>
        </p:nvSpPr>
        <p:spPr>
          <a:xfrm>
            <a:off x="720000" y="3708000"/>
            <a:ext cx="7200000" cy="18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>
                <a:solidFill>
                  <a:srgbClr val="FFFFFF"/>
                </a:solidFill>
                <a:latin typeface="Segoe UI Black"/>
                <a:ea typeface="Segoe UI Black"/>
              </a:rPr>
              <a:t>CONSULTING</a:t>
            </a:r>
          </a:p>
          <a:p>
            <a:r>
              <a:rPr lang="en-US" sz="3200">
                <a:solidFill>
                  <a:srgbClr val="FFFFFF"/>
                </a:solidFill>
                <a:latin typeface="Segoe UI Black"/>
                <a:ea typeface="Segoe UI Black"/>
              </a:rPr>
              <a:t>PARTNERS</a:t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5832000"/>
            <a:ext cx="720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CCCCCC"/>
                </a:solidFill>
                <a:latin typeface="Segoe UI"/>
                <a:ea typeface="Segoe UI"/>
              </a:rPr>
              <a:t>Strategy  /  Finance  /  Operations</a:t>
            </a:r>
          </a:p>
        </p:txBody>
      </p:sp>
      <p:sp>
        <p:nvSpPr>
          <p:cNvPr id="7" name="TextBox 7"/>
          <p:cNvSpPr/>
          <p:nvPr/>
        </p:nvSpPr>
        <p:spPr>
          <a:xfrm>
            <a:off x="7200000" y="6300000"/>
            <a:ext cx="5040000" cy="360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000">
                <a:solidFill>
                  <a:srgbClr val="CCCCCC"/>
                </a:solidFill>
                <a:latin typeface="Segoe UI"/>
                <a:ea typeface="Segoe UI"/>
              </a:rPr>
              <a:t>Est. 1998  ·  New York  ·  London  ·  Singapore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!!rule"/>
          <p:cNvSpPr/>
          <p:nvPr/>
        </p:nvSpPr>
        <p:spPr>
          <a:xfrm>
            <a:off x="0" y="0"/>
            <a:ext cx="12193200" cy="432000"/>
          </a:xfrm>
          <a:prstGeom prst="rect">
            <a:avLst/>
          </a:prstGeom>
          <a:solidFill>
            <a:srgbClr val="111111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720000" y="36000"/>
            <a:ext cx="79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FFFFFF"/>
                </a:solidFill>
                <a:latin typeface="Segoe UI"/>
                <a:ea typeface="Segoe UI"/>
              </a:rPr>
              <a:t>02  THE CHALLENGE</a:t>
            </a:r>
          </a:p>
        </p:txBody>
      </p:sp>
      <p:sp>
        <p:nvSpPr>
          <p:cNvPr id="4" name="TextBox 4"/>
          <p:cNvSpPr/>
          <p:nvPr/>
        </p:nvSpPr>
        <p:spPr>
          <a:xfrm>
            <a:off x="720000" y="900000"/>
            <a:ext cx="7920000" cy="46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>
                <a:solidFill>
                  <a:srgbClr val="111111"/>
                </a:solidFill>
                <a:latin typeface="Segoe UI Black"/>
                <a:ea typeface="Segoe UI Black"/>
              </a:rPr>
              <a:t>Most organisations</a:t>
            </a:r>
          </a:p>
          <a:p>
            <a:r>
              <a:rPr lang="en-US" sz="4400" b="1">
                <a:solidFill>
                  <a:srgbClr val="111111"/>
                </a:solidFill>
                <a:latin typeface="Segoe UI Black"/>
                <a:ea typeface="Segoe UI Black"/>
              </a:rPr>
              <a:t>know what they want.</a:t>
            </a:r>
          </a:p>
          <a:p>
            <a:r>
              <a:rPr lang="en-US" sz="4400" b="1">
                <a:solidFill>
                  <a:srgbClr val="111111"/>
                </a:solidFill>
                <a:latin typeface="Segoe UI Black"/>
                <a:ea typeface="Segoe UI Black"/>
              </a:rPr>
              <a:t>Few know how to</a:t>
            </a:r>
          </a:p>
          <a:p>
            <a:r>
              <a:rPr lang="en-US" sz="4400" b="1">
                <a:solidFill>
                  <a:srgbClr val="111111"/>
                </a:solidFill>
                <a:latin typeface="Segoe UI Black"/>
                <a:ea typeface="Segoe UI Black"/>
              </a:rPr>
              <a:t>get there.</a:t>
            </a:r>
          </a:p>
        </p:txBody>
      </p:sp>
      <p:sp>
        <p:nvSpPr>
          <p:cNvPr id="5" name="TextBox 5"/>
          <p:cNvSpPr/>
          <p:nvPr/>
        </p:nvSpPr>
        <p:spPr>
          <a:xfrm>
            <a:off x="720000" y="792000"/>
            <a:ext cx="1080000" cy="43200"/>
          </a:xfrm>
          <a:prstGeom prst="rect">
            <a:avLst/>
          </a:prstGeom>
          <a:solidFill>
            <a:srgbClr val="E30613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5580000"/>
            <a:ext cx="792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777777"/>
                </a:solidFill>
                <a:latin typeface="Segoe UI"/>
                <a:ea typeface="Segoe UI"/>
              </a:rPr>
              <a:t>The gap between intent and execution costs companies</a:t>
            </a:r>
          </a:p>
          <a:p>
            <a:r>
              <a:rPr lang="en-US" sz="1400">
                <a:solidFill>
                  <a:srgbClr val="777777"/>
                </a:solidFill>
                <a:latin typeface="Segoe UI"/>
                <a:ea typeface="Segoe UI"/>
              </a:rPr>
              <a:t>an average of 20% of annual revenue.</a:t>
            </a:r>
          </a:p>
        </p:txBody>
      </p:sp>
      <p:sp>
        <p:nvSpPr>
          <p:cNvPr id="7" name="TextBox 7"/>
          <p:cNvSpPr/>
          <p:nvPr/>
        </p:nvSpPr>
        <p:spPr>
          <a:xfrm>
            <a:off x="9360000" y="1800000"/>
            <a:ext cx="2520000" cy="25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7200" b="1">
                <a:solidFill>
                  <a:srgbClr val="E30613"/>
                </a:solidFill>
                <a:latin typeface="Segoe UI Black"/>
                <a:ea typeface="Segoe UI Black"/>
              </a:rPr>
              <a:t>20%</a:t>
            </a:r>
          </a:p>
        </p:txBody>
      </p:sp>
      <p:sp>
        <p:nvSpPr>
          <p:cNvPr id="8" name="TextBox 8"/>
          <p:cNvSpPr/>
          <p:nvPr/>
        </p:nvSpPr>
        <p:spPr>
          <a:xfrm>
            <a:off x="9360000" y="4320000"/>
            <a:ext cx="2520000" cy="21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777777"/>
                </a:solidFill>
                <a:latin typeface="Segoe UI"/>
                <a:ea typeface="Segoe UI"/>
              </a:rPr>
              <a:t>revenue</a:t>
            </a:r>
          </a:p>
          <a:p>
            <a:r>
              <a:rPr lang="en-US" sz="1300">
                <a:solidFill>
                  <a:srgbClr val="777777"/>
                </a:solidFill>
                <a:latin typeface="Segoe UI"/>
                <a:ea typeface="Segoe UI"/>
              </a:rPr>
              <a:t>lost to</a:t>
            </a:r>
          </a:p>
          <a:p>
            <a:r>
              <a:rPr lang="en-US" sz="1300">
                <a:solidFill>
                  <a:srgbClr val="777777"/>
                </a:solidFill>
                <a:latin typeface="Segoe UI"/>
                <a:ea typeface="Segoe UI"/>
              </a:rPr>
              <a:t>execution</a:t>
            </a:r>
          </a:p>
          <a:p>
            <a:r>
              <a:rPr lang="en-US" sz="1300">
                <a:solidFill>
                  <a:srgbClr val="777777"/>
                </a:solidFill>
                <a:latin typeface="Segoe UI"/>
                <a:ea typeface="Segoe UI"/>
              </a:rPr>
              <a:t>gaps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!!rule"/>
          <p:cNvSpPr/>
          <p:nvPr/>
        </p:nvSpPr>
        <p:spPr>
          <a:xfrm>
            <a:off x="0" y="6426000"/>
            <a:ext cx="12193200" cy="432000"/>
          </a:xfrm>
          <a:prstGeom prst="rect">
            <a:avLst/>
          </a:prstGeom>
          <a:solidFill>
            <a:srgbClr val="111111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720000" y="6462000"/>
            <a:ext cx="79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FFFFFF"/>
                </a:solidFill>
                <a:latin typeface="Segoe UI"/>
                <a:ea typeface="Segoe UI"/>
              </a:rPr>
              <a:t>03  THE SOLUTION</a:t>
            </a:r>
          </a:p>
        </p:txBody>
      </p:sp>
      <p:sp>
        <p:nvSpPr>
          <p:cNvPr id="4" name="TextBox 4"/>
          <p:cNvSpPr/>
          <p:nvPr/>
        </p:nvSpPr>
        <p:spPr>
          <a:xfrm>
            <a:off x="720000" y="540000"/>
            <a:ext cx="7920000" cy="28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111111"/>
                </a:solidFill>
                <a:latin typeface="Segoe UI Black"/>
                <a:ea typeface="Segoe UI Black"/>
              </a:rPr>
              <a:t>We close</a:t>
            </a:r>
          </a:p>
          <a:p>
            <a:r>
              <a:rPr lang="en-US" sz="6400" b="1">
                <a:solidFill>
                  <a:srgbClr val="111111"/>
                </a:solidFill>
                <a:latin typeface="Segoe UI Black"/>
                <a:ea typeface="Segoe UI Black"/>
              </a:rPr>
              <a:t>the gap.</a:t>
            </a:r>
          </a:p>
        </p:txBody>
      </p:sp>
      <p:sp>
        <p:nvSpPr>
          <p:cNvPr id="5" name="TextBox 5"/>
          <p:cNvSpPr/>
          <p:nvPr/>
        </p:nvSpPr>
        <p:spPr>
          <a:xfrm>
            <a:off x="720000" y="432000"/>
            <a:ext cx="1080000" cy="43200"/>
          </a:xfrm>
          <a:prstGeom prst="rect">
            <a:avLst/>
          </a:prstGeom>
          <a:solidFill>
            <a:srgbClr val="E30613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180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E30613"/>
                </a:solidFill>
                <a:latin typeface="Segoe UI"/>
                <a:ea typeface="Segoe UI"/>
              </a:rPr>
              <a:t>03</a:t>
            </a:r>
          </a:p>
        </p:txBody>
      </p:sp>
      <p:sp>
        <p:nvSpPr>
          <p:cNvPr id="7" name="TextBox 7"/>
          <p:cNvSpPr/>
          <p:nvPr/>
        </p:nvSpPr>
        <p:spPr>
          <a:xfrm>
            <a:off x="720000" y="3780000"/>
            <a:ext cx="3420000" cy="1980000"/>
          </a:xfrm>
          <a:prstGeom prst="rect">
            <a:avLst/>
          </a:prstGeom>
          <a:solidFill>
            <a:srgbClr val="CCCCC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900000" y="3960000"/>
            <a:ext cx="288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111111"/>
                </a:solidFill>
                <a:latin typeface="Segoe UI Black"/>
                <a:ea typeface="Segoe UI Black"/>
              </a:rPr>
              <a:t>DIAGNOSE</a:t>
            </a:r>
          </a:p>
        </p:txBody>
      </p:sp>
      <p:sp>
        <p:nvSpPr>
          <p:cNvPr id="9" name="TextBox 9"/>
          <p:cNvSpPr/>
          <p:nvPr/>
        </p:nvSpPr>
        <p:spPr>
          <a:xfrm>
            <a:off x="900000" y="4500000"/>
            <a:ext cx="306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777777"/>
                </a:solidFill>
                <a:latin typeface="Segoe UI"/>
                <a:ea typeface="Segoe UI"/>
              </a:rPr>
              <a:t>Identify root</a:t>
            </a:r>
          </a:p>
          <a:p>
            <a:r>
              <a:rPr lang="en-US" sz="1100">
                <a:solidFill>
                  <a:srgbClr val="777777"/>
                </a:solidFill>
                <a:latin typeface="Segoe UI"/>
                <a:ea typeface="Segoe UI"/>
              </a:rPr>
              <a:t>causes, not</a:t>
            </a:r>
          </a:p>
          <a:p>
            <a:r>
              <a:rPr lang="en-US" sz="1100">
                <a:solidFill>
                  <a:srgbClr val="777777"/>
                </a:solidFill>
                <a:latin typeface="Segoe UI"/>
                <a:ea typeface="Segoe UI"/>
              </a:rPr>
              <a:t>symptoms.</a:t>
            </a:r>
          </a:p>
        </p:txBody>
      </p:sp>
      <p:sp>
        <p:nvSpPr>
          <p:cNvPr id="10" name="TextBox 10"/>
          <p:cNvSpPr/>
          <p:nvPr/>
        </p:nvSpPr>
        <p:spPr>
          <a:xfrm>
            <a:off x="4392000" y="3780000"/>
            <a:ext cx="3420000" cy="1980000"/>
          </a:xfrm>
          <a:prstGeom prst="rect">
            <a:avLst/>
          </a:prstGeom>
          <a:solidFill>
            <a:srgbClr val="CCCCC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4572000" y="3960000"/>
            <a:ext cx="288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111111"/>
                </a:solidFill>
                <a:latin typeface="Segoe UI Black"/>
                <a:ea typeface="Segoe UI Black"/>
              </a:rPr>
              <a:t>DESIGN</a:t>
            </a:r>
          </a:p>
        </p:txBody>
      </p:sp>
      <p:sp>
        <p:nvSpPr>
          <p:cNvPr id="12" name="TextBox 12"/>
          <p:cNvSpPr/>
          <p:nvPr/>
        </p:nvSpPr>
        <p:spPr>
          <a:xfrm>
            <a:off x="4572000" y="4500000"/>
            <a:ext cx="306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777777"/>
                </a:solidFill>
                <a:latin typeface="Segoe UI"/>
                <a:ea typeface="Segoe UI"/>
              </a:rPr>
              <a:t>Architect the</a:t>
            </a:r>
          </a:p>
          <a:p>
            <a:r>
              <a:rPr lang="en-US" sz="1100">
                <a:solidFill>
                  <a:srgbClr val="777777"/>
                </a:solidFill>
                <a:latin typeface="Segoe UI"/>
                <a:ea typeface="Segoe UI"/>
              </a:rPr>
              <a:t>right path</a:t>
            </a:r>
          </a:p>
          <a:p>
            <a:r>
              <a:rPr lang="en-US" sz="1100">
                <a:solidFill>
                  <a:srgbClr val="777777"/>
                </a:solidFill>
                <a:latin typeface="Segoe UI"/>
                <a:ea typeface="Segoe UI"/>
              </a:rPr>
              <a:t>forward.</a:t>
            </a:r>
          </a:p>
        </p:txBody>
      </p:sp>
      <p:sp>
        <p:nvSpPr>
          <p:cNvPr id="13" name="TextBox 13"/>
          <p:cNvSpPr/>
          <p:nvPr/>
        </p:nvSpPr>
        <p:spPr>
          <a:xfrm>
            <a:off x="8064000" y="3780000"/>
            <a:ext cx="3420000" cy="1980000"/>
          </a:xfrm>
          <a:prstGeom prst="rect">
            <a:avLst/>
          </a:prstGeom>
          <a:solidFill>
            <a:srgbClr val="E30613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8244000" y="3960000"/>
            <a:ext cx="288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FFFFFF"/>
                </a:solidFill>
                <a:latin typeface="Segoe UI Black"/>
                <a:ea typeface="Segoe UI Black"/>
              </a:rPr>
              <a:t>DELIVER</a:t>
            </a:r>
          </a:p>
        </p:txBody>
      </p:sp>
      <p:sp>
        <p:nvSpPr>
          <p:cNvPr id="15" name="TextBox 15"/>
          <p:cNvSpPr/>
          <p:nvPr/>
        </p:nvSpPr>
        <p:spPr>
          <a:xfrm>
            <a:off x="8244000" y="4500000"/>
            <a:ext cx="306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Execute with</a:t>
            </a:r>
          </a:p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accountability</a:t>
            </a:r>
          </a:p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and speed.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!!rule"/>
          <p:cNvSpPr/>
          <p:nvPr/>
        </p:nvSpPr>
        <p:spPr>
          <a:xfrm>
            <a:off x="0" y="3247200"/>
            <a:ext cx="12193200" cy="21600"/>
          </a:xfrm>
          <a:prstGeom prst="rect">
            <a:avLst/>
          </a:prstGeom>
          <a:solidFill>
            <a:srgbClr val="111111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720000" y="540000"/>
            <a:ext cx="57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E30613"/>
                </a:solidFill>
                <a:latin typeface="Segoe UI"/>
                <a:ea typeface="Segoe UI"/>
              </a:rPr>
              <a:t>04  TRACK RECORD</a:t>
            </a:r>
          </a:p>
        </p:txBody>
      </p:sp>
      <p:sp>
        <p:nvSpPr>
          <p:cNvPr id="4" name="TextBox 4"/>
          <p:cNvSpPr/>
          <p:nvPr/>
        </p:nvSpPr>
        <p:spPr>
          <a:xfrm>
            <a:off x="720000" y="1008000"/>
            <a:ext cx="1080000" cy="43200"/>
          </a:xfrm>
          <a:prstGeom prst="rect">
            <a:avLst/>
          </a:prstGeom>
          <a:solidFill>
            <a:srgbClr val="E30613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720000" y="1152000"/>
            <a:ext cx="792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000" b="1">
                <a:solidFill>
                  <a:srgbClr val="111111"/>
                </a:solidFill>
                <a:latin typeface="Segoe UI Black"/>
                <a:ea typeface="Segoe UI Black"/>
              </a:rPr>
              <a:t>The Numbers</a:t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1980000"/>
            <a:ext cx="324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111111"/>
                </a:solidFill>
                <a:latin typeface="Segoe UI Black"/>
                <a:ea typeface="Segoe UI Black"/>
              </a:rPr>
              <a:t>214</a:t>
            </a:r>
          </a:p>
        </p:txBody>
      </p:sp>
      <p:sp>
        <p:nvSpPr>
          <p:cNvPr id="7" name="TextBox 7"/>
          <p:cNvSpPr/>
          <p:nvPr/>
        </p:nvSpPr>
        <p:spPr>
          <a:xfrm>
            <a:off x="720000" y="3240000"/>
            <a:ext cx="324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777777"/>
                </a:solidFill>
                <a:latin typeface="Segoe UI"/>
                <a:ea typeface="Segoe UI"/>
              </a:rPr>
              <a:t>engagements</a:t>
            </a:r>
          </a:p>
          <a:p>
            <a:r>
              <a:rPr lang="en-US" sz="1000">
                <a:solidFill>
                  <a:srgbClr val="777777"/>
                </a:solidFill>
                <a:latin typeface="Segoe UI"/>
                <a:ea typeface="Segoe UI"/>
              </a:rPr>
              <a:t>completed</a:t>
            </a:r>
          </a:p>
        </p:txBody>
      </p:sp>
      <p:sp>
        <p:nvSpPr>
          <p:cNvPr id="8" name="TextBox 8"/>
          <p:cNvSpPr/>
          <p:nvPr/>
        </p:nvSpPr>
        <p:spPr>
          <a:xfrm>
            <a:off x="4320000" y="1980000"/>
            <a:ext cx="324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E30613"/>
                </a:solidFill>
                <a:latin typeface="Segoe UI Black"/>
                <a:ea typeface="Segoe UI Black"/>
              </a:rPr>
              <a:t>$4.2B</a:t>
            </a:r>
          </a:p>
        </p:txBody>
      </p:sp>
      <p:sp>
        <p:nvSpPr>
          <p:cNvPr id="9" name="TextBox 9"/>
          <p:cNvSpPr/>
          <p:nvPr/>
        </p:nvSpPr>
        <p:spPr>
          <a:xfrm>
            <a:off x="4320000" y="3240000"/>
            <a:ext cx="324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777777"/>
                </a:solidFill>
                <a:latin typeface="Segoe UI"/>
                <a:ea typeface="Segoe UI"/>
              </a:rPr>
              <a:t>client value</a:t>
            </a:r>
          </a:p>
          <a:p>
            <a:r>
              <a:rPr lang="en-US" sz="1000">
                <a:solidFill>
                  <a:srgbClr val="777777"/>
                </a:solidFill>
                <a:latin typeface="Segoe UI"/>
                <a:ea typeface="Segoe UI"/>
              </a:rPr>
              <a:t>created</a:t>
            </a:r>
          </a:p>
        </p:txBody>
      </p:sp>
      <p:sp>
        <p:nvSpPr>
          <p:cNvPr id="10" name="TextBox 10"/>
          <p:cNvSpPr/>
          <p:nvPr/>
        </p:nvSpPr>
        <p:spPr>
          <a:xfrm>
            <a:off x="7920000" y="1980000"/>
            <a:ext cx="324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111111"/>
                </a:solidFill>
                <a:latin typeface="Segoe UI Black"/>
                <a:ea typeface="Segoe UI Black"/>
              </a:rPr>
              <a:t>93%</a:t>
            </a:r>
          </a:p>
        </p:txBody>
      </p:sp>
      <p:sp>
        <p:nvSpPr>
          <p:cNvPr id="11" name="TextBox 11"/>
          <p:cNvSpPr/>
          <p:nvPr/>
        </p:nvSpPr>
        <p:spPr>
          <a:xfrm>
            <a:off x="7920000" y="3240000"/>
            <a:ext cx="324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777777"/>
                </a:solidFill>
                <a:latin typeface="Segoe UI"/>
                <a:ea typeface="Segoe UI"/>
              </a:rPr>
              <a:t>client</a:t>
            </a:r>
          </a:p>
          <a:p>
            <a:r>
              <a:rPr lang="en-US" sz="1000">
                <a:solidFill>
                  <a:srgbClr val="777777"/>
                </a:solidFill>
                <a:latin typeface="Segoe UI"/>
                <a:ea typeface="Segoe UI"/>
              </a:rPr>
              <a:t>retention rate</a:t>
            </a:r>
          </a:p>
        </p:txBody>
      </p:sp>
      <p:sp>
        <p:nvSpPr>
          <p:cNvPr id="12" name="TextBox 12"/>
          <p:cNvSpPr/>
          <p:nvPr/>
        </p:nvSpPr>
        <p:spPr>
          <a:xfrm>
            <a:off x="720000" y="3600000"/>
            <a:ext cx="1080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777777"/>
                </a:solidFill>
                <a:latin typeface="Segoe UI"/>
                <a:ea typeface="Segoe UI"/>
              </a:rPr>
              <a:t>26 years of navigating complex transformations across every major industry.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!!rule"/>
          <p:cNvSpPr/>
          <p:nvPr/>
        </p:nvSpPr>
        <p:spPr>
          <a:xfrm>
            <a:off x="0" y="0"/>
            <a:ext cx="12193200" cy="2340000"/>
          </a:xfrm>
          <a:prstGeom prst="rect">
            <a:avLst/>
          </a:prstGeom>
          <a:solidFill>
            <a:srgbClr val="111111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720000" y="108000"/>
            <a:ext cx="72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FFFFFF"/>
                </a:solidFill>
                <a:latin typeface="Segoe UI"/>
                <a:ea typeface="Segoe UI"/>
              </a:rPr>
              <a:t>05  THE TEAM</a:t>
            </a:r>
          </a:p>
        </p:txBody>
      </p:sp>
      <p:sp>
        <p:nvSpPr>
          <p:cNvPr id="4" name="TextBox 4"/>
          <p:cNvSpPr/>
          <p:nvPr/>
        </p:nvSpPr>
        <p:spPr>
          <a:xfrm>
            <a:off x="720000" y="432000"/>
            <a:ext cx="10080000" cy="18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>
                <a:solidFill>
                  <a:srgbClr val="FFFFFF"/>
                </a:solidFill>
                <a:latin typeface="Segoe UI Black"/>
                <a:ea typeface="Segoe UI Black"/>
              </a:rPr>
              <a:t>34 partners.</a:t>
            </a:r>
          </a:p>
          <a:p>
            <a:r>
              <a:rPr lang="en-US" sz="4400" b="1">
                <a:solidFill>
                  <a:srgbClr val="FFFFFF"/>
                </a:solidFill>
                <a:latin typeface="Segoe UI Black"/>
                <a:ea typeface="Segoe UI Black"/>
              </a:rPr>
              <a:t>One standard.</a:t>
            </a:r>
          </a:p>
        </p:txBody>
      </p:sp>
      <p:sp>
        <p:nvSpPr>
          <p:cNvPr id="5" name="TextBox 5"/>
          <p:cNvSpPr/>
          <p:nvPr/>
        </p:nvSpPr>
        <p:spPr>
          <a:xfrm>
            <a:off x="720000" y="360000"/>
            <a:ext cx="1080000" cy="43200"/>
          </a:xfrm>
          <a:prstGeom prst="rect">
            <a:avLst/>
          </a:prstGeom>
          <a:solidFill>
            <a:srgbClr val="E30613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2880000"/>
            <a:ext cx="324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111111"/>
                </a:solidFill>
                <a:latin typeface="Segoe UI Black"/>
                <a:ea typeface="Segoe UI Black"/>
              </a:rPr>
              <a:t>SARAH</a:t>
            </a:r>
          </a:p>
          <a:p>
            <a:r>
              <a:rPr lang="en-US" sz="2000" b="1">
                <a:solidFill>
                  <a:srgbClr val="111111"/>
                </a:solidFill>
                <a:latin typeface="Segoe UI Black"/>
                <a:ea typeface="Segoe UI Black"/>
              </a:rPr>
              <a:t>MORRISON</a:t>
            </a:r>
          </a:p>
        </p:txBody>
      </p:sp>
      <p:sp>
        <p:nvSpPr>
          <p:cNvPr id="7" name="TextBox 7"/>
          <p:cNvSpPr/>
          <p:nvPr/>
        </p:nvSpPr>
        <p:spPr>
          <a:xfrm>
            <a:off x="720000" y="4068000"/>
            <a:ext cx="32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777777"/>
                </a:solidFill>
                <a:latin typeface="Segoe UI"/>
                <a:ea typeface="Segoe UI"/>
              </a:rPr>
              <a:t>Managing Partner</a:t>
            </a:r>
          </a:p>
          <a:p>
            <a:r>
              <a:rPr lang="en-US" sz="1000">
                <a:solidFill>
                  <a:srgbClr val="777777"/>
                </a:solidFill>
                <a:latin typeface="Segoe UI"/>
                <a:ea typeface="Segoe UI"/>
              </a:rPr>
              <a:t>Strategy &amp; Operations</a:t>
            </a:r>
          </a:p>
        </p:txBody>
      </p:sp>
      <p:sp>
        <p:nvSpPr>
          <p:cNvPr id="8" name="TextBox 8"/>
          <p:cNvSpPr/>
          <p:nvPr/>
        </p:nvSpPr>
        <p:spPr>
          <a:xfrm>
            <a:off x="4500000" y="2880000"/>
            <a:ext cx="324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111111"/>
                </a:solidFill>
                <a:latin typeface="Segoe UI Black"/>
                <a:ea typeface="Segoe UI Black"/>
              </a:rPr>
              <a:t>DAVID</a:t>
            </a:r>
          </a:p>
          <a:p>
            <a:r>
              <a:rPr lang="en-US" sz="2000" b="1">
                <a:solidFill>
                  <a:srgbClr val="111111"/>
                </a:solidFill>
                <a:latin typeface="Segoe UI Black"/>
                <a:ea typeface="Segoe UI Black"/>
              </a:rPr>
              <a:t>CHEN</a:t>
            </a:r>
          </a:p>
        </p:txBody>
      </p:sp>
      <p:sp>
        <p:nvSpPr>
          <p:cNvPr id="9" name="TextBox 9"/>
          <p:cNvSpPr/>
          <p:nvPr/>
        </p:nvSpPr>
        <p:spPr>
          <a:xfrm>
            <a:off x="4500000" y="4068000"/>
            <a:ext cx="32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777777"/>
                </a:solidFill>
                <a:latin typeface="Segoe UI"/>
                <a:ea typeface="Segoe UI"/>
              </a:rPr>
              <a:t>Partner</a:t>
            </a:r>
          </a:p>
          <a:p>
            <a:r>
              <a:rPr lang="en-US" sz="1000">
                <a:solidFill>
                  <a:srgbClr val="777777"/>
                </a:solidFill>
                <a:latin typeface="Segoe UI"/>
                <a:ea typeface="Segoe UI"/>
              </a:rPr>
              <a:t>Finance &amp; M&amp;A</a:t>
            </a:r>
          </a:p>
        </p:txBody>
      </p:sp>
      <p:sp>
        <p:nvSpPr>
          <p:cNvPr id="10" name="TextBox 10"/>
          <p:cNvSpPr/>
          <p:nvPr/>
        </p:nvSpPr>
        <p:spPr>
          <a:xfrm>
            <a:off x="8280000" y="2880000"/>
            <a:ext cx="324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E30613"/>
                </a:solidFill>
                <a:latin typeface="Segoe UI Black"/>
                <a:ea typeface="Segoe UI Black"/>
              </a:rPr>
              <a:t>ANA</a:t>
            </a:r>
          </a:p>
          <a:p>
            <a:r>
              <a:rPr lang="en-US" sz="2000" b="1">
                <a:solidFill>
                  <a:srgbClr val="E30613"/>
                </a:solidFill>
                <a:latin typeface="Segoe UI Black"/>
                <a:ea typeface="Segoe UI Black"/>
              </a:rPr>
              <a:t>RODRIGUEZ</a:t>
            </a:r>
          </a:p>
        </p:txBody>
      </p:sp>
      <p:sp>
        <p:nvSpPr>
          <p:cNvPr id="11" name="TextBox 11"/>
          <p:cNvSpPr/>
          <p:nvPr/>
        </p:nvSpPr>
        <p:spPr>
          <a:xfrm>
            <a:off x="8280000" y="4068000"/>
            <a:ext cx="32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777777"/>
                </a:solidFill>
                <a:latin typeface="Segoe UI"/>
                <a:ea typeface="Segoe UI"/>
              </a:rPr>
              <a:t>Partner</a:t>
            </a:r>
          </a:p>
          <a:p>
            <a:r>
              <a:rPr lang="en-US" sz="1000">
                <a:solidFill>
                  <a:srgbClr val="777777"/>
                </a:solidFill>
                <a:latin typeface="Segoe UI"/>
                <a:ea typeface="Segoe UI"/>
              </a:rPr>
              <a:t>Digital Transformation</a:t>
            </a:r>
          </a:p>
        </p:txBody>
      </p:sp>
      <p:sp>
        <p:nvSpPr>
          <p:cNvPr id="12" name="TextBox 12"/>
          <p:cNvSpPr/>
          <p:nvPr/>
        </p:nvSpPr>
        <p:spPr>
          <a:xfrm>
            <a:off x="720000" y="5040000"/>
            <a:ext cx="10753200" cy="18000"/>
          </a:xfrm>
          <a:prstGeom prst="rect">
            <a:avLst/>
          </a:prstGeom>
          <a:solidFill>
            <a:srgbClr val="CCCCC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720000" y="5220000"/>
            <a:ext cx="100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777777"/>
                </a:solidFill>
                <a:latin typeface="Segoe UI"/>
                <a:ea typeface="Segoe UI"/>
              </a:rPr>
              <a:t>Oxford  /  Harvard  /  INSEAD  /  LBS  /  Wharton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!!rule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11111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720000" y="540000"/>
            <a:ext cx="216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E30613"/>
                </a:solidFill>
                <a:latin typeface="Segoe UI"/>
                <a:ea typeface="Segoe UI"/>
              </a:rPr>
              <a:t>06</a:t>
            </a:r>
          </a:p>
        </p:txBody>
      </p:sp>
      <p:sp>
        <p:nvSpPr>
          <p:cNvPr id="4" name="TextBox 4"/>
          <p:cNvSpPr/>
          <p:nvPr/>
        </p:nvSpPr>
        <p:spPr>
          <a:xfrm>
            <a:off x="720000" y="1080000"/>
            <a:ext cx="10080000" cy="32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600" b="1">
                <a:solidFill>
                  <a:srgbClr val="FFFFFF"/>
                </a:solidFill>
                <a:latin typeface="Segoe UI Black"/>
                <a:ea typeface="Segoe UI Black"/>
              </a:rPr>
              <a:t>Ready to</a:t>
            </a:r>
          </a:p>
          <a:p>
            <a:r>
              <a:rPr lang="en-US" sz="5600" b="1">
                <a:solidFill>
                  <a:srgbClr val="FFFFFF"/>
                </a:solidFill>
                <a:latin typeface="Segoe UI Black"/>
                <a:ea typeface="Segoe UI Black"/>
              </a:rPr>
              <a:t>close the gap?</a:t>
            </a:r>
          </a:p>
        </p:txBody>
      </p:sp>
      <p:sp>
        <p:nvSpPr>
          <p:cNvPr id="5" name="TextBox 5"/>
          <p:cNvSpPr/>
          <p:nvPr/>
        </p:nvSpPr>
        <p:spPr>
          <a:xfrm>
            <a:off x="720000" y="972000"/>
            <a:ext cx="1080000" cy="43200"/>
          </a:xfrm>
          <a:prstGeom prst="rect">
            <a:avLst/>
          </a:prstGeom>
          <a:solidFill>
            <a:srgbClr val="E30613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4968000"/>
            <a:ext cx="4320000" cy="108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720000" y="4968000"/>
            <a:ext cx="4320000" cy="108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1">
                <a:solidFill>
                  <a:srgbClr val="111111"/>
                </a:solidFill>
                <a:latin typeface="Segoe UI Black"/>
                <a:ea typeface="Segoe UI Black"/>
              </a:rPr>
              <a:t>Schedule a Briefing  →</a:t>
            </a:r>
          </a:p>
        </p:txBody>
      </p:sp>
      <p:sp>
        <p:nvSpPr>
          <p:cNvPr id="8" name="TextBox 8"/>
          <p:cNvSpPr/>
          <p:nvPr/>
        </p:nvSpPr>
        <p:spPr>
          <a:xfrm>
            <a:off x="7920000" y="6300000"/>
            <a:ext cx="4320000" cy="360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000">
                <a:solidFill>
                  <a:srgbClr val="CCCCCC"/>
                </a:solidFill>
                <a:latin typeface="Segoe UI"/>
                <a:ea typeface="Segoe UI"/>
              </a:rPr>
              <a:t>meridian-consulting.com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