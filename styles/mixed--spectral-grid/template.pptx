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096fa0f7c34b1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357addbf49d4559"/>
    <p:sldId id="257" r:id="Rf3d3f66b130b45e4"/>
    <p:sldId id="258" r:id="R3afc4be426a147f9"/>
    <p:sldId id="259" r:id="R5dc9a7e4f8ac4490"/>
    <p:sldId id="260" r:id="R41f61a786ebb4235"/>
    <p:sldId id="261" r:id="Ra575c59fa66747ca"/>
    <p:sldId id="262" r:id="Rb4a592a940724f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357addbf49d4559" /><Relationship Type="http://schemas.openxmlformats.org/officeDocument/2006/relationships/slide" Target="/ppt/slides/slide2.xml" Id="Rf3d3f66b130b45e4" /><Relationship Type="http://schemas.openxmlformats.org/officeDocument/2006/relationships/slide" Target="/ppt/slides/slide3.xml" Id="R3afc4be426a147f9" /><Relationship Type="http://schemas.openxmlformats.org/officeDocument/2006/relationships/slide" Target="/ppt/slides/slide4.xml" Id="R5dc9a7e4f8ac4490" /><Relationship Type="http://schemas.openxmlformats.org/officeDocument/2006/relationships/slide" Target="/ppt/slides/slide5.xml" Id="R41f61a786ebb4235" /><Relationship Type="http://schemas.openxmlformats.org/officeDocument/2006/relationships/slide" Target="/ppt/slides/slide6.xml" Id="Ra575c59fa66747ca" /><Relationship Type="http://schemas.openxmlformats.org/officeDocument/2006/relationships/slide" Target="/ppt/slides/slide7.xml" Id="Rb4a592a940724f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3a1bef0834f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de3eaa2be49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7126d7c494d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636b4215144c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3aaf55d4d6e4d3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a6495f87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643d0a4f84e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df226a5454a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f9f47598a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4219d6cc844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5d7fd50cc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50437a3d64ad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181020"/>
            </a:gs>
            <a:gs pos="100000">
              <a:srgbClr val="1E0A5C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440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482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530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572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620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662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710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1752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 rot="18000000">
            <a:off x="6084000" y="3420000"/>
            <a:ext cx="126000" cy="7920000"/>
          </a:xfrm>
          <a:prstGeom prst="rect">
            <a:avLst/>
          </a:prstGeom>
          <a:solidFill>
            <a:srgbClr val="F0A000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6840000" y="18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560000" y="18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8280000" y="18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9000000" y="18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720000" y="18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0440000" y="18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1160000" y="18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840000" y="90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7560000" y="90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8280000" y="90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9000000" y="90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9720000" y="90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0440000" y="90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1160000" y="90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6840000" y="162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560000" y="162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8280000" y="162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9000000" y="162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720000" y="162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10440000" y="162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1160000" y="162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840000" y="234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7560000" y="234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8280000" y="234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9000000" y="234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9720000" y="234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10440000" y="234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11160000" y="234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840000" y="306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7560000" y="306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8280000" y="3060000"/>
            <a:ext cx="648000" cy="648000"/>
          </a:xfrm>
          <a:prstGeom prst="rect">
            <a:avLst/>
          </a:prstGeom>
          <a:solidFill>
            <a:srgbClr val="2E1878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9000000" y="3060000"/>
            <a:ext cx="648000" cy="648000"/>
          </a:xfrm>
          <a:prstGeom prst="rect">
            <a:avLst/>
          </a:prstGeom>
          <a:solidFill>
            <a:srgbClr val="3C287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9720000" y="3060000"/>
            <a:ext cx="648000" cy="648000"/>
          </a:xfrm>
          <a:prstGeom prst="rect">
            <a:avLst/>
          </a:prstGeom>
          <a:solidFill>
            <a:srgbClr val="1E0A5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10440000" y="3060000"/>
            <a:ext cx="648000" cy="648000"/>
          </a:xfrm>
          <a:prstGeom prst="rect">
            <a:avLst/>
          </a:prstGeom>
          <a:solidFill>
            <a:srgbClr val="3C287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11160000" y="3060000"/>
            <a:ext cx="648000" cy="648000"/>
          </a:xfrm>
          <a:prstGeom prst="rect">
            <a:avLst/>
          </a:prstGeom>
          <a:solidFill>
            <a:srgbClr val="2E1878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!!prism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gradFill>
            <a:gsLst>
              <a:gs pos="0">
                <a:srgbClr val="2E1878">
                  <a:alpha val="92000"/>
                </a:srgbClr>
              </a:gs>
              <a:gs pos="100000">
                <a:srgbClr val="1E0A5C">
                  <a:alpha val="92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0" y="0"/>
            <a:ext cx="5400000" cy="162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432000" y="432000"/>
            <a:ext cx="46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F0A000"/>
                </a:solidFill>
                <a:latin typeface="Segoe UI"/>
                <a:ea typeface="Segoe UI"/>
              </a:rPr>
              <a:t>INNOVATION AGENCY</a:t>
            </a:r>
          </a:p>
        </p:txBody>
      </p:sp>
      <p:sp>
        <p:nvSpPr>
          <p:cNvPr id="49" name="TextBox 49"/>
          <p:cNvSpPr/>
          <p:nvPr/>
        </p:nvSpPr>
        <p:spPr>
          <a:xfrm>
            <a:off x="432000" y="828000"/>
            <a:ext cx="1440000" cy="36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432000" y="1008000"/>
            <a:ext cx="4680000" cy="46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WHERE</a:t>
            </a:r>
          </a:p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IDEAS</a:t>
            </a:r>
          </a:p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BECOME</a:t>
            </a:r>
          </a:p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PRODUCT.</a:t>
            </a:r>
          </a:p>
        </p:txBody>
      </p:sp>
      <p:sp>
        <p:nvSpPr>
          <p:cNvPr id="51" name="TextBox 51"/>
          <p:cNvSpPr/>
          <p:nvPr/>
        </p:nvSpPr>
        <p:spPr>
          <a:xfrm>
            <a:off x="432000" y="5832000"/>
            <a:ext cx="46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C8C0DC"/>
                </a:solidFill>
                <a:latin typeface="Segoe UI"/>
                <a:ea typeface="Segoe UI"/>
              </a:rPr>
              <a:t>Strategy · Design · Engineering · Launch</a:t>
            </a:r>
          </a:p>
        </p:txBody>
      </p:sp>
      <p:sp>
        <p:nvSpPr>
          <p:cNvPr id="52" name="TextBox 52"/>
          <p:cNvSpPr/>
          <p:nvPr/>
        </p:nvSpPr>
        <p:spPr>
          <a:xfrm>
            <a:off x="5400000" y="0"/>
            <a:ext cx="6480000" cy="64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0" b="1">
                <a:solidFill>
                  <a:srgbClr val="2E1878"/>
                </a:solidFill>
                <a:latin typeface="Segoe UI Black"/>
                <a:ea typeface="Segoe UI Black"/>
              </a:rPr>
              <a:t>S</a:t>
            </a:r>
          </a:p>
        </p:txBody>
      </p:sp>
      <p:sp>
        <p:nvSpPr>
          <p:cNvPr id="53" name="TextBox 53"/>
          <p:cNvSpPr/>
          <p:nvPr/>
        </p:nvSpPr>
        <p:spPr>
          <a:xfrm>
            <a:off x="7740000" y="1800000"/>
            <a:ext cx="3240000" cy="3240000"/>
          </a:xfrm>
          <a:prstGeom prst="ellipse">
            <a:avLst/>
          </a:prstGeom>
          <a:solidFill>
            <a:srgbClr val="F03820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8208000" y="2268000"/>
            <a:ext cx="2304000" cy="2304000"/>
          </a:xfrm>
          <a:prstGeom prst="ellipse">
            <a:avLst/>
          </a:prstGeom>
          <a:solidFill>
            <a:srgbClr val="F0A00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8640000" y="2700000"/>
            <a:ext cx="1440000" cy="1440000"/>
          </a:xfrm>
          <a:prstGeom prst="ellipse">
            <a:avLst/>
          </a:prstGeom>
          <a:solidFill>
            <a:srgbClr val="A0F04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9000000" y="3060000"/>
            <a:ext cx="720000" cy="720000"/>
          </a:xfrm>
          <a:prstGeom prst="ellipse">
            <a:avLst/>
          </a:prstGeom>
          <a:solidFill>
            <a:srgbClr val="F0A00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C8C0DC"/>
                </a:solidFill>
                <a:latin typeface="Segoe UI"/>
                <a:ea typeface="Segoe UI"/>
              </a:rPr>
              <a:t>spectral.studio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480000" y="360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182000" y="360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884000" y="360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8586000" y="360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288000" y="360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990000" y="360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0692000" y="360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394000" y="360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80000" y="954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182000" y="954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884000" y="954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8586000" y="954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9288000" y="954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990000" y="954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0692000" y="954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1394000" y="954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480000" y="1548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7182000" y="1548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884000" y="1548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8586000" y="1548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9288000" y="1548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9990000" y="1548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0692000" y="1548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11394000" y="1548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6480000" y="2142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7182000" y="2142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7884000" y="2142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8586000" y="2142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9288000" y="2142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9990000" y="2142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0692000" y="2142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1394000" y="2142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480000" y="2736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7182000" y="2736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7884000" y="2736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8586000" y="2736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9288000" y="2736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9990000" y="2736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0692000" y="2736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11394000" y="2736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6480000" y="3330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7182000" y="3330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7884000" y="3330000"/>
            <a:ext cx="612000" cy="504000"/>
          </a:xfrm>
          <a:prstGeom prst="rect">
            <a:avLst/>
          </a:prstGeom>
          <a:solidFill>
            <a:srgbClr val="1E0A5C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8586000" y="3330000"/>
            <a:ext cx="612000" cy="504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9288000" y="3330000"/>
            <a:ext cx="612000" cy="504000"/>
          </a:xfrm>
          <a:prstGeom prst="rect">
            <a:avLst/>
          </a:prstGeom>
          <a:solidFill>
            <a:srgbClr val="2E187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9990000" y="3330000"/>
            <a:ext cx="612000" cy="504000"/>
          </a:xfrm>
          <a:prstGeom prst="rect">
            <a:avLst/>
          </a:prstGeom>
          <a:solidFill>
            <a:srgbClr val="F03820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10692000" y="3330000"/>
            <a:ext cx="612000" cy="504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11394000" y="3330000"/>
            <a:ext cx="612000" cy="504000"/>
          </a:xfrm>
          <a:prstGeom prst="rect">
            <a:avLst/>
          </a:prstGeom>
          <a:solidFill>
            <a:srgbClr val="1E0A5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!!prism"/>
          <p:cNvSpPr/>
          <p:nvPr/>
        </p:nvSpPr>
        <p:spPr>
          <a:xfrm>
            <a:off x="0" y="0"/>
            <a:ext cx="1080000" cy="6858000"/>
          </a:xfrm>
          <a:prstGeom prst="rect">
            <a:avLst/>
          </a:prstGeom>
          <a:gradFill>
            <a:gsLst>
              <a:gs pos="0">
                <a:srgbClr val="2E1878">
                  <a:alpha val="92000"/>
                </a:srgbClr>
              </a:gs>
              <a:gs pos="100000">
                <a:srgbClr val="1E0A5C">
                  <a:alpha val="92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0" y="0"/>
            <a:ext cx="1080000" cy="162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1440000" y="360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0A5C"/>
                </a:solidFill>
                <a:latin typeface="Segoe UI"/>
                <a:ea typeface="Segoe UI"/>
              </a:rPr>
              <a:t>ABOUT US</a:t>
            </a:r>
          </a:p>
        </p:txBody>
      </p:sp>
      <p:sp>
        <p:nvSpPr>
          <p:cNvPr id="53" name="TextBox 53"/>
          <p:cNvSpPr/>
          <p:nvPr/>
        </p:nvSpPr>
        <p:spPr>
          <a:xfrm>
            <a:off x="1440000" y="756000"/>
            <a:ext cx="1260000" cy="36000"/>
          </a:xfrm>
          <a:prstGeom prst="rect">
            <a:avLst/>
          </a:prstGeom>
          <a:solidFill>
            <a:srgbClr val="F038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1440000" y="900000"/>
            <a:ext cx="504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E0A5C"/>
                </a:solidFill>
                <a:latin typeface="Segoe UI Black"/>
                <a:ea typeface="Segoe UI Black"/>
              </a:rPr>
              <a:t>Built by</a:t>
            </a:r>
          </a:p>
          <a:p>
            <a:r>
              <a:rPr lang="en-US" sz="4400" b="1">
                <a:solidFill>
                  <a:srgbClr val="1E0A5C"/>
                </a:solidFill>
                <a:latin typeface="Segoe UI Black"/>
                <a:ea typeface="Segoe UI Black"/>
              </a:rPr>
              <a:t>makers,</a:t>
            </a:r>
          </a:p>
          <a:p>
            <a:r>
              <a:rPr lang="en-US" sz="4400" b="1">
                <a:solidFill>
                  <a:srgbClr val="1E0A5C"/>
                </a:solidFill>
                <a:latin typeface="Segoe UI Black"/>
                <a:ea typeface="Segoe UI Black"/>
              </a:rPr>
              <a:t>for makers.</a:t>
            </a:r>
          </a:p>
        </p:txBody>
      </p:sp>
      <p:sp>
        <p:nvSpPr>
          <p:cNvPr id="55" name="TextBox 55"/>
          <p:cNvSpPr/>
          <p:nvPr/>
        </p:nvSpPr>
        <p:spPr>
          <a:xfrm>
            <a:off x="1440000" y="4500000"/>
            <a:ext cx="50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4A4060"/>
                </a:solidFill>
                <a:latin typeface="Segoe UI"/>
                <a:ea typeface="Segoe UI"/>
              </a:rPr>
              <a:t>We are a cross-disciplinary studio of 40+ specialists</a:t>
            </a:r>
          </a:p>
          <a:p>
            <a:r>
              <a:rPr lang="en-US" sz="1300">
                <a:solidFill>
                  <a:srgbClr val="4A4060"/>
                </a:solidFill>
                <a:latin typeface="Segoe UI"/>
                <a:ea typeface="Segoe UI"/>
              </a:rPr>
              <a:t>who have shipped over 120 products across consumer,</a:t>
            </a:r>
          </a:p>
          <a:p>
            <a:r>
              <a:rPr lang="en-US" sz="1300">
                <a:solidFill>
                  <a:srgbClr val="4A4060"/>
                </a:solidFill>
                <a:latin typeface="Segoe UI"/>
                <a:ea typeface="Segoe UI"/>
              </a:rPr>
              <a:t>enterprise, and deep-tech verticals.</a:t>
            </a:r>
          </a:p>
        </p:txBody>
      </p:sp>
      <p:sp>
        <p:nvSpPr>
          <p:cNvPr id="56" name="TextBox 56"/>
          <p:cNvSpPr/>
          <p:nvPr/>
        </p:nvSpPr>
        <p:spPr>
          <a:xfrm>
            <a:off x="1440000" y="5760000"/>
            <a:ext cx="1980000" cy="900000"/>
          </a:xfrm>
          <a:prstGeom prst="roundRect">
            <a:avLst/>
          </a:prstGeom>
          <a:solidFill>
            <a:srgbClr val="1E0A5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1440000" y="5760000"/>
            <a:ext cx="198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5F0E8"/>
                </a:solidFill>
                <a:latin typeface="Segoe UI Black"/>
                <a:ea typeface="Segoe UI Black"/>
              </a:rPr>
              <a:t>120+</a:t>
            </a:r>
          </a:p>
          <a:p>
            <a:pPr algn="ctr"/>
            <a:r>
              <a:rPr lang="en-US" sz="1400" b="1">
                <a:solidFill>
                  <a:srgbClr val="F5F0E8"/>
                </a:solidFill>
                <a:latin typeface="Segoe UI Black"/>
                <a:ea typeface="Segoe UI Black"/>
              </a:rPr>
              <a:t>Products Shipped</a:t>
            </a:r>
          </a:p>
        </p:txBody>
      </p:sp>
      <p:sp>
        <p:nvSpPr>
          <p:cNvPr id="58" name="TextBox 58"/>
          <p:cNvSpPr/>
          <p:nvPr/>
        </p:nvSpPr>
        <p:spPr>
          <a:xfrm>
            <a:off x="3708000" y="5760000"/>
            <a:ext cx="1980000" cy="900000"/>
          </a:xfrm>
          <a:prstGeom prst="roundRect">
            <a:avLst/>
          </a:prstGeom>
          <a:solidFill>
            <a:srgbClr val="F038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3708000" y="5760000"/>
            <a:ext cx="198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5F0E8"/>
                </a:solidFill>
                <a:latin typeface="Segoe UI Black"/>
                <a:ea typeface="Segoe UI Black"/>
              </a:rPr>
              <a:t>40+</a:t>
            </a:r>
          </a:p>
          <a:p>
            <a:pPr algn="ctr"/>
            <a:r>
              <a:rPr lang="en-US" sz="1400" b="1">
                <a:solidFill>
                  <a:srgbClr val="F5F0E8"/>
                </a:solidFill>
                <a:latin typeface="Segoe UI Black"/>
                <a:ea typeface="Segoe UI Black"/>
              </a:rPr>
              <a:t>Experts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prism"/>
          <p:cNvSpPr/>
          <p:nvPr/>
        </p:nvSpPr>
        <p:spPr>
          <a:xfrm>
            <a:off x="7920000" y="0"/>
            <a:ext cx="4273200" cy="6858000"/>
          </a:xfrm>
          <a:prstGeom prst="rect">
            <a:avLst/>
          </a:prstGeom>
          <a:gradFill>
            <a:gsLst>
              <a:gs pos="0">
                <a:srgbClr val="F03820">
                  <a:alpha val="95000"/>
                </a:srgbClr>
              </a:gs>
              <a:gs pos="100000">
                <a:srgbClr val="1E0A5C">
                  <a:alpha val="95000"/>
                </a:srgbClr>
              </a:gs>
            </a:gsLst>
            <a:lin ang="96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920000" y="0"/>
            <a:ext cx="4273200" cy="162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360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0A5C"/>
                </a:solidFill>
                <a:latin typeface="Segoe UI"/>
                <a:ea typeface="Segoe UI"/>
              </a:rPr>
              <a:t>SERVICES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756000"/>
            <a:ext cx="1260000" cy="36000"/>
          </a:xfrm>
          <a:prstGeom prst="rect">
            <a:avLst/>
          </a:prstGeom>
          <a:solidFill>
            <a:srgbClr val="1E0A5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540000" y="936000"/>
            <a:ext cx="64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E0A5C"/>
                </a:solidFill>
                <a:latin typeface="Segoe UI Black"/>
                <a:ea typeface="Segoe UI Black"/>
              </a:rPr>
              <a:t>What We</a:t>
            </a:r>
          </a:p>
          <a:p>
            <a:r>
              <a:rPr lang="en-US" sz="4400" b="1">
                <a:solidFill>
                  <a:srgbClr val="1E0A5C"/>
                </a:solidFill>
                <a:latin typeface="Segoe UI Black"/>
                <a:ea typeface="Segoe UI Black"/>
              </a:rPr>
              <a:t>Deliver.</a:t>
            </a:r>
          </a:p>
        </p:txBody>
      </p:sp>
      <p:sp>
        <p:nvSpPr>
          <p:cNvPr id="7" name="TextBox 7"/>
          <p:cNvSpPr/>
          <p:nvPr/>
        </p:nvSpPr>
        <p:spPr>
          <a:xfrm>
            <a:off x="540000" y="3240000"/>
            <a:ext cx="64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E0A5C"/>
                </a:solidFill>
                <a:latin typeface="Segoe UI Black"/>
                <a:ea typeface="Segoe UI Black"/>
              </a:rPr>
              <a:t>01  Strategy &amp; Research</a:t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3744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Market mapping, user discovery, go-to-market planning</a:t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4104000"/>
            <a:ext cx="6480000" cy="18000"/>
          </a:xfrm>
          <a:prstGeom prst="rect">
            <a:avLst/>
          </a:prstGeom>
          <a:solidFill>
            <a:srgbClr val="C8C0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4248000"/>
            <a:ext cx="64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E0A5C"/>
                </a:solidFill>
                <a:latin typeface="Segoe UI Black"/>
                <a:ea typeface="Segoe UI Black"/>
              </a:rPr>
              <a:t>02  Product Design</a:t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4752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UX/UI, design systems, prototyping, motion</a:t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5112000"/>
            <a:ext cx="6480000" cy="18000"/>
          </a:xfrm>
          <a:prstGeom prst="rect">
            <a:avLst/>
          </a:prstGeom>
          <a:solidFill>
            <a:srgbClr val="C8C0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5256000"/>
            <a:ext cx="64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E0A5C"/>
                </a:solidFill>
                <a:latin typeface="Segoe UI Black"/>
                <a:ea typeface="Segoe UI Black"/>
              </a:rPr>
              <a:t>03  Engineering &amp; Launch</a:t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5760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Full-stack dev, infrastructure, CI/CD, AppStore submission</a:t>
            </a:r>
          </a:p>
        </p:txBody>
      </p:sp>
      <p:sp>
        <p:nvSpPr>
          <p:cNvPr id="15" name="TextBox 15"/>
          <p:cNvSpPr/>
          <p:nvPr/>
        </p:nvSpPr>
        <p:spPr>
          <a:xfrm>
            <a:off x="8208000" y="1800000"/>
            <a:ext cx="36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800" b="1">
                <a:solidFill>
                  <a:srgbClr val="F5F0E8"/>
                </a:solidFill>
                <a:latin typeface="Segoe UI Black"/>
                <a:ea typeface="Segoe UI Black"/>
              </a:rPr>
              <a:t>End-to-</a:t>
            </a:r>
          </a:p>
          <a:p>
            <a:r>
              <a:rPr lang="en-US" sz="3800" b="1">
                <a:solidFill>
                  <a:srgbClr val="F5F0E8"/>
                </a:solidFill>
                <a:latin typeface="Segoe UI Black"/>
                <a:ea typeface="Segoe UI Black"/>
              </a:rPr>
              <a:t>end.</a:t>
            </a:r>
          </a:p>
        </p:txBody>
      </p:sp>
      <p:sp>
        <p:nvSpPr>
          <p:cNvPr id="16" name="TextBox 16"/>
          <p:cNvSpPr/>
          <p:nvPr/>
        </p:nvSpPr>
        <p:spPr>
          <a:xfrm>
            <a:off x="8208000" y="4140000"/>
            <a:ext cx="36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5F0E8"/>
                </a:solidFill>
                <a:latin typeface="Segoe UI"/>
                <a:ea typeface="Segoe UI"/>
              </a:rPr>
              <a:t>One partner.</a:t>
            </a:r>
          </a:p>
          <a:p>
            <a:r>
              <a:rPr lang="en-US" sz="1300">
                <a:solidFill>
                  <a:srgbClr val="F5F0E8"/>
                </a:solidFill>
                <a:latin typeface="Segoe UI"/>
                <a:ea typeface="Segoe UI"/>
              </a:rPr>
              <a:t>Zero handoff</a:t>
            </a:r>
          </a:p>
          <a:p>
            <a:r>
              <a:rPr lang="en-US" sz="1300">
                <a:solidFill>
                  <a:srgbClr val="F5F0E8"/>
                </a:solidFill>
                <a:latin typeface="Segoe UI"/>
                <a:ea typeface="Segoe UI"/>
              </a:rPr>
              <a:t>losses.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81020"/>
            </a:gs>
            <a:gs pos="100000">
              <a:srgbClr val="1E0A5C"/>
            </a:gs>
          </a:gsLst>
          <a:lin ang="90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380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428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476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524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572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620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668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1716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 rot="1764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 rot="1812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 rot="18600000">
            <a:off x="6094800" y="3420000"/>
            <a:ext cx="108000" cy="7200000"/>
          </a:xfrm>
          <a:prstGeom prst="rect">
            <a:avLst/>
          </a:prstGeom>
          <a:solidFill>
            <a:srgbClr val="A0F040">
              <a:alpha val="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prism"/>
          <p:cNvSpPr/>
          <p:nvPr/>
        </p:nvSpPr>
        <p:spPr>
          <a:xfrm>
            <a:off x="5220000" y="0"/>
            <a:ext cx="1800000" cy="6858000"/>
          </a:xfrm>
          <a:prstGeom prst="rect">
            <a:avLst/>
          </a:prstGeom>
          <a:gradFill>
            <a:gsLst>
              <a:gs pos="0">
                <a:srgbClr val="2E1878">
                  <a:alpha val="88000"/>
                </a:srgbClr>
              </a:gs>
              <a:gs pos="100000">
                <a:srgbClr val="3C2870">
                  <a:alpha val="88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220000" y="0"/>
            <a:ext cx="1800000" cy="162000"/>
          </a:xfrm>
          <a:prstGeom prst="rect">
            <a:avLst/>
          </a:prstGeom>
          <a:solidFill>
            <a:srgbClr val="A0F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360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A0F040"/>
                </a:solidFill>
                <a:latin typeface="Segoe UI"/>
                <a:ea typeface="Segoe UI"/>
              </a:rPr>
              <a:t>METRICS</a:t>
            </a:r>
          </a:p>
        </p:txBody>
      </p:sp>
      <p:sp>
        <p:nvSpPr>
          <p:cNvPr id="16" name="TextBox 16"/>
          <p:cNvSpPr/>
          <p:nvPr/>
        </p:nvSpPr>
        <p:spPr>
          <a:xfrm>
            <a:off x="540000" y="756000"/>
            <a:ext cx="1440000" cy="36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40000" y="936000"/>
            <a:ext cx="43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Numbers</a:t>
            </a:r>
          </a:p>
          <a:p>
            <a:r>
              <a:rPr lang="en-US" sz="4400" b="1">
                <a:solidFill>
                  <a:srgbClr val="F5F0E8"/>
                </a:solidFill>
                <a:latin typeface="Segoe UI Black"/>
                <a:ea typeface="Segoe UI Black"/>
              </a:rPr>
              <a:t>That Matter.</a:t>
            </a:r>
          </a:p>
        </p:txBody>
      </p:sp>
      <p:sp>
        <p:nvSpPr>
          <p:cNvPr id="18" name="TextBox 18"/>
          <p:cNvSpPr/>
          <p:nvPr/>
        </p:nvSpPr>
        <p:spPr>
          <a:xfrm>
            <a:off x="540000" y="3240000"/>
            <a:ext cx="43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A0F040"/>
                </a:solidFill>
                <a:latin typeface="Segoe UI Black"/>
                <a:ea typeface="Segoe UI Black"/>
              </a:rPr>
              <a:t>120</a:t>
            </a:r>
          </a:p>
        </p:txBody>
      </p:sp>
      <p:sp>
        <p:nvSpPr>
          <p:cNvPr id="19" name="TextBox 19"/>
          <p:cNvSpPr/>
          <p:nvPr/>
        </p:nvSpPr>
        <p:spPr>
          <a:xfrm>
            <a:off x="540000" y="439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C8C0DC"/>
                </a:solidFill>
                <a:latin typeface="Segoe UI"/>
                <a:ea typeface="Segoe UI"/>
              </a:rPr>
              <a:t>Products shipped to market</a:t>
            </a:r>
          </a:p>
        </p:txBody>
      </p:sp>
      <p:sp>
        <p:nvSpPr>
          <p:cNvPr id="20" name="TextBox 20"/>
          <p:cNvSpPr/>
          <p:nvPr/>
        </p:nvSpPr>
        <p:spPr>
          <a:xfrm>
            <a:off x="540000" y="4968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0A000"/>
                </a:solidFill>
                <a:latin typeface="Segoe UI Black"/>
                <a:ea typeface="Segoe UI Black"/>
              </a:rPr>
              <a:t>40+</a:t>
            </a:r>
          </a:p>
        </p:txBody>
      </p:sp>
      <p:sp>
        <p:nvSpPr>
          <p:cNvPr id="21" name="TextBox 21"/>
          <p:cNvSpPr/>
          <p:nvPr/>
        </p:nvSpPr>
        <p:spPr>
          <a:xfrm>
            <a:off x="540000" y="59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C8C0DC"/>
                </a:solidFill>
                <a:latin typeface="Segoe UI"/>
                <a:ea typeface="Segoe UI"/>
              </a:rPr>
              <a:t>Countries reached</a:t>
            </a:r>
          </a:p>
        </p:txBody>
      </p:sp>
      <p:sp>
        <p:nvSpPr>
          <p:cNvPr id="22" name="TextBox 22"/>
          <p:cNvSpPr/>
          <p:nvPr/>
        </p:nvSpPr>
        <p:spPr>
          <a:xfrm>
            <a:off x="7308000" y="3240000"/>
            <a:ext cx="43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03820"/>
                </a:solidFill>
                <a:latin typeface="Segoe UI Black"/>
                <a:ea typeface="Segoe UI Black"/>
              </a:rPr>
              <a:t>98%</a:t>
            </a:r>
          </a:p>
        </p:txBody>
      </p:sp>
      <p:sp>
        <p:nvSpPr>
          <p:cNvPr id="23" name="TextBox 23"/>
          <p:cNvSpPr/>
          <p:nvPr/>
        </p:nvSpPr>
        <p:spPr>
          <a:xfrm>
            <a:off x="7308000" y="439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C8C0DC"/>
                </a:solidFill>
                <a:latin typeface="Segoe UI"/>
                <a:ea typeface="Segoe UI"/>
              </a:rPr>
              <a:t>Client retention rate</a:t>
            </a:r>
          </a:p>
        </p:txBody>
      </p:sp>
      <p:sp>
        <p:nvSpPr>
          <p:cNvPr id="24" name="TextBox 24"/>
          <p:cNvSpPr/>
          <p:nvPr/>
        </p:nvSpPr>
        <p:spPr>
          <a:xfrm>
            <a:off x="7308000" y="4968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5F0E8"/>
                </a:solidFill>
                <a:latin typeface="Segoe UI Black"/>
                <a:ea typeface="Segoe UI Black"/>
              </a:rPr>
              <a:t>$2B+</a:t>
            </a:r>
          </a:p>
        </p:txBody>
      </p:sp>
      <p:sp>
        <p:nvSpPr>
          <p:cNvPr id="25" name="TextBox 25"/>
          <p:cNvSpPr/>
          <p:nvPr/>
        </p:nvSpPr>
        <p:spPr>
          <a:xfrm>
            <a:off x="7308000" y="59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C8C0DC"/>
                </a:solidFill>
                <a:latin typeface="Segoe UI"/>
                <a:ea typeface="Segoe UI"/>
              </a:rPr>
              <a:t>Combined client valuation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52200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73200" y="52200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346400" y="52200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2019600" y="52200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692800" y="52200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366000" y="52200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4039200" y="52200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4712400" y="52200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385600" y="52200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6058800" y="52200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732000" y="52200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405200" y="52200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8078400" y="52200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8751600" y="52200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9424800" y="52200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0098000" y="52200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10771200" y="52200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1444400" y="52200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12117600" y="52200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12790800" y="52200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0" y="58212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673200" y="58212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346400" y="58212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2019600" y="58212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2692800" y="58212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3366000" y="58212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4039200" y="58212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4712400" y="58212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5385600" y="58212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6058800" y="58212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732000" y="58212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7405200" y="58212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8078400" y="58212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8751600" y="58212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9424800" y="58212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10098000" y="58212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10771200" y="58212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11444400" y="58212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2117600" y="58212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12790800" y="58212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0" y="64224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673200" y="64224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1346400" y="64224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2019600" y="64224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2692800" y="64224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3366000" y="64224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4039200" y="64224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4712400" y="64224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5385600" y="64224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6058800" y="64224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6732000" y="64224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7405200" y="64224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8078400" y="64224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8751600" y="64224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9424800" y="64224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10098000" y="6422400"/>
            <a:ext cx="594000" cy="522000"/>
          </a:xfrm>
          <a:prstGeom prst="rect">
            <a:avLst/>
          </a:prstGeom>
          <a:solidFill>
            <a:srgbClr val="1E0A5C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8" name="TextBox 58"/>
          <p:cNvSpPr/>
          <p:nvPr/>
        </p:nvSpPr>
        <p:spPr>
          <a:xfrm>
            <a:off x="10771200" y="6422400"/>
            <a:ext cx="594000" cy="522000"/>
          </a:xfrm>
          <a:prstGeom prst="rect">
            <a:avLst/>
          </a:prstGeom>
          <a:solidFill>
            <a:srgbClr val="3C287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11444400" y="6422400"/>
            <a:ext cx="594000" cy="522000"/>
          </a:xfrm>
          <a:prstGeom prst="rect">
            <a:avLst/>
          </a:prstGeom>
          <a:solidFill>
            <a:srgbClr val="2E187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12117600" y="6422400"/>
            <a:ext cx="594000" cy="522000"/>
          </a:xfrm>
          <a:prstGeom prst="rect">
            <a:avLst/>
          </a:prstGeom>
          <a:solidFill>
            <a:srgbClr val="F0382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>
            <a:off x="12790800" y="6422400"/>
            <a:ext cx="594000" cy="522000"/>
          </a:xfrm>
          <a:prstGeom prst="rect">
            <a:avLst/>
          </a:prstGeom>
          <a:solidFill>
            <a:srgbClr val="3C287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!!prism"/>
          <p:cNvSpPr/>
          <p:nvPr/>
        </p:nvSpPr>
        <p:spPr>
          <a:xfrm>
            <a:off x="0" y="4878000"/>
            <a:ext cx="12193200" cy="1980000"/>
          </a:xfrm>
          <a:prstGeom prst="rect">
            <a:avLst/>
          </a:prstGeom>
          <a:gradFill>
            <a:gsLst>
              <a:gs pos="0">
                <a:srgbClr val="1E0A5C">
                  <a:alpha val="92000"/>
                </a:srgbClr>
              </a:gs>
              <a:gs pos="100000">
                <a:srgbClr val="F03820">
                  <a:alpha val="92000"/>
                </a:srgbClr>
              </a:gs>
            </a:gsLst>
            <a:lin ang="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>
            <a:off x="0" y="0"/>
            <a:ext cx="12193200" cy="162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>
            <a:off x="540000" y="288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0A5C"/>
                </a:solidFill>
                <a:latin typeface="Segoe UI"/>
                <a:ea typeface="Segoe UI"/>
              </a:rPr>
              <a:t>PROCESS</a:t>
            </a:r>
          </a:p>
        </p:txBody>
      </p:sp>
      <p:sp>
        <p:nvSpPr>
          <p:cNvPr id="65" name="TextBox 65"/>
          <p:cNvSpPr/>
          <p:nvPr/>
        </p:nvSpPr>
        <p:spPr>
          <a:xfrm>
            <a:off x="540000" y="684000"/>
            <a:ext cx="1440000" cy="36000"/>
          </a:xfrm>
          <a:prstGeom prst="rect">
            <a:avLst/>
          </a:prstGeom>
          <a:solidFill>
            <a:srgbClr val="1E0A5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6" name="TextBox 66"/>
          <p:cNvSpPr/>
          <p:nvPr/>
        </p:nvSpPr>
        <p:spPr>
          <a:xfrm>
            <a:off x="540000" y="864000"/>
            <a:ext cx="72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000" b="1">
                <a:solidFill>
                  <a:srgbClr val="1E0A5C"/>
                </a:solidFill>
                <a:latin typeface="Segoe UI Black"/>
                <a:ea typeface="Segoe UI Black"/>
              </a:rPr>
              <a:t>How We</a:t>
            </a:r>
          </a:p>
          <a:p>
            <a:r>
              <a:rPr lang="en-US" sz="5000" b="1">
                <a:solidFill>
                  <a:srgbClr val="1E0A5C"/>
                </a:solidFill>
                <a:latin typeface="Segoe UI Black"/>
                <a:ea typeface="Segoe UI Black"/>
              </a:rPr>
              <a:t>Work.</a:t>
            </a:r>
          </a:p>
        </p:txBody>
      </p:sp>
      <p:sp>
        <p:nvSpPr>
          <p:cNvPr id="67" name="TextBox 67"/>
          <p:cNvSpPr/>
          <p:nvPr/>
        </p:nvSpPr>
        <p:spPr>
          <a:xfrm>
            <a:off x="540000" y="3240000"/>
            <a:ext cx="25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03820"/>
                </a:solidFill>
                <a:latin typeface="Segoe UI Black"/>
                <a:ea typeface="Segoe UI Black"/>
              </a:rPr>
              <a:t>DISCOVER</a:t>
            </a:r>
          </a:p>
        </p:txBody>
      </p:sp>
      <p:sp>
        <p:nvSpPr>
          <p:cNvPr id="68" name="TextBox 68"/>
          <p:cNvSpPr/>
          <p:nvPr/>
        </p:nvSpPr>
        <p:spPr>
          <a:xfrm>
            <a:off x="540000" y="3744000"/>
            <a:ext cx="25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Research · Interviews</a:t>
            </a:r>
          </a:p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Competitor audit</a:t>
            </a:r>
          </a:p>
        </p:txBody>
      </p:sp>
      <p:sp>
        <p:nvSpPr>
          <p:cNvPr id="69" name="TextBox 69"/>
          <p:cNvSpPr/>
          <p:nvPr/>
        </p:nvSpPr>
        <p:spPr>
          <a:xfrm>
            <a:off x="3420000" y="3240000"/>
            <a:ext cx="25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1E0A5C"/>
                </a:solidFill>
                <a:latin typeface="Segoe UI Black"/>
                <a:ea typeface="Segoe UI Black"/>
              </a:rPr>
              <a:t>DEFINE</a:t>
            </a:r>
          </a:p>
        </p:txBody>
      </p:sp>
      <p:sp>
        <p:nvSpPr>
          <p:cNvPr id="70" name="TextBox 70"/>
          <p:cNvSpPr/>
          <p:nvPr/>
        </p:nvSpPr>
        <p:spPr>
          <a:xfrm>
            <a:off x="3420000" y="3744000"/>
            <a:ext cx="25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Strategy · Roadmap</a:t>
            </a:r>
          </a:p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Scope &amp; OKRs</a:t>
            </a:r>
          </a:p>
        </p:txBody>
      </p:sp>
      <p:sp>
        <p:nvSpPr>
          <p:cNvPr id="71" name="TextBox 71"/>
          <p:cNvSpPr/>
          <p:nvPr/>
        </p:nvSpPr>
        <p:spPr>
          <a:xfrm>
            <a:off x="6300000" y="3240000"/>
            <a:ext cx="25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0A000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72" name="TextBox 72"/>
          <p:cNvSpPr/>
          <p:nvPr/>
        </p:nvSpPr>
        <p:spPr>
          <a:xfrm>
            <a:off x="6300000" y="3744000"/>
            <a:ext cx="25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Prototyping · System</a:t>
            </a:r>
          </a:p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Motion &amp; UX</a:t>
            </a:r>
          </a:p>
        </p:txBody>
      </p:sp>
      <p:sp>
        <p:nvSpPr>
          <p:cNvPr id="73" name="TextBox 73"/>
          <p:cNvSpPr/>
          <p:nvPr/>
        </p:nvSpPr>
        <p:spPr>
          <a:xfrm>
            <a:off x="9180000" y="3240000"/>
            <a:ext cx="25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A0F040"/>
                </a:solidFill>
                <a:latin typeface="Segoe UI Black"/>
                <a:ea typeface="Segoe UI Black"/>
              </a:rPr>
              <a:t>DEPLOY</a:t>
            </a:r>
          </a:p>
        </p:txBody>
      </p:sp>
      <p:sp>
        <p:nvSpPr>
          <p:cNvPr id="74" name="TextBox 74"/>
          <p:cNvSpPr/>
          <p:nvPr/>
        </p:nvSpPr>
        <p:spPr>
          <a:xfrm>
            <a:off x="9180000" y="3744000"/>
            <a:ext cx="252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Build · QA · Launch</a:t>
            </a:r>
          </a:p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Ops · Iterate</a:t>
            </a:r>
          </a:p>
        </p:txBody>
      </p:sp>
      <p:sp>
        <p:nvSpPr>
          <p:cNvPr id="75" name="TextBox 75"/>
          <p:cNvSpPr/>
          <p:nvPr/>
        </p:nvSpPr>
        <p:spPr>
          <a:xfrm>
            <a:off x="720000" y="507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5F0E8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76" name="TextBox 76"/>
          <p:cNvSpPr/>
          <p:nvPr/>
        </p:nvSpPr>
        <p:spPr>
          <a:xfrm>
            <a:off x="3600000" y="507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5F0E8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77" name="TextBox 77"/>
          <p:cNvSpPr/>
          <p:nvPr/>
        </p:nvSpPr>
        <p:spPr>
          <a:xfrm>
            <a:off x="6480000" y="507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5F0E8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78" name="TextBox 78"/>
          <p:cNvSpPr/>
          <p:nvPr/>
        </p:nvSpPr>
        <p:spPr>
          <a:xfrm>
            <a:off x="9360000" y="5076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5F0E8"/>
                </a:solidFill>
                <a:latin typeface="Segoe UI Black"/>
                <a:ea typeface="Segoe UI Black"/>
              </a:rPr>
              <a:t>04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prism"/>
          <p:cNvSpPr/>
          <p:nvPr/>
        </p:nvSpPr>
        <p:spPr>
          <a:xfrm>
            <a:off x="6120000" y="0"/>
            <a:ext cx="6073200" cy="6858000"/>
          </a:xfrm>
          <a:prstGeom prst="rect">
            <a:avLst/>
          </a:prstGeom>
          <a:gradFill>
            <a:gsLst>
              <a:gs pos="0">
                <a:srgbClr val="F03820">
                  <a:alpha val="96000"/>
                </a:srgbClr>
              </a:gs>
              <a:gs pos="100000">
                <a:srgbClr val="2E1878">
                  <a:alpha val="96000"/>
                </a:srgbClr>
              </a:gs>
            </a:gsLst>
            <a:lin ang="102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120000" y="0"/>
            <a:ext cx="6073200" cy="162000"/>
          </a:xfrm>
          <a:prstGeom prst="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36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0A5C"/>
                </a:solidFill>
                <a:latin typeface="Segoe UI"/>
                <a:ea typeface="Segoe UI"/>
              </a:rPr>
              <a:t>CASE STUDY</a:t>
            </a:r>
          </a:p>
        </p:txBody>
      </p:sp>
      <p:sp>
        <p:nvSpPr>
          <p:cNvPr id="5" name="TextBox 5"/>
          <p:cNvSpPr/>
          <p:nvPr/>
        </p:nvSpPr>
        <p:spPr>
          <a:xfrm>
            <a:off x="540000" y="756000"/>
            <a:ext cx="1440000" cy="36000"/>
          </a:xfrm>
          <a:prstGeom prst="rect">
            <a:avLst/>
          </a:prstGeom>
          <a:solidFill>
            <a:srgbClr val="F038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540000" y="936000"/>
            <a:ext cx="504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E0A5C"/>
                </a:solidFill>
                <a:latin typeface="Segoe UI Black"/>
                <a:ea typeface="Segoe UI Black"/>
              </a:rPr>
              <a:t>From 0 to</a:t>
            </a:r>
          </a:p>
          <a:p>
            <a:r>
              <a:rPr lang="en-US" sz="3600" b="1">
                <a:solidFill>
                  <a:srgbClr val="1E0A5C"/>
                </a:solidFill>
                <a:latin typeface="Segoe UI Black"/>
                <a:ea typeface="Segoe UI Black"/>
              </a:rPr>
              <a:t>$120M ARR</a:t>
            </a:r>
          </a:p>
          <a:p>
            <a:r>
              <a:rPr lang="en-US" sz="3600" b="1">
                <a:solidFill>
                  <a:srgbClr val="1E0A5C"/>
                </a:solidFill>
                <a:latin typeface="Segoe UI Black"/>
                <a:ea typeface="Segoe UI Black"/>
              </a:rPr>
              <a:t>in 18 months.</a:t>
            </a:r>
          </a:p>
        </p:txBody>
      </p:sp>
      <p:sp>
        <p:nvSpPr>
          <p:cNvPr id="7" name="TextBox 7"/>
          <p:cNvSpPr/>
          <p:nvPr/>
        </p:nvSpPr>
        <p:spPr>
          <a:xfrm>
            <a:off x="540000" y="4140000"/>
            <a:ext cx="504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4A4060"/>
                </a:solidFill>
                <a:latin typeface="Segoe UI"/>
                <a:ea typeface="Segoe UI"/>
              </a:rPr>
              <a:t>Client: FinTech scale-up, Series B</a:t>
            </a:r>
          </a:p>
          <a:p>
            <a:r>
              <a:rPr lang="en-US" sz="1200">
                <a:solidFill>
                  <a:srgbClr val="4A4060"/>
                </a:solidFill>
                <a:latin typeface="Segoe UI"/>
                <a:ea typeface="Segoe UI"/>
              </a:rPr>
              <a:t>Challenge: Platform re-architecture under active growth</a:t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5112000"/>
            <a:ext cx="5040000" cy="18000"/>
          </a:xfrm>
          <a:prstGeom prst="rect">
            <a:avLst/>
          </a:prstGeom>
          <a:solidFill>
            <a:srgbClr val="C8C0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40000" y="5256000"/>
            <a:ext cx="50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4060"/>
                </a:solidFill>
                <a:latin typeface="Segoe UI"/>
                <a:ea typeface="Segoe UI"/>
              </a:rPr>
              <a:t>Outcome: 4× faster deployment · 99.99% uptime · 2M+ new users</a:t>
            </a:r>
          </a:p>
        </p:txBody>
      </p:sp>
      <p:sp>
        <p:nvSpPr>
          <p:cNvPr id="10" name="TextBox 10"/>
          <p:cNvSpPr/>
          <p:nvPr/>
        </p:nvSpPr>
        <p:spPr>
          <a:xfrm>
            <a:off x="6408000" y="720000"/>
            <a:ext cx="54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5F0E8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3200" b="1">
                <a:solidFill>
                  <a:srgbClr val="F5F0E8"/>
                </a:solidFill>
                <a:latin typeface="Segoe UI Black"/>
                <a:ea typeface="Segoe UI Black"/>
              </a:rPr>
              <a:t>Challenge.</a:t>
            </a:r>
          </a:p>
        </p:txBody>
      </p:sp>
      <p:sp>
        <p:nvSpPr>
          <p:cNvPr id="11" name="TextBox 11"/>
          <p:cNvSpPr/>
          <p:nvPr/>
        </p:nvSpPr>
        <p:spPr>
          <a:xfrm>
            <a:off x="6408000" y="2880000"/>
            <a:ext cx="5400000" cy="16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5F0E8"/>
                </a:solidFill>
                <a:latin typeface="Segoe UI"/>
                <a:ea typeface="Segoe UI"/>
              </a:rPr>
              <a:t>Legacy monolith unable to handle 10× surge in daily active users. Engineers shipping features 3× slower than roadmap required.</a:t>
            </a:r>
          </a:p>
        </p:txBody>
      </p:sp>
      <p:sp>
        <p:nvSpPr>
          <p:cNvPr id="12" name="TextBox 12"/>
          <p:cNvSpPr/>
          <p:nvPr/>
        </p:nvSpPr>
        <p:spPr>
          <a:xfrm>
            <a:off x="6408000" y="4860000"/>
            <a:ext cx="3240000" cy="720000"/>
          </a:xfrm>
          <a:prstGeom prst="roundRect">
            <a:avLst/>
          </a:prstGeom>
          <a:solidFill>
            <a:srgbClr val="F0A0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408000" y="4860000"/>
            <a:ext cx="3240000" cy="7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>
                <a:solidFill>
                  <a:srgbClr val="1E0A5C"/>
                </a:solidFill>
                <a:latin typeface="Segoe UI Black"/>
                <a:ea typeface="Segoe UI Black"/>
              </a:rPr>
              <a:t>Read Full Case Study →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A0F040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320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368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416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470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518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566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620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1668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 rot="1716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 rot="1770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 rot="1818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 rot="1866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 rot="19200000">
            <a:off x="6094800" y="3420000"/>
            <a:ext cx="100800" cy="9000000"/>
          </a:xfrm>
          <a:prstGeom prst="rect">
            <a:avLst/>
          </a:prstGeom>
          <a:solidFill>
            <a:srgbClr val="1E0A5C">
              <a:alpha val="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prism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A0F040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1E0A5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40000" y="18000"/>
            <a:ext cx="7200000" cy="19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A0F040"/>
                </a:solidFill>
                <a:latin typeface="Segoe UI"/>
                <a:ea typeface="Segoe UI"/>
              </a:rPr>
              <a:t>GET STARTED</a:t>
            </a:r>
          </a:p>
        </p:txBody>
      </p:sp>
      <p:sp>
        <p:nvSpPr>
          <p:cNvPr id="18" name="TextBox 18"/>
          <p:cNvSpPr/>
          <p:nvPr/>
        </p:nvSpPr>
        <p:spPr>
          <a:xfrm>
            <a:off x="540000" y="54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E0A5C"/>
                </a:solidFill>
                <a:latin typeface="Segoe UI Black"/>
                <a:ea typeface="Segoe UI Black"/>
              </a:rPr>
              <a:t>Let's build</a:t>
            </a:r>
          </a:p>
          <a:p>
            <a:r>
              <a:rPr lang="en-US" sz="6400" b="1">
                <a:solidFill>
                  <a:srgbClr val="1E0A5C"/>
                </a:solidFill>
                <a:latin typeface="Segoe UI Black"/>
                <a:ea typeface="Segoe UI Black"/>
              </a:rPr>
              <a:t>something</a:t>
            </a:r>
          </a:p>
          <a:p>
            <a:r>
              <a:rPr lang="en-US" sz="6400" b="1">
                <a:solidFill>
                  <a:srgbClr val="1E0A5C"/>
                </a:solidFill>
                <a:latin typeface="Segoe UI Black"/>
                <a:ea typeface="Segoe UI Black"/>
              </a:rPr>
              <a:t>spectral.</a:t>
            </a:r>
          </a:p>
        </p:txBody>
      </p:sp>
      <p:sp>
        <p:nvSpPr>
          <p:cNvPr id="19" name="TextBox 19"/>
          <p:cNvSpPr/>
          <p:nvPr/>
        </p:nvSpPr>
        <p:spPr>
          <a:xfrm>
            <a:off x="9540000" y="180000"/>
            <a:ext cx="2520000" cy="2520000"/>
          </a:xfrm>
          <a:prstGeom prst="ellipse">
            <a:avLst/>
          </a:prstGeom>
          <a:solidFill>
            <a:srgbClr val="1E0A5C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9900000" y="540000"/>
            <a:ext cx="1800000" cy="1800000"/>
          </a:xfrm>
          <a:prstGeom prst="ellipse">
            <a:avLst/>
          </a:prstGeom>
          <a:solidFill>
            <a:srgbClr val="F0382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10260000" y="900000"/>
            <a:ext cx="1080000" cy="1080000"/>
          </a:xfrm>
          <a:prstGeom prst="ellipse">
            <a:avLst/>
          </a:prstGeom>
          <a:solidFill>
            <a:srgbClr val="1E0A5C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10548000" y="1188000"/>
            <a:ext cx="504000" cy="504000"/>
          </a:xfrm>
          <a:prstGeom prst="ellipse">
            <a:avLst/>
          </a:prstGeom>
          <a:solidFill>
            <a:srgbClr val="F0382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540000" y="5112000"/>
            <a:ext cx="5400000" cy="36000"/>
          </a:xfrm>
          <a:prstGeom prst="rect">
            <a:avLst/>
          </a:prstGeom>
          <a:solidFill>
            <a:srgbClr val="1E0A5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540000" y="5256000"/>
            <a:ext cx="64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E0A5C"/>
                </a:solidFill>
                <a:latin typeface="Segoe UI Black"/>
                <a:ea typeface="Segoe UI Black"/>
              </a:rPr>
              <a:t>hello@spectral.studio</a:t>
            </a:r>
          </a:p>
        </p:txBody>
      </p:sp>
      <p:sp>
        <p:nvSpPr>
          <p:cNvPr id="25" name="TextBox 25"/>
          <p:cNvSpPr/>
          <p:nvPr/>
        </p:nvSpPr>
        <p:spPr>
          <a:xfrm>
            <a:off x="540000" y="5760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E0A5C"/>
                </a:solidFill>
                <a:latin typeface="Segoe UI"/>
                <a:ea typeface="Segoe UI"/>
              </a:rPr>
              <a:t>+1 415 ··· ·· ··  /  spectral.studio</a:t>
            </a:r>
          </a:p>
        </p:txBody>
      </p:sp>
      <p:sp>
        <p:nvSpPr>
          <p:cNvPr id="26" name="TextBox 26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1E0A5C"/>
                </a:solidFill>
                <a:latin typeface="Segoe UI"/>
                <a:ea typeface="Segoe UI"/>
              </a:rPr>
              <a:t>spectral.studio</a:t>
            </a:r>
          </a:p>
        </p:txBody>
      </p:sp>
      <p:sp>
        <p:nvSpPr>
          <p:cNvPr id="27" name="TextBox 27"/>
          <p:cNvSpPr/>
          <p:nvPr/>
        </p:nvSpPr>
        <p:spPr>
          <a:xfrm>
            <a:off x="9720000" y="5400000"/>
            <a:ext cx="504000" cy="432000"/>
          </a:xfrm>
          <a:prstGeom prst="rect">
            <a:avLst/>
          </a:prstGeom>
          <a:solidFill>
            <a:srgbClr val="1E0A5C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0296000" y="5400000"/>
            <a:ext cx="504000" cy="432000"/>
          </a:xfrm>
          <a:prstGeom prst="rect">
            <a:avLst/>
          </a:prstGeom>
          <a:solidFill>
            <a:srgbClr val="F0382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10872000" y="5400000"/>
            <a:ext cx="504000" cy="432000"/>
          </a:xfrm>
          <a:prstGeom prst="rect">
            <a:avLst/>
          </a:prstGeom>
          <a:solidFill>
            <a:srgbClr val="1E0A5C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11448000" y="5400000"/>
            <a:ext cx="504000" cy="432000"/>
          </a:xfrm>
          <a:prstGeom prst="rect">
            <a:avLst/>
          </a:prstGeom>
          <a:solidFill>
            <a:srgbClr val="3C287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9720000" y="5904000"/>
            <a:ext cx="504000" cy="432000"/>
          </a:xfrm>
          <a:prstGeom prst="rect">
            <a:avLst/>
          </a:prstGeom>
          <a:solidFill>
            <a:srgbClr val="1E0A5C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0296000" y="5904000"/>
            <a:ext cx="504000" cy="432000"/>
          </a:xfrm>
          <a:prstGeom prst="rect">
            <a:avLst/>
          </a:prstGeom>
          <a:solidFill>
            <a:srgbClr val="F0382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0872000" y="5904000"/>
            <a:ext cx="504000" cy="432000"/>
          </a:xfrm>
          <a:prstGeom prst="rect">
            <a:avLst/>
          </a:prstGeom>
          <a:solidFill>
            <a:srgbClr val="1E0A5C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11448000" y="5904000"/>
            <a:ext cx="504000" cy="432000"/>
          </a:xfrm>
          <a:prstGeom prst="rect">
            <a:avLst/>
          </a:prstGeom>
          <a:solidFill>
            <a:srgbClr val="3C287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9720000" y="6408000"/>
            <a:ext cx="504000" cy="432000"/>
          </a:xfrm>
          <a:prstGeom prst="rect">
            <a:avLst/>
          </a:prstGeom>
          <a:solidFill>
            <a:srgbClr val="1E0A5C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10296000" y="6408000"/>
            <a:ext cx="504000" cy="432000"/>
          </a:xfrm>
          <a:prstGeom prst="rect">
            <a:avLst/>
          </a:prstGeom>
          <a:solidFill>
            <a:srgbClr val="F0382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10872000" y="6408000"/>
            <a:ext cx="504000" cy="432000"/>
          </a:xfrm>
          <a:prstGeom prst="rect">
            <a:avLst/>
          </a:prstGeom>
          <a:solidFill>
            <a:srgbClr val="1E0A5C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11448000" y="6408000"/>
            <a:ext cx="504000" cy="432000"/>
          </a:xfrm>
          <a:prstGeom prst="rect">
            <a:avLst/>
          </a:prstGeom>
          <a:solidFill>
            <a:srgbClr val="3C2870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