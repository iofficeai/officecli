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e4703d1162f44b98"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sldIdLst>
    <p:sldId id="256" r:id="Reb0cffadaf0c46d8"/>
    <p:sldId id="257" r:id="Rad40f5989ab248ee"/>
    <p:sldId id="258" r:id="R0a32a1ae78944bc9"/>
    <p:sldId id="259" r:id="R46e7a351e31d4f2e"/>
    <p:sldId id="260" r:id="R03cdb31731bd4bf9"/>
    <p:sldId id="261" r:id="Re718e7cde7e24629"/>
    <p:sldId id="262" r:id="R6038e8c4aff94be1"/>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eb0cffadaf0c46d8" /><Relationship Type="http://schemas.openxmlformats.org/officeDocument/2006/relationships/slide" Target="/ppt/slides/slide2.xml" Id="Rad40f5989ab248ee" /><Relationship Type="http://schemas.openxmlformats.org/officeDocument/2006/relationships/slide" Target="/ppt/slides/slide3.xml" Id="R0a32a1ae78944bc9" /><Relationship Type="http://schemas.openxmlformats.org/officeDocument/2006/relationships/slide" Target="/ppt/slides/slide4.xml" Id="R46e7a351e31d4f2e" /><Relationship Type="http://schemas.openxmlformats.org/officeDocument/2006/relationships/slide" Target="/ppt/slides/slide5.xml" Id="R03cdb31731bd4bf9" /><Relationship Type="http://schemas.openxmlformats.org/officeDocument/2006/relationships/slide" Target="/ppt/slides/slide6.xml" Id="Re718e7cde7e24629" /><Relationship Type="http://schemas.openxmlformats.org/officeDocument/2006/relationships/slide" Target="/ppt/slides/slide7.xml" Id="R6038e8c4aff94be1"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d844bd618e40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828ccb691149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44fa1a0df443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7a7384f4da447c"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20780294cc63452d"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s>
</file>

<file path=ppt/slideMasters/slideMaster1.xml><?xml version="1.0" encoding="utf-8"?>
<p:sldMaster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216de2d7e7f545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9455b03de543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2c9df7f2aa47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8fa230a2db4a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3af92c11a543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6efafb345e40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c66353904b45f9" /></Relationships>
</file>

<file path=ppt/slides/slide1.xml><?xml version="1.0" encoding="utf-8"?>
<p:sld xmlns:a="http://schemas.openxmlformats.org/drawingml/2006/main" xmlns:p="http://schemas.openxmlformats.org/presentationml/2006/main">
  <p:cSld>
    <p:bg>
      <p:bgPr>
        <a:solidFill xmlns:a="http://schemas.openxmlformats.org/drawingml/2006/main">
          <a:srgbClr val="E8E8E8"/>
        </a:solidFill>
      </p:bgPr>
    </p:bg>
    <p:spTree>
      <p:nvGrpSpPr>
        <p:cNvPr id="1" name=""/>
        <p:cNvGrpSpPr/>
        <p:nvPr/>
      </p:nvGrpSpPr>
      <p:grpSpPr/>
      <p:sp>
        <p:nvSpPr>
          <p:cNvPr id="2" name="!!neon-block"/>
          <p:cNvSpPr/>
          <p:nvPr/>
        </p:nvSpPr>
        <p:spPr>
          <a:xfrm>
            <a:off x="0" y="0"/>
            <a:ext cx="5760000" cy="6858000"/>
          </a:xfrm>
          <a:prstGeom prst="rect">
            <a:avLst/>
          </a:prstGeom>
          <a:solidFill>
            <a:srgbClr val="00FF41"/>
          </a:solidFill>
        </p:spPr>
        <p:txBody>
          <a:bodyPr/>
          <a:lstStyle/>
          <a:p>
            <a:r>
              <a:rPr lang="en-US"/>
              <a:t/>
            </a:r>
          </a:p>
        </p:txBody>
      </p:sp>
      <p:sp>
        <p:nvSpPr>
          <p:cNvPr id="3" name="TextBox 3"/>
          <p:cNvSpPr/>
          <p:nvPr/>
        </p:nvSpPr>
        <p:spPr>
          <a:xfrm>
            <a:off x="6120000" y="720000"/>
            <a:ext cx="5760000" cy="3600000"/>
          </a:xfrm>
          <a:prstGeom prst="rect">
            <a:avLst/>
          </a:prstGeom>
          <a:noFill/>
        </p:spPr>
        <p:txBody>
          <a:bodyPr/>
          <a:lstStyle/>
          <a:p>
            <a:r>
              <a:rPr lang="en-US" sz="5600" b="1">
                <a:solidFill>
                  <a:srgbClr val="111111"/>
                </a:solidFill>
                <a:latin typeface="Segoe UI Black"/>
                <a:ea typeface="Segoe UI Black"/>
              </a:rPr>
              <a:t>OPENING</a:t>
            </a:r>
          </a:p>
          <a:p>
            <a:r>
              <a:rPr lang="en-US" sz="5600" b="1">
                <a:solidFill>
                  <a:srgbClr val="111111"/>
                </a:solidFill>
                <a:latin typeface="Segoe UI Black"/>
                <a:ea typeface="Segoe UI Black"/>
              </a:rPr>
              <a:t>REMARKS</a:t>
            </a:r>
          </a:p>
        </p:txBody>
      </p:sp>
      <p:sp>
        <p:nvSpPr>
          <p:cNvPr id="4" name="TextBox 4"/>
          <p:cNvSpPr/>
          <p:nvPr/>
        </p:nvSpPr>
        <p:spPr>
          <a:xfrm>
            <a:off x="6120000" y="4680000"/>
            <a:ext cx="5760000" cy="1620000"/>
          </a:xfrm>
          <a:prstGeom prst="rect">
            <a:avLst/>
          </a:prstGeom>
          <a:noFill/>
        </p:spPr>
        <p:txBody>
          <a:bodyPr/>
          <a:lstStyle/>
          <a:p>
            <a:r>
              <a:rPr lang="en-US" sz="1600">
                <a:solidFill>
                  <a:srgbClr val="555555"/>
                </a:solidFill>
                <a:latin typeface="Segoe UI"/>
                <a:ea typeface="Segoe UI"/>
              </a:rPr>
              <a:t>Peter Žiga</a:t>
            </a:r>
          </a:p>
          <a:p>
            <a:r>
              <a:rPr lang="en-US" sz="1600">
                <a:solidFill>
                  <a:srgbClr val="555555"/>
                </a:solidFill>
                <a:latin typeface="Segoe UI"/>
                <a:ea typeface="Segoe UI"/>
              </a:rPr>
              <a:t>Minister of Economy</a:t>
            </a:r>
          </a:p>
          <a:p>
            <a:r>
              <a:rPr lang="en-US" sz="1600">
                <a:solidFill>
                  <a:srgbClr val="555555"/>
                </a:solidFill>
                <a:latin typeface="Segoe UI"/>
                <a:ea typeface="Segoe UI"/>
              </a:rPr>
              <a:t>of the Slovak Republic</a:t>
            </a:r>
          </a:p>
        </p:txBody>
      </p:sp>
      <p:sp>
        <p:nvSpPr>
          <p:cNvPr id="5" name="TextBox 5"/>
          <p:cNvSpPr/>
          <p:nvPr/>
        </p:nvSpPr>
        <p:spPr>
          <a:xfrm>
            <a:off x="6120000" y="6300000"/>
            <a:ext cx="5760000" cy="432000"/>
          </a:xfrm>
          <a:prstGeom prst="rect">
            <a:avLst/>
          </a:prstGeom>
          <a:noFill/>
        </p:spPr>
        <p:txBody>
          <a:bodyPr/>
          <a:lstStyle/>
          <a:p>
            <a:r>
              <a:rPr lang="en-US" sz="1300">
                <a:solidFill>
                  <a:srgbClr val="555555"/>
                </a:solidFill>
                <a:latin typeface="Segoe UI"/>
                <a:ea typeface="Segoe UI"/>
              </a:rPr>
              <a:t>#energymanifest2019</a:t>
            </a:r>
          </a:p>
        </p:txBody>
      </p:sp>
      <p:sp>
        <p:nvSpPr>
          <p:cNvPr id="6" name="TextBox 6"/>
          <p:cNvSpPr/>
          <p:nvPr/>
        </p:nvSpPr>
        <p:spPr>
          <a:xfrm>
            <a:off x="180000" y="6300000"/>
            <a:ext cx="5400000" cy="432000"/>
          </a:xfrm>
          <a:prstGeom prst="rect">
            <a:avLst/>
          </a:prstGeom>
          <a:noFill/>
        </p:spPr>
        <p:txBody>
          <a:bodyPr/>
          <a:lstStyle/>
          <a:p>
            <a:r>
              <a:rPr lang="en-US" sz="1300">
                <a:solidFill>
                  <a:srgbClr val="111111"/>
                </a:solidFill>
                <a:latin typeface="Segoe UI"/>
                <a:ea typeface="Segoe UI"/>
              </a:rPr>
              <a:t>Energy Manifest Conference</a:t>
            </a:r>
          </a:p>
        </p:txBody>
      </p:sp>
    </p:spTree>
  </p:cSld>
</p:sld>
</file>

<file path=ppt/slides/slide2.xml><?xml version="1.0" encoding="utf-8"?>
<p:sld xmlns:a="http://schemas.openxmlformats.org/drawingml/2006/main" xmlns:p="http://schemas.openxmlformats.org/presentationml/2006/main" xmlns:p159="http://schemas.microsoft.com/office/powerpoint/2015/09/main" xmlns:mc="http://schemas.openxmlformats.org/markup-compatibility/2006" xmlns:p14="http://schemas.microsoft.com/office/powerpoint/2010/main" mc:Ignorable="p159">
  <p:cSld>
    <p:bg>
      <p:bgPr>
        <a:solidFill xmlns:a="http://schemas.openxmlformats.org/drawingml/2006/main">
          <a:srgbClr val="E8E8E8"/>
        </a:solidFill>
      </p:bgPr>
    </p:bg>
    <p:spTree>
      <p:nvGrpSpPr>
        <p:cNvPr id="1" name=""/>
        <p:cNvGrpSpPr/>
        <p:nvPr/>
      </p:nvGrpSpPr>
      <p:grpSpPr/>
      <p:sp>
        <p:nvSpPr>
          <p:cNvPr id="2" name="!!neon-block"/>
          <p:cNvSpPr/>
          <p:nvPr/>
        </p:nvSpPr>
        <p:spPr>
          <a:xfrm>
            <a:off x="9000000" y="0"/>
            <a:ext cx="3193200" cy="2880000"/>
          </a:xfrm>
          <a:prstGeom prst="rect">
            <a:avLst/>
          </a:prstGeom>
          <a:solidFill>
            <a:srgbClr val="00FF41"/>
          </a:solidFill>
        </p:spPr>
        <p:txBody>
          <a:bodyPr/>
          <a:lstStyle/>
          <a:p>
            <a:r>
              <a:rPr lang="en-US"/>
              <a:t/>
            </a:r>
          </a:p>
        </p:txBody>
      </p:sp>
      <p:sp>
        <p:nvSpPr>
          <p:cNvPr id="3" name="TextBox 3"/>
          <p:cNvSpPr/>
          <p:nvPr/>
        </p:nvSpPr>
        <p:spPr>
          <a:xfrm>
            <a:off x="360000" y="1440000"/>
            <a:ext cx="11833200" cy="28800"/>
          </a:xfrm>
          <a:prstGeom prst="rect">
            <a:avLst/>
          </a:prstGeom>
          <a:solidFill>
            <a:srgbClr val="111111"/>
          </a:solidFill>
        </p:spPr>
        <p:txBody>
          <a:bodyPr/>
          <a:lstStyle/>
          <a:p>
            <a:r>
              <a:rPr lang="en-US"/>
              <a:t/>
            </a:r>
          </a:p>
        </p:txBody>
      </p:sp>
      <p:sp>
        <p:nvSpPr>
          <p:cNvPr id="4" name="TextBox 4"/>
          <p:cNvSpPr/>
          <p:nvPr/>
        </p:nvSpPr>
        <p:spPr>
          <a:xfrm>
            <a:off x="360000" y="360000"/>
            <a:ext cx="5400000" cy="900000"/>
          </a:xfrm>
          <a:prstGeom prst="rect">
            <a:avLst/>
          </a:prstGeom>
          <a:noFill/>
        </p:spPr>
        <p:txBody>
          <a:bodyPr/>
          <a:lstStyle/>
          <a:p>
            <a:r>
              <a:rPr lang="en-US" sz="3200" b="1">
                <a:solidFill>
                  <a:srgbClr val="111111"/>
                </a:solidFill>
                <a:latin typeface="Segoe UI Black"/>
                <a:ea typeface="Segoe UI Black"/>
              </a:rPr>
              <a:t>SPEAKERS</a:t>
            </a:r>
          </a:p>
        </p:txBody>
      </p:sp>
      <p:sp>
        <p:nvSpPr>
          <p:cNvPr id="5" name="TextBox 5"/>
          <p:cNvSpPr/>
          <p:nvPr/>
        </p:nvSpPr>
        <p:spPr>
          <a:xfrm>
            <a:off x="360000" y="1800000"/>
            <a:ext cx="2520000" cy="3600000"/>
          </a:xfrm>
          <a:prstGeom prst="rect">
            <a:avLst/>
          </a:prstGeom>
          <a:noFill/>
        </p:spPr>
        <p:txBody>
          <a:bodyPr/>
          <a:lstStyle/>
          <a:p>
            <a:r>
              <a:rPr lang="en-US" sz="1200">
                <a:solidFill>
                  <a:srgbClr val="111111"/>
                </a:solidFill>
                <a:latin typeface="Segoe UI"/>
                <a:ea typeface="Segoe UI"/>
              </a:rPr>
              <a:t>Annet Teeisla</a:t>
            </a:r>
          </a:p>
          <a:p>
            <a:r>
              <a:rPr lang="en-US" sz="1200">
                <a:solidFill>
                  <a:srgbClr val="111111"/>
                </a:solidFill>
                <a:latin typeface="Segoe UI"/>
                <a:ea typeface="Segoe UI"/>
              </a:rPr>
              <a:t>Policy Officer at</a:t>
            </a:r>
          </a:p>
          <a:p>
            <a:r>
              <a:rPr lang="en-US" sz="1200">
                <a:solidFill>
                  <a:srgbClr val="111111"/>
                </a:solidFill>
                <a:latin typeface="Segoe UI"/>
                <a:ea typeface="Segoe UI"/>
              </a:rPr>
              <a:t>the European</a:t>
            </a:r>
          </a:p>
          <a:p>
            <a:r>
              <a:rPr lang="en-US" sz="1200">
                <a:solidFill>
                  <a:srgbClr val="111111"/>
                </a:solidFill>
                <a:latin typeface="Segoe UI"/>
                <a:ea typeface="Segoe UI"/>
              </a:rPr>
              <a:t>Association for</a:t>
            </a:r>
          </a:p>
          <a:p>
            <a:r>
              <a:rPr lang="en-US" sz="1200">
                <a:solidFill>
                  <a:srgbClr val="111111"/>
                </a:solidFill>
                <a:latin typeface="Segoe UI"/>
                <a:ea typeface="Segoe UI"/>
              </a:rPr>
              <a:t>Storage of Energy</a:t>
            </a:r>
          </a:p>
        </p:txBody>
      </p:sp>
      <p:sp>
        <p:nvSpPr>
          <p:cNvPr id="6" name="TextBox 6"/>
          <p:cNvSpPr/>
          <p:nvPr/>
        </p:nvSpPr>
        <p:spPr>
          <a:xfrm>
            <a:off x="3420000" y="1800000"/>
            <a:ext cx="2520000" cy="3600000"/>
          </a:xfrm>
          <a:prstGeom prst="rect">
            <a:avLst/>
          </a:prstGeom>
          <a:noFill/>
        </p:spPr>
        <p:txBody>
          <a:bodyPr/>
          <a:lstStyle/>
          <a:p>
            <a:r>
              <a:rPr lang="en-US" sz="1200">
                <a:solidFill>
                  <a:srgbClr val="111111"/>
                </a:solidFill>
                <a:latin typeface="Segoe UI"/>
                <a:ea typeface="Segoe UI"/>
              </a:rPr>
              <a:t>Peter Digoris</a:t>
            </a:r>
          </a:p>
          <a:p>
            <a:r>
              <a:rPr lang="en-US" sz="1200">
                <a:solidFill>
                  <a:srgbClr val="111111"/>
                </a:solidFill>
                <a:latin typeface="Segoe UI"/>
                <a:ea typeface="Segoe UI"/>
              </a:rPr>
              <a:t>Head of Department</a:t>
            </a:r>
          </a:p>
          <a:p>
            <a:r>
              <a:rPr lang="en-US" sz="1200">
                <a:solidFill>
                  <a:srgbClr val="111111"/>
                </a:solidFill>
                <a:latin typeface="Segoe UI"/>
                <a:ea typeface="Segoe UI"/>
              </a:rPr>
              <a:t>of Mechatronics and</a:t>
            </a:r>
          </a:p>
          <a:p>
            <a:r>
              <a:rPr lang="en-US" sz="1200">
                <a:solidFill>
                  <a:srgbClr val="111111"/>
                </a:solidFill>
                <a:latin typeface="Segoe UI"/>
                <a:ea typeface="Segoe UI"/>
              </a:rPr>
              <a:t>Automatics, University</a:t>
            </a:r>
          </a:p>
          <a:p>
            <a:r>
              <a:rPr lang="en-US" sz="1200">
                <a:solidFill>
                  <a:srgbClr val="111111"/>
                </a:solidFill>
                <a:latin typeface="Segoe UI"/>
                <a:ea typeface="Segoe UI"/>
              </a:rPr>
              <a:t>of Žilina</a:t>
            </a:r>
          </a:p>
        </p:txBody>
      </p:sp>
      <p:sp>
        <p:nvSpPr>
          <p:cNvPr id="7" name="TextBox 7"/>
          <p:cNvSpPr/>
          <p:nvPr/>
        </p:nvSpPr>
        <p:spPr>
          <a:xfrm>
            <a:off x="6480000" y="1800000"/>
            <a:ext cx="2520000" cy="3600000"/>
          </a:xfrm>
          <a:prstGeom prst="rect">
            <a:avLst/>
          </a:prstGeom>
          <a:noFill/>
        </p:spPr>
        <p:txBody>
          <a:bodyPr/>
          <a:lstStyle/>
          <a:p>
            <a:r>
              <a:rPr lang="en-US" sz="1200">
                <a:solidFill>
                  <a:srgbClr val="111111"/>
                </a:solidFill>
                <a:latin typeface="Segoe UI"/>
                <a:ea typeface="Segoe UI"/>
              </a:rPr>
              <a:t>Andrea Srídová</a:t>
            </a:r>
          </a:p>
          <a:p>
            <a:r>
              <a:rPr lang="en-US" sz="1200">
                <a:solidFill>
                  <a:srgbClr val="111111"/>
                </a:solidFill>
                <a:latin typeface="Segoe UI"/>
                <a:ea typeface="Segoe UI"/>
              </a:rPr>
              <a:t>Politician.</a:t>
            </a:r>
          </a:p>
          <a:p>
            <a:r>
              <a:rPr lang="en-US" sz="1200">
                <a:solidFill>
                  <a:srgbClr val="111111"/>
                </a:solidFill>
                <a:latin typeface="Segoe UI"/>
                <a:ea typeface="Segoe UI"/>
              </a:rPr>
              <a:t>Associate Professor</a:t>
            </a:r>
          </a:p>
          <a:p>
            <a:r>
              <a:rPr lang="en-US" sz="1200">
                <a:solidFill>
                  <a:srgbClr val="111111"/>
                </a:solidFill>
                <a:latin typeface="Segoe UI"/>
                <a:ea typeface="Segoe UI"/>
              </a:rPr>
              <a:t>at Pavel Jozef Šafárik</a:t>
            </a:r>
          </a:p>
          <a:p>
            <a:r>
              <a:rPr lang="en-US" sz="1200">
                <a:solidFill>
                  <a:srgbClr val="111111"/>
                </a:solidFill>
                <a:latin typeface="Segoe UI"/>
                <a:ea typeface="Segoe UI"/>
              </a:rPr>
              <a:t>University</a:t>
            </a:r>
          </a:p>
        </p:txBody>
      </p:sp>
      <p:sp>
        <p:nvSpPr>
          <p:cNvPr id="8" name="TextBox 8"/>
          <p:cNvSpPr/>
          <p:nvPr/>
        </p:nvSpPr>
        <p:spPr>
          <a:xfrm>
            <a:off x="9540000" y="1800000"/>
            <a:ext cx="2340000" cy="3600000"/>
          </a:xfrm>
          <a:prstGeom prst="rect">
            <a:avLst/>
          </a:prstGeom>
          <a:noFill/>
        </p:spPr>
        <p:txBody>
          <a:bodyPr/>
          <a:lstStyle/>
          <a:p>
            <a:r>
              <a:rPr lang="en-US" sz="1200">
                <a:solidFill>
                  <a:srgbClr val="111111"/>
                </a:solidFill>
                <a:latin typeface="Segoe UI"/>
                <a:ea typeface="Segoe UI"/>
              </a:rPr>
              <a:t>Peter Hegedúc</a:t>
            </a:r>
          </a:p>
          <a:p>
            <a:r>
              <a:rPr lang="en-US" sz="1200">
                <a:solidFill>
                  <a:srgbClr val="111111"/>
                </a:solidFill>
                <a:latin typeface="Segoe UI"/>
                <a:ea typeface="Segoe UI"/>
              </a:rPr>
              <a:t>Managing Partner of</a:t>
            </a:r>
          </a:p>
          <a:p>
            <a:r>
              <a:rPr lang="en-US" sz="1200">
                <a:solidFill>
                  <a:srgbClr val="111111"/>
                </a:solidFill>
                <a:latin typeface="Segoe UI"/>
                <a:ea typeface="Segoe UI"/>
              </a:rPr>
              <a:t>SynCo Group's Energy</a:t>
            </a:r>
          </a:p>
          <a:p>
            <a:r>
              <a:rPr lang="en-US" sz="1200">
                <a:solidFill>
                  <a:srgbClr val="111111"/>
                </a:solidFill>
                <a:latin typeface="Segoe UI"/>
                <a:ea typeface="Segoe UI"/>
              </a:rPr>
              <a:t>Division</a:t>
            </a:r>
          </a:p>
        </p:txBody>
      </p:sp>
      <p:sp>
        <p:nvSpPr>
          <p:cNvPr id="9" name="TextBox 9"/>
          <p:cNvSpPr/>
          <p:nvPr/>
        </p:nvSpPr>
        <p:spPr>
          <a:xfrm>
            <a:off x="3132000" y="1620000"/>
            <a:ext cx="21600" cy="4680000"/>
          </a:xfrm>
          <a:prstGeom prst="rect">
            <a:avLst/>
          </a:prstGeom>
          <a:solidFill>
            <a:srgbClr val="555555"/>
          </a:solidFill>
        </p:spPr>
        <p:txBody>
          <a:bodyPr/>
          <a:lstStyle/>
          <a:p>
            <a:r>
              <a:rPr lang="en-US"/>
              <a:t/>
            </a:r>
          </a:p>
        </p:txBody>
      </p:sp>
      <p:sp>
        <p:nvSpPr>
          <p:cNvPr id="10" name="TextBox 10"/>
          <p:cNvSpPr/>
          <p:nvPr/>
        </p:nvSpPr>
        <p:spPr>
          <a:xfrm>
            <a:off x="6192000" y="1620000"/>
            <a:ext cx="21600" cy="4680000"/>
          </a:xfrm>
          <a:prstGeom prst="rect">
            <a:avLst/>
          </a:prstGeom>
          <a:solidFill>
            <a:srgbClr val="555555"/>
          </a:solidFill>
        </p:spPr>
        <p:txBody>
          <a:bodyPr/>
          <a:lstStyle/>
          <a:p>
            <a:r>
              <a:rPr lang="en-US"/>
              <a:t/>
            </a:r>
          </a:p>
        </p:txBody>
      </p:sp>
      <p:sp>
        <p:nvSpPr>
          <p:cNvPr id="11" name="TextBox 11"/>
          <p:cNvSpPr/>
          <p:nvPr/>
        </p:nvSpPr>
        <p:spPr>
          <a:xfrm>
            <a:off x="9252000" y="1620000"/>
            <a:ext cx="21600" cy="4680000"/>
          </a:xfrm>
          <a:prstGeom prst="rect">
            <a:avLst/>
          </a:prstGeom>
          <a:solidFill>
            <a:srgbClr val="555555"/>
          </a:solidFill>
        </p:spPr>
        <p:txBody>
          <a:bodyPr/>
          <a:lstStyle/>
          <a:p>
            <a:r>
              <a:rPr lang="en-US"/>
              <a:t/>
            </a:r>
          </a:p>
        </p:txBody>
      </p:sp>
      <p:sp>
        <p:nvSpPr>
          <p:cNvPr id="12" name="TextBox 12"/>
          <p:cNvSpPr/>
          <p:nvPr/>
        </p:nvSpPr>
        <p:spPr>
          <a:xfrm>
            <a:off x="9000000" y="6300000"/>
            <a:ext cx="2880000" cy="432000"/>
          </a:xfrm>
          <a:prstGeom prst="rect">
            <a:avLst/>
          </a:prstGeom>
          <a:noFill/>
        </p:spPr>
        <p:txBody>
          <a:bodyPr/>
          <a:lstStyle/>
          <a:p>
            <a:pPr algn="r"/>
            <a:r>
              <a:rPr lang="en-US" sz="1300">
                <a:solidFill>
                  <a:srgbClr val="111111"/>
                </a:solidFill>
                <a:latin typeface="Segoe UI"/>
                <a:ea typeface="Segoe UI"/>
              </a:rPr>
              <a:t>#energymanifest2019</a:t>
            </a:r>
          </a:p>
        </p:txBody>
      </p:sp>
      <p:sp>
        <p:nvSpPr>
          <p:cNvPr id="13" name="TextBox 13"/>
          <p:cNvSpPr/>
          <p:nvPr/>
        </p:nvSpPr>
        <p:spPr>
          <a:xfrm>
            <a:off x="180000" y="6300000"/>
            <a:ext cx="5760000" cy="432000"/>
          </a:xfrm>
          <a:prstGeom prst="rect">
            <a:avLst/>
          </a:prstGeom>
          <a:noFill/>
        </p:spPr>
        <p:txBody>
          <a:bodyPr/>
          <a:lstStyle/>
          <a:p>
            <a:r>
              <a:rPr lang="en-US" sz="1300">
                <a:solidFill>
                  <a:srgbClr val="555555"/>
                </a:solidFill>
                <a:latin typeface="Segoe UI"/>
                <a:ea typeface="Segoe UI"/>
              </a:rPr>
              <a:t>Energy Manifest Conference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3.xml><?xml version="1.0" encoding="utf-8"?>
<p:sld xmlns:a="http://schemas.openxmlformats.org/drawingml/2006/main" xmlns:p="http://schemas.openxmlformats.org/presentationml/2006/main" xmlns:p159="http://schemas.microsoft.com/office/powerpoint/2015/09/main" xmlns:mc="http://schemas.openxmlformats.org/markup-compatibility/2006" xmlns:p14="http://schemas.microsoft.com/office/powerpoint/2010/main" mc:Ignorable="p159">
  <p:cSld>
    <p:bg>
      <p:bgPr>
        <a:solidFill xmlns:a="http://schemas.openxmlformats.org/drawingml/2006/main">
          <a:srgbClr val="E8E8E8"/>
        </a:solidFill>
      </p:bgPr>
    </p:bg>
    <p:spTree>
      <p:nvGrpSpPr>
        <p:cNvPr id="1" name=""/>
        <p:cNvGrpSpPr/>
        <p:nvPr/>
      </p:nvGrpSpPr>
      <p:grpSpPr/>
      <p:sp>
        <p:nvSpPr>
          <p:cNvPr id="2" name="!!neon-block"/>
          <p:cNvSpPr/>
          <p:nvPr/>
        </p:nvSpPr>
        <p:spPr>
          <a:xfrm>
            <a:off x="6120000" y="0"/>
            <a:ext cx="6073200" cy="6858000"/>
          </a:xfrm>
          <a:prstGeom prst="rect">
            <a:avLst/>
          </a:prstGeom>
          <a:solidFill>
            <a:srgbClr val="00FF41"/>
          </a:solidFill>
        </p:spPr>
        <p:txBody>
          <a:bodyPr/>
          <a:lstStyle/>
          <a:p>
            <a:r>
              <a:rPr lang="en-US"/>
              <a:t/>
            </a:r>
          </a:p>
        </p:txBody>
      </p:sp>
      <p:sp>
        <p:nvSpPr>
          <p:cNvPr id="3" name="TextBox 3"/>
          <p:cNvSpPr/>
          <p:nvPr/>
        </p:nvSpPr>
        <p:spPr>
          <a:xfrm>
            <a:off x="6480000" y="360000"/>
            <a:ext cx="5400000" cy="720000"/>
          </a:xfrm>
          <a:prstGeom prst="rect">
            <a:avLst/>
          </a:prstGeom>
          <a:noFill/>
        </p:spPr>
        <p:txBody>
          <a:bodyPr/>
          <a:lstStyle/>
          <a:p>
            <a:r>
              <a:rPr lang="en-US" sz="1200">
                <a:solidFill>
                  <a:srgbClr val="111111"/>
                </a:solidFill>
                <a:latin typeface="Segoe UI"/>
                <a:ea typeface="Segoe UI"/>
              </a:rPr>
              <a:t>Slovak Battery Alliance Young Research Award</a:t>
            </a:r>
          </a:p>
        </p:txBody>
      </p:sp>
      <p:sp>
        <p:nvSpPr>
          <p:cNvPr id="4" name="TextBox 4"/>
          <p:cNvSpPr/>
          <p:nvPr/>
        </p:nvSpPr>
        <p:spPr>
          <a:xfrm>
            <a:off x="6480000" y="1800000"/>
            <a:ext cx="5400000" cy="720000"/>
          </a:xfrm>
          <a:prstGeom prst="rect">
            <a:avLst/>
          </a:prstGeom>
          <a:noFill/>
        </p:spPr>
        <p:txBody>
          <a:bodyPr/>
          <a:lstStyle/>
          <a:p>
            <a:r>
              <a:rPr lang="en-US" sz="1800" b="1">
                <a:solidFill>
                  <a:srgbClr val="111111"/>
                </a:solidFill>
                <a:latin typeface="Segoe UI Black"/>
                <a:ea typeface="Segoe UI Black"/>
              </a:rPr>
              <a:t>Samuel Fideriák</a:t>
            </a:r>
          </a:p>
        </p:txBody>
      </p:sp>
      <p:sp>
        <p:nvSpPr>
          <p:cNvPr id="5" name="TextBox 5"/>
          <p:cNvSpPr/>
          <p:nvPr/>
        </p:nvSpPr>
        <p:spPr>
          <a:xfrm>
            <a:off x="6480000" y="2700000"/>
            <a:ext cx="5400000" cy="1800000"/>
          </a:xfrm>
          <a:prstGeom prst="rect">
            <a:avLst/>
          </a:prstGeom>
          <a:noFill/>
        </p:spPr>
        <p:txBody>
          <a:bodyPr/>
          <a:lstStyle/>
          <a:p>
            <a:r>
              <a:rPr lang="en-US" sz="1400">
                <a:solidFill>
                  <a:srgbClr val="111111"/>
                </a:solidFill>
                <a:latin typeface="Segoe UI"/>
                <a:ea typeface="Segoe UI"/>
              </a:rPr>
              <a:t>Possibilities of recycling of selected</a:t>
            </a:r>
          </a:p>
          <a:p>
            <a:r>
              <a:rPr lang="en-US" sz="1400">
                <a:solidFill>
                  <a:srgbClr val="111111"/>
                </a:solidFill>
                <a:latin typeface="Segoe UI"/>
                <a:ea typeface="Segoe UI"/>
              </a:rPr>
              <a:t>accumulators from hybrids,</a:t>
            </a:r>
          </a:p>
          <a:p>
            <a:r>
              <a:rPr lang="en-US" sz="1400">
                <a:solidFill>
                  <a:srgbClr val="111111"/>
                </a:solidFill>
                <a:latin typeface="Segoe UI"/>
                <a:ea typeface="Segoe UI"/>
              </a:rPr>
              <a:t>plug-in hybrids and electric cars.</a:t>
            </a:r>
          </a:p>
        </p:txBody>
      </p:sp>
      <p:sp>
        <p:nvSpPr>
          <p:cNvPr id="6" name="TextBox 6"/>
          <p:cNvSpPr/>
          <p:nvPr/>
        </p:nvSpPr>
        <p:spPr>
          <a:xfrm>
            <a:off x="6480000" y="6300000"/>
            <a:ext cx="5400000" cy="432000"/>
          </a:xfrm>
          <a:prstGeom prst="rect">
            <a:avLst/>
          </a:prstGeom>
          <a:noFill/>
        </p:spPr>
        <p:txBody>
          <a:bodyPr/>
          <a:lstStyle/>
          <a:p>
            <a:pPr algn="r"/>
            <a:r>
              <a:rPr lang="en-US" sz="1300">
                <a:solidFill>
                  <a:srgbClr val="111111"/>
                </a:solidFill>
                <a:latin typeface="Segoe UI"/>
                <a:ea typeface="Segoe UI"/>
              </a:rPr>
              <a:t>#energymanifest2019</a:t>
            </a:r>
          </a:p>
        </p:txBody>
      </p:sp>
      <p:sp>
        <p:nvSpPr>
          <p:cNvPr id="7" name="TextBox 7"/>
          <p:cNvSpPr/>
          <p:nvPr/>
        </p:nvSpPr>
        <p:spPr>
          <a:xfrm>
            <a:off x="180000" y="6300000"/>
            <a:ext cx="5760000" cy="432000"/>
          </a:xfrm>
          <a:prstGeom prst="rect">
            <a:avLst/>
          </a:prstGeom>
          <a:noFill/>
        </p:spPr>
        <p:txBody>
          <a:bodyPr/>
          <a:lstStyle/>
          <a:p>
            <a:r>
              <a:rPr lang="en-US" sz="1300">
                <a:solidFill>
                  <a:srgbClr val="555555"/>
                </a:solidFill>
                <a:latin typeface="Segoe UI"/>
                <a:ea typeface="Segoe UI"/>
              </a:rPr>
              <a:t>Energy Manifest Conference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4.xml><?xml version="1.0" encoding="utf-8"?>
<p:sld xmlns:a="http://schemas.openxmlformats.org/drawingml/2006/main" xmlns:p="http://schemas.openxmlformats.org/presentationml/2006/main" xmlns:p159="http://schemas.microsoft.com/office/powerpoint/2015/09/main" xmlns:mc="http://schemas.openxmlformats.org/markup-compatibility/2006" xmlns:p14="http://schemas.microsoft.com/office/powerpoint/2010/main" mc:Ignorable="p159">
  <p:cSld>
    <p:bg>
      <p:bgPr>
        <a:solidFill xmlns:a="http://schemas.openxmlformats.org/drawingml/2006/main">
          <a:srgbClr val="E8E8E8"/>
        </a:solidFill>
      </p:bgPr>
    </p:bg>
    <p:spTree>
      <p:nvGrpSpPr>
        <p:cNvPr id="1" name=""/>
        <p:cNvGrpSpPr/>
        <p:nvPr/>
      </p:nvGrpSpPr>
      <p:grpSpPr/>
      <p:sp>
        <p:nvSpPr>
          <p:cNvPr id="2" name="!!neon-block"/>
          <p:cNvSpPr/>
          <p:nvPr/>
        </p:nvSpPr>
        <p:spPr>
          <a:xfrm>
            <a:off x="0" y="3780000"/>
            <a:ext cx="12193200" cy="3078000"/>
          </a:xfrm>
          <a:prstGeom prst="rect">
            <a:avLst/>
          </a:prstGeom>
          <a:solidFill>
            <a:srgbClr val="00FF41"/>
          </a:solidFill>
        </p:spPr>
        <p:txBody>
          <a:bodyPr/>
          <a:lstStyle/>
          <a:p>
            <a:r>
              <a:rPr lang="en-US"/>
              <a:t/>
            </a:r>
          </a:p>
        </p:txBody>
      </p:sp>
      <p:sp>
        <p:nvSpPr>
          <p:cNvPr id="3" name="TextBox 3"/>
          <p:cNvSpPr/>
          <p:nvPr/>
        </p:nvSpPr>
        <p:spPr>
          <a:xfrm>
            <a:off x="180000" y="180000"/>
            <a:ext cx="11880000" cy="3600000"/>
          </a:xfrm>
          <a:prstGeom prst="rect">
            <a:avLst/>
          </a:prstGeom>
          <a:noFill/>
        </p:spPr>
        <p:txBody>
          <a:bodyPr/>
          <a:lstStyle/>
          <a:p>
            <a:r>
              <a:rPr lang="en-US" sz="6000" b="1">
                <a:solidFill>
                  <a:srgbClr val="111111"/>
                </a:solidFill>
                <a:latin typeface="Segoe UI Black"/>
                <a:ea typeface="Segoe UI Black"/>
              </a:rPr>
              <a:t>ENERGY STORAGE</a:t>
            </a:r>
          </a:p>
          <a:p>
            <a:r>
              <a:rPr lang="en-US" sz="6000" b="1">
                <a:solidFill>
                  <a:srgbClr val="111111"/>
                </a:solidFill>
                <a:latin typeface="Segoe UI Black"/>
                <a:ea typeface="Segoe UI Black"/>
              </a:rPr>
              <a:t>SOLUTIONS</a:t>
            </a:r>
          </a:p>
        </p:txBody>
      </p:sp>
      <p:sp>
        <p:nvSpPr>
          <p:cNvPr id="4" name="TextBox 4"/>
          <p:cNvSpPr/>
          <p:nvPr/>
        </p:nvSpPr>
        <p:spPr>
          <a:xfrm>
            <a:off x="180000" y="4140000"/>
            <a:ext cx="7200000" cy="720000"/>
          </a:xfrm>
          <a:prstGeom prst="rect">
            <a:avLst/>
          </a:prstGeom>
          <a:noFill/>
        </p:spPr>
        <p:txBody>
          <a:bodyPr/>
          <a:lstStyle/>
          <a:p>
            <a:r>
              <a:rPr lang="en-US" sz="2200" b="1">
                <a:solidFill>
                  <a:srgbClr val="111111"/>
                </a:solidFill>
                <a:latin typeface="Segoe UI Black"/>
                <a:ea typeface="Segoe UI Black"/>
              </a:rPr>
              <a:t>Energy Manifest Conference</a:t>
            </a:r>
          </a:p>
        </p:txBody>
      </p:sp>
      <p:sp>
        <p:nvSpPr>
          <p:cNvPr id="5" name="TextBox 5"/>
          <p:cNvSpPr/>
          <p:nvPr/>
        </p:nvSpPr>
        <p:spPr>
          <a:xfrm>
            <a:off x="7200000" y="4140000"/>
            <a:ext cx="4680000" cy="720000"/>
          </a:xfrm>
          <a:prstGeom prst="rect">
            <a:avLst/>
          </a:prstGeom>
          <a:noFill/>
        </p:spPr>
        <p:txBody>
          <a:bodyPr/>
          <a:lstStyle/>
          <a:p>
            <a:pPr algn="r"/>
            <a:r>
              <a:rPr lang="en-US" sz="1600">
                <a:solidFill>
                  <a:srgbClr val="111111"/>
                </a:solidFill>
                <a:latin typeface="Segoe UI"/>
                <a:ea typeface="Segoe UI"/>
              </a:rPr>
              <a:t>#energymanifest2019</a:t>
            </a:r>
          </a:p>
        </p:txBody>
      </p:sp>
      <p:sp>
        <p:nvSpPr>
          <p:cNvPr id="6" name="TextBox 6"/>
          <p:cNvSpPr/>
          <p:nvPr/>
        </p:nvSpPr>
        <p:spPr>
          <a:xfrm>
            <a:off x="180000" y="5040000"/>
            <a:ext cx="11880000" cy="1440000"/>
          </a:xfrm>
          <a:prstGeom prst="rect">
            <a:avLst/>
          </a:prstGeom>
          <a:noFill/>
        </p:spPr>
        <p:txBody>
          <a:bodyPr/>
          <a:lstStyle/>
          <a:p>
            <a:r>
              <a:rPr lang="en-US" sz="1800">
                <a:solidFill>
                  <a:srgbClr val="111111"/>
                </a:solidFill>
                <a:latin typeface="Segoe UI"/>
                <a:ea typeface="Segoe UI"/>
              </a:rPr>
              <a:t>Redefining the future of energy storage</a:t>
            </a:r>
          </a:p>
          <a:p>
            <a:r>
              <a:rPr lang="en-US" sz="1800">
                <a:solidFill>
                  <a:srgbClr val="111111"/>
                </a:solidFill>
                <a:latin typeface="Segoe UI"/>
                <a:ea typeface="Segoe UI"/>
              </a:rPr>
              <a:t>through innovation, policy, and research.</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5.xml><?xml version="1.0" encoding="utf-8"?>
<p:sld xmlns:a="http://schemas.openxmlformats.org/drawingml/2006/main" xmlns:p="http://schemas.openxmlformats.org/presentationml/2006/main" xmlns:p159="http://schemas.microsoft.com/office/powerpoint/2015/09/main" xmlns:mc="http://schemas.openxmlformats.org/markup-compatibility/2006" xmlns:p14="http://schemas.microsoft.com/office/powerpoint/2010/main" mc:Ignorable="p159">
  <p:cSld>
    <p:bg>
      <p:bgPr>
        <a:solidFill xmlns:a="http://schemas.openxmlformats.org/drawingml/2006/main">
          <a:srgbClr val="E8E8E8"/>
        </a:solidFill>
      </p:bgPr>
    </p:bg>
    <p:spTree>
      <p:nvGrpSpPr>
        <p:cNvPr id="1" name=""/>
        <p:cNvGrpSpPr/>
        <p:nvPr/>
      </p:nvGrpSpPr>
      <p:grpSpPr/>
      <p:sp>
        <p:nvSpPr>
          <p:cNvPr id="2" name="!!neon-block"/>
          <p:cNvSpPr/>
          <p:nvPr/>
        </p:nvSpPr>
        <p:spPr>
          <a:xfrm>
            <a:off x="0" y="0"/>
            <a:ext cx="7200000" cy="6858000"/>
          </a:xfrm>
          <a:prstGeom prst="rect">
            <a:avLst/>
          </a:prstGeom>
          <a:solidFill>
            <a:srgbClr val="00FF41"/>
          </a:solidFill>
        </p:spPr>
        <p:txBody>
          <a:bodyPr/>
          <a:lstStyle/>
          <a:p>
            <a:r>
              <a:rPr lang="en-US"/>
              <a:t/>
            </a:r>
          </a:p>
        </p:txBody>
      </p:sp>
      <p:sp>
        <p:nvSpPr>
          <p:cNvPr id="3" name="TextBox 3"/>
          <p:cNvSpPr/>
          <p:nvPr/>
        </p:nvSpPr>
        <p:spPr>
          <a:xfrm>
            <a:off x="180000" y="1080000"/>
            <a:ext cx="6840000" cy="3600000"/>
          </a:xfrm>
          <a:prstGeom prst="rect">
            <a:avLst/>
          </a:prstGeom>
          <a:noFill/>
        </p:spPr>
        <p:txBody>
          <a:bodyPr/>
          <a:lstStyle/>
          <a:p>
            <a:r>
              <a:rPr lang="en-US" sz="5200" b="1">
                <a:solidFill>
                  <a:srgbClr val="111111"/>
                </a:solidFill>
                <a:latin typeface="Segoe UI Black"/>
                <a:ea typeface="Segoe UI Black"/>
              </a:rPr>
              <a:t>COFFEE BREAK</a:t>
            </a:r>
          </a:p>
          <a:p>
            <a:r>
              <a:rPr lang="en-US" sz="5200" b="1">
                <a:solidFill>
                  <a:srgbClr val="111111"/>
                </a:solidFill>
                <a:latin typeface="Segoe UI Black"/>
                <a:ea typeface="Segoe UI Black"/>
              </a:rPr>
              <a:t>&amp; SNACK</a:t>
            </a:r>
          </a:p>
        </p:txBody>
      </p:sp>
      <p:sp>
        <p:nvSpPr>
          <p:cNvPr id="4" name="TextBox 4"/>
          <p:cNvSpPr/>
          <p:nvPr/>
        </p:nvSpPr>
        <p:spPr>
          <a:xfrm>
            <a:off x="180000" y="6300000"/>
            <a:ext cx="5760000" cy="432000"/>
          </a:xfrm>
          <a:prstGeom prst="rect">
            <a:avLst/>
          </a:prstGeom>
          <a:noFill/>
        </p:spPr>
        <p:txBody>
          <a:bodyPr/>
          <a:lstStyle/>
          <a:p>
            <a:r>
              <a:rPr lang="en-US" sz="1300">
                <a:solidFill>
                  <a:srgbClr val="111111"/>
                </a:solidFill>
                <a:latin typeface="Segoe UI"/>
                <a:ea typeface="Segoe UI"/>
              </a:rPr>
              <a:t>Energy Manifest Conference</a:t>
            </a:r>
          </a:p>
        </p:txBody>
      </p:sp>
      <p:sp>
        <p:nvSpPr>
          <p:cNvPr id="5" name="TextBox 5"/>
          <p:cNvSpPr/>
          <p:nvPr/>
        </p:nvSpPr>
        <p:spPr>
          <a:xfrm>
            <a:off x="7560000" y="6300000"/>
            <a:ext cx="4320000" cy="432000"/>
          </a:xfrm>
          <a:prstGeom prst="rect">
            <a:avLst/>
          </a:prstGeom>
          <a:noFill/>
        </p:spPr>
        <p:txBody>
          <a:bodyPr/>
          <a:lstStyle/>
          <a:p>
            <a:pPr algn="r"/>
            <a:r>
              <a:rPr lang="en-US" sz="1300">
                <a:solidFill>
                  <a:srgbClr val="111111"/>
                </a:solidFill>
                <a:latin typeface="Segoe UI"/>
                <a:ea typeface="Segoe UI"/>
              </a:rPr>
              <a:t>#energymanifest2019</a:t>
            </a:r>
          </a:p>
        </p:txBody>
      </p:sp>
      <p:sp>
        <p:nvSpPr>
          <p:cNvPr id="6" name="TextBox 6"/>
          <p:cNvSpPr/>
          <p:nvPr/>
        </p:nvSpPr>
        <p:spPr>
          <a:xfrm>
            <a:off x="7740000" y="2880000"/>
            <a:ext cx="3960000" cy="1080000"/>
          </a:xfrm>
          <a:prstGeom prst="rect">
            <a:avLst/>
          </a:prstGeom>
          <a:noFill/>
        </p:spPr>
        <p:txBody>
          <a:bodyPr/>
          <a:lstStyle/>
          <a:p>
            <a:r>
              <a:rPr lang="en-US" sz="2800" b="1">
                <a:solidFill>
                  <a:srgbClr val="555555"/>
                </a:solidFill>
                <a:latin typeface="Segoe UI Black"/>
                <a:ea typeface="Segoe UI Black"/>
              </a:rPr>
              <a:t>15 minutes</a:t>
            </a:r>
          </a:p>
        </p:txBody>
      </p:sp>
      <p:sp>
        <p:nvSpPr>
          <p:cNvPr id="7" name="TextBox 7"/>
          <p:cNvSpPr/>
          <p:nvPr/>
        </p:nvSpPr>
        <p:spPr>
          <a:xfrm>
            <a:off x="7740000" y="4320000"/>
            <a:ext cx="3960000" cy="1440000"/>
          </a:xfrm>
          <a:prstGeom prst="rect">
            <a:avLst/>
          </a:prstGeom>
          <a:noFill/>
        </p:spPr>
        <p:txBody>
          <a:bodyPr/>
          <a:lstStyle/>
          <a:p>
            <a:r>
              <a:rPr lang="en-US" sz="1600">
                <a:solidFill>
                  <a:srgbClr val="555555"/>
                </a:solidFill>
                <a:latin typeface="Segoe UI"/>
                <a:ea typeface="Segoe UI"/>
              </a:rPr>
              <a:t>Networking area:</a:t>
            </a:r>
          </a:p>
          <a:p>
            <a:r>
              <a:rPr lang="en-US" sz="1600">
                <a:solidFill>
                  <a:srgbClr val="555555"/>
                </a:solidFill>
                <a:latin typeface="Segoe UI"/>
                <a:ea typeface="Segoe UI"/>
              </a:rPr>
              <a:t>Ground floor lobby</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6.xml><?xml version="1.0" encoding="utf-8"?>
<p:sld xmlns:a="http://schemas.openxmlformats.org/drawingml/2006/main" xmlns:p="http://schemas.openxmlformats.org/presentationml/2006/main" xmlns:p159="http://schemas.microsoft.com/office/powerpoint/2015/09/main" xmlns:mc="http://schemas.openxmlformats.org/markup-compatibility/2006" xmlns:p14="http://schemas.microsoft.com/office/powerpoint/2010/main" mc:Ignorable="p159">
  <p:cSld>
    <p:bg>
      <p:bgPr>
        <a:solidFill xmlns:a="http://schemas.openxmlformats.org/drawingml/2006/main">
          <a:srgbClr val="E8E8E8"/>
        </a:solidFill>
      </p:bgPr>
    </p:bg>
    <p:spTree>
      <p:nvGrpSpPr>
        <p:cNvPr id="1" name=""/>
        <p:cNvGrpSpPr/>
        <p:nvPr/>
      </p:nvGrpSpPr>
      <p:grpSpPr/>
      <p:sp>
        <p:nvSpPr>
          <p:cNvPr id="2" name="!!neon-block"/>
          <p:cNvSpPr/>
          <p:nvPr/>
        </p:nvSpPr>
        <p:spPr>
          <a:xfrm>
            <a:off x="0" y="0"/>
            <a:ext cx="12193200" cy="1260000"/>
          </a:xfrm>
          <a:prstGeom prst="rect">
            <a:avLst/>
          </a:prstGeom>
          <a:solidFill>
            <a:srgbClr val="00FF41"/>
          </a:solidFill>
        </p:spPr>
        <p:txBody>
          <a:bodyPr/>
          <a:lstStyle/>
          <a:p>
            <a:r>
              <a:rPr lang="en-US"/>
              <a:t/>
            </a:r>
          </a:p>
        </p:txBody>
      </p:sp>
      <p:sp>
        <p:nvSpPr>
          <p:cNvPr id="3" name="TextBox 3"/>
          <p:cNvSpPr/>
          <p:nvPr/>
        </p:nvSpPr>
        <p:spPr>
          <a:xfrm>
            <a:off x="180000" y="108000"/>
            <a:ext cx="2700000" cy="1008000"/>
          </a:xfrm>
          <a:prstGeom prst="rect">
            <a:avLst/>
          </a:prstGeom>
          <a:noFill/>
        </p:spPr>
        <p:txBody>
          <a:bodyPr/>
          <a:lstStyle/>
          <a:p>
            <a:r>
              <a:rPr lang="en-US" sz="1000" b="1">
                <a:solidFill>
                  <a:srgbClr val="111111"/>
                </a:solidFill>
                <a:latin typeface="Segoe UI Black"/>
                <a:ea typeface="Segoe UI Black"/>
              </a:rPr>
              <a:t>ELECTROMOBILITY</a:t>
            </a:r>
          </a:p>
          <a:p>
            <a:r>
              <a:rPr lang="en-US" sz="1000" b="1">
                <a:solidFill>
                  <a:srgbClr val="111111"/>
                </a:solidFill>
                <a:latin typeface="Segoe UI Black"/>
                <a:ea typeface="Segoe UI Black"/>
              </a:rPr>
              <a:t>LEGISLATION UPGRADE</a:t>
            </a:r>
          </a:p>
        </p:txBody>
      </p:sp>
      <p:sp>
        <p:nvSpPr>
          <p:cNvPr id="4" name="TextBox 4"/>
          <p:cNvSpPr/>
          <p:nvPr/>
        </p:nvSpPr>
        <p:spPr>
          <a:xfrm>
            <a:off x="3240000" y="108000"/>
            <a:ext cx="2700000" cy="1008000"/>
          </a:xfrm>
          <a:prstGeom prst="rect">
            <a:avLst/>
          </a:prstGeom>
          <a:noFill/>
        </p:spPr>
        <p:txBody>
          <a:bodyPr/>
          <a:lstStyle/>
          <a:p>
            <a:r>
              <a:rPr lang="en-US" sz="1000" b="1">
                <a:solidFill>
                  <a:srgbClr val="111111"/>
                </a:solidFill>
                <a:latin typeface="Segoe UI Black"/>
                <a:ea typeface="Segoe UI Black"/>
              </a:rPr>
              <a:t>ENERGY STORAGE</a:t>
            </a:r>
          </a:p>
          <a:p>
            <a:r>
              <a:rPr lang="en-US" sz="1000" b="1">
                <a:solidFill>
                  <a:srgbClr val="111111"/>
                </a:solidFill>
                <a:latin typeface="Segoe UI Black"/>
                <a:ea typeface="Segoe UI Black"/>
              </a:rPr>
              <a:t>REGULATION ADJUSTMENTS</a:t>
            </a:r>
          </a:p>
        </p:txBody>
      </p:sp>
      <p:sp>
        <p:nvSpPr>
          <p:cNvPr id="5" name="TextBox 5"/>
          <p:cNvSpPr/>
          <p:nvPr/>
        </p:nvSpPr>
        <p:spPr>
          <a:xfrm>
            <a:off x="6300000" y="108000"/>
            <a:ext cx="2700000" cy="1008000"/>
          </a:xfrm>
          <a:prstGeom prst="rect">
            <a:avLst/>
          </a:prstGeom>
          <a:noFill/>
        </p:spPr>
        <p:txBody>
          <a:bodyPr/>
          <a:lstStyle/>
          <a:p>
            <a:r>
              <a:rPr lang="en-US" sz="1000" b="1">
                <a:solidFill>
                  <a:srgbClr val="111111"/>
                </a:solidFill>
                <a:latin typeface="Segoe UI Black"/>
                <a:ea typeface="Segoe UI Black"/>
              </a:rPr>
              <a:t>ACADEMIC</a:t>
            </a:r>
          </a:p>
          <a:p>
            <a:r>
              <a:rPr lang="en-US" sz="1000" b="1">
                <a:solidFill>
                  <a:srgbClr val="111111"/>
                </a:solidFill>
                <a:latin typeface="Segoe UI Black"/>
                <a:ea typeface="Segoe UI Black"/>
              </a:rPr>
              <a:t>RESEARCH</a:t>
            </a:r>
          </a:p>
        </p:txBody>
      </p:sp>
      <p:sp>
        <p:nvSpPr>
          <p:cNvPr id="6" name="TextBox 6"/>
          <p:cNvSpPr/>
          <p:nvPr/>
        </p:nvSpPr>
        <p:spPr>
          <a:xfrm>
            <a:off x="9360000" y="108000"/>
            <a:ext cx="2700000" cy="1008000"/>
          </a:xfrm>
          <a:prstGeom prst="rect">
            <a:avLst/>
          </a:prstGeom>
          <a:noFill/>
        </p:spPr>
        <p:txBody>
          <a:bodyPr/>
          <a:lstStyle/>
          <a:p>
            <a:r>
              <a:rPr lang="en-US" sz="1000" b="1">
                <a:solidFill>
                  <a:srgbClr val="111111"/>
                </a:solidFill>
                <a:latin typeface="Segoe UI Black"/>
                <a:ea typeface="Segoe UI Black"/>
              </a:rPr>
              <a:t>GOVERNMENT</a:t>
            </a:r>
          </a:p>
          <a:p>
            <a:r>
              <a:rPr lang="en-US" sz="1000" b="1">
                <a:solidFill>
                  <a:srgbClr val="111111"/>
                </a:solidFill>
                <a:latin typeface="Segoe UI Black"/>
                <a:ea typeface="Segoe UI Black"/>
              </a:rPr>
              <a:t>SUPPORT</a:t>
            </a:r>
          </a:p>
        </p:txBody>
      </p:sp>
      <p:sp>
        <p:nvSpPr>
          <p:cNvPr id="7" name="TextBox 7"/>
          <p:cNvSpPr/>
          <p:nvPr/>
        </p:nvSpPr>
        <p:spPr>
          <a:xfrm>
            <a:off x="2952000" y="0"/>
            <a:ext cx="21600" cy="6858000"/>
          </a:xfrm>
          <a:prstGeom prst="rect">
            <a:avLst/>
          </a:prstGeom>
          <a:solidFill>
            <a:srgbClr val="111111"/>
          </a:solidFill>
        </p:spPr>
        <p:txBody>
          <a:bodyPr/>
          <a:lstStyle/>
          <a:p>
            <a:r>
              <a:rPr lang="en-US"/>
              <a:t/>
            </a:r>
          </a:p>
        </p:txBody>
      </p:sp>
      <p:sp>
        <p:nvSpPr>
          <p:cNvPr id="8" name="TextBox 8"/>
          <p:cNvSpPr/>
          <p:nvPr/>
        </p:nvSpPr>
        <p:spPr>
          <a:xfrm>
            <a:off x="6012000" y="0"/>
            <a:ext cx="21600" cy="6858000"/>
          </a:xfrm>
          <a:prstGeom prst="rect">
            <a:avLst/>
          </a:prstGeom>
          <a:solidFill>
            <a:srgbClr val="111111"/>
          </a:solidFill>
        </p:spPr>
        <p:txBody>
          <a:bodyPr/>
          <a:lstStyle/>
          <a:p>
            <a:r>
              <a:rPr lang="en-US"/>
              <a:t/>
            </a:r>
          </a:p>
        </p:txBody>
      </p:sp>
      <p:sp>
        <p:nvSpPr>
          <p:cNvPr id="9" name="TextBox 9"/>
          <p:cNvSpPr/>
          <p:nvPr/>
        </p:nvSpPr>
        <p:spPr>
          <a:xfrm>
            <a:off x="9072000" y="0"/>
            <a:ext cx="21600" cy="6858000"/>
          </a:xfrm>
          <a:prstGeom prst="rect">
            <a:avLst/>
          </a:prstGeom>
          <a:solidFill>
            <a:srgbClr val="111111"/>
          </a:solidFill>
        </p:spPr>
        <p:txBody>
          <a:bodyPr/>
          <a:lstStyle/>
          <a:p>
            <a:r>
              <a:rPr lang="en-US"/>
              <a:t/>
            </a:r>
          </a:p>
        </p:txBody>
      </p:sp>
      <p:sp>
        <p:nvSpPr>
          <p:cNvPr id="10" name="TextBox 10"/>
          <p:cNvSpPr/>
          <p:nvPr/>
        </p:nvSpPr>
        <p:spPr>
          <a:xfrm>
            <a:off x="180000" y="1620000"/>
            <a:ext cx="2700000" cy="4680000"/>
          </a:xfrm>
          <a:prstGeom prst="rect">
            <a:avLst/>
          </a:prstGeom>
          <a:noFill/>
        </p:spPr>
        <p:txBody>
          <a:bodyPr/>
          <a:lstStyle/>
          <a:p>
            <a:r>
              <a:rPr lang="en-US" sz="1100">
                <a:solidFill>
                  <a:srgbClr val="111111"/>
                </a:solidFill>
                <a:latin typeface="Segoe UI"/>
                <a:ea typeface="Segoe UI"/>
              </a:rPr>
              <a:t>It is inevitable to speed up the introduction of electric cars and the formation of such legislative environment that would enable the introduction of an adequate charging station infrastructure in Slovakia.</a:t>
            </a:r>
          </a:p>
        </p:txBody>
      </p:sp>
      <p:sp>
        <p:nvSpPr>
          <p:cNvPr id="11" name="TextBox 11"/>
          <p:cNvSpPr/>
          <p:nvPr/>
        </p:nvSpPr>
        <p:spPr>
          <a:xfrm>
            <a:off x="3240000" y="1620000"/>
            <a:ext cx="2700000" cy="4680000"/>
          </a:xfrm>
          <a:prstGeom prst="rect">
            <a:avLst/>
          </a:prstGeom>
          <a:noFill/>
        </p:spPr>
        <p:txBody>
          <a:bodyPr/>
          <a:lstStyle/>
          <a:p>
            <a:r>
              <a:rPr lang="en-US" sz="1100">
                <a:solidFill>
                  <a:srgbClr val="111111"/>
                </a:solidFill>
                <a:latin typeface="Segoe UI"/>
                <a:ea typeface="Segoe UI"/>
              </a:rPr>
              <a:t>It is inevitable to adjust the legislation of electric cars and the transfer of battery innovations to ensure electric energy storage regulation adjustments.</a:t>
            </a:r>
          </a:p>
        </p:txBody>
      </p:sp>
      <p:sp>
        <p:nvSpPr>
          <p:cNvPr id="12" name="TextBox 12"/>
          <p:cNvSpPr/>
          <p:nvPr/>
        </p:nvSpPr>
        <p:spPr>
          <a:xfrm>
            <a:off x="6300000" y="1620000"/>
            <a:ext cx="2700000" cy="4680000"/>
          </a:xfrm>
          <a:prstGeom prst="rect">
            <a:avLst/>
          </a:prstGeom>
          <a:noFill/>
        </p:spPr>
        <p:txBody>
          <a:bodyPr/>
          <a:lstStyle/>
          <a:p>
            <a:r>
              <a:rPr lang="en-US" sz="1100">
                <a:solidFill>
                  <a:srgbClr val="111111"/>
                </a:solidFill>
                <a:latin typeface="Segoe UI"/>
                <a:ea typeface="Segoe UI"/>
              </a:rPr>
              <a:t>It is inevitable to support the interdisciplinary research and the transfer of battery innovations from abroad, and to prepare an academic programme for the systematic education of professionals for the entire battery value chain.</a:t>
            </a:r>
          </a:p>
        </p:txBody>
      </p:sp>
      <p:sp>
        <p:nvSpPr>
          <p:cNvPr id="13" name="TextBox 13"/>
          <p:cNvSpPr/>
          <p:nvPr/>
        </p:nvSpPr>
        <p:spPr>
          <a:xfrm>
            <a:off x="9360000" y="1620000"/>
            <a:ext cx="2700000" cy="4680000"/>
          </a:xfrm>
          <a:prstGeom prst="rect">
            <a:avLst/>
          </a:prstGeom>
          <a:noFill/>
        </p:spPr>
        <p:txBody>
          <a:bodyPr/>
          <a:lstStyle/>
          <a:p>
            <a:r>
              <a:rPr lang="en-US" sz="1100">
                <a:solidFill>
                  <a:srgbClr val="111111"/>
                </a:solidFill>
                <a:latin typeface="Segoe UI"/>
                <a:ea typeface="Segoe UI"/>
              </a:rPr>
              <a:t>It is inevitable to acquire the support of the Slovak Government, among others, for financing the projects of the Slovak battery ecosystem in order to establish the production of batteries.</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7.xml><?xml version="1.0" encoding="utf-8"?>
<p:sld xmlns:a="http://schemas.openxmlformats.org/drawingml/2006/main" xmlns:p="http://schemas.openxmlformats.org/presentationml/2006/main" xmlns:p159="http://schemas.microsoft.com/office/powerpoint/2015/09/main" xmlns:mc="http://schemas.openxmlformats.org/markup-compatibility/2006" xmlns:p14="http://schemas.microsoft.com/office/powerpoint/2010/main" mc:Ignorable="p159">
  <p:cSld>
    <p:bg>
      <p:bgPr>
        <a:solidFill xmlns:a="http://schemas.openxmlformats.org/drawingml/2006/main">
          <a:srgbClr val="00FF41"/>
        </a:solidFill>
      </p:bgPr>
    </p:bg>
    <p:spTree>
      <p:nvGrpSpPr>
        <p:cNvPr id="1" name=""/>
        <p:cNvGrpSpPr/>
        <p:nvPr/>
      </p:nvGrpSpPr>
      <p:grpSpPr/>
      <p:sp>
        <p:nvSpPr>
          <p:cNvPr id="2" name="!!neon-block"/>
          <p:cNvSpPr/>
          <p:nvPr/>
        </p:nvSpPr>
        <p:spPr>
          <a:xfrm>
            <a:off x="0" y="0"/>
            <a:ext cx="12193200" cy="6858000"/>
          </a:xfrm>
          <a:prstGeom prst="rect">
            <a:avLst/>
          </a:prstGeom>
          <a:solidFill>
            <a:srgbClr val="00FF41"/>
          </a:solidFill>
        </p:spPr>
        <p:txBody>
          <a:bodyPr/>
          <a:lstStyle/>
          <a:p>
            <a:r>
              <a:rPr lang="en-US"/>
              <a:t/>
            </a:r>
          </a:p>
        </p:txBody>
      </p:sp>
      <p:sp>
        <p:nvSpPr>
          <p:cNvPr id="3" name="TextBox 3"/>
          <p:cNvSpPr/>
          <p:nvPr/>
        </p:nvSpPr>
        <p:spPr>
          <a:xfrm>
            <a:off x="360000" y="720000"/>
            <a:ext cx="11520000" cy="3600000"/>
          </a:xfrm>
          <a:prstGeom prst="rect">
            <a:avLst/>
          </a:prstGeom>
          <a:noFill/>
        </p:spPr>
        <p:txBody>
          <a:bodyPr/>
          <a:lstStyle/>
          <a:p>
            <a:r>
              <a:rPr lang="en-US" sz="8000" b="1">
                <a:solidFill>
                  <a:srgbClr val="111111"/>
                </a:solidFill>
                <a:latin typeface="Segoe UI Black"/>
                <a:ea typeface="Segoe UI Black"/>
              </a:rPr>
              <a:t>THANK YOU</a:t>
            </a:r>
          </a:p>
        </p:txBody>
      </p:sp>
      <p:sp>
        <p:nvSpPr>
          <p:cNvPr id="4" name="TextBox 4"/>
          <p:cNvSpPr/>
          <p:nvPr/>
        </p:nvSpPr>
        <p:spPr>
          <a:xfrm>
            <a:off x="360000" y="4680000"/>
            <a:ext cx="9000000" cy="1080000"/>
          </a:xfrm>
          <a:prstGeom prst="rect">
            <a:avLst/>
          </a:prstGeom>
          <a:noFill/>
        </p:spPr>
        <p:txBody>
          <a:bodyPr/>
          <a:lstStyle/>
          <a:p>
            <a:r>
              <a:rPr lang="en-US" sz="2400" b="1">
                <a:solidFill>
                  <a:srgbClr val="111111"/>
                </a:solidFill>
                <a:latin typeface="Segoe UI Black"/>
                <a:ea typeface="Segoe UI Black"/>
              </a:rPr>
              <a:t>Energy Manifest Conference 2019</a:t>
            </a:r>
          </a:p>
        </p:txBody>
      </p:sp>
      <p:sp>
        <p:nvSpPr>
          <p:cNvPr id="5" name="TextBox 5"/>
          <p:cNvSpPr/>
          <p:nvPr/>
        </p:nvSpPr>
        <p:spPr>
          <a:xfrm>
            <a:off x="360000" y="5940000"/>
            <a:ext cx="5760000" cy="720000"/>
          </a:xfrm>
          <a:prstGeom prst="rect">
            <a:avLst/>
          </a:prstGeom>
          <a:noFill/>
        </p:spPr>
        <p:txBody>
          <a:bodyPr/>
          <a:lstStyle/>
          <a:p>
            <a:r>
              <a:rPr lang="en-US" sz="1800">
                <a:solidFill>
                  <a:srgbClr val="111111"/>
                </a:solidFill>
                <a:latin typeface="Segoe UI"/>
                <a:ea typeface="Segoe UI"/>
              </a:rPr>
              <a:t>energymanifest.sk</a:t>
            </a:r>
          </a:p>
        </p:txBody>
      </p:sp>
      <p:sp>
        <p:nvSpPr>
          <p:cNvPr id="6" name="TextBox 6"/>
          <p:cNvSpPr/>
          <p:nvPr/>
        </p:nvSpPr>
        <p:spPr>
          <a:xfrm>
            <a:off x="6480000" y="5940000"/>
            <a:ext cx="5400000" cy="720000"/>
          </a:xfrm>
          <a:prstGeom prst="rect">
            <a:avLst/>
          </a:prstGeom>
          <a:noFill/>
        </p:spPr>
        <p:txBody>
          <a:bodyPr/>
          <a:lstStyle/>
          <a:p>
            <a:pPr algn="r"/>
            <a:r>
              <a:rPr lang="en-US" sz="1800">
                <a:solidFill>
                  <a:srgbClr val="111111"/>
                </a:solidFill>
                <a:latin typeface="Segoe UI"/>
                <a:ea typeface="Segoe UI"/>
              </a:rPr>
              <a:t>#energymanifest2019</a:t>
            </a:r>
          </a:p>
        </p:txBody>
      </p:sp>
      <p:sp>
        <p:nvSpPr>
          <p:cNvPr id="7" name="TextBox 7"/>
          <p:cNvSpPr/>
          <p:nvPr/>
        </p:nvSpPr>
        <p:spPr>
          <a:xfrm>
            <a:off x="360000" y="4500000"/>
            <a:ext cx="11473200" cy="36000"/>
          </a:xfrm>
          <a:prstGeom prst="rect">
            <a:avLst/>
          </a:prstGeom>
          <a:solidFill>
            <a:srgbClr val="111111"/>
          </a:solidFill>
        </p:spPr>
        <p:txBody>
          <a:bodyPr/>
          <a:lstStyle/>
          <a:p>
            <a:r>
              <a:rPr lang="en-US"/>
              <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