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1fa74147d294fd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ddba15e063a4c45"/>
    <p:sldId id="257" r:id="R425332cbe59549a9"/>
    <p:sldId id="258" r:id="Rd32f7d9e2a914c0a"/>
    <p:sldId id="259" r:id="Rf658888d3ad84179"/>
    <p:sldId id="260" r:id="R4385f1a24e8f4e06"/>
    <p:sldId id="261" r:id="R40b17dabe87a42fd"/>
    <p:sldId id="262" r:id="Rae0a3bdc380348c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ddba15e063a4c45" /><Relationship Type="http://schemas.openxmlformats.org/officeDocument/2006/relationships/slide" Target="/ppt/slides/slide2.xml" Id="R425332cbe59549a9" /><Relationship Type="http://schemas.openxmlformats.org/officeDocument/2006/relationships/slide" Target="/ppt/slides/slide3.xml" Id="Rd32f7d9e2a914c0a" /><Relationship Type="http://schemas.openxmlformats.org/officeDocument/2006/relationships/slide" Target="/ppt/slides/slide4.xml" Id="Rf658888d3ad84179" /><Relationship Type="http://schemas.openxmlformats.org/officeDocument/2006/relationships/slide" Target="/ppt/slides/slide5.xml" Id="R4385f1a24e8f4e06" /><Relationship Type="http://schemas.openxmlformats.org/officeDocument/2006/relationships/slide" Target="/ppt/slides/slide6.xml" Id="R40b17dabe87a42fd" /><Relationship Type="http://schemas.openxmlformats.org/officeDocument/2006/relationships/slide" Target="/ppt/slides/slide7.xml" Id="Rae0a3bdc380348c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792f449ae43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e6a8d3d744f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1f1dab0d145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e15eaf8964d5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124e6dd81d04e0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f141b19a3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207966bf242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85de9c8fc4a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58c32399449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bae0f836f4b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330fcce1d44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fede8d7144fc6" /></Relationships>
</file>

<file path=ppt/slides/slide1.xml><?xml version="1.0" encoding="utf-8"?>
<p:sld xmlns:a="http://schemas.openxmlformats.org/drawingml/2006/main" xmlns:p="http://schemas.openxmlformats.org/presentationml/2006/main">
  <p:cSld xmlns:a="http://schemas.openxmlformats.org/drawingml/2006/main" xmlns:p="http://schemas.openxmlformats.org/presentationml/2006/mai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0">
            <a:off x="6912000" y="4118400"/>
            <a:ext cx="1296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2700000">
            <a:off x="6912000" y="4118400"/>
            <a:ext cx="1296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5400000">
            <a:off x="6912000" y="4118400"/>
            <a:ext cx="1296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8100000">
            <a:off x="6912000" y="4118400"/>
            <a:ext cx="1296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ckA"/>
          <p:cNvSpPr/>
          <p:nvPr/>
        </p:nvSpPr>
        <p:spPr>
          <a:xfrm>
            <a:off x="7920000" y="0"/>
            <a:ext cx="4273200" cy="3960000"/>
          </a:xfrm>
          <a:custGeom>
            <a:avLst/>
            <a:gdLst/>
            <a:ahLst/>
            <a:cxnLst/>
            <a:rect l="0" t="0" r="r" b="b"/>
            <a:pathLst>
              <a:path w="4273200" h="3960000">
                <a:moveTo>
                  <a:pt x="1386000" y="0"/>
                </a:moveTo>
                <a:lnTo>
                  <a:pt x="4273200" y="0"/>
                </a:lnTo>
                <a:lnTo>
                  <a:pt x="2887200" y="3960000"/>
                </a:lnTo>
                <a:lnTo>
                  <a:pt x="0" y="3960000"/>
                </a:lnTo>
                <a:close/>
              </a:path>
            </a:pathLst>
          </a:cu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ockB"/>
          <p:cNvSpPr/>
          <p:nvPr/>
        </p:nvSpPr>
        <p:spPr>
          <a:xfrm>
            <a:off x="9000000" y="2160000"/>
            <a:ext cx="3193200" cy="3240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dot"/>
          <p:cNvSpPr/>
          <p:nvPr/>
        </p:nvSpPr>
        <p:spPr>
          <a:xfrm>
            <a:off x="10800000" y="4500000"/>
            <a:ext cx="432000" cy="432000"/>
          </a:xfrm>
          <a:prstGeom prst="ellipse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540000" y="540000"/>
            <a:ext cx="68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19FF"/>
                </a:solidFill>
                <a:latin typeface="Segoe UI"/>
                <a:ea typeface="Segoe UI"/>
              </a:rPr>
              <a:t>FORMA NOVA  ·  CREATIVE STUDIO</a:t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1008000"/>
            <a:ext cx="360000" cy="36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1260000"/>
            <a:ext cx="6840000" cy="3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0A0A0A"/>
                </a:solidFill>
                <a:latin typeface="Segoe UI Black"/>
                <a:ea typeface="Segoe UI Black"/>
              </a:rPr>
              <a:t>Design</a:t>
            </a:r>
          </a:p>
          <a:p>
            <a:r>
              <a:rPr lang="en-US" sz="5400" b="1">
                <a:solidFill>
                  <a:srgbClr val="0A0A0A"/>
                </a:solidFill>
                <a:latin typeface="Segoe UI Black"/>
                <a:ea typeface="Segoe UI Black"/>
              </a:rPr>
              <a:t>that moves</a:t>
            </a:r>
          </a:p>
          <a:p>
            <a:r>
              <a:rPr lang="en-US" sz="5400" b="1">
                <a:solidFill>
                  <a:srgbClr val="0A0A0A"/>
                </a:solidFill>
                <a:latin typeface="Segoe UI Black"/>
                <a:ea typeface="Segoe UI Black"/>
              </a:rPr>
              <a:t>markets.</a:t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5400000"/>
            <a:ext cx="6840000" cy="36000"/>
          </a:xfrm>
          <a:prstGeom prst="rect">
            <a:avLst/>
          </a:prstGeom>
          <a:solidFill>
            <a:srgbClr val="0A0A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5580000"/>
            <a:ext cx="68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Brand Strategy  ·  Visual Identity  ·  Motion</a:t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6192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Oslo  ·  London  ·  Tokyo</a:t>
            </a:r>
          </a:p>
        </p:txBody>
      </p:sp>
      <p:sp>
        <p:nvSpPr>
          <p:cNvPr id="15" name="TextBox 15"/>
          <p:cNvSpPr/>
          <p:nvPr/>
        </p:nvSpPr>
        <p:spPr>
          <a:xfrm>
            <a:off x="9360000" y="6408000"/>
            <a:ext cx="2833200" cy="32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777777"/>
                </a:solidFill>
                <a:latin typeface="Segoe UI"/>
                <a:ea typeface="Segoe UI"/>
              </a:rPr>
              <a:t>formanova.studio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940000" y="6228000"/>
            <a:ext cx="1620000" cy="36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2400000">
            <a:off x="7236000" y="6102000"/>
            <a:ext cx="324000" cy="36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-2400000">
            <a:off x="7236000" y="6354000"/>
            <a:ext cx="324000" cy="36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ockA"/>
          <p:cNvSpPr/>
          <p:nvPr/>
        </p:nvSpPr>
        <p:spPr>
          <a:xfrm>
            <a:off x="9720000" y="3600000"/>
            <a:ext cx="2473200" cy="3258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ckB"/>
          <p:cNvSpPr/>
          <p:nvPr/>
        </p:nvSpPr>
        <p:spPr>
          <a:xfrm>
            <a:off x="10260000" y="5040000"/>
            <a:ext cx="1933200" cy="1818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"/>
          <p:cNvSpPr/>
          <p:nvPr/>
        </p:nvSpPr>
        <p:spPr>
          <a:xfrm>
            <a:off x="5760000" y="6048000"/>
            <a:ext cx="432000" cy="432000"/>
          </a:xfrm>
          <a:prstGeom prst="ellipse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360000"/>
            <a:ext cx="4680000" cy="6300000"/>
          </a:xfrm>
          <a:prstGeom prst="round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540000" y="360000"/>
            <a:ext cx="4680000" cy="6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[ Studio Photo ]</a:t>
            </a:r>
          </a:p>
        </p:txBody>
      </p:sp>
      <p:sp>
        <p:nvSpPr>
          <p:cNvPr id="10" name="TextBox 10"/>
          <p:cNvSpPr/>
          <p:nvPr/>
        </p:nvSpPr>
        <p:spPr>
          <a:xfrm>
            <a:off x="5760000" y="54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19FF"/>
                </a:solidFill>
                <a:latin typeface="Segoe UI"/>
                <a:ea typeface="Segoe UI"/>
              </a:rPr>
              <a:t>ABOUT</a:t>
            </a:r>
          </a:p>
        </p:txBody>
      </p:sp>
      <p:sp>
        <p:nvSpPr>
          <p:cNvPr id="11" name="TextBox 11"/>
          <p:cNvSpPr/>
          <p:nvPr/>
        </p:nvSpPr>
        <p:spPr>
          <a:xfrm>
            <a:off x="5760000" y="1008000"/>
            <a:ext cx="1440000" cy="36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760000" y="1260000"/>
            <a:ext cx="576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A0A0A"/>
                </a:solidFill>
                <a:latin typeface="Segoe UI Black"/>
                <a:ea typeface="Segoe UI Black"/>
              </a:rPr>
              <a:t>We build</a:t>
            </a:r>
          </a:p>
          <a:p>
            <a:r>
              <a:rPr lang="en-US" sz="3600" b="1">
                <a:solidFill>
                  <a:srgbClr val="0A0A0A"/>
                </a:solidFill>
                <a:latin typeface="Segoe UI Black"/>
                <a:ea typeface="Segoe UI Black"/>
              </a:rPr>
              <a:t>brands that</a:t>
            </a:r>
          </a:p>
          <a:p>
            <a:r>
              <a:rPr lang="en-US" sz="3600" b="1">
                <a:solidFill>
                  <a:srgbClr val="0A0A0A"/>
                </a:solidFill>
                <a:latin typeface="Segoe UI Black"/>
                <a:ea typeface="Segoe UI Black"/>
              </a:rPr>
              <a:t>last decades.</a:t>
            </a:r>
          </a:p>
        </p:txBody>
      </p:sp>
      <p:sp>
        <p:nvSpPr>
          <p:cNvPr id="13" name="TextBox 13"/>
          <p:cNvSpPr/>
          <p:nvPr/>
        </p:nvSpPr>
        <p:spPr>
          <a:xfrm>
            <a:off x="5760000" y="4500000"/>
            <a:ext cx="540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Forma Nova is a strategic creative studio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specialising in brand identity, visual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systems, and motion for ambitious companies.</a:t>
            </a:r>
          </a:p>
        </p:txBody>
      </p:sp>
      <p:sp>
        <p:nvSpPr>
          <p:cNvPr id="14" name="TextBox 14"/>
          <p:cNvSpPr/>
          <p:nvPr/>
        </p:nvSpPr>
        <p:spPr>
          <a:xfrm>
            <a:off x="5940000" y="61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9FF"/>
                </a:solidFill>
                <a:latin typeface="Segoe UI Black"/>
                <a:ea typeface="Segoe UI Black"/>
              </a:rPr>
              <a:t>Est. 2014  ·  12 years  ·  60+ brands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0">
            <a:off x="5508000" y="878400"/>
            <a:ext cx="864000" cy="43200"/>
          </a:xfrm>
          <a:prstGeom prst="rect">
            <a:avLst/>
          </a:prstGeom>
          <a:solidFill>
            <a:srgbClr val="1A19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2700000">
            <a:off x="5508000" y="878400"/>
            <a:ext cx="864000" cy="43200"/>
          </a:xfrm>
          <a:prstGeom prst="rect">
            <a:avLst/>
          </a:prstGeom>
          <a:solidFill>
            <a:srgbClr val="1A19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5400000">
            <a:off x="5508000" y="878400"/>
            <a:ext cx="864000" cy="43200"/>
          </a:xfrm>
          <a:prstGeom prst="rect">
            <a:avLst/>
          </a:prstGeom>
          <a:solidFill>
            <a:srgbClr val="1A19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8100000">
            <a:off x="5508000" y="878400"/>
            <a:ext cx="864000" cy="43200"/>
          </a:xfrm>
          <a:prstGeom prst="rect">
            <a:avLst/>
          </a:prstGeom>
          <a:solidFill>
            <a:srgbClr val="1A19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ckA"/>
          <p:cNvSpPr/>
          <p:nvPr/>
        </p:nvSpPr>
        <p:spPr>
          <a:xfrm>
            <a:off x="0" y="4860000"/>
            <a:ext cx="3960000" cy="1998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ockB"/>
          <p:cNvSpPr/>
          <p:nvPr/>
        </p:nvSpPr>
        <p:spPr>
          <a:xfrm>
            <a:off x="7920000" y="4860000"/>
            <a:ext cx="4273200" cy="1998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dot"/>
          <p:cNvSpPr/>
          <p:nvPr/>
        </p:nvSpPr>
        <p:spPr>
          <a:xfrm>
            <a:off x="4140000" y="4860000"/>
            <a:ext cx="432000" cy="432000"/>
          </a:xfrm>
          <a:prstGeom prst="ellipse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540000" y="54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19FF"/>
                </a:solidFill>
                <a:latin typeface="Segoe UI"/>
                <a:ea typeface="Segoe UI"/>
              </a:rPr>
              <a:t>SERVICES</a:t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1008000"/>
            <a:ext cx="1440000" cy="36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126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0A0A0A"/>
                </a:solidFill>
                <a:latin typeface="Segoe UI Black"/>
                <a:ea typeface="Segoe UI Black"/>
              </a:rPr>
              <a:t>What we do best.</a:t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2520000"/>
            <a:ext cx="3420000" cy="2160000"/>
          </a:xfrm>
          <a:prstGeom prst="round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2664000"/>
            <a:ext cx="30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AFF00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3096000"/>
            <a:ext cx="28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Brand</a:t>
            </a:r>
          </a:p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Strategy</a:t>
            </a:r>
          </a:p>
        </p:txBody>
      </p:sp>
      <p:sp>
        <p:nvSpPr>
          <p:cNvPr id="15" name="TextBox 15"/>
          <p:cNvSpPr/>
          <p:nvPr/>
        </p:nvSpPr>
        <p:spPr>
          <a:xfrm>
            <a:off x="720000" y="4140000"/>
            <a:ext cx="28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Positioning, naming,</a:t>
            </a:r>
          </a:p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messaging architecture.</a:t>
            </a:r>
          </a:p>
        </p:txBody>
      </p:sp>
      <p:sp>
        <p:nvSpPr>
          <p:cNvPr id="16" name="TextBox 16"/>
          <p:cNvSpPr/>
          <p:nvPr/>
        </p:nvSpPr>
        <p:spPr>
          <a:xfrm>
            <a:off x="4388400" y="2520000"/>
            <a:ext cx="3420000" cy="2160000"/>
          </a:xfrm>
          <a:prstGeom prst="round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4568400" y="2664000"/>
            <a:ext cx="30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AFF00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8" name="TextBox 18"/>
          <p:cNvSpPr/>
          <p:nvPr/>
        </p:nvSpPr>
        <p:spPr>
          <a:xfrm>
            <a:off x="4568400" y="3096000"/>
            <a:ext cx="28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Visual</a:t>
            </a:r>
          </a:p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Identity</a:t>
            </a:r>
          </a:p>
        </p:txBody>
      </p:sp>
      <p:sp>
        <p:nvSpPr>
          <p:cNvPr id="19" name="TextBox 19"/>
          <p:cNvSpPr/>
          <p:nvPr/>
        </p:nvSpPr>
        <p:spPr>
          <a:xfrm>
            <a:off x="4568400" y="4140000"/>
            <a:ext cx="28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Logo, colour, type,</a:t>
            </a:r>
          </a:p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system &amp; guidelines.</a:t>
            </a:r>
          </a:p>
        </p:txBody>
      </p:sp>
      <p:sp>
        <p:nvSpPr>
          <p:cNvPr id="20" name="TextBox 20"/>
          <p:cNvSpPr/>
          <p:nvPr/>
        </p:nvSpPr>
        <p:spPr>
          <a:xfrm>
            <a:off x="8236800" y="2520000"/>
            <a:ext cx="3420000" cy="2160000"/>
          </a:xfrm>
          <a:prstGeom prst="round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8416800" y="2664000"/>
            <a:ext cx="30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AFF00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22" name="TextBox 22"/>
          <p:cNvSpPr/>
          <p:nvPr/>
        </p:nvSpPr>
        <p:spPr>
          <a:xfrm>
            <a:off x="8416800" y="3096000"/>
            <a:ext cx="28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Motion</a:t>
            </a:r>
          </a:p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&amp; Digital</a:t>
            </a:r>
          </a:p>
        </p:txBody>
      </p:sp>
      <p:sp>
        <p:nvSpPr>
          <p:cNvPr id="23" name="TextBox 23"/>
          <p:cNvSpPr/>
          <p:nvPr/>
        </p:nvSpPr>
        <p:spPr>
          <a:xfrm>
            <a:off x="8416800" y="4140000"/>
            <a:ext cx="28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Campaign, UI motion,</a:t>
            </a:r>
          </a:p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website &amp; social.</a:t>
            </a:r>
          </a:p>
        </p:txBody>
      </p:sp>
      <p:sp>
        <p:nvSpPr>
          <p:cNvPr id="24" name="TextBox 24"/>
          <p:cNvSpPr/>
          <p:nvPr/>
        </p:nvSpPr>
        <p:spPr>
          <a:xfrm>
            <a:off x="360000" y="5220000"/>
            <a:ext cx="36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Award-winning strategy for ambitious brands.</a:t>
            </a:r>
          </a:p>
        </p:txBody>
      </p:sp>
      <p:sp>
        <p:nvSpPr>
          <p:cNvPr id="25" name="TextBox 25"/>
          <p:cNvSpPr/>
          <p:nvPr/>
        </p:nvSpPr>
        <p:spPr>
          <a:xfrm>
            <a:off x="7920000" y="5220000"/>
            <a:ext cx="42732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0A0A0A"/>
                </a:solidFill>
                <a:latin typeface="Segoe UI"/>
                <a:ea typeface="Segoe UI"/>
              </a:rPr>
              <a:t>From startups to global institutions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lockA"/>
          <p:cNvSpPr/>
          <p:nvPr/>
        </p:nvSpPr>
        <p:spPr>
          <a:xfrm>
            <a:off x="0" y="0"/>
            <a:ext cx="5040000" cy="6858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ockB"/>
          <p:cNvSpPr/>
          <p:nvPr/>
        </p:nvSpPr>
        <p:spPr>
          <a:xfrm>
            <a:off x="6120000" y="0"/>
            <a:ext cx="6073200" cy="1260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dot"/>
          <p:cNvSpPr/>
          <p:nvPr/>
        </p:nvSpPr>
        <p:spPr>
          <a:xfrm>
            <a:off x="5112000" y="180000"/>
            <a:ext cx="432000" cy="432000"/>
          </a:xfrm>
          <a:prstGeom prst="ellipse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540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AAFF00"/>
                </a:solidFill>
                <a:latin typeface="Segoe UI"/>
                <a:ea typeface="Segoe UI"/>
              </a:rPr>
              <a:t>SELECTED WORKS</a:t>
            </a:r>
          </a:p>
        </p:txBody>
      </p:sp>
      <p:sp>
        <p:nvSpPr>
          <p:cNvPr id="6" name="TextBox 6"/>
          <p:cNvSpPr/>
          <p:nvPr/>
        </p:nvSpPr>
        <p:spPr>
          <a:xfrm>
            <a:off x="360000" y="1008000"/>
            <a:ext cx="1440000" cy="36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60000" y="1260000"/>
            <a:ext cx="43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 b="1">
                <a:solidFill>
                  <a:srgbClr val="FFFFFF"/>
                </a:solidFill>
                <a:latin typeface="Segoe UI Black"/>
                <a:ea typeface="Segoe UI Black"/>
              </a:rPr>
              <a:t>2022—2025</a:t>
            </a:r>
          </a:p>
        </p:txBody>
      </p:sp>
      <p:sp>
        <p:nvSpPr>
          <p:cNvPr id="8" name="TextBox 8"/>
          <p:cNvSpPr/>
          <p:nvPr/>
        </p:nvSpPr>
        <p:spPr>
          <a:xfrm>
            <a:off x="360000" y="2880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Orbit Labs</a:t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4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AFF00"/>
                </a:solidFill>
                <a:latin typeface="Segoe UI"/>
                <a:ea typeface="Segoe UI"/>
              </a:rPr>
              <a:t>Brand Identity  ·  2024</a:t>
            </a:r>
          </a:p>
        </p:txBody>
      </p:sp>
      <p:sp>
        <p:nvSpPr>
          <p:cNvPr id="10" name="TextBox 10"/>
          <p:cNvSpPr/>
          <p:nvPr/>
        </p:nvSpPr>
        <p:spPr>
          <a:xfrm>
            <a:off x="360000" y="3960000"/>
            <a:ext cx="4320000" cy="180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4248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Nova Fintech</a:t>
            </a:r>
          </a:p>
        </p:txBody>
      </p:sp>
      <p:sp>
        <p:nvSpPr>
          <p:cNvPr id="12" name="TextBox 12"/>
          <p:cNvSpPr/>
          <p:nvPr/>
        </p:nvSpPr>
        <p:spPr>
          <a:xfrm>
            <a:off x="360000" y="4788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AFF00"/>
                </a:solidFill>
                <a:latin typeface="Segoe UI"/>
                <a:ea typeface="Segoe UI"/>
              </a:rPr>
              <a:t>Visual System  ·  2024</a:t>
            </a:r>
          </a:p>
        </p:txBody>
      </p:sp>
      <p:sp>
        <p:nvSpPr>
          <p:cNvPr id="13" name="TextBox 13"/>
          <p:cNvSpPr/>
          <p:nvPr/>
        </p:nvSpPr>
        <p:spPr>
          <a:xfrm>
            <a:off x="360000" y="5328000"/>
            <a:ext cx="4320000" cy="180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360000" y="5580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Sable Studio</a:t>
            </a:r>
          </a:p>
        </p:txBody>
      </p:sp>
      <p:sp>
        <p:nvSpPr>
          <p:cNvPr id="15" name="TextBox 15"/>
          <p:cNvSpPr/>
          <p:nvPr/>
        </p:nvSpPr>
        <p:spPr>
          <a:xfrm>
            <a:off x="360000" y="61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AFF00"/>
                </a:solidFill>
                <a:latin typeface="Segoe UI"/>
                <a:ea typeface="Segoe UI"/>
              </a:rPr>
              <a:t>Motion Campaign  ·  2023</a:t>
            </a:r>
          </a:p>
        </p:txBody>
      </p:sp>
      <p:sp>
        <p:nvSpPr>
          <p:cNvPr id="16" name="TextBox 16"/>
          <p:cNvSpPr/>
          <p:nvPr/>
        </p:nvSpPr>
        <p:spPr>
          <a:xfrm>
            <a:off x="6120000" y="1440000"/>
            <a:ext cx="5713200" cy="2340000"/>
          </a:xfrm>
          <a:prstGeom prst="round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6120000" y="1440000"/>
            <a:ext cx="5713200" cy="234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[ Orbit Labs — Brand Identity ]</a:t>
            </a:r>
          </a:p>
        </p:txBody>
      </p:sp>
      <p:sp>
        <p:nvSpPr>
          <p:cNvPr id="18" name="TextBox 18"/>
          <p:cNvSpPr/>
          <p:nvPr/>
        </p:nvSpPr>
        <p:spPr>
          <a:xfrm>
            <a:off x="6120000" y="3888000"/>
            <a:ext cx="57132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0A0A0A"/>
                </a:solidFill>
                <a:latin typeface="Segoe UI Black"/>
                <a:ea typeface="Segoe UI Black"/>
              </a:rPr>
              <a:t>Orbit Labs</a:t>
            </a:r>
          </a:p>
        </p:txBody>
      </p:sp>
      <p:sp>
        <p:nvSpPr>
          <p:cNvPr id="19" name="TextBox 19"/>
          <p:cNvSpPr/>
          <p:nvPr/>
        </p:nvSpPr>
        <p:spPr>
          <a:xfrm>
            <a:off x="6120000" y="4320000"/>
            <a:ext cx="57132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Brand Identity  ·  2024</a:t>
            </a:r>
          </a:p>
        </p:txBody>
      </p:sp>
      <p:sp>
        <p:nvSpPr>
          <p:cNvPr id="20" name="TextBox 20"/>
          <p:cNvSpPr/>
          <p:nvPr/>
        </p:nvSpPr>
        <p:spPr>
          <a:xfrm>
            <a:off x="6120000" y="4752000"/>
            <a:ext cx="5713200" cy="1800000"/>
          </a:xfrm>
          <a:prstGeom prst="round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120000" y="4752000"/>
            <a:ext cx="5713200" cy="18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[ Nova Fintech — Visual System ]</a:t>
            </a:r>
          </a:p>
        </p:txBody>
      </p:sp>
      <p:sp>
        <p:nvSpPr>
          <p:cNvPr id="22" name="TextBox 22"/>
          <p:cNvSpPr/>
          <p:nvPr/>
        </p:nvSpPr>
        <p:spPr>
          <a:xfrm>
            <a:off x="6120000" y="6588000"/>
            <a:ext cx="5713200" cy="27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0A0A0A"/>
                </a:solidFill>
                <a:latin typeface="Segoe UI Black"/>
                <a:ea typeface="Segoe UI Black"/>
              </a:rPr>
              <a:t>Nova Fintech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lockA"/>
          <p:cNvSpPr/>
          <p:nvPr/>
        </p:nvSpPr>
        <p:spPr>
          <a:xfrm>
            <a:off x="0" y="0"/>
            <a:ext cx="1440000" cy="6858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ockB"/>
          <p:cNvSpPr/>
          <p:nvPr/>
        </p:nvSpPr>
        <p:spPr>
          <a:xfrm>
            <a:off x="0" y="5400000"/>
            <a:ext cx="12193200" cy="1458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dot"/>
          <p:cNvSpPr/>
          <p:nvPr/>
        </p:nvSpPr>
        <p:spPr>
          <a:xfrm>
            <a:off x="1656000" y="5220000"/>
            <a:ext cx="432000" cy="432000"/>
          </a:xfrm>
          <a:prstGeom prst="ellipse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980000" y="540000"/>
            <a:ext cx="93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19FF"/>
                </a:solidFill>
                <a:latin typeface="Segoe UI"/>
                <a:ea typeface="Segoe UI"/>
              </a:rPr>
              <a:t>OUR APPROACH</a:t>
            </a:r>
          </a:p>
        </p:txBody>
      </p:sp>
      <p:sp>
        <p:nvSpPr>
          <p:cNvPr id="6" name="TextBox 6"/>
          <p:cNvSpPr/>
          <p:nvPr/>
        </p:nvSpPr>
        <p:spPr>
          <a:xfrm>
            <a:off x="1980000" y="1008000"/>
            <a:ext cx="1440000" cy="36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980000" y="1260000"/>
            <a:ext cx="9360000" cy="16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0A0A0A"/>
                </a:solidFill>
                <a:latin typeface="Segoe UI Black"/>
                <a:ea typeface="Segoe UI Black"/>
              </a:rPr>
              <a:t>How great brands</a:t>
            </a:r>
          </a:p>
          <a:p>
            <a:r>
              <a:rPr lang="en-US" sz="3400" b="1">
                <a:solidFill>
                  <a:srgbClr val="0A0A0A"/>
                </a:solidFill>
                <a:latin typeface="Segoe UI Black"/>
                <a:ea typeface="Segoe UI Black"/>
              </a:rPr>
              <a:t>are made.</a:t>
            </a:r>
          </a:p>
        </p:txBody>
      </p:sp>
      <p:sp>
        <p:nvSpPr>
          <p:cNvPr id="8" name="TextBox 8"/>
          <p:cNvSpPr/>
          <p:nvPr/>
        </p:nvSpPr>
        <p:spPr>
          <a:xfrm>
            <a:off x="1980000" y="3420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A19FF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9" name="TextBox 9"/>
          <p:cNvSpPr/>
          <p:nvPr/>
        </p:nvSpPr>
        <p:spPr>
          <a:xfrm>
            <a:off x="1980000" y="3852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A0A0A"/>
                </a:solidFill>
                <a:latin typeface="Segoe UI Black"/>
                <a:ea typeface="Segoe UI Black"/>
              </a:rPr>
              <a:t>DISCOVER</a:t>
            </a:r>
          </a:p>
        </p:txBody>
      </p:sp>
      <p:sp>
        <p:nvSpPr>
          <p:cNvPr id="10" name="TextBox 10"/>
          <p:cNvSpPr/>
          <p:nvPr/>
        </p:nvSpPr>
        <p:spPr>
          <a:xfrm>
            <a:off x="1980000" y="4392000"/>
            <a:ext cx="43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Immerse, research, map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competitors and audiences.</a:t>
            </a:r>
          </a:p>
        </p:txBody>
      </p:sp>
      <p:sp>
        <p:nvSpPr>
          <p:cNvPr id="11" name="TextBox 11"/>
          <p:cNvSpPr/>
          <p:nvPr/>
        </p:nvSpPr>
        <p:spPr>
          <a:xfrm>
            <a:off x="7020000" y="3420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A19FF"/>
                </a:solidFill>
                <a:latin typeface="Segoe UI Black"/>
                <a:ea typeface="Segoe UI Black"/>
              </a:rPr>
              <a:t>02</a:t>
            </a:r>
          </a:p>
        </p:txBody>
      </p:sp>
      <p:sp>
        <p:nvSpPr>
          <p:cNvPr id="12" name="TextBox 12"/>
          <p:cNvSpPr/>
          <p:nvPr/>
        </p:nvSpPr>
        <p:spPr>
          <a:xfrm>
            <a:off x="7020000" y="3852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A0A0A"/>
                </a:solidFill>
                <a:latin typeface="Segoe UI Black"/>
                <a:ea typeface="Segoe UI Black"/>
              </a:rPr>
              <a:t>DEFINE</a:t>
            </a:r>
          </a:p>
        </p:txBody>
      </p:sp>
      <p:sp>
        <p:nvSpPr>
          <p:cNvPr id="13" name="TextBox 13"/>
          <p:cNvSpPr/>
          <p:nvPr/>
        </p:nvSpPr>
        <p:spPr>
          <a:xfrm>
            <a:off x="7020000" y="4392000"/>
            <a:ext cx="43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Crystallise positioning,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naming and visual direction.</a:t>
            </a:r>
          </a:p>
        </p:txBody>
      </p:sp>
      <p:sp>
        <p:nvSpPr>
          <p:cNvPr id="14" name="TextBox 14"/>
          <p:cNvSpPr/>
          <p:nvPr/>
        </p:nvSpPr>
        <p:spPr>
          <a:xfrm>
            <a:off x="1980000" y="3312000"/>
            <a:ext cx="4500000" cy="1800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1980000" y="5040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AAFF00"/>
                </a:solidFill>
                <a:latin typeface="Segoe UI Black"/>
                <a:ea typeface="Segoe UI Black"/>
              </a:rPr>
              <a:t>03</a:t>
            </a:r>
          </a:p>
        </p:txBody>
      </p:sp>
      <p:sp>
        <p:nvSpPr>
          <p:cNvPr id="16" name="TextBox 16"/>
          <p:cNvSpPr/>
          <p:nvPr/>
        </p:nvSpPr>
        <p:spPr>
          <a:xfrm>
            <a:off x="1980000" y="5220000"/>
            <a:ext cx="43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17" name="TextBox 17"/>
          <p:cNvSpPr/>
          <p:nvPr/>
        </p:nvSpPr>
        <p:spPr>
          <a:xfrm>
            <a:off x="7020000" y="5040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AAFF00"/>
                </a:solidFill>
                <a:latin typeface="Segoe UI Black"/>
                <a:ea typeface="Segoe UI Black"/>
              </a:rPr>
              <a:t>04</a:t>
            </a:r>
          </a:p>
        </p:txBody>
      </p:sp>
      <p:sp>
        <p:nvSpPr>
          <p:cNvPr id="18" name="TextBox 18"/>
          <p:cNvSpPr/>
          <p:nvPr/>
        </p:nvSpPr>
        <p:spPr>
          <a:xfrm>
            <a:off x="7020000" y="5220000"/>
            <a:ext cx="43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DELIVER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0">
            <a:off x="11160000" y="1058400"/>
            <a:ext cx="720000" cy="43200"/>
          </a:xfrm>
          <a:prstGeom prst="rect">
            <a:avLst/>
          </a:prstGeom>
          <a:solidFill>
            <a:srgbClr val="1A19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2700000">
            <a:off x="11160000" y="1058400"/>
            <a:ext cx="720000" cy="43200"/>
          </a:xfrm>
          <a:prstGeom prst="rect">
            <a:avLst/>
          </a:prstGeom>
          <a:solidFill>
            <a:srgbClr val="1A19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5400000">
            <a:off x="11160000" y="1058400"/>
            <a:ext cx="720000" cy="43200"/>
          </a:xfrm>
          <a:prstGeom prst="rect">
            <a:avLst/>
          </a:prstGeom>
          <a:solidFill>
            <a:srgbClr val="1A19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8100000">
            <a:off x="11160000" y="1058400"/>
            <a:ext cx="720000" cy="43200"/>
          </a:xfrm>
          <a:prstGeom prst="rect">
            <a:avLst/>
          </a:prstGeom>
          <a:solidFill>
            <a:srgbClr val="1A19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ckA"/>
          <p:cNvSpPr/>
          <p:nvPr/>
        </p:nvSpPr>
        <p:spPr>
          <a:xfrm>
            <a:off x="0" y="0"/>
            <a:ext cx="5760000" cy="1800000"/>
          </a:xfrm>
          <a:prstGeom prst="rect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ockB"/>
          <p:cNvSpPr/>
          <p:nvPr/>
        </p:nvSpPr>
        <p:spPr>
          <a:xfrm>
            <a:off x="5760000" y="0"/>
            <a:ext cx="6433200" cy="1800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dot"/>
          <p:cNvSpPr/>
          <p:nvPr/>
        </p:nvSpPr>
        <p:spPr>
          <a:xfrm>
            <a:off x="5184000" y="648000"/>
            <a:ext cx="432000" cy="4320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60000"/>
            <a:ext cx="50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MEET THE</a:t>
            </a:r>
          </a:p>
        </p:txBody>
      </p:sp>
      <p:sp>
        <p:nvSpPr>
          <p:cNvPr id="10" name="TextBox 10"/>
          <p:cNvSpPr/>
          <p:nvPr/>
        </p:nvSpPr>
        <p:spPr>
          <a:xfrm>
            <a:off x="6120000" y="360000"/>
            <a:ext cx="57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A0A0A"/>
                </a:solidFill>
                <a:latin typeface="Segoe UI Black"/>
                <a:ea typeface="Segoe UI Black"/>
              </a:rPr>
              <a:t>TEAM</a:t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2340000"/>
            <a:ext cx="3420000" cy="2880000"/>
          </a:xfrm>
          <a:prstGeom prst="round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2340000"/>
            <a:ext cx="3420000" cy="18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[ Photo ]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4248000"/>
            <a:ext cx="30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0A0A0A"/>
                </a:solidFill>
                <a:latin typeface="Segoe UI Black"/>
                <a:ea typeface="Segoe UI Black"/>
              </a:rPr>
              <a:t>Clara Eriksen</a:t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4680000"/>
            <a:ext cx="30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Founder &amp; Creative Director</a:t>
            </a:r>
          </a:p>
        </p:txBody>
      </p:sp>
      <p:sp>
        <p:nvSpPr>
          <p:cNvPr id="15" name="TextBox 15"/>
          <p:cNvSpPr/>
          <p:nvPr/>
        </p:nvSpPr>
        <p:spPr>
          <a:xfrm>
            <a:off x="4388400" y="2340000"/>
            <a:ext cx="3420000" cy="2880000"/>
          </a:xfrm>
          <a:prstGeom prst="round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4388400" y="2340000"/>
            <a:ext cx="3420000" cy="18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[ Photo ]</a:t>
            </a:r>
          </a:p>
        </p:txBody>
      </p:sp>
      <p:sp>
        <p:nvSpPr>
          <p:cNvPr id="17" name="TextBox 17"/>
          <p:cNvSpPr/>
          <p:nvPr/>
        </p:nvSpPr>
        <p:spPr>
          <a:xfrm>
            <a:off x="4568400" y="4248000"/>
            <a:ext cx="30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0A0A0A"/>
                </a:solidFill>
                <a:latin typeface="Segoe UI Black"/>
                <a:ea typeface="Segoe UI Black"/>
              </a:rPr>
              <a:t>James Osei</a:t>
            </a:r>
          </a:p>
        </p:txBody>
      </p:sp>
      <p:sp>
        <p:nvSpPr>
          <p:cNvPr id="18" name="TextBox 18"/>
          <p:cNvSpPr/>
          <p:nvPr/>
        </p:nvSpPr>
        <p:spPr>
          <a:xfrm>
            <a:off x="4568400" y="4680000"/>
            <a:ext cx="30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Strategy &amp; Brand Partner</a:t>
            </a:r>
          </a:p>
        </p:txBody>
      </p:sp>
      <p:sp>
        <p:nvSpPr>
          <p:cNvPr id="19" name="TextBox 19"/>
          <p:cNvSpPr/>
          <p:nvPr/>
        </p:nvSpPr>
        <p:spPr>
          <a:xfrm>
            <a:off x="8236800" y="2340000"/>
            <a:ext cx="3420000" cy="2880000"/>
          </a:xfrm>
          <a:prstGeom prst="round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8236800" y="2340000"/>
            <a:ext cx="3420000" cy="18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[ Photo ]</a:t>
            </a:r>
          </a:p>
        </p:txBody>
      </p:sp>
      <p:sp>
        <p:nvSpPr>
          <p:cNvPr id="21" name="TextBox 21"/>
          <p:cNvSpPr/>
          <p:nvPr/>
        </p:nvSpPr>
        <p:spPr>
          <a:xfrm>
            <a:off x="8416800" y="4248000"/>
            <a:ext cx="30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0A0A0A"/>
                </a:solidFill>
                <a:latin typeface="Segoe UI Black"/>
                <a:ea typeface="Segoe UI Black"/>
              </a:rPr>
              <a:t>Yuki Tanaka</a:t>
            </a:r>
          </a:p>
        </p:txBody>
      </p:sp>
      <p:sp>
        <p:nvSpPr>
          <p:cNvPr id="22" name="TextBox 22"/>
          <p:cNvSpPr/>
          <p:nvPr/>
        </p:nvSpPr>
        <p:spPr>
          <a:xfrm>
            <a:off x="8416800" y="4680000"/>
            <a:ext cx="30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Motion &amp; Digital Lead</a:t>
            </a:r>
          </a:p>
        </p:txBody>
      </p:sp>
      <p:sp>
        <p:nvSpPr>
          <p:cNvPr id="23" name="TextBox 23"/>
          <p:cNvSpPr/>
          <p:nvPr/>
        </p:nvSpPr>
        <p:spPr>
          <a:xfrm>
            <a:off x="540000" y="5760000"/>
            <a:ext cx="11113200" cy="1800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540000" y="5940000"/>
            <a:ext cx="108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"We don't decorate. We communicate."  — Forma Nova Manifesto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9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0">
            <a:off x="9288000" y="1778400"/>
            <a:ext cx="1584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2700000">
            <a:off x="9288000" y="1778400"/>
            <a:ext cx="1584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5400000">
            <a:off x="9288000" y="1778400"/>
            <a:ext cx="1584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8100000">
            <a:off x="9288000" y="1778400"/>
            <a:ext cx="1584000" cy="43200"/>
          </a:xfrm>
          <a:prstGeom prst="rect">
            <a:avLst/>
          </a:prstGeom>
          <a:solidFill>
            <a:srgbClr val="AAFF0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ckA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9FF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ockB"/>
          <p:cNvSpPr/>
          <p:nvPr/>
        </p:nvSpPr>
        <p:spPr>
          <a:xfrm>
            <a:off x="0" y="3600000"/>
            <a:ext cx="12193200" cy="3258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dot"/>
          <p:cNvSpPr/>
          <p:nvPr/>
        </p:nvSpPr>
        <p:spPr>
          <a:xfrm>
            <a:off x="2160000" y="3312000"/>
            <a:ext cx="432000" cy="432000"/>
          </a:xfrm>
          <a:prstGeom prst="ellipse">
            <a:avLst/>
          </a:prstGeom>
          <a:solidFill>
            <a:srgbClr val="1A19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540000" y="54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AAFF00"/>
                </a:solidFill>
                <a:latin typeface="Segoe UI"/>
                <a:ea typeface="Segoe UI"/>
              </a:rPr>
              <a:t>START A PROJECT</a:t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1008000"/>
            <a:ext cx="1440000" cy="36000"/>
          </a:xfrm>
          <a:prstGeom prst="rect">
            <a:avLst/>
          </a:prstGeom>
          <a:solidFill>
            <a:srgbClr val="AAFF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1260000"/>
            <a:ext cx="936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Let's build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something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iconic.</a:t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4140000"/>
            <a:ext cx="5040000" cy="1008000"/>
          </a:xfrm>
          <a:prstGeom prst="roundRect">
            <a:avLst/>
          </a:prstGeom>
          <a:solidFill>
            <a:srgbClr val="0A0A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4140000"/>
            <a:ext cx="5040000" cy="100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AAFF00"/>
                </a:solidFill>
                <a:latin typeface="Segoe UI Black"/>
                <a:ea typeface="Segoe UI Black"/>
              </a:rPr>
              <a:t>Start a Project  →</a:t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5580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0A0A0A"/>
                </a:solidFill>
                <a:latin typeface="Segoe UI Black"/>
                <a:ea typeface="Segoe UI Black"/>
              </a:rPr>
              <a:t>hello@formanova.studio</a:t>
            </a:r>
          </a:p>
        </p:txBody>
      </p:sp>
      <p:sp>
        <p:nvSpPr>
          <p:cNvPr id="15" name="TextBox 15"/>
          <p:cNvSpPr/>
          <p:nvPr/>
        </p:nvSpPr>
        <p:spPr>
          <a:xfrm>
            <a:off x="540000" y="6120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0A0A0A"/>
                </a:solidFill>
                <a:latin typeface="Segoe UI"/>
                <a:ea typeface="Segoe UI"/>
              </a:rPr>
              <a:t>Oslo  ·  London  ·  Tokyo</a:t>
            </a:r>
          </a:p>
        </p:txBody>
      </p:sp>
      <p:sp>
        <p:nvSpPr>
          <p:cNvPr id="16" name="TextBox 16"/>
          <p:cNvSpPr/>
          <p:nvPr/>
        </p:nvSpPr>
        <p:spPr>
          <a:xfrm>
            <a:off x="9360000" y="6408000"/>
            <a:ext cx="2833200" cy="32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0A0A0A"/>
                </a:solidFill>
                <a:latin typeface="Segoe UI"/>
                <a:ea typeface="Segoe UI"/>
              </a:rPr>
              <a:t>formanova.studio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