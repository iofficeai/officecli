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1c0a7a35bda458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617c9be1780641c2"/>
    <p:sldId id="257" r:id="R4fa9a20b3d1a4e8c"/>
    <p:sldId id="258" r:id="Rb2370f73a23447be"/>
    <p:sldId id="259" r:id="R448bf35e1a06440e"/>
    <p:sldId id="260" r:id="R252349eeaa5c4251"/>
    <p:sldId id="261" r:id="R1b3018e921624041"/>
    <p:sldId id="262" r:id="R47985d6f29f04a81"/>
    <p:sldId id="263" r:id="R96b15e3c311b4086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617c9be1780641c2" /><Relationship Type="http://schemas.openxmlformats.org/officeDocument/2006/relationships/slide" Target="/ppt/slides/slide2.xml" Id="R4fa9a20b3d1a4e8c" /><Relationship Type="http://schemas.openxmlformats.org/officeDocument/2006/relationships/slide" Target="/ppt/slides/slide3.xml" Id="Rb2370f73a23447be" /><Relationship Type="http://schemas.openxmlformats.org/officeDocument/2006/relationships/slide" Target="/ppt/slides/slide4.xml" Id="R448bf35e1a06440e" /><Relationship Type="http://schemas.openxmlformats.org/officeDocument/2006/relationships/slide" Target="/ppt/slides/slide5.xml" Id="R252349eeaa5c4251" /><Relationship Type="http://schemas.openxmlformats.org/officeDocument/2006/relationships/slide" Target="/ppt/slides/slide6.xml" Id="R1b3018e921624041" /><Relationship Type="http://schemas.openxmlformats.org/officeDocument/2006/relationships/slide" Target="/ppt/slides/slide7.xml" Id="R47985d6f29f04a81" /><Relationship Type="http://schemas.openxmlformats.org/officeDocument/2006/relationships/slide" Target="/ppt/slides/slide8.xml" Id="R96b15e3c311b408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e2ceebe76d451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6f6ffdd6c4471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3b8c157afd49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64d923a0274e8b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1de665a2e0e47e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c73322e7c4b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63fc6615e46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6a3c84472040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9c8f66d4b44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ff3e08ed845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dabd5688f48e6" /><Relationship Type="http://schemas.openxmlformats.org/officeDocument/2006/relationships/chart" Target="/ppt/slides/charts/chart1.xml" Id="R07f1b2d0f70e4d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24da851c64a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08feea36d40f9" /></Relationships>
</file>

<file path=ppt/slides/charts/chart1.xml><?xml version="1.0" encoding="utf-8"?>
<c:chartSpace xmlns:c="http://schemas.openxmlformats.org/drawingml/2006/chart">
  <c:chart>
    <c:plotArea>
      <c:layout/>
      <c:pieChart>
        <c:varyColors val="1"/>
        <c:ser>
          <c:idx val="0"/>
          <c:order val="0"/>
          <c:tx>
            <c:v>Series 1</c:v>
          </c:tx>
          <c:cat>
            <c:strLit>
              <c:ptCount val="6"/>
              <c:pt idx="0">
                <c:v>Engineering</c:v>
              </c:pt>
              <c:pt idx="1">
                <c:v>Sales</c:v>
              </c:pt>
              <c:pt idx="2">
                <c:v>Marketing</c:v>
              </c:pt>
              <c:pt idx="3">
                <c:v>Product</c:v>
              </c:pt>
              <c:pt idx="4">
                <c:v>Ops</c:v>
              </c:pt>
              <c:pt idx="5">
                <c:v>G&amp;A</c:v>
              </c:pt>
            </c:strLit>
          </c:cat>
          <c:val>
            <c:numLit>
              <c:formatCode>General</c:formatCode>
              <c:ptCount val="6"/>
              <c:pt idx="0">
                <c:v>35</c:v>
              </c:pt>
              <c:pt idx="1">
                <c:v>23</c:v>
              </c:pt>
              <c:pt idx="2">
                <c:v>15</c:v>
              </c:pt>
              <c:pt idx="3">
                <c:v>10</c:v>
              </c:pt>
              <c:pt idx="4">
                <c:v>12</c:v>
              </c:pt>
              <c:pt idx="5">
                <c:v>5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</c:dLbls>
      </c:pieChart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20B18"/>
        </a:solidFill>
      </p:bgPr>
    </p:bg>
    <p:spTree>
      <p:nvGrpSpPr>
        <p:cNvPr id="1" name=""/>
        <p:cNvGrpSpPr/>
        <p:nvPr/>
      </p:nvGrpSpPr>
      <p:grpSpPr/>
      <p:sp>
        <p:nvSpPr>
          <p:cNvPr id="2" name="!!sa1"/>
          <p:cNvSpPr/>
          <p:nvPr/>
        </p:nvSpPr>
        <p:spPr>
          <a:xfrm>
            <a:off x="0" y="2520000"/>
            <a:ext cx="7200000" cy="7200000"/>
          </a:xfrm>
          <a:prstGeom prst="ellipse">
            <a:avLst/>
          </a:prstGeom>
          <a:solidFill>
            <a:srgbClr val="00C2D4">
              <a:alpha val="1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sa2"/>
          <p:cNvSpPr/>
          <p:nvPr/>
        </p:nvSpPr>
        <p:spPr>
          <a:xfrm>
            <a:off x="8640000" y="0"/>
            <a:ext cx="5400000" cy="5400000"/>
          </a:xfrm>
          <a:prstGeom prst="ellipse">
            <a:avLst/>
          </a:prstGeom>
          <a:solidFill>
            <a:srgbClr val="00C2D4">
              <a:alpha val="8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sa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C2D4">
              <a:alpha val="3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a4"/>
          <p:cNvSpPr/>
          <p:nvPr/>
        </p:nvSpPr>
        <p:spPr>
          <a:xfrm>
            <a:off x="10800000" y="4680000"/>
            <a:ext cx="1440000" cy="1440000"/>
          </a:xfrm>
          <a:solidFill>
            <a:srgbClr val="00C2D4">
              <a:alpha val="15000"/>
            </a:srgbClr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92" h="92">
                <a:moveTo>
                  <a:pt x="50" y="8"/>
                </a:moveTo>
                <a:lnTo>
                  <a:pt x="92" y="50"/>
                </a:lnTo>
                <a:lnTo>
                  <a:pt x="50" y="92"/>
                </a:lnTo>
                <a:lnTo>
                  <a:pt x="8" y="50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a5"/>
          <p:cNvSpPr/>
          <p:nvPr/>
        </p:nvSpPr>
        <p:spPr>
          <a:xfrm>
            <a:off x="5040000" y="2160000"/>
            <a:ext cx="360000" cy="360000"/>
          </a:xfrm>
          <a:prstGeom prst="ellipse">
            <a:avLst/>
          </a:prstGeom>
          <a:solidFill>
            <a:srgbClr val="00E5FF">
              <a:alpha val="6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a6"/>
          <p:cNvSpPr/>
          <p:nvPr/>
        </p:nvSpPr>
        <p:spPr>
          <a:xfrm>
            <a:off x="0" y="0"/>
            <a:ext cx="12192000" cy="72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l_tag"/>
          <p:cNvSpPr/>
          <p:nvPr/>
        </p:nvSpPr>
        <p:spPr>
          <a:xfrm>
            <a:off x="432000" y="1080000"/>
            <a:ext cx="3600000" cy="72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hl_title"/>
          <p:cNvSpPr/>
          <p:nvPr/>
        </p:nvSpPr>
        <p:spPr>
          <a:xfrm>
            <a:off x="432000" y="1260000"/>
            <a:ext cx="8640000" cy="21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6600" b="0">
                <a:solidFill>
                  <a:srgbClr val="E8F4F8"/>
                </a:solidFill>
                <a:latin typeface="Aptos Display"/>
                <a:ea typeface="Aptos Display"/>
              </a:rPr>
              <a:t>2025 Strategy Map</a:t>
            </a:r>
          </a:p>
        </p:txBody>
      </p:sp>
      <p:sp>
        <p:nvSpPr>
          <p:cNvPr id="10" name="!!hl_sub"/>
          <p:cNvSpPr/>
          <p:nvPr/>
        </p:nvSpPr>
        <p:spPr>
          <a:xfrm>
            <a:off x="432000" y="3600000"/>
            <a:ext cx="72000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7BAEC4"/>
                </a:solidFill>
                <a:latin typeface="Aptos"/>
                <a:ea typeface="Aptos"/>
              </a:rPr>
              <a:t>Aligning teams, priorities, and outcomes for breakthrough growth</a:t>
            </a:r>
          </a:p>
        </p:txBody>
      </p:sp>
      <p:sp>
        <p:nvSpPr>
          <p:cNvPr id="11" name="!!co_sp0"/>
          <p:cNvSpPr/>
          <p:nvPr/>
        </p:nvSpPr>
        <p:spPr>
          <a:xfrm>
            <a:off x="432000" y="4680000"/>
            <a:ext cx="2520000" cy="1800000"/>
          </a:xfrm>
          <a:prstGeom prst="rect">
            <a:avLst/>
          </a:prstGeom>
          <a:solidFill>
            <a:srgbClr val="0A1E32"/>
          </a:solidFill>
          <a:ln w="2">
            <a:solidFill>
              <a:srgbClr val="00C2D4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!!co_sn0"/>
          <p:cNvSpPr/>
          <p:nvPr/>
        </p:nvSpPr>
        <p:spPr>
          <a:xfrm>
            <a:off x="612000" y="4860000"/>
            <a:ext cx="7200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800" b="0">
                <a:solidFill>
                  <a:srgbClr val="00C2D4"/>
                </a:solidFill>
                <a:latin typeface="Aptos Display"/>
                <a:ea typeface="Aptos Display"/>
              </a:rPr>
              <a:t>01</a:t>
            </a:r>
          </a:p>
        </p:txBody>
      </p:sp>
      <p:sp>
        <p:nvSpPr>
          <p:cNvPr id="13" name="!!co_sl0"/>
          <p:cNvSpPr/>
          <p:nvPr/>
        </p:nvSpPr>
        <p:spPr>
          <a:xfrm>
            <a:off x="612000" y="5652000"/>
            <a:ext cx="216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 b="1">
                <a:solidFill>
                  <a:srgbClr val="E8F4F8"/>
                </a:solidFill>
                <a:latin typeface="Aptos"/>
                <a:ea typeface="Aptos"/>
              </a:rPr>
              <a:t>Growth</a:t>
            </a:r>
          </a:p>
        </p:txBody>
      </p:sp>
      <p:sp>
        <p:nvSpPr>
          <p:cNvPr id="14" name="!!co_sp1"/>
          <p:cNvSpPr/>
          <p:nvPr/>
        </p:nvSpPr>
        <p:spPr>
          <a:xfrm>
            <a:off x="3240000" y="4680000"/>
            <a:ext cx="2520000" cy="1800000"/>
          </a:xfrm>
          <a:prstGeom prst="rect">
            <a:avLst/>
          </a:prstGeom>
          <a:solidFill>
            <a:srgbClr val="0A1E32"/>
          </a:solidFill>
          <a:ln w="2">
            <a:solidFill>
              <a:srgbClr val="00C2D4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!!co_sn1"/>
          <p:cNvSpPr/>
          <p:nvPr/>
        </p:nvSpPr>
        <p:spPr>
          <a:xfrm>
            <a:off x="3420000" y="4860000"/>
            <a:ext cx="7200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800" b="0">
                <a:solidFill>
                  <a:srgbClr val="00C2D4"/>
                </a:solidFill>
                <a:latin typeface="Aptos Display"/>
                <a:ea typeface="Aptos Display"/>
              </a:rPr>
              <a:t>02</a:t>
            </a:r>
          </a:p>
        </p:txBody>
      </p:sp>
      <p:sp>
        <p:nvSpPr>
          <p:cNvPr id="16" name="!!co_sl1"/>
          <p:cNvSpPr/>
          <p:nvPr/>
        </p:nvSpPr>
        <p:spPr>
          <a:xfrm>
            <a:off x="3420000" y="5652000"/>
            <a:ext cx="216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 b="1">
                <a:solidFill>
                  <a:srgbClr val="E8F4F8"/>
                </a:solidFill>
                <a:latin typeface="Aptos"/>
                <a:ea typeface="Aptos"/>
              </a:rPr>
              <a:t>Efficiency</a:t>
            </a:r>
          </a:p>
        </p:txBody>
      </p:sp>
      <p:sp>
        <p:nvSpPr>
          <p:cNvPr id="17" name="!!co_sp2"/>
          <p:cNvSpPr/>
          <p:nvPr/>
        </p:nvSpPr>
        <p:spPr>
          <a:xfrm>
            <a:off x="6048000" y="4680000"/>
            <a:ext cx="2520000" cy="1800000"/>
          </a:xfrm>
          <a:prstGeom prst="rect">
            <a:avLst/>
          </a:prstGeom>
          <a:solidFill>
            <a:srgbClr val="0A1E32"/>
          </a:solidFill>
          <a:ln w="2">
            <a:solidFill>
              <a:srgbClr val="00C2D4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!!co_sn2"/>
          <p:cNvSpPr/>
          <p:nvPr/>
        </p:nvSpPr>
        <p:spPr>
          <a:xfrm>
            <a:off x="6228000" y="4860000"/>
            <a:ext cx="7200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800" b="0">
                <a:solidFill>
                  <a:srgbClr val="00C2D4"/>
                </a:solidFill>
                <a:latin typeface="Aptos Display"/>
                <a:ea typeface="Aptos Display"/>
              </a:rPr>
              <a:t>03</a:t>
            </a:r>
          </a:p>
        </p:txBody>
      </p:sp>
      <p:sp>
        <p:nvSpPr>
          <p:cNvPr id="19" name="!!co_sl2"/>
          <p:cNvSpPr/>
          <p:nvPr/>
        </p:nvSpPr>
        <p:spPr>
          <a:xfrm>
            <a:off x="6228000" y="5652000"/>
            <a:ext cx="216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 b="1">
                <a:solidFill>
                  <a:srgbClr val="E8F4F8"/>
                </a:solidFill>
                <a:latin typeface="Aptos"/>
                <a:ea typeface="Aptos"/>
              </a:rPr>
              <a:t>Innovation</a:t>
            </a:r>
          </a:p>
        </p:txBody>
      </p:sp>
      <p:sp>
        <p:nvSpPr>
          <p:cNvPr id="20" name="!!co_sp3"/>
          <p:cNvSpPr/>
          <p:nvPr/>
        </p:nvSpPr>
        <p:spPr>
          <a:xfrm>
            <a:off x="8856000" y="4680000"/>
            <a:ext cx="2520000" cy="1800000"/>
          </a:xfrm>
          <a:prstGeom prst="rect">
            <a:avLst/>
          </a:prstGeom>
          <a:solidFill>
            <a:srgbClr val="0A1E32"/>
          </a:solidFill>
          <a:ln w="2">
            <a:solidFill>
              <a:srgbClr val="00C2D4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!!co_sn3"/>
          <p:cNvSpPr/>
          <p:nvPr/>
        </p:nvSpPr>
        <p:spPr>
          <a:xfrm>
            <a:off x="9036000" y="4860000"/>
            <a:ext cx="7200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800" b="0">
                <a:solidFill>
                  <a:srgbClr val="00C2D4"/>
                </a:solidFill>
                <a:latin typeface="Aptos Display"/>
                <a:ea typeface="Aptos Display"/>
              </a:rPr>
              <a:t>04</a:t>
            </a:r>
          </a:p>
        </p:txBody>
      </p:sp>
      <p:sp>
        <p:nvSpPr>
          <p:cNvPr id="22" name="!!co_sl3"/>
          <p:cNvSpPr/>
          <p:nvPr/>
        </p:nvSpPr>
        <p:spPr>
          <a:xfrm>
            <a:off x="9036000" y="5652000"/>
            <a:ext cx="216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 b="1">
                <a:solidFill>
                  <a:srgbClr val="E8F4F8"/>
                </a:solidFill>
                <a:latin typeface="Aptos"/>
                <a:ea typeface="Aptos"/>
              </a:rPr>
              <a:t>Culture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20B18"/>
        </a:solidFill>
      </p:bgPr>
    </p:bg>
    <p:spTree>
      <p:nvGrpSpPr>
        <p:cNvPr id="1" name=""/>
        <p:cNvGrpSpPr/>
        <p:nvPr/>
      </p:nvGrpSpPr>
      <p:grpSpPr/>
      <p:sp>
        <p:nvSpPr>
          <p:cNvPr id="2" name="!!sa1"/>
          <p:cNvSpPr/>
          <p:nvPr/>
        </p:nvSpPr>
        <p:spPr>
          <a:xfrm>
            <a:off x="3600000" y="0"/>
            <a:ext cx="10800000" cy="10800000"/>
          </a:xfrm>
          <a:prstGeom prst="ellipse">
            <a:avLst/>
          </a:prstGeom>
          <a:solidFill>
            <a:srgbClr val="00C2D4">
              <a:alpha val="12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sa2"/>
          <p:cNvSpPr/>
          <p:nvPr/>
        </p:nvSpPr>
        <p:spPr>
          <a:xfrm>
            <a:off x="0" y="4320000"/>
            <a:ext cx="3600000" cy="3600000"/>
          </a:xfrm>
          <a:prstGeom prst="ellipse">
            <a:avLst/>
          </a:prstGeom>
          <a:solidFill>
            <a:srgbClr val="00E5FF">
              <a:alpha val="5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sa3"/>
          <p:cNvSpPr/>
          <p:nvPr/>
        </p:nvSpPr>
        <p:spPr>
          <a:xfrm>
            <a:off x="0" y="0"/>
            <a:ext cx="2160000" cy="6858000"/>
          </a:xfrm>
          <a:prstGeom prst="rect">
            <a:avLst/>
          </a:prstGeom>
          <a:solidFill>
            <a:srgbClr val="0077A8">
              <a:alpha val="6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a4"/>
          <p:cNvSpPr/>
          <p:nvPr/>
        </p:nvSpPr>
        <p:spPr>
          <a:xfrm>
            <a:off x="1440000" y="5400000"/>
            <a:ext cx="1080000" cy="1080000"/>
          </a:xfrm>
          <a:solidFill>
            <a:srgbClr val="00E5FF">
              <a:alpha val="20000"/>
            </a:srgbClr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92" h="92">
                <a:moveTo>
                  <a:pt x="50" y="8"/>
                </a:moveTo>
                <a:lnTo>
                  <a:pt x="92" y="50"/>
                </a:lnTo>
                <a:lnTo>
                  <a:pt x="50" y="92"/>
                </a:lnTo>
                <a:lnTo>
                  <a:pt x="8" y="50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a5"/>
          <p:cNvSpPr/>
          <p:nvPr/>
        </p:nvSpPr>
        <p:spPr>
          <a:xfrm>
            <a:off x="9360000" y="5400000"/>
            <a:ext cx="504000" cy="504000"/>
          </a:xfrm>
          <a:prstGeom prst="ellipse">
            <a:avLst/>
          </a:prstGeom>
          <a:solidFill>
            <a:srgbClr val="00E5FF">
              <a:alpha val="5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a6"/>
          <p:cNvSpPr/>
          <p:nvPr/>
        </p:nvSpPr>
        <p:spPr>
          <a:xfrm>
            <a:off x="0" y="0"/>
            <a:ext cx="12192000" cy="72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l_tag"/>
          <p:cNvSpPr/>
          <p:nvPr/>
        </p:nvSpPr>
        <p:spPr>
          <a:xfrm>
            <a:off x="432000" y="1440000"/>
            <a:ext cx="1440000" cy="72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hl_title"/>
          <p:cNvSpPr/>
          <p:nvPr/>
        </p:nvSpPr>
        <p:spPr>
          <a:xfrm>
            <a:off x="432000" y="1620000"/>
            <a:ext cx="10800000" cy="216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6000" b="0">
                <a:solidFill>
                  <a:srgbClr val="E8F4F8"/>
                </a:solidFill>
                <a:latin typeface="Aptos Display"/>
                <a:ea typeface="Aptos Display"/>
              </a:rPr>
              <a:t>Our North Star</a:t>
            </a:r>
          </a:p>
        </p:txBody>
      </p:sp>
      <p:sp>
        <p:nvSpPr>
          <p:cNvPr id="10" name="!!hl_sub"/>
          <p:cNvSpPr/>
          <p:nvPr/>
        </p:nvSpPr>
        <p:spPr>
          <a:xfrm>
            <a:off x="432000" y="3960000"/>
            <a:ext cx="90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>
                <a:solidFill>
                  <a:srgbClr val="7BAEC4"/>
                </a:solidFill>
                <a:latin typeface="Aptos"/>
                <a:ea typeface="Aptos"/>
              </a:rPr>
              <a:t>To be the operating system every high-performance team runs on by 2027.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20B18"/>
        </a:solidFill>
      </p:bgPr>
    </p:bg>
    <p:spTree>
      <p:nvGrpSpPr>
        <p:cNvPr id="1" name=""/>
        <p:cNvGrpSpPr/>
        <p:nvPr/>
      </p:nvGrpSpPr>
      <p:grpSpPr/>
      <p:sp>
        <p:nvSpPr>
          <p:cNvPr id="2" name="!!sa1"/>
          <p:cNvSpPr/>
          <p:nvPr/>
        </p:nvSpPr>
        <p:spPr>
          <a:xfrm>
            <a:off x="9360000" y="2160000"/>
            <a:ext cx="5400000" cy="5400000"/>
          </a:xfrm>
          <a:prstGeom prst="ellipse">
            <a:avLst/>
          </a:prstGeom>
          <a:solidFill>
            <a:srgbClr val="00C2D4">
              <a:alpha val="7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sa2"/>
          <p:cNvSpPr/>
          <p:nvPr/>
        </p:nvSpPr>
        <p:spPr>
          <a:xfrm>
            <a:off x="0" y="1440000"/>
            <a:ext cx="12192000" cy="2"/>
          </a:xfrm>
          <a:prstGeom prst="rect">
            <a:avLst/>
          </a:prstGeom>
          <a:solidFill>
            <a:srgbClr val="00C2D4">
              <a:alpha val="4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sa3"/>
          <p:cNvSpPr/>
          <p:nvPr/>
        </p:nvSpPr>
        <p:spPr>
          <a:xfrm>
            <a:off x="0" y="4320000"/>
            <a:ext cx="2520000" cy="2520000"/>
          </a:xfrm>
          <a:prstGeom prst="ellipse">
            <a:avLst/>
          </a:prstGeom>
          <a:solidFill>
            <a:srgbClr val="00E5FF">
              <a:alpha val="5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a4"/>
          <p:cNvSpPr/>
          <p:nvPr/>
        </p:nvSpPr>
        <p:spPr>
          <a:xfrm>
            <a:off x="5760000" y="5760000"/>
            <a:ext cx="1080000" cy="1080000"/>
          </a:xfrm>
          <a:solidFill>
            <a:srgbClr val="00C2D4">
              <a:alpha val="12000"/>
            </a:srgbClr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92" h="92">
                <a:moveTo>
                  <a:pt x="50" y="8"/>
                </a:moveTo>
                <a:lnTo>
                  <a:pt x="92" y="50"/>
                </a:lnTo>
                <a:lnTo>
                  <a:pt x="50" y="92"/>
                </a:lnTo>
                <a:lnTo>
                  <a:pt x="8" y="50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a5"/>
          <p:cNvSpPr/>
          <p:nvPr/>
        </p:nvSpPr>
        <p:spPr>
          <a:xfrm>
            <a:off x="10440000" y="720000"/>
            <a:ext cx="360000" cy="360000"/>
          </a:xfrm>
          <a:prstGeom prst="ellipse">
            <a:avLst/>
          </a:prstGeom>
          <a:solidFill>
            <a:srgbClr val="00E5FF">
              <a:alpha val="4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a6"/>
          <p:cNvSpPr/>
          <p:nvPr/>
        </p:nvSpPr>
        <p:spPr>
          <a:xfrm>
            <a:off x="0" y="0"/>
            <a:ext cx="12192000" cy="72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l_tag"/>
          <p:cNvSpPr/>
          <p:nvPr/>
        </p:nvSpPr>
        <p:spPr>
          <a:xfrm>
            <a:off x="432000" y="360000"/>
            <a:ext cx="3240000" cy="72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hl_title"/>
          <p:cNvSpPr/>
          <p:nvPr/>
        </p:nvSpPr>
        <p:spPr>
          <a:xfrm>
            <a:off x="432000" y="504000"/>
            <a:ext cx="72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000" b="0">
                <a:solidFill>
                  <a:srgbClr val="E8F4F8"/>
                </a:solidFill>
                <a:latin typeface="Aptos Display"/>
                <a:ea typeface="Aptos Display"/>
              </a:rPr>
              <a:t>4 Strategic Pillars</a:t>
            </a:r>
          </a:p>
        </p:txBody>
      </p:sp>
      <p:sp>
        <p:nvSpPr>
          <p:cNvPr id="10" name="!!co_bar0"/>
          <p:cNvSpPr/>
          <p:nvPr/>
        </p:nvSpPr>
        <p:spPr>
          <a:xfrm>
            <a:off x="432000" y="1800000"/>
            <a:ext cx="72000" cy="900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!!co_tit0"/>
          <p:cNvSpPr/>
          <p:nvPr/>
        </p:nvSpPr>
        <p:spPr>
          <a:xfrm>
            <a:off x="648000" y="1800000"/>
            <a:ext cx="504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 b="0">
                <a:solidFill>
                  <a:srgbClr val="E8F4F8"/>
                </a:solidFill>
                <a:latin typeface="Aptos Display"/>
                <a:ea typeface="Aptos Display"/>
              </a:rPr>
              <a:t>01 Growth</a:t>
            </a:r>
          </a:p>
        </p:txBody>
      </p:sp>
      <p:sp>
        <p:nvSpPr>
          <p:cNvPr id="12" name="!!co_bod0"/>
          <p:cNvSpPr/>
          <p:nvPr/>
        </p:nvSpPr>
        <p:spPr>
          <a:xfrm>
            <a:off x="648000" y="2304000"/>
            <a:ext cx="648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7BAEC4"/>
                </a:solidFill>
                <a:latin typeface="Aptos"/>
                <a:ea typeface="Aptos"/>
              </a:rPr>
              <a:t>Expand TAM 3× through new segments and geographic expansion</a:t>
            </a:r>
          </a:p>
        </p:txBody>
      </p:sp>
      <p:sp>
        <p:nvSpPr>
          <p:cNvPr id="13" name="!!co_goal0"/>
          <p:cNvSpPr/>
          <p:nvPr/>
        </p:nvSpPr>
        <p:spPr>
          <a:xfrm>
            <a:off x="8640000" y="1908000"/>
            <a:ext cx="2880000" cy="576000"/>
          </a:xfrm>
          <a:prstGeom prst="roundRect">
            <a:avLst/>
          </a:prstGeom>
          <a:solidFill>
            <a:srgbClr val="0077A8"/>
          </a:solidFill>
          <a:ln w="2">
            <a:solidFill>
              <a:srgbClr val="00C2D4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!!co_gv0"/>
          <p:cNvSpPr/>
          <p:nvPr/>
        </p:nvSpPr>
        <p:spPr>
          <a:xfrm>
            <a:off x="8640000" y="1980000"/>
            <a:ext cx="288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 b="0">
                <a:solidFill>
                  <a:srgbClr val="00E5FF"/>
                </a:solidFill>
                <a:latin typeface="Aptos Display"/>
                <a:ea typeface="Aptos Display"/>
              </a:rPr>
              <a:t>$65M ARR</a:t>
            </a:r>
          </a:p>
        </p:txBody>
      </p:sp>
      <p:sp>
        <p:nvSpPr>
          <p:cNvPr id="15" name="!!co_bar1"/>
          <p:cNvSpPr/>
          <p:nvPr/>
        </p:nvSpPr>
        <p:spPr>
          <a:xfrm>
            <a:off x="432000" y="2988000"/>
            <a:ext cx="72000" cy="900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!!co_tit1"/>
          <p:cNvSpPr/>
          <p:nvPr/>
        </p:nvSpPr>
        <p:spPr>
          <a:xfrm>
            <a:off x="648000" y="2988000"/>
            <a:ext cx="504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 b="0">
                <a:solidFill>
                  <a:srgbClr val="E8F4F8"/>
                </a:solidFill>
                <a:latin typeface="Aptos Display"/>
                <a:ea typeface="Aptos Display"/>
              </a:rPr>
              <a:t>02 Efficiency</a:t>
            </a:r>
          </a:p>
        </p:txBody>
      </p:sp>
      <p:sp>
        <p:nvSpPr>
          <p:cNvPr id="17" name="!!co_bod1"/>
          <p:cNvSpPr/>
          <p:nvPr/>
        </p:nvSpPr>
        <p:spPr>
          <a:xfrm>
            <a:off x="648000" y="3492000"/>
            <a:ext cx="648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7BAEC4"/>
                </a:solidFill>
                <a:latin typeface="Aptos"/>
                <a:ea typeface="Aptos"/>
              </a:rPr>
              <a:t>Cut unit costs 25% via automation and workflow consolidation</a:t>
            </a:r>
          </a:p>
        </p:txBody>
      </p:sp>
      <p:sp>
        <p:nvSpPr>
          <p:cNvPr id="18" name="!!co_goal1"/>
          <p:cNvSpPr/>
          <p:nvPr/>
        </p:nvSpPr>
        <p:spPr>
          <a:xfrm>
            <a:off x="8640000" y="3096000"/>
            <a:ext cx="2880000" cy="576000"/>
          </a:xfrm>
          <a:prstGeom prst="roundRect">
            <a:avLst/>
          </a:prstGeom>
          <a:solidFill>
            <a:srgbClr val="0077A8"/>
          </a:solidFill>
          <a:ln w="2">
            <a:solidFill>
              <a:srgbClr val="00C2D4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!!co_gv1"/>
          <p:cNvSpPr/>
          <p:nvPr/>
        </p:nvSpPr>
        <p:spPr>
          <a:xfrm>
            <a:off x="8640000" y="3168000"/>
            <a:ext cx="288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 b="0">
                <a:solidFill>
                  <a:srgbClr val="00E5FF"/>
                </a:solidFill>
                <a:latin typeface="Aptos Display"/>
                <a:ea typeface="Aptos Display"/>
              </a:rPr>
              <a:t>-25% COGS</a:t>
            </a:r>
          </a:p>
        </p:txBody>
      </p:sp>
      <p:sp>
        <p:nvSpPr>
          <p:cNvPr id="20" name="!!co_bar2"/>
          <p:cNvSpPr/>
          <p:nvPr/>
        </p:nvSpPr>
        <p:spPr>
          <a:xfrm>
            <a:off x="432000" y="4176000"/>
            <a:ext cx="72000" cy="900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!!co_tit2"/>
          <p:cNvSpPr/>
          <p:nvPr/>
        </p:nvSpPr>
        <p:spPr>
          <a:xfrm>
            <a:off x="648000" y="4176000"/>
            <a:ext cx="504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 b="0">
                <a:solidFill>
                  <a:srgbClr val="E8F4F8"/>
                </a:solidFill>
                <a:latin typeface="Aptos Display"/>
                <a:ea typeface="Aptos Display"/>
              </a:rPr>
              <a:t>03 Innovation</a:t>
            </a:r>
          </a:p>
        </p:txBody>
      </p:sp>
      <p:sp>
        <p:nvSpPr>
          <p:cNvPr id="22" name="!!co_bod2"/>
          <p:cNvSpPr/>
          <p:nvPr/>
        </p:nvSpPr>
        <p:spPr>
          <a:xfrm>
            <a:off x="648000" y="4680000"/>
            <a:ext cx="648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7BAEC4"/>
                </a:solidFill>
                <a:latin typeface="Aptos"/>
                <a:ea typeface="Aptos"/>
              </a:rPr>
              <a:t>Ship 4 AI-native features per quarter, 2 patents filed</a:t>
            </a:r>
          </a:p>
        </p:txBody>
      </p:sp>
      <p:sp>
        <p:nvSpPr>
          <p:cNvPr id="23" name="!!co_goal2"/>
          <p:cNvSpPr/>
          <p:nvPr/>
        </p:nvSpPr>
        <p:spPr>
          <a:xfrm>
            <a:off x="8640000" y="4284000"/>
            <a:ext cx="2880000" cy="576000"/>
          </a:xfrm>
          <a:prstGeom prst="roundRect">
            <a:avLst/>
          </a:prstGeom>
          <a:solidFill>
            <a:srgbClr val="0077A8"/>
          </a:solidFill>
          <a:ln w="2">
            <a:solidFill>
              <a:srgbClr val="00C2D4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!!co_gv2"/>
          <p:cNvSpPr/>
          <p:nvPr/>
        </p:nvSpPr>
        <p:spPr>
          <a:xfrm>
            <a:off x="8640000" y="4356000"/>
            <a:ext cx="288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 b="0">
                <a:solidFill>
                  <a:srgbClr val="00E5FF"/>
                </a:solidFill>
                <a:latin typeface="Aptos Display"/>
                <a:ea typeface="Aptos Display"/>
              </a:rPr>
              <a:t>4 features/Q</a:t>
            </a:r>
          </a:p>
        </p:txBody>
      </p:sp>
      <p:sp>
        <p:nvSpPr>
          <p:cNvPr id="25" name="!!co_bar3"/>
          <p:cNvSpPr/>
          <p:nvPr/>
        </p:nvSpPr>
        <p:spPr>
          <a:xfrm>
            <a:off x="432000" y="5364000"/>
            <a:ext cx="72000" cy="900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!!co_tit3"/>
          <p:cNvSpPr/>
          <p:nvPr/>
        </p:nvSpPr>
        <p:spPr>
          <a:xfrm>
            <a:off x="648000" y="5364000"/>
            <a:ext cx="504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 b="0">
                <a:solidFill>
                  <a:srgbClr val="E8F4F8"/>
                </a:solidFill>
                <a:latin typeface="Aptos Display"/>
                <a:ea typeface="Aptos Display"/>
              </a:rPr>
              <a:t>04 Culture</a:t>
            </a:r>
          </a:p>
        </p:txBody>
      </p:sp>
      <p:sp>
        <p:nvSpPr>
          <p:cNvPr id="27" name="!!co_bod3"/>
          <p:cNvSpPr/>
          <p:nvPr/>
        </p:nvSpPr>
        <p:spPr>
          <a:xfrm>
            <a:off x="648000" y="5868000"/>
            <a:ext cx="648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7BAEC4"/>
                </a:solidFill>
                <a:latin typeface="Aptos"/>
                <a:ea typeface="Aptos"/>
              </a:rPr>
              <a:t>Top-decile eNPS, 90-day onboarding success for all new hires</a:t>
            </a:r>
          </a:p>
        </p:txBody>
      </p:sp>
      <p:sp>
        <p:nvSpPr>
          <p:cNvPr id="28" name="!!co_goal3"/>
          <p:cNvSpPr/>
          <p:nvPr/>
        </p:nvSpPr>
        <p:spPr>
          <a:xfrm>
            <a:off x="8640000" y="5472000"/>
            <a:ext cx="2880000" cy="576000"/>
          </a:xfrm>
          <a:prstGeom prst="roundRect">
            <a:avLst/>
          </a:prstGeom>
          <a:solidFill>
            <a:srgbClr val="0077A8"/>
          </a:solidFill>
          <a:ln w="2">
            <a:solidFill>
              <a:srgbClr val="00C2D4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" name="!!co_gv3"/>
          <p:cNvSpPr/>
          <p:nvPr/>
        </p:nvSpPr>
        <p:spPr>
          <a:xfrm>
            <a:off x="8640000" y="5544000"/>
            <a:ext cx="288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 b="0">
                <a:solidFill>
                  <a:srgbClr val="00E5FF"/>
                </a:solidFill>
                <a:latin typeface="Aptos Display"/>
                <a:ea typeface="Aptos Display"/>
              </a:rPr>
              <a:t>eNPS 70+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20B18"/>
        </a:solidFill>
      </p:bgPr>
    </p:bg>
    <p:spTree>
      <p:nvGrpSpPr>
        <p:cNvPr id="1" name=""/>
        <p:cNvGrpSpPr/>
        <p:nvPr/>
      </p:nvGrpSpPr>
      <p:grpSpPr/>
      <p:sp>
        <p:nvSpPr>
          <p:cNvPr id="2" name="!!sa1"/>
          <p:cNvSpPr/>
          <p:nvPr/>
        </p:nvSpPr>
        <p:spPr>
          <a:xfrm>
            <a:off x="8100000" y="1800000"/>
            <a:ext cx="6480000" cy="6480000"/>
          </a:xfrm>
          <a:prstGeom prst="ellipse">
            <a:avLst/>
          </a:prstGeom>
          <a:solidFill>
            <a:srgbClr val="00C2D4">
              <a:alpha val="8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sa2"/>
          <p:cNvSpPr/>
          <p:nvPr/>
        </p:nvSpPr>
        <p:spPr>
          <a:xfrm>
            <a:off x="0" y="0"/>
            <a:ext cx="2520000" cy="2520000"/>
          </a:xfrm>
          <a:prstGeom prst="ellipse">
            <a:avLst/>
          </a:prstGeom>
          <a:solidFill>
            <a:srgbClr val="00E5FF">
              <a:alpha val="5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sa3"/>
          <p:cNvSpPr/>
          <p:nvPr/>
        </p:nvSpPr>
        <p:spPr>
          <a:xfrm>
            <a:off x="0" y="5778000"/>
            <a:ext cx="12192000" cy="1080000"/>
          </a:xfrm>
          <a:prstGeom prst="rect">
            <a:avLst/>
          </a:prstGeom>
          <a:solidFill>
            <a:srgbClr val="00C2D4">
              <a:alpha val="4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a4"/>
          <p:cNvSpPr/>
          <p:nvPr/>
        </p:nvSpPr>
        <p:spPr>
          <a:xfrm>
            <a:off x="4320000" y="5760000"/>
            <a:ext cx="1080000" cy="1080000"/>
          </a:xfrm>
          <a:solidFill>
            <a:srgbClr val="00E5FF">
              <a:alpha val="15000"/>
            </a:srgbClr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92" h="92">
                <a:moveTo>
                  <a:pt x="50" y="8"/>
                </a:moveTo>
                <a:lnTo>
                  <a:pt x="92" y="50"/>
                </a:lnTo>
                <a:lnTo>
                  <a:pt x="50" y="92"/>
                </a:lnTo>
                <a:lnTo>
                  <a:pt x="8" y="50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a5"/>
          <p:cNvSpPr/>
          <p:nvPr/>
        </p:nvSpPr>
        <p:spPr>
          <a:xfrm>
            <a:off x="2160000" y="3960000"/>
            <a:ext cx="252000" cy="252000"/>
          </a:xfrm>
          <a:prstGeom prst="ellipse">
            <a:avLst/>
          </a:prstGeom>
          <a:solidFill>
            <a:srgbClr val="00E5FF">
              <a:alpha val="5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a6"/>
          <p:cNvSpPr/>
          <p:nvPr/>
        </p:nvSpPr>
        <p:spPr>
          <a:xfrm>
            <a:off x="0" y="0"/>
            <a:ext cx="12192000" cy="72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l_tag"/>
          <p:cNvSpPr/>
          <p:nvPr/>
        </p:nvSpPr>
        <p:spPr>
          <a:xfrm>
            <a:off x="432000" y="360000"/>
            <a:ext cx="1800000" cy="72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hl_title"/>
          <p:cNvSpPr/>
          <p:nvPr/>
        </p:nvSpPr>
        <p:spPr>
          <a:xfrm>
            <a:off x="432000" y="504000"/>
            <a:ext cx="54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400" b="0">
                <a:solidFill>
                  <a:srgbClr val="E8F4F8"/>
                </a:solidFill>
                <a:latin typeface="Aptos Display"/>
                <a:ea typeface="Aptos Display"/>
              </a:rPr>
              <a:t>Q1 OKRs</a:t>
            </a:r>
          </a:p>
        </p:txBody>
      </p:sp>
      <p:sp>
        <p:nvSpPr>
          <p:cNvPr id="10" name="!!co_okrl0"/>
          <p:cNvSpPr/>
          <p:nvPr/>
        </p:nvSpPr>
        <p:spPr>
          <a:xfrm>
            <a:off x="432000" y="1800000"/>
            <a:ext cx="540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E8F4F8"/>
                </a:solidFill>
                <a:latin typeface="Aptos"/>
                <a:ea typeface="Aptos"/>
              </a:rPr>
              <a:t>Reach $48M ARR</a:t>
            </a:r>
          </a:p>
        </p:txBody>
      </p:sp>
      <p:sp>
        <p:nvSpPr>
          <p:cNvPr id="11" name="!!co_okrbg0"/>
          <p:cNvSpPr/>
          <p:nvPr/>
        </p:nvSpPr>
        <p:spPr>
          <a:xfrm>
            <a:off x="432000" y="2268000"/>
            <a:ext cx="6480000" cy="252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!!co_okrfg0"/>
          <p:cNvSpPr/>
          <p:nvPr/>
        </p:nvSpPr>
        <p:spPr>
          <a:xfrm>
            <a:off x="432000" y="2268000"/>
            <a:ext cx="5054400" cy="252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!!co_okrp0"/>
          <p:cNvSpPr/>
          <p:nvPr/>
        </p:nvSpPr>
        <p:spPr>
          <a:xfrm>
            <a:off x="7200000" y="1800000"/>
            <a:ext cx="144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600" b="0">
                <a:solidFill>
                  <a:srgbClr val="00E5FF"/>
                </a:solidFill>
                <a:latin typeface="Aptos Display"/>
                <a:ea typeface="Aptos Display"/>
              </a:rPr>
              <a:t>78%</a:t>
            </a:r>
          </a:p>
        </p:txBody>
      </p:sp>
      <p:sp>
        <p:nvSpPr>
          <p:cNvPr id="14" name="!!co_okrl1"/>
          <p:cNvSpPr/>
          <p:nvPr/>
        </p:nvSpPr>
        <p:spPr>
          <a:xfrm>
            <a:off x="432000" y="2736000"/>
            <a:ext cx="540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E8F4F8"/>
                </a:solidFill>
                <a:latin typeface="Aptos"/>
                <a:ea typeface="Aptos"/>
              </a:rPr>
              <a:t>Launch 3 enterprise features</a:t>
            </a:r>
          </a:p>
        </p:txBody>
      </p:sp>
      <p:sp>
        <p:nvSpPr>
          <p:cNvPr id="15" name="!!co_okrbg1"/>
          <p:cNvSpPr/>
          <p:nvPr/>
        </p:nvSpPr>
        <p:spPr>
          <a:xfrm>
            <a:off x="432000" y="3204000"/>
            <a:ext cx="6480000" cy="252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!!co_okrfg1"/>
          <p:cNvSpPr/>
          <p:nvPr/>
        </p:nvSpPr>
        <p:spPr>
          <a:xfrm>
            <a:off x="432000" y="3204000"/>
            <a:ext cx="4212000" cy="252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!!co_okrp1"/>
          <p:cNvSpPr/>
          <p:nvPr/>
        </p:nvSpPr>
        <p:spPr>
          <a:xfrm>
            <a:off x="7200000" y="2736000"/>
            <a:ext cx="144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600" b="0">
                <a:solidFill>
                  <a:srgbClr val="00E5FF"/>
                </a:solidFill>
                <a:latin typeface="Aptos Display"/>
                <a:ea typeface="Aptos Display"/>
              </a:rPr>
              <a:t>65%</a:t>
            </a:r>
          </a:p>
        </p:txBody>
      </p:sp>
      <p:sp>
        <p:nvSpPr>
          <p:cNvPr id="18" name="!!co_okrl2"/>
          <p:cNvSpPr/>
          <p:nvPr/>
        </p:nvSpPr>
        <p:spPr>
          <a:xfrm>
            <a:off x="432000" y="3672000"/>
            <a:ext cx="540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E8F4F8"/>
                </a:solidFill>
                <a:latin typeface="Aptos"/>
                <a:ea typeface="Aptos"/>
              </a:rPr>
              <a:t>Hire 12 senior engineers</a:t>
            </a:r>
          </a:p>
        </p:txBody>
      </p:sp>
      <p:sp>
        <p:nvSpPr>
          <p:cNvPr id="19" name="!!co_okrbg2"/>
          <p:cNvSpPr/>
          <p:nvPr/>
        </p:nvSpPr>
        <p:spPr>
          <a:xfrm>
            <a:off x="432000" y="4140000"/>
            <a:ext cx="6480000" cy="252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!!co_okrfg2"/>
          <p:cNvSpPr/>
          <p:nvPr/>
        </p:nvSpPr>
        <p:spPr>
          <a:xfrm>
            <a:off x="432000" y="4140000"/>
            <a:ext cx="5896800" cy="252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!!co_okrp2"/>
          <p:cNvSpPr/>
          <p:nvPr/>
        </p:nvSpPr>
        <p:spPr>
          <a:xfrm>
            <a:off x="7200000" y="3672000"/>
            <a:ext cx="144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600" b="0">
                <a:solidFill>
                  <a:srgbClr val="00E5FF"/>
                </a:solidFill>
                <a:latin typeface="Aptos Display"/>
                <a:ea typeface="Aptos Display"/>
              </a:rPr>
              <a:t>91%</a:t>
            </a:r>
          </a:p>
        </p:txBody>
      </p:sp>
      <p:sp>
        <p:nvSpPr>
          <p:cNvPr id="22" name="!!co_okrl3"/>
          <p:cNvSpPr/>
          <p:nvPr/>
        </p:nvSpPr>
        <p:spPr>
          <a:xfrm>
            <a:off x="432000" y="4608000"/>
            <a:ext cx="540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E8F4F8"/>
                </a:solidFill>
                <a:latin typeface="Aptos"/>
                <a:ea typeface="Aptos"/>
              </a:rPr>
              <a:t>Reduce churn &lt; 2%</a:t>
            </a:r>
          </a:p>
        </p:txBody>
      </p:sp>
      <p:sp>
        <p:nvSpPr>
          <p:cNvPr id="23" name="!!co_okrbg3"/>
          <p:cNvSpPr/>
          <p:nvPr/>
        </p:nvSpPr>
        <p:spPr>
          <a:xfrm>
            <a:off x="432000" y="5076000"/>
            <a:ext cx="6480000" cy="252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!!co_okrfg3"/>
          <p:cNvSpPr/>
          <p:nvPr/>
        </p:nvSpPr>
        <p:spPr>
          <a:xfrm>
            <a:off x="432000" y="5076000"/>
            <a:ext cx="5702400" cy="252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!!co_okrp3"/>
          <p:cNvSpPr/>
          <p:nvPr/>
        </p:nvSpPr>
        <p:spPr>
          <a:xfrm>
            <a:off x="7200000" y="4608000"/>
            <a:ext cx="144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600" b="0">
                <a:solidFill>
                  <a:srgbClr val="00E5FF"/>
                </a:solidFill>
                <a:latin typeface="Aptos Display"/>
                <a:ea typeface="Aptos Display"/>
              </a:rPr>
              <a:t>88%</a:t>
            </a:r>
          </a:p>
        </p:txBody>
      </p:sp>
      <p:sp>
        <p:nvSpPr>
          <p:cNvPr id="26" name="!!co_okrl4"/>
          <p:cNvSpPr/>
          <p:nvPr/>
        </p:nvSpPr>
        <p:spPr>
          <a:xfrm>
            <a:off x="432000" y="5544000"/>
            <a:ext cx="540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E8F4F8"/>
                </a:solidFill>
                <a:latin typeface="Aptos"/>
                <a:ea typeface="Aptos"/>
              </a:rPr>
              <a:t>Expand to APAC</a:t>
            </a:r>
          </a:p>
        </p:txBody>
      </p:sp>
      <p:sp>
        <p:nvSpPr>
          <p:cNvPr id="27" name="!!co_okrbg4"/>
          <p:cNvSpPr/>
          <p:nvPr/>
        </p:nvSpPr>
        <p:spPr>
          <a:xfrm>
            <a:off x="432000" y="6012000"/>
            <a:ext cx="6480000" cy="252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" name="!!co_okrfg4"/>
          <p:cNvSpPr/>
          <p:nvPr/>
        </p:nvSpPr>
        <p:spPr>
          <a:xfrm>
            <a:off x="432000" y="6012000"/>
            <a:ext cx="2721600" cy="252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" name="!!co_okrp4"/>
          <p:cNvSpPr/>
          <p:nvPr/>
        </p:nvSpPr>
        <p:spPr>
          <a:xfrm>
            <a:off x="7200000" y="5544000"/>
            <a:ext cx="144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600" b="0">
                <a:solidFill>
                  <a:srgbClr val="00E5FF"/>
                </a:solidFill>
                <a:latin typeface="Aptos Display"/>
                <a:ea typeface="Aptos Display"/>
              </a:rPr>
              <a:t>42%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20B18"/>
        </a:solidFill>
      </p:bgPr>
    </p:bg>
    <p:spTree>
      <p:nvGrpSpPr>
        <p:cNvPr id="1" name=""/>
        <p:cNvGrpSpPr/>
        <p:nvPr/>
      </p:nvGrpSpPr>
      <p:grpSpPr/>
      <p:sp>
        <p:nvSpPr>
          <p:cNvPr id="2" name="!!sa1"/>
          <p:cNvSpPr/>
          <p:nvPr/>
        </p:nvSpPr>
        <p:spPr>
          <a:xfrm>
            <a:off x="7560000" y="2520000"/>
            <a:ext cx="5400000" cy="5400000"/>
          </a:xfrm>
          <a:prstGeom prst="ellipse">
            <a:avLst/>
          </a:prstGeom>
          <a:solidFill>
            <a:srgbClr val="00C2D4">
              <a:alpha val="7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sa2"/>
          <p:cNvSpPr/>
          <p:nvPr/>
        </p:nvSpPr>
        <p:spPr>
          <a:xfrm>
            <a:off x="0" y="0"/>
            <a:ext cx="2520000" cy="2520000"/>
          </a:xfrm>
          <a:prstGeom prst="ellipse">
            <a:avLst/>
          </a:prstGeom>
          <a:solidFill>
            <a:srgbClr val="00E5FF">
              <a:alpha val="5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sa3"/>
          <p:cNvSpPr/>
          <p:nvPr/>
        </p:nvSpPr>
        <p:spPr>
          <a:xfrm>
            <a:off x="0" y="2160000"/>
            <a:ext cx="12192000" cy="2"/>
          </a:xfrm>
          <a:prstGeom prst="rect">
            <a:avLst/>
          </a:prstGeom>
          <a:solidFill>
            <a:srgbClr val="00C2D4">
              <a:alpha val="4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a4"/>
          <p:cNvSpPr/>
          <p:nvPr/>
        </p:nvSpPr>
        <p:spPr>
          <a:xfrm>
            <a:off x="10440000" y="360000"/>
            <a:ext cx="1080000" cy="1080000"/>
          </a:xfrm>
          <a:solidFill>
            <a:srgbClr val="00C2D4">
              <a:alpha val="12000"/>
            </a:srgbClr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92" h="92">
                <a:moveTo>
                  <a:pt x="50" y="8"/>
                </a:moveTo>
                <a:lnTo>
                  <a:pt x="92" y="50"/>
                </a:lnTo>
                <a:lnTo>
                  <a:pt x="50" y="92"/>
                </a:lnTo>
                <a:lnTo>
                  <a:pt x="8" y="50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a5"/>
          <p:cNvSpPr/>
          <p:nvPr/>
        </p:nvSpPr>
        <p:spPr>
          <a:xfrm>
            <a:off x="5760000" y="5760000"/>
            <a:ext cx="360000" cy="360000"/>
          </a:xfrm>
          <a:prstGeom prst="ellipse">
            <a:avLst/>
          </a:prstGeom>
          <a:solidFill>
            <a:srgbClr val="00E5FF">
              <a:alpha val="4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a6"/>
          <p:cNvSpPr/>
          <p:nvPr/>
        </p:nvSpPr>
        <p:spPr>
          <a:xfrm>
            <a:off x="0" y="0"/>
            <a:ext cx="12192000" cy="72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l_tag"/>
          <p:cNvSpPr/>
          <p:nvPr/>
        </p:nvSpPr>
        <p:spPr>
          <a:xfrm>
            <a:off x="432000" y="360000"/>
            <a:ext cx="2520000" cy="72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hl_title"/>
          <p:cNvSpPr/>
          <p:nvPr/>
        </p:nvSpPr>
        <p:spPr>
          <a:xfrm>
            <a:off x="432000" y="504000"/>
            <a:ext cx="72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400" b="0">
                <a:solidFill>
                  <a:srgbClr val="E8F4F8"/>
                </a:solidFill>
                <a:latin typeface="Aptos Display"/>
                <a:ea typeface="Aptos Display"/>
              </a:rPr>
              <a:t>Execution Roadmap</a:t>
            </a:r>
          </a:p>
        </p:txBody>
      </p:sp>
      <p:sp>
        <p:nvSpPr>
          <p:cNvPr id="10" name="!!co_qhdr0"/>
          <p:cNvSpPr/>
          <p:nvPr/>
        </p:nvSpPr>
        <p:spPr>
          <a:xfrm>
            <a:off x="432000" y="1800000"/>
            <a:ext cx="2520000" cy="324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!!co_ql0"/>
          <p:cNvSpPr/>
          <p:nvPr/>
        </p:nvSpPr>
        <p:spPr>
          <a:xfrm>
            <a:off x="576000" y="1872000"/>
            <a:ext cx="216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 b="1">
                <a:solidFill>
                  <a:srgbClr val="E8F4F8"/>
                </a:solidFill>
                <a:latin typeface="Aptos"/>
                <a:ea typeface="Aptos"/>
              </a:rPr>
              <a:t>Q1 2025</a:t>
            </a:r>
          </a:p>
        </p:txBody>
      </p:sp>
      <p:sp>
        <p:nvSpPr>
          <p:cNvPr id="12" name="!!co_qhdr1"/>
          <p:cNvSpPr/>
          <p:nvPr/>
        </p:nvSpPr>
        <p:spPr>
          <a:xfrm>
            <a:off x="3276000" y="1800000"/>
            <a:ext cx="2520000" cy="324000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!!co_ql1"/>
          <p:cNvSpPr/>
          <p:nvPr/>
        </p:nvSpPr>
        <p:spPr>
          <a:xfrm>
            <a:off x="3420000" y="1872000"/>
            <a:ext cx="216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 b="1">
                <a:solidFill>
                  <a:srgbClr val="E8F4F8"/>
                </a:solidFill>
                <a:latin typeface="Aptos"/>
                <a:ea typeface="Aptos"/>
              </a:rPr>
              <a:t>Q2 2025</a:t>
            </a:r>
          </a:p>
        </p:txBody>
      </p:sp>
      <p:sp>
        <p:nvSpPr>
          <p:cNvPr id="14" name="!!co_qhdr2"/>
          <p:cNvSpPr/>
          <p:nvPr/>
        </p:nvSpPr>
        <p:spPr>
          <a:xfrm>
            <a:off x="6120000" y="1800000"/>
            <a:ext cx="2520000" cy="324000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!!co_ql2"/>
          <p:cNvSpPr/>
          <p:nvPr/>
        </p:nvSpPr>
        <p:spPr>
          <a:xfrm>
            <a:off x="6264000" y="1872000"/>
            <a:ext cx="216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 b="1">
                <a:solidFill>
                  <a:srgbClr val="E8F4F8"/>
                </a:solidFill>
                <a:latin typeface="Aptos"/>
                <a:ea typeface="Aptos"/>
              </a:rPr>
              <a:t>Q3 2025</a:t>
            </a:r>
          </a:p>
        </p:txBody>
      </p:sp>
      <p:sp>
        <p:nvSpPr>
          <p:cNvPr id="16" name="!!co_qhdr3"/>
          <p:cNvSpPr/>
          <p:nvPr/>
        </p:nvSpPr>
        <p:spPr>
          <a:xfrm>
            <a:off x="8964000" y="1800000"/>
            <a:ext cx="2520000" cy="324000"/>
          </a:xfrm>
          <a:prstGeom prst="rect">
            <a:avLst/>
          </a:prstGeom>
          <a:solidFill>
            <a:srgbClr val="0077A8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!!co_ql3"/>
          <p:cNvSpPr/>
          <p:nvPr/>
        </p:nvSpPr>
        <p:spPr>
          <a:xfrm>
            <a:off x="9108000" y="1872000"/>
            <a:ext cx="2160000" cy="25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 b="1">
                <a:solidFill>
                  <a:srgbClr val="E8F4F8"/>
                </a:solidFill>
                <a:latin typeface="Aptos"/>
                <a:ea typeface="Aptos"/>
              </a:rPr>
              <a:t>Q4 2025</a:t>
            </a:r>
          </a:p>
        </p:txBody>
      </p:sp>
      <p:sp>
        <p:nvSpPr>
          <p:cNvPr id="18" name="!!co_rm0"/>
          <p:cNvSpPr/>
          <p:nvPr/>
        </p:nvSpPr>
        <p:spPr>
          <a:xfrm>
            <a:off x="504000" y="2304000"/>
            <a:ext cx="2340000" cy="900000"/>
          </a:xfrm>
          <a:prstGeom prst="roundRect">
            <a:avLst/>
          </a:prstGeom>
          <a:solidFill>
            <a:srgbClr val="0A1E32"/>
          </a:solidFill>
          <a:ln w="1">
            <a:solidFill>
              <a:srgbClr val="00C2D4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!!co_rmt0"/>
          <p:cNvSpPr/>
          <p:nvPr/>
        </p:nvSpPr>
        <p:spPr>
          <a:xfrm>
            <a:off x="648000" y="2412000"/>
            <a:ext cx="2052000" cy="64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7BAEC4"/>
                </a:solidFill>
                <a:latin typeface="Aptos"/>
                <a:ea typeface="Aptos"/>
              </a:rPr>
              <a:t>Enterprise tier launch</a:t>
            </a:r>
          </a:p>
        </p:txBody>
      </p:sp>
      <p:sp>
        <p:nvSpPr>
          <p:cNvPr id="20" name="!!co_rm1"/>
          <p:cNvSpPr/>
          <p:nvPr/>
        </p:nvSpPr>
        <p:spPr>
          <a:xfrm>
            <a:off x="504000" y="3420000"/>
            <a:ext cx="2340000" cy="900000"/>
          </a:xfrm>
          <a:prstGeom prst="roundRect">
            <a:avLst/>
          </a:prstGeom>
          <a:solidFill>
            <a:srgbClr val="0A1E32"/>
          </a:solidFill>
          <a:ln w="1">
            <a:solidFill>
              <a:srgbClr val="00C2D4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!!co_rmt1"/>
          <p:cNvSpPr/>
          <p:nvPr/>
        </p:nvSpPr>
        <p:spPr>
          <a:xfrm>
            <a:off x="648000" y="3528000"/>
            <a:ext cx="2052000" cy="64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7BAEC4"/>
                </a:solidFill>
                <a:latin typeface="Aptos"/>
                <a:ea typeface="Aptos"/>
              </a:rPr>
              <a:t>APAC market entry</a:t>
            </a:r>
          </a:p>
        </p:txBody>
      </p:sp>
      <p:sp>
        <p:nvSpPr>
          <p:cNvPr id="22" name="!!co_rm2"/>
          <p:cNvSpPr/>
          <p:nvPr/>
        </p:nvSpPr>
        <p:spPr>
          <a:xfrm>
            <a:off x="3348000" y="2304000"/>
            <a:ext cx="2340000" cy="900000"/>
          </a:xfrm>
          <a:prstGeom prst="roundRect">
            <a:avLst/>
          </a:prstGeom>
          <a:solidFill>
            <a:srgbClr val="0A1E32"/>
          </a:solidFill>
          <a:ln w="1">
            <a:solidFill>
              <a:srgbClr val="00C2D4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3" name="!!co_rmt2"/>
          <p:cNvSpPr/>
          <p:nvPr/>
        </p:nvSpPr>
        <p:spPr>
          <a:xfrm>
            <a:off x="3492000" y="2412000"/>
            <a:ext cx="2052000" cy="64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7BAEC4"/>
                </a:solidFill>
                <a:latin typeface="Aptos"/>
                <a:ea typeface="Aptos"/>
              </a:rPr>
              <a:t>AI features GA</a:t>
            </a:r>
          </a:p>
        </p:txBody>
      </p:sp>
      <p:sp>
        <p:nvSpPr>
          <p:cNvPr id="24" name="!!co_rm3"/>
          <p:cNvSpPr/>
          <p:nvPr/>
        </p:nvSpPr>
        <p:spPr>
          <a:xfrm>
            <a:off x="3348000" y="3420000"/>
            <a:ext cx="2340000" cy="900000"/>
          </a:xfrm>
          <a:prstGeom prst="roundRect">
            <a:avLst/>
          </a:prstGeom>
          <a:solidFill>
            <a:srgbClr val="0A1E32"/>
          </a:solidFill>
          <a:ln w="1">
            <a:solidFill>
              <a:srgbClr val="00C2D4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!!co_rmt3"/>
          <p:cNvSpPr/>
          <p:nvPr/>
        </p:nvSpPr>
        <p:spPr>
          <a:xfrm>
            <a:off x="3492000" y="3528000"/>
            <a:ext cx="2052000" cy="64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7BAEC4"/>
                </a:solidFill>
                <a:latin typeface="Aptos"/>
                <a:ea typeface="Aptos"/>
              </a:rPr>
              <a:t>SOC2 Type II renewal</a:t>
            </a:r>
          </a:p>
        </p:txBody>
      </p:sp>
      <p:sp>
        <p:nvSpPr>
          <p:cNvPr id="26" name="!!co_rm4"/>
          <p:cNvSpPr/>
          <p:nvPr/>
        </p:nvSpPr>
        <p:spPr>
          <a:xfrm>
            <a:off x="6192000" y="2304000"/>
            <a:ext cx="2340000" cy="900000"/>
          </a:xfrm>
          <a:prstGeom prst="roundRect">
            <a:avLst/>
          </a:prstGeom>
          <a:solidFill>
            <a:srgbClr val="0A1E32"/>
          </a:solidFill>
          <a:ln w="1">
            <a:solidFill>
              <a:srgbClr val="00C2D4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" name="!!co_rmt4"/>
          <p:cNvSpPr/>
          <p:nvPr/>
        </p:nvSpPr>
        <p:spPr>
          <a:xfrm>
            <a:off x="6336000" y="2412000"/>
            <a:ext cx="2052000" cy="64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7BAEC4"/>
                </a:solidFill>
                <a:latin typeface="Aptos"/>
                <a:ea typeface="Aptos"/>
              </a:rPr>
              <a:t>Mobile app v2</a:t>
            </a:r>
          </a:p>
        </p:txBody>
      </p:sp>
      <p:sp>
        <p:nvSpPr>
          <p:cNvPr id="28" name="!!co_rm5"/>
          <p:cNvSpPr/>
          <p:nvPr/>
        </p:nvSpPr>
        <p:spPr>
          <a:xfrm>
            <a:off x="6192000" y="3420000"/>
            <a:ext cx="2340000" cy="900000"/>
          </a:xfrm>
          <a:prstGeom prst="roundRect">
            <a:avLst/>
          </a:prstGeom>
          <a:solidFill>
            <a:srgbClr val="0A1E32"/>
          </a:solidFill>
          <a:ln w="1">
            <a:solidFill>
              <a:srgbClr val="00C2D4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" name="!!co_rmt5"/>
          <p:cNvSpPr/>
          <p:nvPr/>
        </p:nvSpPr>
        <p:spPr>
          <a:xfrm>
            <a:off x="6336000" y="3528000"/>
            <a:ext cx="2052000" cy="64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7BAEC4"/>
                </a:solidFill>
                <a:latin typeface="Aptos"/>
                <a:ea typeface="Aptos"/>
              </a:rPr>
              <a:t>Partner program launch</a:t>
            </a:r>
          </a:p>
        </p:txBody>
      </p:sp>
      <p:sp>
        <p:nvSpPr>
          <p:cNvPr id="30" name="!!co_rm6"/>
          <p:cNvSpPr/>
          <p:nvPr/>
        </p:nvSpPr>
        <p:spPr>
          <a:xfrm>
            <a:off x="9036000" y="2304000"/>
            <a:ext cx="2340000" cy="900000"/>
          </a:xfrm>
          <a:prstGeom prst="roundRect">
            <a:avLst/>
          </a:prstGeom>
          <a:solidFill>
            <a:srgbClr val="0A1E32"/>
          </a:solidFill>
          <a:ln w="1">
            <a:solidFill>
              <a:srgbClr val="00C2D4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" name="!!co_rmt6"/>
          <p:cNvSpPr/>
          <p:nvPr/>
        </p:nvSpPr>
        <p:spPr>
          <a:xfrm>
            <a:off x="9180000" y="2412000"/>
            <a:ext cx="2052000" cy="64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7BAEC4"/>
                </a:solidFill>
                <a:latin typeface="Aptos"/>
                <a:ea typeface="Aptos"/>
              </a:rPr>
              <a:t>$65M ARR target</a:t>
            </a:r>
          </a:p>
        </p:txBody>
      </p:sp>
      <p:sp>
        <p:nvSpPr>
          <p:cNvPr id="32" name="!!co_rm7"/>
          <p:cNvSpPr/>
          <p:nvPr/>
        </p:nvSpPr>
        <p:spPr>
          <a:xfrm>
            <a:off x="9036000" y="3420000"/>
            <a:ext cx="2340000" cy="900000"/>
          </a:xfrm>
          <a:prstGeom prst="roundRect">
            <a:avLst/>
          </a:prstGeom>
          <a:solidFill>
            <a:srgbClr val="0A1E32"/>
          </a:solidFill>
          <a:ln w="1">
            <a:solidFill>
              <a:srgbClr val="00C2D4"/>
            </a:solidFill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" name="!!co_rmt7"/>
          <p:cNvSpPr/>
          <p:nvPr/>
        </p:nvSpPr>
        <p:spPr>
          <a:xfrm>
            <a:off x="9180000" y="3528000"/>
            <a:ext cx="2052000" cy="64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7BAEC4"/>
                </a:solidFill>
                <a:latin typeface="Aptos"/>
                <a:ea typeface="Aptos"/>
              </a:rPr>
              <a:t>Series C preparation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20B18"/>
        </a:solidFill>
      </p:bgPr>
    </p:bg>
    <p:spTree>
      <p:nvGrpSpPr>
        <p:cNvPr id="1" name=""/>
        <p:cNvGrpSpPr/>
        <p:nvPr/>
      </p:nvGrpSpPr>
      <p:grpSpPr/>
      <p:sp>
        <p:nvSpPr>
          <p:cNvPr id="2" name="!!sa1"/>
          <p:cNvSpPr/>
          <p:nvPr/>
        </p:nvSpPr>
        <p:spPr>
          <a:xfrm>
            <a:off x="7920000" y="0"/>
            <a:ext cx="6480000" cy="6480000"/>
          </a:xfrm>
          <a:prstGeom prst="ellipse">
            <a:avLst/>
          </a:prstGeom>
          <a:solidFill>
            <a:srgbClr val="00C2D4">
              <a:alpha val="8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sa2"/>
          <p:cNvSpPr/>
          <p:nvPr/>
        </p:nvSpPr>
        <p:spPr>
          <a:xfrm>
            <a:off x="0" y="4680000"/>
            <a:ext cx="2520000" cy="2520000"/>
          </a:xfrm>
          <a:prstGeom prst="ellipse">
            <a:avLst/>
          </a:prstGeom>
          <a:solidFill>
            <a:srgbClr val="00E5FF">
              <a:alpha val="5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sa3"/>
          <p:cNvSpPr/>
          <p:nvPr/>
        </p:nvSpPr>
        <p:spPr>
          <a:xfrm>
            <a:off x="0" y="0"/>
            <a:ext cx="360000" cy="6858000"/>
          </a:xfrm>
          <a:prstGeom prst="rect">
            <a:avLst/>
          </a:prstGeom>
          <a:solidFill>
            <a:srgbClr val="0077A8">
              <a:alpha val="4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a4"/>
          <p:cNvSpPr/>
          <p:nvPr/>
        </p:nvSpPr>
        <p:spPr>
          <a:xfrm>
            <a:off x="5760000" y="5760000"/>
            <a:ext cx="1080000" cy="1080000"/>
          </a:xfrm>
          <a:solidFill>
            <a:srgbClr val="00C2D4">
              <a:alpha val="12000"/>
            </a:srgbClr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92" h="92">
                <a:moveTo>
                  <a:pt x="50" y="8"/>
                </a:moveTo>
                <a:lnTo>
                  <a:pt x="92" y="50"/>
                </a:lnTo>
                <a:lnTo>
                  <a:pt x="50" y="92"/>
                </a:lnTo>
                <a:lnTo>
                  <a:pt x="8" y="50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a5"/>
          <p:cNvSpPr/>
          <p:nvPr/>
        </p:nvSpPr>
        <p:spPr>
          <a:xfrm>
            <a:off x="10800000" y="3960000"/>
            <a:ext cx="360000" cy="360000"/>
          </a:xfrm>
          <a:prstGeom prst="ellipse">
            <a:avLst/>
          </a:prstGeom>
          <a:solidFill>
            <a:srgbClr val="00E5FF">
              <a:alpha val="5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a6"/>
          <p:cNvSpPr/>
          <p:nvPr/>
        </p:nvSpPr>
        <p:spPr>
          <a:xfrm>
            <a:off x="0" y="0"/>
            <a:ext cx="12192000" cy="72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l_tag"/>
          <p:cNvSpPr/>
          <p:nvPr/>
        </p:nvSpPr>
        <p:spPr>
          <a:xfrm>
            <a:off x="432000" y="360000"/>
            <a:ext cx="3240000" cy="72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hl_title"/>
          <p:cNvSpPr/>
          <p:nvPr/>
        </p:nvSpPr>
        <p:spPr>
          <a:xfrm>
            <a:off x="432000" y="504000"/>
            <a:ext cx="72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400" b="0">
                <a:solidFill>
                  <a:srgbClr val="E8F4F8"/>
                </a:solidFill>
                <a:latin typeface="Aptos Display"/>
                <a:ea typeface="Aptos Display"/>
              </a:rPr>
              <a:t>Resource Allocation</a:t>
            </a:r>
          </a:p>
        </p:txBody>
      </p:sp>
      <p:sp>
        <p:nvSpPr>
          <p:cNvPr id="10" name="!!co_hcl0"/>
          <p:cNvSpPr/>
          <p:nvPr/>
        </p:nvSpPr>
        <p:spPr>
          <a:xfrm>
            <a:off x="432000" y="1800000"/>
            <a:ext cx="216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7BAEC4"/>
                </a:solidFill>
                <a:latin typeface="Aptos"/>
                <a:ea typeface="Aptos"/>
              </a:rPr>
              <a:t>Engineering</a:t>
            </a:r>
          </a:p>
        </p:txBody>
      </p:sp>
      <p:sp>
        <p:nvSpPr>
          <p:cNvPr id="11" name="!!co_hcbg0"/>
          <p:cNvSpPr/>
          <p:nvPr/>
        </p:nvSpPr>
        <p:spPr>
          <a:xfrm>
            <a:off x="2880000" y="1908000"/>
            <a:ext cx="5040000" cy="252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!!co_hcfg0"/>
          <p:cNvSpPr/>
          <p:nvPr/>
        </p:nvSpPr>
        <p:spPr>
          <a:xfrm>
            <a:off x="2880000" y="1908000"/>
            <a:ext cx="5040000" cy="252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!!co_hcv0"/>
          <p:cNvSpPr/>
          <p:nvPr/>
        </p:nvSpPr>
        <p:spPr>
          <a:xfrm>
            <a:off x="8280000" y="1800000"/>
            <a:ext cx="72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 b="0">
                <a:solidFill>
                  <a:srgbClr val="00E5FF"/>
                </a:solidFill>
                <a:latin typeface="Aptos Display"/>
                <a:ea typeface="Aptos Display"/>
              </a:rPr>
              <a:t>42</a:t>
            </a:r>
          </a:p>
        </p:txBody>
      </p:sp>
      <p:sp>
        <p:nvSpPr>
          <p:cNvPr id="14" name="!!co_hcl1"/>
          <p:cNvSpPr/>
          <p:nvPr/>
        </p:nvSpPr>
        <p:spPr>
          <a:xfrm>
            <a:off x="432000" y="2628000"/>
            <a:ext cx="216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7BAEC4"/>
                </a:solidFill>
                <a:latin typeface="Aptos"/>
                <a:ea typeface="Aptos"/>
              </a:rPr>
              <a:t>Sales</a:t>
            </a:r>
          </a:p>
        </p:txBody>
      </p:sp>
      <p:sp>
        <p:nvSpPr>
          <p:cNvPr id="15" name="!!co_hcbg1"/>
          <p:cNvSpPr/>
          <p:nvPr/>
        </p:nvSpPr>
        <p:spPr>
          <a:xfrm>
            <a:off x="2880000" y="2736000"/>
            <a:ext cx="5040000" cy="252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!!co_hcfg1"/>
          <p:cNvSpPr/>
          <p:nvPr/>
        </p:nvSpPr>
        <p:spPr>
          <a:xfrm>
            <a:off x="2880000" y="2736000"/>
            <a:ext cx="3360000" cy="252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!!co_hcv1"/>
          <p:cNvSpPr/>
          <p:nvPr/>
        </p:nvSpPr>
        <p:spPr>
          <a:xfrm>
            <a:off x="8280000" y="2628000"/>
            <a:ext cx="72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 b="0">
                <a:solidFill>
                  <a:srgbClr val="00E5FF"/>
                </a:solidFill>
                <a:latin typeface="Aptos Display"/>
                <a:ea typeface="Aptos Display"/>
              </a:rPr>
              <a:t>28</a:t>
            </a:r>
          </a:p>
        </p:txBody>
      </p:sp>
      <p:sp>
        <p:nvSpPr>
          <p:cNvPr id="18" name="!!co_hcl2"/>
          <p:cNvSpPr/>
          <p:nvPr/>
        </p:nvSpPr>
        <p:spPr>
          <a:xfrm>
            <a:off x="432000" y="3456000"/>
            <a:ext cx="216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7BAEC4"/>
                </a:solidFill>
                <a:latin typeface="Aptos"/>
                <a:ea typeface="Aptos"/>
              </a:rPr>
              <a:t>Marketing</a:t>
            </a:r>
          </a:p>
        </p:txBody>
      </p:sp>
      <p:sp>
        <p:nvSpPr>
          <p:cNvPr id="19" name="!!co_hcbg2"/>
          <p:cNvSpPr/>
          <p:nvPr/>
        </p:nvSpPr>
        <p:spPr>
          <a:xfrm>
            <a:off x="2880000" y="3564000"/>
            <a:ext cx="5040000" cy="252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!!co_hcfg2"/>
          <p:cNvSpPr/>
          <p:nvPr/>
        </p:nvSpPr>
        <p:spPr>
          <a:xfrm>
            <a:off x="2880000" y="3564000"/>
            <a:ext cx="2160000" cy="252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!!co_hcv2"/>
          <p:cNvSpPr/>
          <p:nvPr/>
        </p:nvSpPr>
        <p:spPr>
          <a:xfrm>
            <a:off x="8280000" y="3456000"/>
            <a:ext cx="72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 b="0">
                <a:solidFill>
                  <a:srgbClr val="00E5FF"/>
                </a:solidFill>
                <a:latin typeface="Aptos Display"/>
                <a:ea typeface="Aptos Display"/>
              </a:rPr>
              <a:t>18</a:t>
            </a:r>
          </a:p>
        </p:txBody>
      </p:sp>
      <p:sp>
        <p:nvSpPr>
          <p:cNvPr id="22" name="!!co_hcl3"/>
          <p:cNvSpPr/>
          <p:nvPr/>
        </p:nvSpPr>
        <p:spPr>
          <a:xfrm>
            <a:off x="432000" y="4284000"/>
            <a:ext cx="216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7BAEC4"/>
                </a:solidFill>
                <a:latin typeface="Aptos"/>
                <a:ea typeface="Aptos"/>
              </a:rPr>
              <a:t>Product</a:t>
            </a:r>
          </a:p>
        </p:txBody>
      </p:sp>
      <p:sp>
        <p:nvSpPr>
          <p:cNvPr id="23" name="!!co_hcbg3"/>
          <p:cNvSpPr/>
          <p:nvPr/>
        </p:nvSpPr>
        <p:spPr>
          <a:xfrm>
            <a:off x="2880000" y="4392000"/>
            <a:ext cx="5040000" cy="252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!!co_hcfg3"/>
          <p:cNvSpPr/>
          <p:nvPr/>
        </p:nvSpPr>
        <p:spPr>
          <a:xfrm>
            <a:off x="2880000" y="4392000"/>
            <a:ext cx="1440000" cy="252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!!co_hcv3"/>
          <p:cNvSpPr/>
          <p:nvPr/>
        </p:nvSpPr>
        <p:spPr>
          <a:xfrm>
            <a:off x="8280000" y="4284000"/>
            <a:ext cx="72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 b="0">
                <a:solidFill>
                  <a:srgbClr val="00E5FF"/>
                </a:solidFill>
                <a:latin typeface="Aptos Display"/>
                <a:ea typeface="Aptos Display"/>
              </a:rPr>
              <a:t>12</a:t>
            </a:r>
          </a:p>
        </p:txBody>
      </p:sp>
      <p:sp>
        <p:nvSpPr>
          <p:cNvPr id="26" name="!!co_hcl4"/>
          <p:cNvSpPr/>
          <p:nvPr/>
        </p:nvSpPr>
        <p:spPr>
          <a:xfrm>
            <a:off x="432000" y="5112000"/>
            <a:ext cx="216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7BAEC4"/>
                </a:solidFill>
                <a:latin typeface="Aptos"/>
                <a:ea typeface="Aptos"/>
              </a:rPr>
              <a:t>Operations</a:t>
            </a:r>
          </a:p>
        </p:txBody>
      </p:sp>
      <p:sp>
        <p:nvSpPr>
          <p:cNvPr id="27" name="!!co_hcbg4"/>
          <p:cNvSpPr/>
          <p:nvPr/>
        </p:nvSpPr>
        <p:spPr>
          <a:xfrm>
            <a:off x="2880000" y="5220000"/>
            <a:ext cx="5040000" cy="252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" name="!!co_hcfg4"/>
          <p:cNvSpPr/>
          <p:nvPr/>
        </p:nvSpPr>
        <p:spPr>
          <a:xfrm>
            <a:off x="2880000" y="5220000"/>
            <a:ext cx="1800000" cy="252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" name="!!co_hcv4"/>
          <p:cNvSpPr/>
          <p:nvPr/>
        </p:nvSpPr>
        <p:spPr>
          <a:xfrm>
            <a:off x="8280000" y="5112000"/>
            <a:ext cx="72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 b="0">
                <a:solidFill>
                  <a:srgbClr val="00E5FF"/>
                </a:solidFill>
                <a:latin typeface="Aptos Display"/>
                <a:ea typeface="Aptos Display"/>
              </a:rPr>
              <a:t>15</a:t>
            </a:r>
          </a:p>
        </p:txBody>
      </p:sp>
      <p:sp>
        <p:nvSpPr>
          <p:cNvPr id="30" name="!!co_hcl5"/>
          <p:cNvSpPr/>
          <p:nvPr/>
        </p:nvSpPr>
        <p:spPr>
          <a:xfrm>
            <a:off x="432000" y="5940000"/>
            <a:ext cx="216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7BAEC4"/>
                </a:solidFill>
                <a:latin typeface="Aptos"/>
                <a:ea typeface="Aptos"/>
              </a:rPr>
              <a:t>G&amp;A</a:t>
            </a:r>
          </a:p>
        </p:txBody>
      </p:sp>
      <p:sp>
        <p:nvSpPr>
          <p:cNvPr id="31" name="!!co_hcbg5"/>
          <p:cNvSpPr/>
          <p:nvPr/>
        </p:nvSpPr>
        <p:spPr>
          <a:xfrm>
            <a:off x="2880000" y="6048000"/>
            <a:ext cx="5040000" cy="252000"/>
          </a:xfrm>
          <a:prstGeom prst="rect">
            <a:avLst/>
          </a:prstGeom>
          <a:solidFill>
            <a:srgbClr val="0A1E32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2" name="!!co_hcfg5"/>
          <p:cNvSpPr/>
          <p:nvPr/>
        </p:nvSpPr>
        <p:spPr>
          <a:xfrm>
            <a:off x="2880000" y="6048000"/>
            <a:ext cx="960000" cy="252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3" name="!!co_hcv5"/>
          <p:cNvSpPr/>
          <p:nvPr/>
        </p:nvSpPr>
        <p:spPr>
          <a:xfrm>
            <a:off x="8280000" y="5940000"/>
            <a:ext cx="720000" cy="4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 b="0">
                <a:solidFill>
                  <a:srgbClr val="00E5FF"/>
                </a:solidFill>
                <a:latin typeface="Aptos Display"/>
                <a:ea typeface="Aptos Display"/>
              </a:rPr>
              <a:t>8</a:t>
            </a:r>
          </a:p>
        </p:txBody>
      </p:sp>
      <p:graphicFrame>
        <p:nvGraphicFramePr>
          <p:cNvPr id="36" name="Chart 36"/>
          <p:cNvGraphicFramePr/>
          <p:nvPr/>
        </p:nvGraphicFramePr>
        <p:xfrm>
          <a:off x="9000000" y="1440000"/>
          <a:ext cx="2880000" cy="288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07f1b2d0f70e4df3"/>
          </a:graphicData>
        </a:graphic>
      </p:graphicFrame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20B18"/>
        </a:solidFill>
      </p:bgPr>
    </p:bg>
    <p:spTree>
      <p:nvGrpSpPr>
        <p:cNvPr id="1" name=""/>
        <p:cNvGrpSpPr/>
        <p:nvPr/>
      </p:nvGrpSpPr>
      <p:grpSpPr/>
      <p:sp>
        <p:nvSpPr>
          <p:cNvPr id="2" name="!!sa1"/>
          <p:cNvSpPr/>
          <p:nvPr/>
        </p:nvSpPr>
        <p:spPr>
          <a:xfrm>
            <a:off x="8640000" y="3240000"/>
            <a:ext cx="5040000" cy="5040000"/>
          </a:xfrm>
          <a:prstGeom prst="ellipse">
            <a:avLst/>
          </a:prstGeom>
          <a:solidFill>
            <a:srgbClr val="00C2D4">
              <a:alpha val="7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sa2"/>
          <p:cNvSpPr/>
          <p:nvPr/>
        </p:nvSpPr>
        <p:spPr>
          <a:xfrm>
            <a:off x="0" y="1440000"/>
            <a:ext cx="12192000" cy="2"/>
          </a:xfrm>
          <a:prstGeom prst="rect">
            <a:avLst/>
          </a:prstGeom>
          <a:solidFill>
            <a:srgbClr val="3A6070">
              <a:alpha val="4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sa3"/>
          <p:cNvSpPr/>
          <p:nvPr/>
        </p:nvSpPr>
        <p:spPr>
          <a:xfrm>
            <a:off x="0" y="5040000"/>
            <a:ext cx="2160000" cy="2160000"/>
          </a:xfrm>
          <a:prstGeom prst="ellipse">
            <a:avLst/>
          </a:prstGeom>
          <a:solidFill>
            <a:srgbClr val="00E5FF">
              <a:alpha val="4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sa4"/>
          <p:cNvSpPr/>
          <p:nvPr/>
        </p:nvSpPr>
        <p:spPr>
          <a:xfrm>
            <a:off x="11160000" y="720000"/>
            <a:ext cx="1080000" cy="1080000"/>
          </a:xfrm>
          <a:solidFill>
            <a:srgbClr val="00C2D4">
              <a:alpha val="12000"/>
            </a:srgbClr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92" h="92">
                <a:moveTo>
                  <a:pt x="50" y="8"/>
                </a:moveTo>
                <a:lnTo>
                  <a:pt x="92" y="50"/>
                </a:lnTo>
                <a:lnTo>
                  <a:pt x="50" y="92"/>
                </a:lnTo>
                <a:lnTo>
                  <a:pt x="8" y="50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sa5"/>
          <p:cNvSpPr/>
          <p:nvPr/>
        </p:nvSpPr>
        <p:spPr>
          <a:xfrm>
            <a:off x="5400000" y="2160000"/>
            <a:ext cx="216000" cy="216000"/>
          </a:xfrm>
          <a:prstGeom prst="ellipse">
            <a:avLst/>
          </a:prstGeom>
          <a:solidFill>
            <a:srgbClr val="00C2D4">
              <a:alpha val="4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sa6"/>
          <p:cNvSpPr/>
          <p:nvPr/>
        </p:nvSpPr>
        <p:spPr>
          <a:xfrm>
            <a:off x="0" y="0"/>
            <a:ext cx="12192000" cy="72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hl_tag"/>
          <p:cNvSpPr/>
          <p:nvPr/>
        </p:nvSpPr>
        <p:spPr>
          <a:xfrm>
            <a:off x="432000" y="360000"/>
            <a:ext cx="3600000" cy="72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hl_title"/>
          <p:cNvSpPr/>
          <p:nvPr/>
        </p:nvSpPr>
        <p:spPr>
          <a:xfrm>
            <a:off x="432000" y="504000"/>
            <a:ext cx="7200000" cy="108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000" b="0">
                <a:solidFill>
                  <a:srgbClr val="E8F4F8"/>
                </a:solidFill>
                <a:latin typeface="Aptos Display"/>
                <a:ea typeface="Aptos Display"/>
              </a:rPr>
              <a:t>Risks &amp; Mitigation</a:t>
            </a:r>
          </a:p>
        </p:txBody>
      </p:sp>
      <p:sp>
        <p:nvSpPr>
          <p:cNvPr id="10" name="!!co_rlvl0"/>
          <p:cNvSpPr/>
          <p:nvPr/>
        </p:nvSpPr>
        <p:spPr>
          <a:xfrm>
            <a:off x="432000" y="1908000"/>
            <a:ext cx="1440000" cy="432000"/>
          </a:xfrm>
          <a:prstGeom prst="roundRect">
            <a:avLst/>
          </a:prstGeom>
          <a:solidFill>
            <a:srgbClr val="E8A02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!!co_rlvlt0"/>
          <p:cNvSpPr/>
          <p:nvPr/>
        </p:nvSpPr>
        <p:spPr>
          <a:xfrm>
            <a:off x="432000" y="1980000"/>
            <a:ext cx="1440000" cy="28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 b="1">
                <a:solidFill>
                  <a:srgbClr val="000000"/>
                </a:solidFill>
                <a:latin typeface="Aptos"/>
                <a:ea typeface="Aptos"/>
              </a:rPr>
              <a:t>Medium</a:t>
            </a:r>
          </a:p>
        </p:txBody>
      </p:sp>
      <p:sp>
        <p:nvSpPr>
          <p:cNvPr id="12" name="!!co_rr0"/>
          <p:cNvSpPr/>
          <p:nvPr/>
        </p:nvSpPr>
        <p:spPr>
          <a:xfrm>
            <a:off x="2016000" y="1800000"/>
            <a:ext cx="3960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 b="0">
                <a:solidFill>
                  <a:srgbClr val="E8F4F8"/>
                </a:solidFill>
                <a:latin typeface="Aptos Display"/>
                <a:ea typeface="Aptos Display"/>
              </a:rPr>
              <a:t>Market slowdown</a:t>
            </a:r>
          </a:p>
        </p:txBody>
      </p:sp>
      <p:sp>
        <p:nvSpPr>
          <p:cNvPr id="13" name="!!rm0_ico"/>
          <p:cNvSpPr/>
          <p:nvPr/>
        </p:nvSpPr>
        <p:spPr>
          <a:xfrm>
            <a:off x="2016000" y="2430000"/>
            <a:ext cx="504000" cy="504000"/>
          </a:xfrm>
          <a:noFill/>
          <a:ln w="6">
            <a:solidFill>
              <a:srgbClr val="00C2D4"/>
            </a:solidFill>
          </a:ln>
          <a:custGeom>
            <a:avLst/>
            <a:gdLst/>
            <a:ahLst/>
            <a:cxnLst/>
            <a:rect l="0" t="0" r="r" b="b"/>
            <a:pathLst>
              <a:path w="75" h="70">
                <a:moveTo>
                  <a:pt x="20" y="50"/>
                </a:moveTo>
                <a:lnTo>
                  <a:pt x="70" y="50"/>
                </a:lnTo>
                <a:moveTo>
                  <a:pt x="52" y="30"/>
                </a:moveTo>
                <a:lnTo>
                  <a:pt x="75" y="50"/>
                </a:lnTo>
                <a:lnTo>
                  <a:pt x="52" y="70"/>
                </a:lnTo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!!rm0_txt"/>
          <p:cNvSpPr/>
          <p:nvPr/>
        </p:nvSpPr>
        <p:spPr>
          <a:xfrm>
            <a:off x="2700000" y="2376000"/>
            <a:ext cx="9036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7BAEC4"/>
                </a:solidFill>
                <a:latin typeface="Aptos"/>
                <a:ea typeface="Aptos"/>
              </a:rPr>
              <a:t>Diversify segments; 3-month cash reserve</a:t>
            </a:r>
          </a:p>
        </p:txBody>
      </p:sp>
      <p:sp>
        <p:nvSpPr>
          <p:cNvPr id="15" name="!!co_rlvl1"/>
          <p:cNvSpPr/>
          <p:nvPr/>
        </p:nvSpPr>
        <p:spPr>
          <a:xfrm>
            <a:off x="432000" y="3096000"/>
            <a:ext cx="1440000" cy="432000"/>
          </a:xfrm>
          <a:prstGeom prst="roundRect">
            <a:avLst/>
          </a:prstGeom>
          <a:solidFill>
            <a:srgbClr val="E8352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!!co_rlvlt1"/>
          <p:cNvSpPr/>
          <p:nvPr/>
        </p:nvSpPr>
        <p:spPr>
          <a:xfrm>
            <a:off x="432000" y="3168000"/>
            <a:ext cx="1440000" cy="28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 b="1">
                <a:solidFill>
                  <a:srgbClr val="000000"/>
                </a:solidFill>
                <a:latin typeface="Aptos"/>
                <a:ea typeface="Aptos"/>
              </a:rPr>
              <a:t>High</a:t>
            </a:r>
          </a:p>
        </p:txBody>
      </p:sp>
      <p:sp>
        <p:nvSpPr>
          <p:cNvPr id="17" name="!!co_rr1"/>
          <p:cNvSpPr/>
          <p:nvPr/>
        </p:nvSpPr>
        <p:spPr>
          <a:xfrm>
            <a:off x="2016000" y="2988000"/>
            <a:ext cx="3960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 b="0">
                <a:solidFill>
                  <a:srgbClr val="E8F4F8"/>
                </a:solidFill>
                <a:latin typeface="Aptos Display"/>
                <a:ea typeface="Aptos Display"/>
              </a:rPr>
              <a:t>Key talent attrition</a:t>
            </a:r>
          </a:p>
        </p:txBody>
      </p:sp>
      <p:sp>
        <p:nvSpPr>
          <p:cNvPr id="18" name="!!rm1_ico"/>
          <p:cNvSpPr/>
          <p:nvPr/>
        </p:nvSpPr>
        <p:spPr>
          <a:xfrm>
            <a:off x="2016000" y="3618000"/>
            <a:ext cx="504000" cy="504000"/>
          </a:xfrm>
          <a:noFill/>
          <a:ln w="6">
            <a:solidFill>
              <a:srgbClr val="00C2D4"/>
            </a:solidFill>
          </a:ln>
          <a:custGeom>
            <a:avLst/>
            <a:gdLst/>
            <a:ahLst/>
            <a:cxnLst/>
            <a:rect l="0" t="0" r="r" b="b"/>
            <a:pathLst>
              <a:path w="75" h="70">
                <a:moveTo>
                  <a:pt x="20" y="50"/>
                </a:moveTo>
                <a:lnTo>
                  <a:pt x="70" y="50"/>
                </a:lnTo>
                <a:moveTo>
                  <a:pt x="52" y="30"/>
                </a:moveTo>
                <a:lnTo>
                  <a:pt x="75" y="50"/>
                </a:lnTo>
                <a:lnTo>
                  <a:pt x="52" y="70"/>
                </a:lnTo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9" name="!!rm1_txt"/>
          <p:cNvSpPr/>
          <p:nvPr/>
        </p:nvSpPr>
        <p:spPr>
          <a:xfrm>
            <a:off x="2700000" y="3564000"/>
            <a:ext cx="9036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7BAEC4"/>
                </a:solidFill>
                <a:latin typeface="Aptos"/>
                <a:ea typeface="Aptos"/>
              </a:rPr>
              <a:t>401k match + equity refresh every 18mo</a:t>
            </a:r>
          </a:p>
        </p:txBody>
      </p:sp>
      <p:sp>
        <p:nvSpPr>
          <p:cNvPr id="20" name="!!co_rlvl2"/>
          <p:cNvSpPr/>
          <p:nvPr/>
        </p:nvSpPr>
        <p:spPr>
          <a:xfrm>
            <a:off x="432000" y="4284000"/>
            <a:ext cx="1440000" cy="432000"/>
          </a:xfrm>
          <a:prstGeom prst="roundRect">
            <a:avLst/>
          </a:prstGeom>
          <a:solidFill>
            <a:srgbClr val="E8A020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!!co_rlvlt2"/>
          <p:cNvSpPr/>
          <p:nvPr/>
        </p:nvSpPr>
        <p:spPr>
          <a:xfrm>
            <a:off x="432000" y="4356000"/>
            <a:ext cx="1440000" cy="28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 b="1">
                <a:solidFill>
                  <a:srgbClr val="000000"/>
                </a:solidFill>
                <a:latin typeface="Aptos"/>
                <a:ea typeface="Aptos"/>
              </a:rPr>
              <a:t>Medium</a:t>
            </a:r>
          </a:p>
        </p:txBody>
      </p:sp>
      <p:sp>
        <p:nvSpPr>
          <p:cNvPr id="22" name="!!co_rr2"/>
          <p:cNvSpPr/>
          <p:nvPr/>
        </p:nvSpPr>
        <p:spPr>
          <a:xfrm>
            <a:off x="2016000" y="4176000"/>
            <a:ext cx="3960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 b="0">
                <a:solidFill>
                  <a:srgbClr val="E8F4F8"/>
                </a:solidFill>
                <a:latin typeface="Aptos Display"/>
                <a:ea typeface="Aptos Display"/>
              </a:rPr>
              <a:t>Competitive pressure</a:t>
            </a:r>
          </a:p>
        </p:txBody>
      </p:sp>
      <p:sp>
        <p:nvSpPr>
          <p:cNvPr id="23" name="!!rm2_ico"/>
          <p:cNvSpPr/>
          <p:nvPr/>
        </p:nvSpPr>
        <p:spPr>
          <a:xfrm>
            <a:off x="2016000" y="4806000"/>
            <a:ext cx="504000" cy="504000"/>
          </a:xfrm>
          <a:noFill/>
          <a:ln w="6">
            <a:solidFill>
              <a:srgbClr val="00C2D4"/>
            </a:solidFill>
          </a:ln>
          <a:custGeom>
            <a:avLst/>
            <a:gdLst/>
            <a:ahLst/>
            <a:cxnLst/>
            <a:rect l="0" t="0" r="r" b="b"/>
            <a:pathLst>
              <a:path w="75" h="70">
                <a:moveTo>
                  <a:pt x="20" y="50"/>
                </a:moveTo>
                <a:lnTo>
                  <a:pt x="70" y="50"/>
                </a:lnTo>
                <a:moveTo>
                  <a:pt x="52" y="30"/>
                </a:moveTo>
                <a:lnTo>
                  <a:pt x="75" y="50"/>
                </a:lnTo>
                <a:lnTo>
                  <a:pt x="52" y="70"/>
                </a:lnTo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4" name="!!rm2_txt"/>
          <p:cNvSpPr/>
          <p:nvPr/>
        </p:nvSpPr>
        <p:spPr>
          <a:xfrm>
            <a:off x="2700000" y="4752000"/>
            <a:ext cx="9036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7BAEC4"/>
                </a:solidFill>
                <a:latin typeface="Aptos"/>
                <a:ea typeface="Aptos"/>
              </a:rPr>
              <a:t>Patent key IP; deepen integrations</a:t>
            </a:r>
          </a:p>
        </p:txBody>
      </p:sp>
      <p:sp>
        <p:nvSpPr>
          <p:cNvPr id="25" name="!!co_rlvl3"/>
          <p:cNvSpPr/>
          <p:nvPr/>
        </p:nvSpPr>
        <p:spPr>
          <a:xfrm>
            <a:off x="432000" y="5472000"/>
            <a:ext cx="1440000" cy="432000"/>
          </a:xfrm>
          <a:prstGeom prst="roundRect">
            <a:avLst/>
          </a:prstGeom>
          <a:solidFill>
            <a:srgbClr val="20D45A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!!co_rlvlt3"/>
          <p:cNvSpPr/>
          <p:nvPr/>
        </p:nvSpPr>
        <p:spPr>
          <a:xfrm>
            <a:off x="432000" y="5544000"/>
            <a:ext cx="1440000" cy="28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 b="1">
                <a:solidFill>
                  <a:srgbClr val="000000"/>
                </a:solidFill>
                <a:latin typeface="Aptos"/>
                <a:ea typeface="Aptos"/>
              </a:rPr>
              <a:t>Low</a:t>
            </a:r>
          </a:p>
        </p:txBody>
      </p:sp>
      <p:sp>
        <p:nvSpPr>
          <p:cNvPr id="27" name="!!co_rr3"/>
          <p:cNvSpPr/>
          <p:nvPr/>
        </p:nvSpPr>
        <p:spPr>
          <a:xfrm>
            <a:off x="2016000" y="5364000"/>
            <a:ext cx="3960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 b="0">
                <a:solidFill>
                  <a:srgbClr val="E8F4F8"/>
                </a:solidFill>
                <a:latin typeface="Aptos Display"/>
                <a:ea typeface="Aptos Display"/>
              </a:rPr>
              <a:t>Regulatory changes</a:t>
            </a:r>
          </a:p>
        </p:txBody>
      </p:sp>
      <p:sp>
        <p:nvSpPr>
          <p:cNvPr id="28" name="!!rm3_ico"/>
          <p:cNvSpPr/>
          <p:nvPr/>
        </p:nvSpPr>
        <p:spPr>
          <a:xfrm>
            <a:off x="2016000" y="5994000"/>
            <a:ext cx="504000" cy="504000"/>
          </a:xfrm>
          <a:noFill/>
          <a:ln w="6">
            <a:solidFill>
              <a:srgbClr val="00C2D4"/>
            </a:solidFill>
          </a:ln>
          <a:custGeom>
            <a:avLst/>
            <a:gdLst/>
            <a:ahLst/>
            <a:cxnLst/>
            <a:rect l="0" t="0" r="r" b="b"/>
            <a:pathLst>
              <a:path w="75" h="70">
                <a:moveTo>
                  <a:pt x="20" y="50"/>
                </a:moveTo>
                <a:lnTo>
                  <a:pt x="70" y="50"/>
                </a:lnTo>
                <a:moveTo>
                  <a:pt x="52" y="30"/>
                </a:moveTo>
                <a:lnTo>
                  <a:pt x="75" y="50"/>
                </a:lnTo>
                <a:lnTo>
                  <a:pt x="52" y="70"/>
                </a:lnTo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" name="!!rm3_txt"/>
          <p:cNvSpPr/>
          <p:nvPr/>
        </p:nvSpPr>
        <p:spPr>
          <a:xfrm>
            <a:off x="2700000" y="5940000"/>
            <a:ext cx="9036000" cy="50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>
                <a:solidFill>
                  <a:srgbClr val="7BAEC4"/>
                </a:solidFill>
                <a:latin typeface="Aptos"/>
                <a:ea typeface="Aptos"/>
              </a:rPr>
              <a:t>Legal review every quarter; SOC2 maintained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20B18"/>
        </a:solidFill>
      </p:bgPr>
    </p:bg>
    <p:spTree>
      <p:nvGrpSpPr>
        <p:cNvPr id="1" name=""/>
        <p:cNvGrpSpPr/>
        <p:nvPr/>
      </p:nvGrpSpPr>
      <p:grpSpPr/>
      <p:sp>
        <p:nvSpPr>
          <p:cNvPr id="2" name="sa1"/>
          <p:cNvSpPr/>
          <p:nvPr/>
        </p:nvSpPr>
        <p:spPr>
          <a:xfrm>
            <a:off x="3600000" y="0"/>
            <a:ext cx="10800000" cy="10800000"/>
          </a:xfrm>
          <a:prstGeom prst="ellipse">
            <a:avLst/>
          </a:prstGeom>
          <a:solidFill>
            <a:srgbClr val="00C2D4">
              <a:alpha val="15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sa2"/>
          <p:cNvSpPr/>
          <p:nvPr/>
        </p:nvSpPr>
        <p:spPr>
          <a:xfrm>
            <a:off x="0" y="4680000"/>
            <a:ext cx="3600000" cy="3600000"/>
          </a:xfrm>
          <a:prstGeom prst="ellipse">
            <a:avLst/>
          </a:prstGeom>
          <a:solidFill>
            <a:srgbClr val="00E5FF">
              <a:alpha val="8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sa3"/>
          <p:cNvSpPr/>
          <p:nvPr/>
        </p:nvSpPr>
        <p:spPr>
          <a:xfrm>
            <a:off x="0" y="0"/>
            <a:ext cx="12192000" cy="2160000"/>
          </a:xfrm>
          <a:prstGeom prst="rect">
            <a:avLst/>
          </a:prstGeom>
          <a:solidFill>
            <a:srgbClr val="00C2D4">
              <a:alpha val="6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sa4"/>
          <p:cNvSpPr/>
          <p:nvPr/>
        </p:nvSpPr>
        <p:spPr>
          <a:xfrm>
            <a:off x="10440000" y="5040000"/>
            <a:ext cx="1440000" cy="1440000"/>
          </a:xfrm>
          <a:solidFill>
            <a:srgbClr val="00E5FF">
              <a:alpha val="20000"/>
            </a:srgbClr>
          </a:solidFill>
          <a:ln>
            <a:noFill/>
          </a:ln>
          <a:custGeom>
            <a:avLst/>
            <a:gdLst/>
            <a:ahLst/>
            <a:cxnLst/>
            <a:rect l="0" t="0" r="r" b="b"/>
            <a:pathLst>
              <a:path w="92" h="92">
                <a:moveTo>
                  <a:pt x="50" y="8"/>
                </a:moveTo>
                <a:lnTo>
                  <a:pt x="92" y="50"/>
                </a:lnTo>
                <a:lnTo>
                  <a:pt x="50" y="92"/>
                </a:lnTo>
                <a:lnTo>
                  <a:pt x="8" y="50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sa5"/>
          <p:cNvSpPr/>
          <p:nvPr/>
        </p:nvSpPr>
        <p:spPr>
          <a:xfrm>
            <a:off x="1440000" y="720000"/>
            <a:ext cx="504000" cy="504000"/>
          </a:xfrm>
          <a:prstGeom prst="ellipse">
            <a:avLst/>
          </a:prstGeom>
          <a:solidFill>
            <a:srgbClr val="00E5FF">
              <a:alpha val="50000"/>
            </a:srgbClr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sa6"/>
          <p:cNvSpPr/>
          <p:nvPr/>
        </p:nvSpPr>
        <p:spPr>
          <a:xfrm>
            <a:off x="0" y="0"/>
            <a:ext cx="12192000" cy="72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hl_tag"/>
          <p:cNvSpPr/>
          <p:nvPr/>
        </p:nvSpPr>
        <p:spPr>
          <a:xfrm>
            <a:off x="432000" y="1440000"/>
            <a:ext cx="2520000" cy="72000"/>
          </a:xfrm>
          <a:prstGeom prst="rect">
            <a:avLst/>
          </a:prstGeom>
          <a:solidFill>
            <a:srgbClr val="00C2D4"/>
          </a:solidFill>
          <a:ln>
            <a:noFill/>
          </a:ln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hl_title"/>
          <p:cNvSpPr/>
          <p:nvPr/>
        </p:nvSpPr>
        <p:spPr>
          <a:xfrm>
            <a:off x="432000" y="1620000"/>
            <a:ext cx="10800000" cy="25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6200" b="0">
                <a:solidFill>
                  <a:srgbClr val="E8F4F8"/>
                </a:solidFill>
                <a:latin typeface="Aptos Display"/>
                <a:ea typeface="Aptos Display"/>
              </a:rPr>
              <a:t>Execute. Measure. Win.</a:t>
            </a:r>
          </a:p>
        </p:txBody>
      </p:sp>
      <p:sp>
        <p:nvSpPr>
          <p:cNvPr id="10" name="a1_ico"/>
          <p:cNvSpPr/>
          <p:nvPr/>
        </p:nvSpPr>
        <p:spPr>
          <a:xfrm>
            <a:off x="432000" y="4374000"/>
            <a:ext cx="504000" cy="504000"/>
          </a:xfrm>
          <a:noFill/>
          <a:ln w="6">
            <a:solidFill>
              <a:srgbClr val="00C2D4"/>
            </a:solidFill>
          </a:ln>
          <a:custGeom>
            <a:avLst/>
            <a:gdLst/>
            <a:ahLst/>
            <a:cxnLst/>
            <a:rect l="0" t="0" r="r" b="b"/>
            <a:pathLst>
              <a:path w="82" h="72">
                <a:moveTo>
                  <a:pt x="15" y="50"/>
                </a:moveTo>
                <a:lnTo>
                  <a:pt x="38" y="72"/>
                </a:lnTo>
                <a:lnTo>
                  <a:pt x="82" y="22"/>
                </a:lnTo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a1_txt"/>
          <p:cNvSpPr/>
          <p:nvPr/>
        </p:nvSpPr>
        <p:spPr>
          <a:xfrm>
            <a:off x="1116000" y="4320000"/>
            <a:ext cx="10644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700">
                <a:solidFill>
                  <a:srgbClr val="7BAEC4"/>
                </a:solidFill>
                <a:latin typeface="Aptos"/>
                <a:ea typeface="Aptos"/>
              </a:rPr>
              <a:t>All team leads confirm Q1 OKR ownership by March 25</a:t>
            </a:r>
          </a:p>
        </p:txBody>
      </p:sp>
      <p:sp>
        <p:nvSpPr>
          <p:cNvPr id="12" name="a2_ico"/>
          <p:cNvSpPr/>
          <p:nvPr/>
        </p:nvSpPr>
        <p:spPr>
          <a:xfrm>
            <a:off x="432000" y="5022000"/>
            <a:ext cx="504000" cy="504000"/>
          </a:xfrm>
          <a:noFill/>
          <a:ln w="6">
            <a:solidFill>
              <a:srgbClr val="00C2D4"/>
            </a:solidFill>
          </a:ln>
          <a:custGeom>
            <a:avLst/>
            <a:gdLst/>
            <a:ahLst/>
            <a:cxnLst/>
            <a:rect l="0" t="0" r="r" b="b"/>
            <a:pathLst>
              <a:path w="82" h="72">
                <a:moveTo>
                  <a:pt x="15" y="50"/>
                </a:moveTo>
                <a:lnTo>
                  <a:pt x="38" y="72"/>
                </a:lnTo>
                <a:lnTo>
                  <a:pt x="82" y="22"/>
                </a:lnTo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a2_txt"/>
          <p:cNvSpPr/>
          <p:nvPr/>
        </p:nvSpPr>
        <p:spPr>
          <a:xfrm>
            <a:off x="1116000" y="4968000"/>
            <a:ext cx="10644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700">
                <a:solidFill>
                  <a:srgbClr val="7BAEC4"/>
                </a:solidFill>
                <a:latin typeface="Aptos"/>
                <a:ea typeface="Aptos"/>
              </a:rPr>
              <a:t>Weekly strategy sync every Monday 9am — CEO + VPs</a:t>
            </a:r>
          </a:p>
        </p:txBody>
      </p:sp>
      <p:sp>
        <p:nvSpPr>
          <p:cNvPr id="14" name="a3_ico"/>
          <p:cNvSpPr/>
          <p:nvPr/>
        </p:nvSpPr>
        <p:spPr>
          <a:xfrm>
            <a:off x="432000" y="5670000"/>
            <a:ext cx="504000" cy="504000"/>
          </a:xfrm>
          <a:noFill/>
          <a:ln w="6">
            <a:solidFill>
              <a:srgbClr val="00C2D4"/>
            </a:solidFill>
          </a:ln>
          <a:custGeom>
            <a:avLst/>
            <a:gdLst/>
            <a:ahLst/>
            <a:cxnLst/>
            <a:rect l="0" t="0" r="r" b="b"/>
            <a:pathLst>
              <a:path w="82" h="72">
                <a:moveTo>
                  <a:pt x="15" y="50"/>
                </a:moveTo>
                <a:lnTo>
                  <a:pt x="38" y="72"/>
                </a:lnTo>
                <a:lnTo>
                  <a:pt x="82" y="22"/>
                </a:lnTo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a3_txt"/>
          <p:cNvSpPr/>
          <p:nvPr/>
        </p:nvSpPr>
        <p:spPr>
          <a:xfrm>
            <a:off x="1116000" y="5616000"/>
            <a:ext cx="10644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700">
                <a:solidFill>
                  <a:srgbClr val="7BAEC4"/>
                </a:solidFill>
                <a:latin typeface="Aptos"/>
                <a:ea typeface="Aptos"/>
              </a:rPr>
              <a:t>Mid-quarter review scheduled April 15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