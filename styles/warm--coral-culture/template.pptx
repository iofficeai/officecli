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fde2d5612194e20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a08e2d651d3446fe"/>
    <p:sldId id="257" r:id="R5e68b35880d84b55"/>
    <p:sldId id="258" r:id="Rae1bd065af394257"/>
    <p:sldId id="259" r:id="R8eb19980e55c42d8"/>
    <p:sldId id="260" r:id="R44e053f316244ddc"/>
    <p:sldId id="261" r:id="R05c97eab6544493c"/>
    <p:sldId id="262" r:id="R7df1004d66a34116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a08e2d651d3446fe" /><Relationship Type="http://schemas.openxmlformats.org/officeDocument/2006/relationships/slide" Target="/ppt/slides/slide2.xml" Id="R5e68b35880d84b55" /><Relationship Type="http://schemas.openxmlformats.org/officeDocument/2006/relationships/slide" Target="/ppt/slides/slide3.xml" Id="Rae1bd065af394257" /><Relationship Type="http://schemas.openxmlformats.org/officeDocument/2006/relationships/slide" Target="/ppt/slides/slide4.xml" Id="R8eb19980e55c42d8" /><Relationship Type="http://schemas.openxmlformats.org/officeDocument/2006/relationships/slide" Target="/ppt/slides/slide5.xml" Id="R44e053f316244ddc" /><Relationship Type="http://schemas.openxmlformats.org/officeDocument/2006/relationships/slide" Target="/ppt/slides/slide6.xml" Id="R05c97eab6544493c" /><Relationship Type="http://schemas.openxmlformats.org/officeDocument/2006/relationships/slide" Target="/ppt/slides/slide7.xml" Id="R7df1004d66a3411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fd999a223b4a6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0c03b70c434aa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3a2ec02a7c4ec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a626c51f2c42b5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084a409d0f054e18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10f08f85e4b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d75718df749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490974c8745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ee905229b4e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57aa9476745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9d3d310c942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dd470891d45d4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gradFill xmlns:a="http://schemas.openxmlformats.org/drawingml/2006/main">
          <a:gsLst>
            <a:gs pos="0">
              <a:srgbClr val="3B5FE8"/>
            </a:gs>
            <a:gs pos="100000">
              <a:srgbClr val="E8896A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!!bars"/>
          <p:cNvSpPr/>
          <p:nvPr/>
        </p:nvSpPr>
        <p:spPr>
          <a:xfrm>
            <a:off x="7380000" y="2880000"/>
            <a:ext cx="648000" cy="3600000"/>
          </a:xfrm>
          <a:prstGeom prst="roundRect">
            <a:avLst/>
          </a:prstGeom>
          <a:gradFill>
            <a:gsLst>
              <a:gs pos="0">
                <a:srgbClr val="3B5FE8">
                  <a:alpha val="55000"/>
                </a:srgbClr>
              </a:gs>
              <a:gs pos="100000">
                <a:srgbClr val="E8896A">
                  <a:alpha val="55000"/>
                </a:srgbClr>
              </a:gs>
            </a:gsLst>
            <a:lin ang="54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8208000" y="1080000"/>
            <a:ext cx="648000" cy="5400000"/>
          </a:xfrm>
          <a:prstGeom prst="roundRect">
            <a:avLst/>
          </a:prstGeom>
          <a:gradFill>
            <a:gsLst>
              <a:gs pos="0">
                <a:srgbClr val="3B5FE8">
                  <a:alpha val="61000"/>
                </a:srgbClr>
              </a:gs>
              <a:gs pos="100000">
                <a:srgbClr val="E8896A">
                  <a:alpha val="61000"/>
                </a:srgbClr>
              </a:gs>
            </a:gsLst>
            <a:lin ang="54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9036000" y="2520000"/>
            <a:ext cx="648000" cy="3960000"/>
          </a:xfrm>
          <a:prstGeom prst="roundRect">
            <a:avLst/>
          </a:prstGeom>
          <a:gradFill>
            <a:gsLst>
              <a:gs pos="0">
                <a:srgbClr val="3B5FE8">
                  <a:alpha val="67000"/>
                </a:srgbClr>
              </a:gs>
              <a:gs pos="100000">
                <a:srgbClr val="E8896A">
                  <a:alpha val="67000"/>
                </a:srgbClr>
              </a:gs>
            </a:gsLst>
            <a:lin ang="54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9864000" y="1440000"/>
            <a:ext cx="648000" cy="5040000"/>
          </a:xfrm>
          <a:prstGeom prst="roundRect">
            <a:avLst/>
          </a:prstGeom>
          <a:gradFill>
            <a:gsLst>
              <a:gs pos="0">
                <a:srgbClr val="3B5FE8">
                  <a:alpha val="73000"/>
                </a:srgbClr>
              </a:gs>
              <a:gs pos="100000">
                <a:srgbClr val="E8896A">
                  <a:alpha val="73000"/>
                </a:srgbClr>
              </a:gs>
            </a:gsLst>
            <a:lin ang="54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10692000" y="3600000"/>
            <a:ext cx="648000" cy="2880000"/>
          </a:xfrm>
          <a:prstGeom prst="roundRect">
            <a:avLst/>
          </a:prstGeom>
          <a:gradFill>
            <a:gsLst>
              <a:gs pos="0">
                <a:srgbClr val="3B5FE8">
                  <a:alpha val="79000"/>
                </a:srgbClr>
              </a:gs>
              <a:gs pos="100000">
                <a:srgbClr val="E8896A">
                  <a:alpha val="79000"/>
                </a:srgbClr>
              </a:gs>
            </a:gsLst>
            <a:lin ang="54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11520000" y="2160000"/>
            <a:ext cx="648000" cy="4320000"/>
          </a:xfrm>
          <a:prstGeom prst="roundRect">
            <a:avLst/>
          </a:prstGeom>
          <a:gradFill>
            <a:gsLst>
              <a:gs pos="0">
                <a:srgbClr val="3B5FE8">
                  <a:alpha val="85000"/>
                </a:srgbClr>
              </a:gs>
              <a:gs pos="100000">
                <a:srgbClr val="E8896A">
                  <a:alpha val="85000"/>
                </a:srgbClr>
              </a:gs>
            </a:gsLst>
            <a:lin ang="54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12348000" y="3960000"/>
            <a:ext cx="648000" cy="2520000"/>
          </a:xfrm>
          <a:prstGeom prst="roundRect">
            <a:avLst/>
          </a:prstGeom>
          <a:gradFill>
            <a:gsLst>
              <a:gs pos="0">
                <a:srgbClr val="3B5FE8">
                  <a:alpha val="91000"/>
                </a:srgbClr>
              </a:gs>
              <a:gs pos="100000">
                <a:srgbClr val="E8896A">
                  <a:alpha val="91000"/>
                </a:srgbClr>
              </a:gs>
            </a:gsLst>
            <a:lin ang="54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6480000" y="0"/>
            <a:ext cx="5760000" cy="5760000"/>
          </a:xfrm>
          <a:prstGeom prst="ellipse">
            <a:avLst/>
          </a:prstGeom>
          <a:solidFill>
            <a:srgbClr val="FFFFFF">
              <a:alpha val="6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720000" y="540000"/>
            <a:ext cx="36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FFFFFF"/>
                </a:solidFill>
                <a:latin typeface="Segoe UI Black"/>
                <a:ea typeface="Segoe UI Black"/>
              </a:rPr>
              <a:t>Spir</a:t>
            </a:r>
          </a:p>
        </p:txBody>
      </p:sp>
      <p:sp>
        <p:nvSpPr>
          <p:cNvPr id="11" name="TextBox 11"/>
          <p:cNvSpPr/>
          <p:nvPr/>
        </p:nvSpPr>
        <p:spPr>
          <a:xfrm>
            <a:off x="720000" y="1368000"/>
            <a:ext cx="504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B0C4FF"/>
                </a:solidFill>
                <a:latin typeface="Segoe UI"/>
                <a:ea typeface="Segoe UI"/>
              </a:rPr>
              <a:t>Update 2025.1</a:t>
            </a:r>
          </a:p>
        </p:txBody>
      </p:sp>
      <p:sp>
        <p:nvSpPr>
          <p:cNvPr id="12" name="TextBox 12"/>
          <p:cNvSpPr/>
          <p:nvPr/>
        </p:nvSpPr>
        <p:spPr>
          <a:xfrm>
            <a:off x="720000" y="1800000"/>
            <a:ext cx="6480000" cy="36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800" b="1">
                <a:solidFill>
                  <a:srgbClr val="FFFFFF"/>
                </a:solidFill>
                <a:latin typeface="Segoe UI Black"/>
                <a:ea typeface="Segoe UI Black"/>
              </a:rPr>
              <a:t>CULTURE</a:t>
            </a:r>
          </a:p>
          <a:p>
            <a:r>
              <a:rPr lang="en-US" sz="6800" b="1">
                <a:solidFill>
                  <a:srgbClr val="FFFFFF"/>
                </a:solidFill>
                <a:latin typeface="Segoe UI Black"/>
                <a:ea typeface="Segoe UI Black"/>
              </a:rPr>
              <a:t>DECK</a:t>
            </a:r>
          </a:p>
        </p:txBody>
      </p:sp>
      <p:sp>
        <p:nvSpPr>
          <p:cNvPr id="13" name="TextBox 13"/>
          <p:cNvSpPr/>
          <p:nvPr/>
        </p:nvSpPr>
        <p:spPr>
          <a:xfrm>
            <a:off x="720000" y="5580000"/>
            <a:ext cx="576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F5C4B0"/>
                </a:solidFill>
                <a:latin typeface="Segoe UI"/>
                <a:ea typeface="Segoe UI"/>
              </a:rPr>
              <a:t>Who we are, what we believe,</a:t>
            </a:r>
          </a:p>
          <a:p>
            <a:r>
              <a:rPr lang="en-US" sz="1400">
                <a:solidFill>
                  <a:srgbClr val="F5C4B0"/>
                </a:solidFill>
                <a:latin typeface="Segoe UI"/>
                <a:ea typeface="Segoe UI"/>
              </a:rPr>
              <a:t>and where we’re going.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8F4F0"/>
        </a:solidFill>
      </p:bgPr>
    </p:bg>
    <p:spTree>
      <p:nvGrpSpPr>
        <p:cNvPr id="1" name=""/>
        <p:cNvGrpSpPr/>
        <p:nvPr/>
      </p:nvGrpSpPr>
      <p:grpSpPr/>
      <p:sp>
        <p:nvSpPr>
          <p:cNvPr id="2" name="!!bars"/>
          <p:cNvSpPr/>
          <p:nvPr/>
        </p:nvSpPr>
        <p:spPr>
          <a:xfrm>
            <a:off x="0" y="0"/>
            <a:ext cx="36000" cy="36000"/>
          </a:xfrm>
          <a:prstGeom prst="rect">
            <a:avLst/>
          </a:prstGeom>
          <a:solidFill>
            <a:srgbClr val="F8F4F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720000" y="720000"/>
            <a:ext cx="504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 b="1">
                <a:solidFill>
                  <a:srgbClr val="1A1A2E"/>
                </a:solidFill>
                <a:latin typeface="Segoe UI Black"/>
                <a:ea typeface="Segoe UI Black"/>
              </a:rPr>
              <a:t>INDEX</a:t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2160000"/>
            <a:ext cx="144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7A7090"/>
                </a:solidFill>
                <a:latin typeface="Segoe UI"/>
                <a:ea typeface="Segoe UI"/>
              </a:rPr>
              <a:t>目次</a:t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2700000"/>
            <a:ext cx="10440000" cy="21600"/>
          </a:xfrm>
          <a:prstGeom prst="rect">
            <a:avLst/>
          </a:prstGeom>
          <a:solidFill>
            <a:srgbClr val="7A709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2880000"/>
            <a:ext cx="432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1A1A2E"/>
                </a:solidFill>
                <a:latin typeface="Segoe UI"/>
                <a:ea typeface="Segoe UI"/>
              </a:rPr>
              <a:t>01  Company</a:t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3420000"/>
            <a:ext cx="432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1A1A2E"/>
                </a:solidFill>
                <a:latin typeface="Segoe UI"/>
                <a:ea typeface="Segoe UI"/>
              </a:rPr>
              <a:t>02  Team Culture</a:t>
            </a:r>
          </a:p>
        </p:txBody>
      </p:sp>
      <p:sp>
        <p:nvSpPr>
          <p:cNvPr id="8" name="TextBox 8"/>
          <p:cNvSpPr/>
          <p:nvPr/>
        </p:nvSpPr>
        <p:spPr>
          <a:xfrm>
            <a:off x="720000" y="3888000"/>
            <a:ext cx="10440000" cy="21600"/>
          </a:xfrm>
          <a:prstGeom prst="rect">
            <a:avLst/>
          </a:prstGeom>
          <a:solidFill>
            <a:srgbClr val="7A709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720000" y="4068000"/>
            <a:ext cx="432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1A1A2E"/>
                </a:solidFill>
                <a:latin typeface="Segoe UI"/>
                <a:ea typeface="Segoe UI"/>
              </a:rPr>
              <a:t>03  Product</a:t>
            </a:r>
          </a:p>
        </p:txBody>
      </p:sp>
      <p:sp>
        <p:nvSpPr>
          <p:cNvPr id="10" name="TextBox 10"/>
          <p:cNvSpPr/>
          <p:nvPr/>
        </p:nvSpPr>
        <p:spPr>
          <a:xfrm>
            <a:off x="720000" y="4608000"/>
            <a:ext cx="432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1A1A2E"/>
                </a:solidFill>
                <a:latin typeface="Segoe UI"/>
                <a:ea typeface="Segoe UI"/>
              </a:rPr>
              <a:t>04  Recruiting</a:t>
            </a:r>
          </a:p>
        </p:txBody>
      </p:sp>
      <p:sp>
        <p:nvSpPr>
          <p:cNvPr id="11" name="TextBox 11"/>
          <p:cNvSpPr/>
          <p:nvPr/>
        </p:nvSpPr>
        <p:spPr>
          <a:xfrm>
            <a:off x="720000" y="5076000"/>
            <a:ext cx="10440000" cy="21600"/>
          </a:xfrm>
          <a:prstGeom prst="rect">
            <a:avLst/>
          </a:prstGeom>
          <a:solidFill>
            <a:srgbClr val="7A709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720000" y="5256000"/>
            <a:ext cx="432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1A1A2E"/>
                </a:solidFill>
                <a:latin typeface="Segoe UI"/>
                <a:ea typeface="Segoe UI"/>
              </a:rPr>
              <a:t>05  Values</a:t>
            </a:r>
          </a:p>
        </p:txBody>
      </p:sp>
      <p:sp>
        <p:nvSpPr>
          <p:cNvPr id="13" name="TextBox 13"/>
          <p:cNvSpPr/>
          <p:nvPr/>
        </p:nvSpPr>
        <p:spPr>
          <a:xfrm>
            <a:off x="720000" y="5796000"/>
            <a:ext cx="432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1A1A2E"/>
                </a:solidFill>
                <a:latin typeface="Segoe UI"/>
                <a:ea typeface="Segoe UI"/>
              </a:rPr>
              <a:t>06  Vision</a:t>
            </a:r>
          </a:p>
        </p:txBody>
      </p:sp>
      <p:sp>
        <p:nvSpPr>
          <p:cNvPr id="14" name="TextBox 14"/>
          <p:cNvSpPr/>
          <p:nvPr/>
        </p:nvSpPr>
        <p:spPr>
          <a:xfrm>
            <a:off x="7920000" y="630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000">
                <a:solidFill>
                  <a:srgbClr val="7A7090"/>
                </a:solidFill>
                <a:latin typeface="Segoe UI"/>
                <a:ea typeface="Segoe UI"/>
              </a:rPr>
              <a:t>Spir / Culture Deck 2025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gradFill xmlns:a="http://schemas.openxmlformats.org/drawingml/2006/main">
          <a:gsLst>
            <a:gs pos="0">
              <a:srgbClr val="2040B0"/>
            </a:gs>
            <a:gs pos="100000">
              <a:srgbClr val="3B5FE8"/>
            </a:gs>
          </a:gsLst>
          <a:lin ang="96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7920000" y="0"/>
            <a:ext cx="5040000" cy="5040000"/>
          </a:xfrm>
          <a:prstGeom prst="ellipse">
            <a:avLst/>
          </a:prstGeom>
          <a:solidFill>
            <a:srgbClr val="E8896A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ars"/>
          <p:cNvSpPr/>
          <p:nvPr/>
        </p:nvSpPr>
        <p:spPr>
          <a:xfrm>
            <a:off x="0" y="3600000"/>
            <a:ext cx="4320000" cy="432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540000"/>
            <a:ext cx="648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000" b="1">
                <a:solidFill>
                  <a:srgbClr val="FFFFFF"/>
                </a:solidFill>
                <a:latin typeface="Segoe UI Black"/>
                <a:ea typeface="Segoe UI Black"/>
              </a:rPr>
              <a:t>COMPANY</a:t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432000"/>
            <a:ext cx="1440000" cy="50400"/>
          </a:xfrm>
          <a:prstGeom prst="rect">
            <a:avLst/>
          </a:prstGeom>
          <a:solidFill>
            <a:srgbClr val="E8896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198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E8896A"/>
                </a:solidFill>
                <a:latin typeface="Segoe UI Black"/>
                <a:ea typeface="Segoe UI Black"/>
              </a:rPr>
              <a:t>01</a:t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3168000"/>
            <a:ext cx="324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FFFFFF"/>
                </a:solidFill>
                <a:latin typeface="Segoe UI Black"/>
                <a:ea typeface="Segoe UI Black"/>
              </a:rPr>
              <a:t>Transparency</a:t>
            </a:r>
          </a:p>
          <a:p>
            <a:r>
              <a:rPr lang="en-US" sz="2000" b="1">
                <a:solidFill>
                  <a:srgbClr val="FFFFFF"/>
                </a:solidFill>
                <a:latin typeface="Segoe UI Black"/>
                <a:ea typeface="Segoe UI Black"/>
              </a:rPr>
              <a:t>First</a:t>
            </a:r>
          </a:p>
        </p:txBody>
      </p:sp>
      <p:sp>
        <p:nvSpPr>
          <p:cNvPr id="8" name="TextBox 8"/>
          <p:cNvSpPr/>
          <p:nvPr/>
        </p:nvSpPr>
        <p:spPr>
          <a:xfrm>
            <a:off x="720000" y="4392000"/>
            <a:ext cx="324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B0C4FF"/>
                </a:solidFill>
                <a:latin typeface="Segoe UI"/>
                <a:ea typeface="Segoe UI"/>
              </a:rPr>
              <a:t>We share everything:</a:t>
            </a:r>
          </a:p>
          <a:p>
            <a:r>
              <a:rPr lang="en-US" sz="1200">
                <a:solidFill>
                  <a:srgbClr val="B0C4FF"/>
                </a:solidFill>
                <a:latin typeface="Segoe UI"/>
                <a:ea typeface="Segoe UI"/>
              </a:rPr>
              <a:t>goals, numbers, and failures.</a:t>
            </a:r>
          </a:p>
        </p:txBody>
      </p:sp>
      <p:sp>
        <p:nvSpPr>
          <p:cNvPr id="9" name="TextBox 9"/>
          <p:cNvSpPr/>
          <p:nvPr/>
        </p:nvSpPr>
        <p:spPr>
          <a:xfrm>
            <a:off x="4500000" y="198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B0C4FF"/>
                </a:solidFill>
                <a:latin typeface="Segoe UI Black"/>
                <a:ea typeface="Segoe UI Black"/>
              </a:rPr>
              <a:t>02</a:t>
            </a:r>
          </a:p>
        </p:txBody>
      </p:sp>
      <p:sp>
        <p:nvSpPr>
          <p:cNvPr id="10" name="TextBox 10"/>
          <p:cNvSpPr/>
          <p:nvPr/>
        </p:nvSpPr>
        <p:spPr>
          <a:xfrm>
            <a:off x="4500000" y="3168000"/>
            <a:ext cx="324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FFFFFF"/>
                </a:solidFill>
                <a:latin typeface="Segoe UI Black"/>
                <a:ea typeface="Segoe UI Black"/>
              </a:rPr>
              <a:t>Ship Fast,</a:t>
            </a:r>
          </a:p>
          <a:p>
            <a:r>
              <a:rPr lang="en-US" sz="2000" b="1">
                <a:solidFill>
                  <a:srgbClr val="FFFFFF"/>
                </a:solidFill>
                <a:latin typeface="Segoe UI Black"/>
                <a:ea typeface="Segoe UI Black"/>
              </a:rPr>
              <a:t>Learn Faster</a:t>
            </a:r>
          </a:p>
        </p:txBody>
      </p:sp>
      <p:sp>
        <p:nvSpPr>
          <p:cNvPr id="11" name="TextBox 11"/>
          <p:cNvSpPr/>
          <p:nvPr/>
        </p:nvSpPr>
        <p:spPr>
          <a:xfrm>
            <a:off x="4500000" y="4392000"/>
            <a:ext cx="324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B0C4FF"/>
                </a:solidFill>
                <a:latin typeface="Segoe UI"/>
                <a:ea typeface="Segoe UI"/>
              </a:rPr>
              <a:t>Iteration beats perfection.</a:t>
            </a:r>
          </a:p>
          <a:p>
            <a:r>
              <a:rPr lang="en-US" sz="1200">
                <a:solidFill>
                  <a:srgbClr val="B0C4FF"/>
                </a:solidFill>
                <a:latin typeface="Segoe UI"/>
                <a:ea typeface="Segoe UI"/>
              </a:rPr>
              <a:t>We validate before we scale.</a:t>
            </a:r>
          </a:p>
        </p:txBody>
      </p:sp>
      <p:sp>
        <p:nvSpPr>
          <p:cNvPr id="12" name="TextBox 12"/>
          <p:cNvSpPr/>
          <p:nvPr/>
        </p:nvSpPr>
        <p:spPr>
          <a:xfrm>
            <a:off x="8280000" y="198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FFFFFF"/>
                </a:solidFill>
                <a:latin typeface="Segoe UI Black"/>
                <a:ea typeface="Segoe UI Black"/>
              </a:rPr>
              <a:t>03</a:t>
            </a:r>
          </a:p>
        </p:txBody>
      </p:sp>
      <p:sp>
        <p:nvSpPr>
          <p:cNvPr id="13" name="TextBox 13"/>
          <p:cNvSpPr/>
          <p:nvPr/>
        </p:nvSpPr>
        <p:spPr>
          <a:xfrm>
            <a:off x="8280000" y="3168000"/>
            <a:ext cx="324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FFFFFF"/>
                </a:solidFill>
                <a:latin typeface="Segoe UI Black"/>
                <a:ea typeface="Segoe UI Black"/>
              </a:rPr>
              <a:t>People</a:t>
            </a:r>
          </a:p>
          <a:p>
            <a:r>
              <a:rPr lang="en-US" sz="2000" b="1">
                <a:solidFill>
                  <a:srgbClr val="FFFFFF"/>
                </a:solidFill>
                <a:latin typeface="Segoe UI Black"/>
                <a:ea typeface="Segoe UI Black"/>
              </a:rPr>
              <a:t>Over Process</a:t>
            </a:r>
          </a:p>
        </p:txBody>
      </p:sp>
      <p:sp>
        <p:nvSpPr>
          <p:cNvPr id="14" name="TextBox 14"/>
          <p:cNvSpPr/>
          <p:nvPr/>
        </p:nvSpPr>
        <p:spPr>
          <a:xfrm>
            <a:off x="8280000" y="4392000"/>
            <a:ext cx="324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B0C4FF"/>
                </a:solidFill>
                <a:latin typeface="Segoe UI"/>
                <a:ea typeface="Segoe UI"/>
              </a:rPr>
              <a:t>Autonomy, trust, and</a:t>
            </a:r>
          </a:p>
          <a:p>
            <a:r>
              <a:rPr lang="en-US" sz="1200">
                <a:solidFill>
                  <a:srgbClr val="B0C4FF"/>
                </a:solidFill>
                <a:latin typeface="Segoe UI"/>
                <a:ea typeface="Segoe UI"/>
              </a:rPr>
              <a:t>growth over rigid rules.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gradFill xmlns:a="http://schemas.openxmlformats.org/drawingml/2006/main">
          <a:gsLst>
            <a:gs pos="0">
              <a:srgbClr val="3B5FE8"/>
            </a:gs>
            <a:gs pos="100000">
              <a:srgbClr val="E8896A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0" y="1800000"/>
            <a:ext cx="5040000" cy="5040000"/>
          </a:xfrm>
          <a:prstGeom prst="ellipse">
            <a:avLst/>
          </a:prstGeom>
          <a:solidFill>
            <a:srgbClr val="FFFFFF">
              <a:alpha val="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ars"/>
          <p:cNvSpPr/>
          <p:nvPr/>
        </p:nvSpPr>
        <p:spPr>
          <a:xfrm>
            <a:off x="10080000" y="0"/>
            <a:ext cx="2160000" cy="2160000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540000"/>
            <a:ext cx="36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B0C4FF"/>
                </a:solidFill>
                <a:latin typeface="Segoe UI"/>
                <a:ea typeface="Segoe UI"/>
              </a:rPr>
              <a:t>TEAM</a:t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1260000"/>
            <a:ext cx="6480000" cy="21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>
                <a:solidFill>
                  <a:srgbClr val="FFFFFF"/>
                </a:solidFill>
                <a:latin typeface="Segoe UI Black"/>
                <a:ea typeface="Segoe UI Black"/>
              </a:rPr>
              <a:t>The People</a:t>
            </a:r>
          </a:p>
          <a:p>
            <a:r>
              <a:rPr lang="en-US" sz="4400" b="1">
                <a:solidFill>
                  <a:srgbClr val="FFFFFF"/>
                </a:solidFill>
                <a:latin typeface="Segoe UI Black"/>
                <a:ea typeface="Segoe UI Black"/>
              </a:rPr>
              <a:t>Behind Spir</a:t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3600000"/>
            <a:ext cx="576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5C4B0"/>
                </a:solidFill>
                <a:latin typeface="Segoe UI"/>
                <a:ea typeface="Segoe UI"/>
              </a:rPr>
              <a:t>A distributed team of designers, engineers,</a:t>
            </a:r>
          </a:p>
          <a:p>
            <a:r>
              <a:rPr lang="en-US" sz="1600">
                <a:solidFill>
                  <a:srgbClr val="F5C4B0"/>
                </a:solidFill>
                <a:latin typeface="Segoe UI"/>
                <a:ea typeface="Segoe UI"/>
              </a:rPr>
              <a:t>and product thinkers.</a:t>
            </a:r>
          </a:p>
        </p:txBody>
      </p:sp>
      <p:sp>
        <p:nvSpPr>
          <p:cNvPr id="7" name="TextBox 7"/>
          <p:cNvSpPr/>
          <p:nvPr/>
        </p:nvSpPr>
        <p:spPr>
          <a:xfrm>
            <a:off x="7200000" y="1440000"/>
            <a:ext cx="4320000" cy="4680000"/>
          </a:xfrm>
          <a:prstGeom prst="round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7560000" y="1800000"/>
            <a:ext cx="360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600" b="1">
                <a:solidFill>
                  <a:srgbClr val="1A1A2E"/>
                </a:solidFill>
                <a:latin typeface="Segoe UI Black"/>
                <a:ea typeface="Segoe UI Black"/>
              </a:rPr>
              <a:t>42</a:t>
            </a:r>
          </a:p>
        </p:txBody>
      </p:sp>
      <p:sp>
        <p:nvSpPr>
          <p:cNvPr id="9" name="TextBox 9"/>
          <p:cNvSpPr/>
          <p:nvPr/>
        </p:nvSpPr>
        <p:spPr>
          <a:xfrm>
            <a:off x="7560000" y="3420000"/>
            <a:ext cx="360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7A7090"/>
                </a:solidFill>
                <a:latin typeface="Segoe UI"/>
                <a:ea typeface="Segoe UI"/>
              </a:rPr>
              <a:t>Full-time</a:t>
            </a:r>
          </a:p>
          <a:p>
            <a:r>
              <a:rPr lang="en-US" sz="1300">
                <a:solidFill>
                  <a:srgbClr val="7A7090"/>
                </a:solidFill>
                <a:latin typeface="Segoe UI"/>
                <a:ea typeface="Segoe UI"/>
              </a:rPr>
              <a:t>team members</a:t>
            </a:r>
          </a:p>
        </p:txBody>
      </p:sp>
      <p:sp>
        <p:nvSpPr>
          <p:cNvPr id="10" name="TextBox 10"/>
          <p:cNvSpPr/>
          <p:nvPr/>
        </p:nvSpPr>
        <p:spPr>
          <a:xfrm>
            <a:off x="7560000" y="4500000"/>
            <a:ext cx="3600000" cy="28800"/>
          </a:xfrm>
          <a:prstGeom prst="rect">
            <a:avLst/>
          </a:prstGeom>
          <a:solidFill>
            <a:srgbClr val="3B5FE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7560000" y="4680000"/>
            <a:ext cx="360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7A7090"/>
                </a:solidFill>
                <a:latin typeface="Segoe UI"/>
                <a:ea typeface="Segoe UI"/>
              </a:rPr>
              <a:t>18 nationalities  ·  9 cities</a:t>
            </a:r>
          </a:p>
        </p:txBody>
      </p:sp>
      <p:sp>
        <p:nvSpPr>
          <p:cNvPr id="12" name="TextBox 12"/>
          <p:cNvSpPr/>
          <p:nvPr/>
        </p:nvSpPr>
        <p:spPr>
          <a:xfrm>
            <a:off x="7560000" y="5220000"/>
            <a:ext cx="360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7A7090"/>
                </a:solidFill>
                <a:latin typeface="Segoe UI"/>
                <a:ea typeface="Segoe UI"/>
              </a:rPr>
              <a:t>Avg age: 31  ·  62% engineers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8F4F0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5040000" y="360000"/>
            <a:ext cx="6120000" cy="6120000"/>
          </a:xfrm>
          <a:prstGeom prst="ellipse">
            <a:avLst/>
          </a:prstGeom>
          <a:solidFill>
            <a:srgbClr val="3B5FE8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5616000" y="936000"/>
            <a:ext cx="4968000" cy="4968000"/>
          </a:xfrm>
          <a:prstGeom prst="ellipse">
            <a:avLst/>
          </a:prstGeom>
          <a:solidFill>
            <a:srgbClr val="3B5FE8">
              <a:alpha val="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bars"/>
          <p:cNvSpPr/>
          <p:nvPr/>
        </p:nvSpPr>
        <p:spPr>
          <a:xfrm>
            <a:off x="5940000" y="2160000"/>
            <a:ext cx="3600000" cy="3600000"/>
          </a:xfrm>
          <a:prstGeom prst="ellipse">
            <a:avLst/>
          </a:prstGeom>
          <a:solidFill>
            <a:srgbClr val="E8896A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720000"/>
            <a:ext cx="360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7A7090"/>
                </a:solidFill>
                <a:latin typeface="Segoe UI"/>
                <a:ea typeface="Segoe UI"/>
              </a:rPr>
              <a:t>HISTORY</a:t>
            </a:r>
          </a:p>
          <a:p>
            <a:r>
              <a:rPr lang="en-US" sz="1200">
                <a:solidFill>
                  <a:srgbClr val="7A7090"/>
                </a:solidFill>
                <a:latin typeface="Segoe UI"/>
                <a:ea typeface="Segoe UI"/>
              </a:rPr>
              <a:t>沖革</a:t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1800000"/>
            <a:ext cx="5760000" cy="36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>
                <a:solidFill>
                  <a:srgbClr val="1A1A2E"/>
                </a:solidFill>
                <a:latin typeface="Segoe UI Black"/>
                <a:ea typeface="Segoe UI Black"/>
              </a:rPr>
              <a:t>Unleash</a:t>
            </a:r>
          </a:p>
          <a:p>
            <a:r>
              <a:rPr lang="en-US" sz="4400" b="1">
                <a:solidFill>
                  <a:srgbClr val="1A1A2E"/>
                </a:solidFill>
                <a:latin typeface="Segoe UI Black"/>
                <a:ea typeface="Segoe UI Black"/>
              </a:rPr>
              <a:t>your</a:t>
            </a:r>
          </a:p>
          <a:p>
            <a:r>
              <a:rPr lang="en-US" sz="4400" b="1">
                <a:solidFill>
                  <a:srgbClr val="1A1A2E"/>
                </a:solidFill>
                <a:latin typeface="Segoe UI Black"/>
                <a:ea typeface="Segoe UI Black"/>
              </a:rPr>
              <a:t>creativity</a:t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5580000"/>
            <a:ext cx="50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7A7090"/>
                </a:solidFill>
                <a:latin typeface="Segoe UI"/>
                <a:ea typeface="Segoe UI"/>
              </a:rPr>
              <a:t>創造性を解放する</a:t>
            </a:r>
          </a:p>
        </p:txBody>
      </p:sp>
      <p:sp>
        <p:nvSpPr>
          <p:cNvPr id="8" name="TextBox 8"/>
          <p:cNvSpPr/>
          <p:nvPr/>
        </p:nvSpPr>
        <p:spPr>
          <a:xfrm>
            <a:off x="720000" y="1620000"/>
            <a:ext cx="1260000" cy="43200"/>
          </a:xfrm>
          <a:prstGeom prst="rect">
            <a:avLst/>
          </a:prstGeom>
          <a:solidFill>
            <a:srgbClr val="3B5FE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720000" y="6300000"/>
            <a:ext cx="504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7A7090"/>
                </a:solidFill>
                <a:latin typeface="Segoe UI"/>
                <a:ea typeface="Segoe UI"/>
              </a:rPr>
              <a:t>PRODUCT  ·  Since 2021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8F4F0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0" y="0"/>
            <a:ext cx="3600000" cy="6858000"/>
          </a:xfrm>
          <a:prstGeom prst="rect">
            <a:avLst/>
          </a:prstGeom>
          <a:gradFill>
            <a:gsLst>
              <a:gs pos="0">
                <a:srgbClr val="2040B0"/>
              </a:gs>
              <a:gs pos="100000">
                <a:srgbClr val="3B5FE8"/>
              </a:gs>
            </a:gsLst>
            <a:lin ang="54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ars"/>
          <p:cNvSpPr/>
          <p:nvPr/>
        </p:nvSpPr>
        <p:spPr>
          <a:xfrm>
            <a:off x="360000" y="3600000"/>
            <a:ext cx="3240000" cy="3240000"/>
          </a:xfrm>
          <a:prstGeom prst="ellipse">
            <a:avLst/>
          </a:prstGeom>
          <a:solidFill>
            <a:srgbClr val="E8896A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360000" y="720000"/>
            <a:ext cx="288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B0C4FF"/>
                </a:solidFill>
                <a:latin typeface="Segoe UI"/>
                <a:ea typeface="Segoe UI"/>
              </a:rPr>
              <a:t>HISTORY</a:t>
            </a:r>
          </a:p>
          <a:p>
            <a:r>
              <a:rPr lang="en-US" sz="1200">
                <a:solidFill>
                  <a:srgbClr val="B0C4FF"/>
                </a:solidFill>
                <a:latin typeface="Segoe UI"/>
                <a:ea typeface="Segoe UI"/>
              </a:rPr>
              <a:t>沖革</a:t>
            </a:r>
          </a:p>
        </p:txBody>
      </p:sp>
      <p:sp>
        <p:nvSpPr>
          <p:cNvPr id="5" name="TextBox 5"/>
          <p:cNvSpPr/>
          <p:nvPr/>
        </p:nvSpPr>
        <p:spPr>
          <a:xfrm>
            <a:off x="360000" y="1800000"/>
            <a:ext cx="2880000" cy="28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FFFFFF"/>
                </a:solidFill>
                <a:latin typeface="Segoe UI Black"/>
                <a:ea typeface="Segoe UI Black"/>
              </a:rPr>
              <a:t>2019</a:t>
            </a:r>
          </a:p>
          <a:p>
            <a:r>
              <a:rPr lang="en-US" sz="3200" b="1">
                <a:solidFill>
                  <a:srgbClr val="FFFFFF"/>
                </a:solidFill>
                <a:latin typeface="Segoe UI Black"/>
                <a:ea typeface="Segoe UI Black"/>
              </a:rPr>
              <a:t>—</a:t>
            </a:r>
          </a:p>
          <a:p>
            <a:r>
              <a:rPr lang="en-US" sz="3200" b="1">
                <a:solidFill>
                  <a:srgbClr val="FFFFFF"/>
                </a:solidFill>
                <a:latin typeface="Segoe UI Black"/>
                <a:ea typeface="Segoe UI Black"/>
              </a:rPr>
              <a:t>2025</a:t>
            </a:r>
          </a:p>
        </p:txBody>
      </p:sp>
      <p:sp>
        <p:nvSpPr>
          <p:cNvPr id="6" name="TextBox 6"/>
          <p:cNvSpPr/>
          <p:nvPr/>
        </p:nvSpPr>
        <p:spPr>
          <a:xfrm>
            <a:off x="4680000" y="1080000"/>
            <a:ext cx="28800" cy="5040000"/>
          </a:xfrm>
          <a:prstGeom prst="rect">
            <a:avLst/>
          </a:prstGeom>
          <a:solidFill>
            <a:srgbClr val="3B5FE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4356000" y="1080000"/>
            <a:ext cx="648000" cy="648000"/>
          </a:xfrm>
          <a:prstGeom prst="ellipse">
            <a:avLst/>
          </a:prstGeom>
          <a:solidFill>
            <a:srgbClr val="E8896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5220000" y="1080000"/>
            <a:ext cx="2160000" cy="39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3B5FE8"/>
                </a:solidFill>
                <a:latin typeface="Segoe UI Black"/>
                <a:ea typeface="Segoe UI Black"/>
              </a:rPr>
              <a:t>2019.3</a:t>
            </a:r>
          </a:p>
        </p:txBody>
      </p:sp>
      <p:sp>
        <p:nvSpPr>
          <p:cNvPr id="9" name="TextBox 9"/>
          <p:cNvSpPr/>
          <p:nvPr/>
        </p:nvSpPr>
        <p:spPr>
          <a:xfrm>
            <a:off x="5220000" y="1512000"/>
            <a:ext cx="576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1A1A2E"/>
                </a:solidFill>
                <a:latin typeface="Segoe UI"/>
                <a:ea typeface="Segoe UI"/>
              </a:rPr>
              <a:t>創業 / Founded</a:t>
            </a:r>
          </a:p>
        </p:txBody>
      </p:sp>
      <p:sp>
        <p:nvSpPr>
          <p:cNvPr id="10" name="TextBox 10"/>
          <p:cNvSpPr/>
          <p:nvPr/>
        </p:nvSpPr>
        <p:spPr>
          <a:xfrm>
            <a:off x="4356000" y="2340000"/>
            <a:ext cx="648000" cy="648000"/>
          </a:xfrm>
          <a:prstGeom prst="ellipse">
            <a:avLst/>
          </a:prstGeom>
          <a:solidFill>
            <a:srgbClr val="E8896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5220000" y="2340000"/>
            <a:ext cx="2160000" cy="39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3B5FE8"/>
                </a:solidFill>
                <a:latin typeface="Segoe UI Black"/>
                <a:ea typeface="Segoe UI Black"/>
              </a:rPr>
              <a:t>2021.2</a:t>
            </a:r>
          </a:p>
        </p:txBody>
      </p:sp>
      <p:sp>
        <p:nvSpPr>
          <p:cNvPr id="12" name="TextBox 12"/>
          <p:cNvSpPr/>
          <p:nvPr/>
        </p:nvSpPr>
        <p:spPr>
          <a:xfrm>
            <a:off x="5220000" y="2772000"/>
            <a:ext cx="576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1A1A2E"/>
                </a:solidFill>
                <a:latin typeface="Segoe UI"/>
                <a:ea typeface="Segoe UI"/>
              </a:rPr>
              <a:t>Spir for Agent リリース</a:t>
            </a:r>
          </a:p>
        </p:txBody>
      </p:sp>
      <p:sp>
        <p:nvSpPr>
          <p:cNvPr id="13" name="TextBox 13"/>
          <p:cNvSpPr/>
          <p:nvPr/>
        </p:nvSpPr>
        <p:spPr>
          <a:xfrm>
            <a:off x="4356000" y="3600000"/>
            <a:ext cx="648000" cy="648000"/>
          </a:xfrm>
          <a:prstGeom prst="ellipse">
            <a:avLst/>
          </a:prstGeom>
          <a:solidFill>
            <a:srgbClr val="E8896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5220000" y="3600000"/>
            <a:ext cx="2160000" cy="39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3B5FE8"/>
                </a:solidFill>
                <a:latin typeface="Segoe UI Black"/>
                <a:ea typeface="Segoe UI Black"/>
              </a:rPr>
              <a:t>2022.9</a:t>
            </a:r>
          </a:p>
        </p:txBody>
      </p:sp>
      <p:sp>
        <p:nvSpPr>
          <p:cNvPr id="15" name="TextBox 15"/>
          <p:cNvSpPr/>
          <p:nvPr/>
        </p:nvSpPr>
        <p:spPr>
          <a:xfrm>
            <a:off x="5220000" y="4032000"/>
            <a:ext cx="576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1A1A2E"/>
                </a:solidFill>
                <a:latin typeface="Segoe UI"/>
                <a:ea typeface="Segoe UI"/>
              </a:rPr>
              <a:t>3.5億 Series A</a:t>
            </a:r>
          </a:p>
        </p:txBody>
      </p:sp>
      <p:sp>
        <p:nvSpPr>
          <p:cNvPr id="16" name="TextBox 16"/>
          <p:cNvSpPr/>
          <p:nvPr/>
        </p:nvSpPr>
        <p:spPr>
          <a:xfrm>
            <a:off x="4356000" y="4860000"/>
            <a:ext cx="648000" cy="648000"/>
          </a:xfrm>
          <a:prstGeom prst="ellipse">
            <a:avLst/>
          </a:prstGeom>
          <a:solidFill>
            <a:srgbClr val="E8896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5220000" y="4860000"/>
            <a:ext cx="2160000" cy="39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3B5FE8"/>
                </a:solidFill>
                <a:latin typeface="Segoe UI Black"/>
                <a:ea typeface="Segoe UI Black"/>
              </a:rPr>
              <a:t>2024</a:t>
            </a:r>
          </a:p>
        </p:txBody>
      </p:sp>
      <p:sp>
        <p:nvSpPr>
          <p:cNvPr id="18" name="TextBox 18"/>
          <p:cNvSpPr/>
          <p:nvPr/>
        </p:nvSpPr>
        <p:spPr>
          <a:xfrm>
            <a:off x="5220000" y="5292000"/>
            <a:ext cx="576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1A1A2E"/>
                </a:solidFill>
                <a:latin typeface="Segoe UI"/>
                <a:ea typeface="Segoe UI"/>
              </a:rPr>
              <a:t>42年分の利用実績</a:t>
            </a:r>
          </a:p>
        </p:txBody>
      </p:sp>
      <p:sp>
        <p:nvSpPr>
          <p:cNvPr id="19" name="TextBox 19"/>
          <p:cNvSpPr/>
          <p:nvPr/>
        </p:nvSpPr>
        <p:spPr>
          <a:xfrm>
            <a:off x="7920000" y="630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000">
                <a:solidFill>
                  <a:srgbClr val="7A7090"/>
                </a:solidFill>
                <a:latin typeface="Segoe UI"/>
                <a:ea typeface="Segoe UI"/>
              </a:rPr>
              <a:t>Spir / Culture Deck 2025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gradFill xmlns:a="http://schemas.openxmlformats.org/drawingml/2006/main">
          <a:gsLst>
            <a:gs pos="0">
              <a:srgbClr val="E8896A"/>
            </a:gs>
            <a:gs pos="100000">
              <a:srgbClr val="C86040"/>
            </a:gs>
          </a:gsLst>
          <a:lin ang="96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0" y="0"/>
            <a:ext cx="7200000" cy="7200000"/>
          </a:xfrm>
          <a:prstGeom prst="ellipse">
            <a:avLst/>
          </a:prstGeom>
          <a:solidFill>
            <a:srgbClr val="3B5FE8">
              <a:alpha val="2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7920000" y="1800000"/>
            <a:ext cx="5040000" cy="5040000"/>
          </a:xfrm>
          <a:prstGeom prst="ellipse">
            <a:avLst/>
          </a:prstGeom>
          <a:solidFill>
            <a:srgbClr val="FFFFFF">
              <a:alpha val="6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bars"/>
          <p:cNvSpPr/>
          <p:nvPr/>
        </p:nvSpPr>
        <p:spPr>
          <a:xfrm>
            <a:off x="0" y="0"/>
            <a:ext cx="36000" cy="36000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720000"/>
            <a:ext cx="9360000" cy="39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600" b="1">
                <a:solidFill>
                  <a:srgbClr val="FFFFFF"/>
                </a:solidFill>
                <a:latin typeface="Segoe UI Black"/>
                <a:ea typeface="Segoe UI Black"/>
              </a:rPr>
              <a:t>Think</a:t>
            </a:r>
          </a:p>
          <a:p>
            <a:r>
              <a:rPr lang="en-US" sz="5600" b="1">
                <a:solidFill>
                  <a:srgbClr val="FFFFFF"/>
                </a:solidFill>
                <a:latin typeface="Segoe UI Black"/>
                <a:ea typeface="Segoe UI Black"/>
              </a:rPr>
              <a:t>Beyond</a:t>
            </a:r>
          </a:p>
          <a:p>
            <a:r>
              <a:rPr lang="en-US" sz="5600" b="1">
                <a:solidFill>
                  <a:srgbClr val="FFFFFF"/>
                </a:solidFill>
                <a:latin typeface="Segoe UI Black"/>
                <a:ea typeface="Segoe UI Black"/>
              </a:rPr>
              <a:t>Tomorrow.</a:t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5040000"/>
            <a:ext cx="792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5C4B0"/>
                </a:solidFill>
                <a:latin typeface="Segoe UI"/>
                <a:ea typeface="Segoe UI"/>
              </a:rPr>
              <a:t>Open Dialogue  ·  Be Accountable</a:t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5688000"/>
            <a:ext cx="3600000" cy="900000"/>
          </a:xfrm>
          <a:prstGeom prst="round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720000" y="5688000"/>
            <a:ext cx="3600000" cy="9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1">
                <a:solidFill>
                  <a:srgbClr val="C86040"/>
                </a:solidFill>
                <a:latin typeface="Segoe UI Black"/>
                <a:ea typeface="Segoe UI Black"/>
              </a:rPr>
              <a:t>Join the Team →</a:t>
            </a:r>
          </a:p>
        </p:txBody>
      </p:sp>
      <p:sp>
        <p:nvSpPr>
          <p:cNvPr id="9" name="TextBox 9"/>
          <p:cNvSpPr/>
          <p:nvPr/>
        </p:nvSpPr>
        <p:spPr>
          <a:xfrm>
            <a:off x="9360000" y="6300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100">
                <a:solidFill>
                  <a:srgbClr val="F5C4B0"/>
                </a:solidFill>
                <a:latin typeface="Segoe UI"/>
                <a:ea typeface="Segoe UI"/>
              </a:rPr>
              <a:t>spir.app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