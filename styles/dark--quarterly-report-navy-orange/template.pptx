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4651a1ddd23435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8970792860e429c"/>
    <p:sldId id="257" r:id="R2d6dfd3c357b4952"/>
    <p:sldId id="258" r:id="R98504e84e9514490"/>
    <p:sldId id="259" r:id="R388f9d016b56436b"/>
    <p:sldId id="260" r:id="Rfbbdc2d154a04c6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8970792860e429c" /><Relationship Type="http://schemas.openxmlformats.org/officeDocument/2006/relationships/slide" Target="/ppt/slides/slide2.xml" Id="R2d6dfd3c357b4952" /><Relationship Type="http://schemas.openxmlformats.org/officeDocument/2006/relationships/slide" Target="/ppt/slides/slide3.xml" Id="R98504e84e9514490" /><Relationship Type="http://schemas.openxmlformats.org/officeDocument/2006/relationships/slide" Target="/ppt/slides/slide4.xml" Id="R388f9d016b56436b" /><Relationship Type="http://schemas.openxmlformats.org/officeDocument/2006/relationships/slide" Target="/ppt/slides/slide5.xml" Id="Rfbbdc2d154a04c6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2d7faa6b94a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5a8af07ad4c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68b34d9c045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31e0478fd479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661039f8800413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d97a19c7045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6713da3444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2bcd721bc4e95" /><Relationship Type="http://schemas.openxmlformats.org/officeDocument/2006/relationships/chart" Target="/ppt/slides/charts/chart1.xml" Id="Rea6b0549f17e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8c9b7f6a04d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c3f5c6e8f460e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Quarterly Revenue 2023-2024 ($M)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E8793A"/>
            </a:solidFill>
          </c:spPr>
          <c:cat>
            <c:strLit>
              <c:ptCount val="7"/>
              <c:pt idx="0">
                <c:v>Q1 2023</c:v>
              </c:pt>
              <c:pt idx="1">
                <c:v>Q2 2023</c:v>
              </c:pt>
              <c:pt idx="2">
                <c:v>Q3 2023</c:v>
              </c:pt>
              <c:pt idx="3">
                <c:v>Q4 2023</c:v>
              </c:pt>
              <c:pt idx="4">
                <c:v>Q1 2024</c:v>
              </c:pt>
              <c:pt idx="5">
                <c:v>Q2 2024</c:v>
              </c:pt>
              <c:pt idx="6">
                <c:v>Q3 2024</c:v>
              </c:pt>
            </c:strLit>
          </c:cat>
          <c:val>
            <c:numLit>
              <c:formatCode>General</c:formatCode>
              <c:ptCount val="7"/>
              <c:pt idx="0">
                <c:v>8.2</c:v>
              </c:pt>
              <c:pt idx="1">
                <c:v>9.1</c:v>
              </c:pt>
              <c:pt idx="2">
                <c:v>10.3</c:v>
              </c:pt>
              <c:pt idx="3">
                <c:v>11.4</c:v>
              </c:pt>
              <c:pt idx="4">
                <c:v>10.8</c:v>
              </c:pt>
              <c:pt idx="5">
                <c:v>11.5</c:v>
              </c:pt>
              <c:pt idx="6">
                <c:v>12.4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A6AA8"/>
            </a:solidFill>
          </c:spPr>
          <c:cat>
            <c:strLit>
              <c:ptCount val="7"/>
              <c:pt idx="0">
                <c:v>Q1 2023</c:v>
              </c:pt>
              <c:pt idx="1">
                <c:v>Q2 2023</c:v>
              </c:pt>
              <c:pt idx="2">
                <c:v>Q3 2023</c:v>
              </c:pt>
              <c:pt idx="3">
                <c:v>Q4 2023</c:v>
              </c:pt>
              <c:pt idx="4">
                <c:v>Q1 2024</c:v>
              </c:pt>
              <c:pt idx="5">
                <c:v>Q2 2024</c:v>
              </c:pt>
              <c:pt idx="6">
                <c:v>Q3 2024</c:v>
              </c:pt>
            </c:strLit>
          </c:cat>
          <c:val>
            <c:numLit>
              <c:formatCode>General</c:formatCode>
              <c:ptCount val="7"/>
              <c:pt idx="0">
                <c:v>7.5</c:v>
              </c:pt>
              <c:pt idx="1">
                <c:v>8.8</c:v>
              </c:pt>
              <c:pt idx="2">
                <c:v>9.5</c:v>
              </c:pt>
              <c:pt idx="3">
                <c:v>10.2</c:v>
              </c:pt>
              <c:pt idx="4">
                <c:v>10</c:v>
              </c:pt>
              <c:pt idx="5">
                <c:v>10.8</c:v>
              </c:pt>
              <c:pt idx="6">
                <c:v>11.6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</c:dLbls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!!bg_mai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op_bar"/>
          <p:cNvSpPr/>
          <p:nvPr/>
        </p:nvSpPr>
        <p:spPr>
          <a:xfrm>
            <a:off x="0" y="0"/>
            <a:ext cx="12192000" cy="288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img_panel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32233"/>
          </a:solidFill>
          <a:ln w="2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img_label_cover"/>
          <p:cNvSpPr/>
          <p:nvPr/>
        </p:nvSpPr>
        <p:spPr>
          <a:xfrm>
            <a:off x="7296000" y="3249000"/>
            <a:ext cx="35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1E3048"/>
                </a:solidFill>
                <a:latin typeface="Calibri"/>
                <a:ea typeface="Calibri"/>
              </a:rPr>
              <a:t>[ 封面图片占位 ]</a:t>
            </a:r>
          </a:p>
        </p:txBody>
      </p:sp>
      <p:sp>
        <p:nvSpPr>
          <p:cNvPr id="6" name="!!cover_quarter"/>
          <p:cNvSpPr/>
          <p:nvPr/>
        </p:nvSpPr>
        <p:spPr>
          <a:xfrm>
            <a:off x="457200" y="120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E8793A"/>
                </a:solidFill>
                <a:latin typeface="Calibri"/>
                <a:ea typeface="Calibri"/>
              </a:rPr>
              <a:t>Q3 2024</a:t>
            </a:r>
          </a:p>
        </p:txBody>
      </p:sp>
      <p:sp>
        <p:nvSpPr>
          <p:cNvPr id="7" name="!!cover_title"/>
          <p:cNvSpPr/>
          <p:nvPr/>
        </p:nvSpPr>
        <p:spPr>
          <a:xfrm>
            <a:off x="457200" y="1700000"/>
            <a:ext cx="5500000" cy="1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400" b="0">
                <a:solidFill>
                  <a:srgbClr val="F2F4F7"/>
                </a:solidFill>
                <a:latin typeface="Georgia"/>
                <a:ea typeface="Georgia"/>
              </a:rPr>
              <a:t>Quarterly Business Report</a:t>
            </a:r>
          </a:p>
        </p:txBody>
      </p:sp>
      <p:sp>
        <p:nvSpPr>
          <p:cNvPr id="8" name="!!cover_sub"/>
          <p:cNvSpPr/>
          <p:nvPr/>
        </p:nvSpPr>
        <p:spPr>
          <a:xfrm>
            <a:off x="457200" y="3200000"/>
            <a:ext cx="55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8899AA"/>
                </a:solidFill>
                <a:latin typeface="Calibri"/>
                <a:ea typeface="Calibri"/>
              </a:rPr>
              <a:t>Performance Review &amp; Strategic Update</a:t>
            </a:r>
          </a:p>
        </p:txBody>
      </p:sp>
      <p:sp>
        <p:nvSpPr>
          <p:cNvPr id="9" name="!!cover_line"/>
          <p:cNvSpPr/>
          <p:nvPr/>
        </p:nvSpPr>
        <p:spPr>
          <a:xfrm>
            <a:off x="457200" y="3740000"/>
            <a:ext cx="800000" cy="144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over_org"/>
          <p:cNvSpPr/>
          <p:nvPr/>
        </p:nvSpPr>
        <p:spPr>
          <a:xfrm>
            <a:off x="457200" y="390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8899AA"/>
                </a:solidFill>
                <a:latin typeface="Calibri"/>
                <a:ea typeface="Calibri"/>
              </a:rPr>
              <a:t>Finance &amp; Strategy Division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!!bg_mai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op_bar"/>
          <p:cNvSpPr/>
          <p:nvPr/>
        </p:nvSpPr>
        <p:spPr>
          <a:xfrm>
            <a:off x="0" y="0"/>
            <a:ext cx="12192000" cy="288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ec_tag"/>
          <p:cNvSpPr/>
          <p:nvPr/>
        </p:nvSpPr>
        <p:spPr>
          <a:xfrm>
            <a:off x="457200" y="420000"/>
            <a:ext cx="1200000" cy="11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ec_tag_txt"/>
          <p:cNvSpPr/>
          <p:nvPr/>
        </p:nvSpPr>
        <p:spPr>
          <a:xfrm>
            <a:off x="457200" y="420000"/>
            <a:ext cx="12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D1B2A"/>
                </a:solidFill>
                <a:latin typeface="Calibri"/>
                <a:ea typeface="Calibri"/>
              </a:rPr>
              <a:t>EXECUTIVE SUMMARY</a:t>
            </a:r>
          </a:p>
        </p:txBody>
      </p:sp>
      <p:sp>
        <p:nvSpPr>
          <p:cNvPr id="6" name="!!cover_title"/>
          <p:cNvSpPr/>
          <p:nvPr/>
        </p:nvSpPr>
        <p:spPr>
          <a:xfrm>
            <a:off x="457200" y="62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2F4F7"/>
                </a:solidFill>
                <a:latin typeface="Georgia"/>
                <a:ea typeface="Georgia"/>
              </a:rPr>
              <a:t>Q3 Performance Highlights</a:t>
            </a:r>
          </a:p>
        </p:txBody>
      </p:sp>
      <p:sp>
        <p:nvSpPr>
          <p:cNvPr id="7" name="!!hb1_bg"/>
          <p:cNvSpPr/>
          <p:nvPr/>
        </p:nvSpPr>
        <p:spPr>
          <a:xfrm>
            <a:off x="457200" y="1600000"/>
            <a:ext cx="2600000" cy="180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b1_top"/>
          <p:cNvSpPr/>
          <p:nvPr/>
        </p:nvSpPr>
        <p:spPr>
          <a:xfrm>
            <a:off x="457200" y="1600000"/>
            <a:ext cx="2600000" cy="16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b1_val"/>
          <p:cNvSpPr/>
          <p:nvPr/>
        </p:nvSpPr>
        <p:spPr>
          <a:xfrm>
            <a:off x="657200" y="190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793A"/>
                </a:solidFill>
                <a:latin typeface="Georgia"/>
                <a:ea typeface="Georgia"/>
              </a:rPr>
              <a:t>$12.4M</a:t>
            </a:r>
          </a:p>
        </p:txBody>
      </p:sp>
      <p:sp>
        <p:nvSpPr>
          <p:cNvPr id="10" name="!!hb1_label"/>
          <p:cNvSpPr/>
          <p:nvPr/>
        </p:nvSpPr>
        <p:spPr>
          <a:xfrm>
            <a:off x="657200" y="2700000"/>
            <a:ext cx="220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8899AA"/>
                </a:solidFill>
                <a:latin typeface="Calibri"/>
                <a:ea typeface="Calibri"/>
              </a:rPr>
              <a:t>Total Revenue</a:t>
            </a:r>
          </a:p>
        </p:txBody>
      </p:sp>
      <p:sp>
        <p:nvSpPr>
          <p:cNvPr id="11" name="!!hb2_bg"/>
          <p:cNvSpPr/>
          <p:nvPr/>
        </p:nvSpPr>
        <p:spPr>
          <a:xfrm>
            <a:off x="3249200" y="1600000"/>
            <a:ext cx="2600000" cy="180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hb2_top"/>
          <p:cNvSpPr/>
          <p:nvPr/>
        </p:nvSpPr>
        <p:spPr>
          <a:xfrm>
            <a:off x="3249200" y="1600000"/>
            <a:ext cx="2600000" cy="16000"/>
          </a:xfrm>
          <a:prstGeom prst="rect">
            <a:avLst/>
          </a:prstGeom>
          <a:solidFill>
            <a:srgbClr val="3A8A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hb2_val"/>
          <p:cNvSpPr/>
          <p:nvPr/>
        </p:nvSpPr>
        <p:spPr>
          <a:xfrm>
            <a:off x="3449200" y="190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3A8A5A"/>
                </a:solidFill>
                <a:latin typeface="Georgia"/>
                <a:ea typeface="Georgia"/>
              </a:rPr>
              <a:t>+8.3%</a:t>
            </a:r>
          </a:p>
        </p:txBody>
      </p:sp>
      <p:sp>
        <p:nvSpPr>
          <p:cNvPr id="14" name="!!hb2_label"/>
          <p:cNvSpPr/>
          <p:nvPr/>
        </p:nvSpPr>
        <p:spPr>
          <a:xfrm>
            <a:off x="3449200" y="2700000"/>
            <a:ext cx="220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8899AA"/>
                </a:solidFill>
                <a:latin typeface="Calibri"/>
                <a:ea typeface="Calibri"/>
              </a:rPr>
              <a:t>YoY Growth</a:t>
            </a:r>
          </a:p>
        </p:txBody>
      </p:sp>
      <p:sp>
        <p:nvSpPr>
          <p:cNvPr id="15" name="!!hb3_bg"/>
          <p:cNvSpPr/>
          <p:nvPr/>
        </p:nvSpPr>
        <p:spPr>
          <a:xfrm>
            <a:off x="6041200" y="1600000"/>
            <a:ext cx="2600000" cy="180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hb3_top"/>
          <p:cNvSpPr/>
          <p:nvPr/>
        </p:nvSpPr>
        <p:spPr>
          <a:xfrm>
            <a:off x="6041200" y="1600000"/>
            <a:ext cx="2600000" cy="16000"/>
          </a:xfrm>
          <a:prstGeom prst="rect">
            <a:avLst/>
          </a:prstGeom>
          <a:solidFill>
            <a:srgbClr val="4A6AA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hb3_val"/>
          <p:cNvSpPr/>
          <p:nvPr/>
        </p:nvSpPr>
        <p:spPr>
          <a:xfrm>
            <a:off x="6241200" y="190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4A6AA8"/>
                </a:solidFill>
                <a:latin typeface="Georgia"/>
                <a:ea typeface="Georgia"/>
              </a:rPr>
              <a:t>94%</a:t>
            </a:r>
          </a:p>
        </p:txBody>
      </p:sp>
      <p:sp>
        <p:nvSpPr>
          <p:cNvPr id="18" name="!!hb3_label"/>
          <p:cNvSpPr/>
          <p:nvPr/>
        </p:nvSpPr>
        <p:spPr>
          <a:xfrm>
            <a:off x="6241200" y="2700000"/>
            <a:ext cx="220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8899AA"/>
                </a:solidFill>
                <a:latin typeface="Calibri"/>
                <a:ea typeface="Calibri"/>
              </a:rPr>
              <a:t>Customer Retention</a:t>
            </a:r>
          </a:p>
        </p:txBody>
      </p:sp>
      <p:sp>
        <p:nvSpPr>
          <p:cNvPr id="19" name="!!hb4_bg"/>
          <p:cNvSpPr/>
          <p:nvPr/>
        </p:nvSpPr>
        <p:spPr>
          <a:xfrm>
            <a:off x="8833200" y="1600000"/>
            <a:ext cx="2600000" cy="180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hb4_top"/>
          <p:cNvSpPr/>
          <p:nvPr/>
        </p:nvSpPr>
        <p:spPr>
          <a:xfrm>
            <a:off x="8833200" y="1600000"/>
            <a:ext cx="2600000" cy="16000"/>
          </a:xfrm>
          <a:prstGeom prst="rect">
            <a:avLst/>
          </a:prstGeom>
          <a:solidFill>
            <a:srgbClr val="8A4AB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hb4_val"/>
          <p:cNvSpPr/>
          <p:nvPr/>
        </p:nvSpPr>
        <p:spPr>
          <a:xfrm>
            <a:off x="9033200" y="1900000"/>
            <a:ext cx="22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8A4AB8"/>
                </a:solidFill>
                <a:latin typeface="Georgia"/>
                <a:ea typeface="Georgia"/>
              </a:rPr>
              <a:t>3 New</a:t>
            </a:r>
          </a:p>
        </p:txBody>
      </p:sp>
      <p:sp>
        <p:nvSpPr>
          <p:cNvPr id="22" name="!!hb4_label"/>
          <p:cNvSpPr/>
          <p:nvPr/>
        </p:nvSpPr>
        <p:spPr>
          <a:xfrm>
            <a:off x="9033200" y="2700000"/>
            <a:ext cx="220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8899AA"/>
                </a:solidFill>
                <a:latin typeface="Calibri"/>
                <a:ea typeface="Calibri"/>
              </a:rPr>
              <a:t>Product Lines Launched</a:t>
            </a:r>
          </a:p>
        </p:txBody>
      </p:sp>
      <p:sp>
        <p:nvSpPr>
          <p:cNvPr id="23" name="!!cover_sub"/>
          <p:cNvSpPr/>
          <p:nvPr/>
        </p:nvSpPr>
        <p:spPr>
          <a:xfrm>
            <a:off x="457200" y="3700000"/>
            <a:ext cx="112776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8899AA"/>
                </a:solidFill>
                <a:latin typeface="Calibri"/>
                <a:ea typeface="Calibri"/>
              </a:rPr>
              <a:t>Q3 2024 delivered strong results across all key performance indicators, with revenue growth outpacing industry benchmarks and operational efficiency improvements across all business units.</a:t>
            </a:r>
          </a:p>
        </p:txBody>
      </p:sp>
      <p:sp>
        <p:nvSpPr>
          <p:cNvPr id="24" name="!!hl_dot1"/>
          <p:cNvSpPr/>
          <p:nvPr/>
        </p:nvSpPr>
        <p:spPr>
          <a:xfrm>
            <a:off x="457200" y="4400000"/>
            <a:ext cx="220000" cy="22000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hl_txt1"/>
          <p:cNvSpPr/>
          <p:nvPr/>
        </p:nvSpPr>
        <p:spPr>
          <a:xfrm>
            <a:off x="837200" y="4280000"/>
            <a:ext cx="108976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Revenue exceeded quarterly target by $1.2M (+10.7%)</a:t>
            </a:r>
          </a:p>
        </p:txBody>
      </p:sp>
      <p:sp>
        <p:nvSpPr>
          <p:cNvPr id="26" name="!!hl_dot2"/>
          <p:cNvSpPr/>
          <p:nvPr/>
        </p:nvSpPr>
        <p:spPr>
          <a:xfrm>
            <a:off x="457200" y="5040000"/>
            <a:ext cx="220000" cy="22000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!!hl_txt2"/>
          <p:cNvSpPr/>
          <p:nvPr/>
        </p:nvSpPr>
        <p:spPr>
          <a:xfrm>
            <a:off x="837200" y="4920000"/>
            <a:ext cx="108976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Operating margin improved to 23.4% from 21.1% in Q2</a:t>
            </a:r>
          </a:p>
        </p:txBody>
      </p:sp>
      <p:sp>
        <p:nvSpPr>
          <p:cNvPr id="28" name="!!hl_dot3"/>
          <p:cNvSpPr/>
          <p:nvPr/>
        </p:nvSpPr>
        <p:spPr>
          <a:xfrm>
            <a:off x="457200" y="5680000"/>
            <a:ext cx="220000" cy="22000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hl_txt3"/>
          <p:cNvSpPr/>
          <p:nvPr/>
        </p:nvSpPr>
        <p:spPr>
          <a:xfrm>
            <a:off x="837200" y="5560000"/>
            <a:ext cx="108976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Customer acquisition cost reduced by 18% through digital campaigns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!!bg_mai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op_bar"/>
          <p:cNvSpPr/>
          <p:nvPr/>
        </p:nvSpPr>
        <p:spPr>
          <a:xfrm>
            <a:off x="0" y="0"/>
            <a:ext cx="12192000" cy="288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img_panel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ec_tag"/>
          <p:cNvSpPr/>
          <p:nvPr/>
        </p:nvSpPr>
        <p:spPr>
          <a:xfrm>
            <a:off x="457200" y="420000"/>
            <a:ext cx="1100000" cy="11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ec_tag_txt"/>
          <p:cNvSpPr/>
          <p:nvPr/>
        </p:nvSpPr>
        <p:spPr>
          <a:xfrm>
            <a:off x="457200" y="420000"/>
            <a:ext cx="11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D1B2A"/>
                </a:solidFill>
                <a:latin typeface="Calibri"/>
                <a:ea typeface="Calibri"/>
              </a:rPr>
              <a:t>REVENUE ANALYSIS</a:t>
            </a:r>
          </a:p>
        </p:txBody>
      </p:sp>
      <p:sp>
        <p:nvSpPr>
          <p:cNvPr id="7" name="!!cover_title"/>
          <p:cNvSpPr/>
          <p:nvPr/>
        </p:nvSpPr>
        <p:spPr>
          <a:xfrm>
            <a:off x="457200" y="62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2F4F7"/>
                </a:solidFill>
                <a:latin typeface="Georgia"/>
                <a:ea typeface="Georgia"/>
              </a:rPr>
              <a:t>Revenue Performance</a:t>
            </a:r>
          </a:p>
        </p:txBody>
      </p:sp>
      <p:sp>
        <p:nvSpPr>
          <p:cNvPr id="8" name="!!cover_sub"/>
          <p:cNvSpPr/>
          <p:nvPr/>
        </p:nvSpPr>
        <p:spPr>
          <a:xfrm>
            <a:off x="457200" y="1320000"/>
            <a:ext cx="112776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8899AA"/>
                </a:solidFill>
                <a:latin typeface="Calibri"/>
                <a:ea typeface="Calibri"/>
              </a:rPr>
              <a:t>Quarterly revenue trends across product lines and geographic regions.</a:t>
            </a:r>
          </a:p>
        </p:txBody>
      </p:sp>
      <p:graphicFrame>
        <p:nvGraphicFramePr>
          <p:cNvPr id="11" name="Quarterly Revenue 2023-2024 ($M)"/>
          <p:cNvGraphicFramePr/>
          <p:nvPr/>
        </p:nvGraphicFramePr>
        <p:xfrm>
          <a:off x="457200" y="1900000"/>
          <a:ext cx="11277600" cy="44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a6b0549f17e4726"/>
          </a:graphicData>
        </a:graphic>
      </p:graphicFrame>
      <p:sp>
        <p:nvSpPr>
          <p:cNvPr id="12" name="!!chart_note"/>
          <p:cNvSpPr/>
          <p:nvPr/>
        </p:nvSpPr>
        <p:spPr>
          <a:xfrm>
            <a:off x="457200" y="6400000"/>
            <a:ext cx="112776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8899AA"/>
                </a:solidFill>
                <a:latin typeface="Calibri"/>
                <a:ea typeface="Calibri"/>
              </a:rPr>
              <a:t>Series 1: Actual Revenue  |  Series 2: Target Revenue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!!bg_mai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op_bar"/>
          <p:cNvSpPr/>
          <p:nvPr/>
        </p:nvSpPr>
        <p:spPr>
          <a:xfrm>
            <a:off x="0" y="0"/>
            <a:ext cx="12192000" cy="288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cover_line"/>
          <p:cNvSpPr/>
          <p:nvPr/>
        </p:nvSpPr>
        <p:spPr>
          <a:xfrm>
            <a:off x="0" y="0"/>
            <a:ext cx="28800" cy="6858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ec_tag"/>
          <p:cNvSpPr/>
          <p:nvPr/>
        </p:nvSpPr>
        <p:spPr>
          <a:xfrm>
            <a:off x="457200" y="420000"/>
            <a:ext cx="1300000" cy="11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ec_tag_txt"/>
          <p:cNvSpPr/>
          <p:nvPr/>
        </p:nvSpPr>
        <p:spPr>
          <a:xfrm>
            <a:off x="457200" y="420000"/>
            <a:ext cx="13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D1B2A"/>
                </a:solidFill>
                <a:latin typeface="Calibri"/>
                <a:ea typeface="Calibri"/>
              </a:rPr>
              <a:t>DEPARTMENT SCORECARD</a:t>
            </a:r>
          </a:p>
        </p:txBody>
      </p:sp>
      <p:sp>
        <p:nvSpPr>
          <p:cNvPr id="7" name="!!cover_title"/>
          <p:cNvSpPr/>
          <p:nvPr/>
        </p:nvSpPr>
        <p:spPr>
          <a:xfrm>
            <a:off x="457200" y="62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2F4F7"/>
                </a:solidFill>
                <a:latin typeface="Georgia"/>
                <a:ea typeface="Georgia"/>
              </a:rPr>
              <a:t>Performance by Department</a:t>
            </a:r>
          </a:p>
        </p:txBody>
      </p:sp>
      <p:sp>
        <p:nvSpPr>
          <p:cNvPr id="8" name="!!hdr_bg1"/>
          <p:cNvSpPr/>
          <p:nvPr/>
        </p:nvSpPr>
        <p:spPr>
          <a:xfrm>
            <a:off x="457200" y="1600000"/>
            <a:ext cx="3200000" cy="5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dr_txt1"/>
          <p:cNvSpPr/>
          <p:nvPr/>
        </p:nvSpPr>
        <p:spPr>
          <a:xfrm>
            <a:off x="577200" y="174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0D1B2A"/>
                </a:solidFill>
                <a:latin typeface="Calibri"/>
                <a:ea typeface="Calibri"/>
              </a:rPr>
              <a:t>Department</a:t>
            </a:r>
          </a:p>
        </p:txBody>
      </p:sp>
      <p:sp>
        <p:nvSpPr>
          <p:cNvPr id="10" name="!!hdr_bg2"/>
          <p:cNvSpPr/>
          <p:nvPr/>
        </p:nvSpPr>
        <p:spPr>
          <a:xfrm>
            <a:off x="3657200" y="1600000"/>
            <a:ext cx="2000000" cy="5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hdr_txt2"/>
          <p:cNvSpPr/>
          <p:nvPr/>
        </p:nvSpPr>
        <p:spPr>
          <a:xfrm>
            <a:off x="3777200" y="174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0D1B2A"/>
                </a:solidFill>
                <a:latin typeface="Calibri"/>
                <a:ea typeface="Calibri"/>
              </a:rPr>
              <a:t>Budget</a:t>
            </a:r>
          </a:p>
        </p:txBody>
      </p:sp>
      <p:sp>
        <p:nvSpPr>
          <p:cNvPr id="12" name="!!hdr_bg3"/>
          <p:cNvSpPr/>
          <p:nvPr/>
        </p:nvSpPr>
        <p:spPr>
          <a:xfrm>
            <a:off x="5657200" y="1600000"/>
            <a:ext cx="2000000" cy="5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hdr_txt3"/>
          <p:cNvSpPr/>
          <p:nvPr/>
        </p:nvSpPr>
        <p:spPr>
          <a:xfrm>
            <a:off x="5777200" y="174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0D1B2A"/>
                </a:solidFill>
                <a:latin typeface="Calibri"/>
                <a:ea typeface="Calibri"/>
              </a:rPr>
              <a:t>Actual</a:t>
            </a:r>
          </a:p>
        </p:txBody>
      </p:sp>
      <p:sp>
        <p:nvSpPr>
          <p:cNvPr id="14" name="!!hdr_bg4"/>
          <p:cNvSpPr/>
          <p:nvPr/>
        </p:nvSpPr>
        <p:spPr>
          <a:xfrm>
            <a:off x="7657200" y="1600000"/>
            <a:ext cx="2000000" cy="5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hdr_txt4"/>
          <p:cNvSpPr/>
          <p:nvPr/>
        </p:nvSpPr>
        <p:spPr>
          <a:xfrm>
            <a:off x="7777200" y="174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0D1B2A"/>
                </a:solidFill>
                <a:latin typeface="Calibri"/>
                <a:ea typeface="Calibri"/>
              </a:rPr>
              <a:t>Variance</a:t>
            </a:r>
          </a:p>
        </p:txBody>
      </p:sp>
      <p:sp>
        <p:nvSpPr>
          <p:cNvPr id="16" name="!!hdr_bg5"/>
          <p:cNvSpPr/>
          <p:nvPr/>
        </p:nvSpPr>
        <p:spPr>
          <a:xfrm>
            <a:off x="9657200" y="1600000"/>
            <a:ext cx="2000000" cy="5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hdr_txt5"/>
          <p:cNvSpPr/>
          <p:nvPr/>
        </p:nvSpPr>
        <p:spPr>
          <a:xfrm>
            <a:off x="9777200" y="174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0D1B2A"/>
                </a:solidFill>
                <a:latin typeface="Calibri"/>
                <a:ea typeface="Calibri"/>
              </a:rPr>
              <a:t>Status</a:t>
            </a:r>
          </a:p>
        </p:txBody>
      </p:sp>
      <p:sp>
        <p:nvSpPr>
          <p:cNvPr id="18" name="!!row0_bg"/>
          <p:cNvSpPr/>
          <p:nvPr/>
        </p:nvSpPr>
        <p:spPr>
          <a:xfrm>
            <a:off x="457200" y="2120000"/>
            <a:ext cx="11277600" cy="52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row0_dept"/>
          <p:cNvSpPr/>
          <p:nvPr/>
        </p:nvSpPr>
        <p:spPr>
          <a:xfrm>
            <a:off x="657200" y="226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F2F4F7"/>
                </a:solidFill>
                <a:latin typeface="Calibri"/>
                <a:ea typeface="Calibri"/>
              </a:rPr>
              <a:t>Sales</a:t>
            </a:r>
          </a:p>
        </p:txBody>
      </p:sp>
      <p:sp>
        <p:nvSpPr>
          <p:cNvPr id="20" name="!!row0_bud"/>
          <p:cNvSpPr/>
          <p:nvPr/>
        </p:nvSpPr>
        <p:spPr>
          <a:xfrm>
            <a:off x="3777200" y="226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8899AA"/>
                </a:solidFill>
                <a:latin typeface="Calibri"/>
                <a:ea typeface="Calibri"/>
              </a:rPr>
              <a:t>$4,200K</a:t>
            </a:r>
          </a:p>
        </p:txBody>
      </p:sp>
      <p:sp>
        <p:nvSpPr>
          <p:cNvPr id="21" name="!!row0_act"/>
          <p:cNvSpPr/>
          <p:nvPr/>
        </p:nvSpPr>
        <p:spPr>
          <a:xfrm>
            <a:off x="5777200" y="226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$4,650K</a:t>
            </a:r>
          </a:p>
        </p:txBody>
      </p:sp>
      <p:sp>
        <p:nvSpPr>
          <p:cNvPr id="22" name="!!row0_var"/>
          <p:cNvSpPr/>
          <p:nvPr/>
        </p:nvSpPr>
        <p:spPr>
          <a:xfrm>
            <a:off x="7777200" y="226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5A05A"/>
                </a:solidFill>
                <a:latin typeface="Calibri"/>
                <a:ea typeface="Calibri"/>
              </a:rPr>
              <a:t>+$450K</a:t>
            </a:r>
          </a:p>
        </p:txBody>
      </p:sp>
      <p:sp>
        <p:nvSpPr>
          <p:cNvPr id="23" name="!!row0_sts"/>
          <p:cNvSpPr/>
          <p:nvPr/>
        </p:nvSpPr>
        <p:spPr>
          <a:xfrm>
            <a:off x="9777200" y="226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3A8A5A"/>
                </a:solidFill>
                <a:latin typeface="Calibri"/>
                <a:ea typeface="Calibri"/>
              </a:rPr>
              <a:t>✓ On Track</a:t>
            </a:r>
          </a:p>
        </p:txBody>
      </p:sp>
      <p:sp>
        <p:nvSpPr>
          <p:cNvPr id="24" name="!!row1_bg"/>
          <p:cNvSpPr/>
          <p:nvPr/>
        </p:nvSpPr>
        <p:spPr>
          <a:xfrm>
            <a:off x="457200" y="2654400"/>
            <a:ext cx="11277600" cy="520000"/>
          </a:xfrm>
          <a:prstGeom prst="rect">
            <a:avLst/>
          </a:prstGeom>
          <a:solidFill>
            <a:srgbClr val="0D1B2A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row1_dept"/>
          <p:cNvSpPr/>
          <p:nvPr/>
        </p:nvSpPr>
        <p:spPr>
          <a:xfrm>
            <a:off x="657200" y="27944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F2F4F7"/>
                </a:solidFill>
                <a:latin typeface="Calibri"/>
                <a:ea typeface="Calibri"/>
              </a:rPr>
              <a:t>Marketing</a:t>
            </a:r>
          </a:p>
        </p:txBody>
      </p:sp>
      <p:sp>
        <p:nvSpPr>
          <p:cNvPr id="26" name="!!row1_bud"/>
          <p:cNvSpPr/>
          <p:nvPr/>
        </p:nvSpPr>
        <p:spPr>
          <a:xfrm>
            <a:off x="3777200" y="27944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8899AA"/>
                </a:solidFill>
                <a:latin typeface="Calibri"/>
                <a:ea typeface="Calibri"/>
              </a:rPr>
              <a:t>$1,500K</a:t>
            </a:r>
          </a:p>
        </p:txBody>
      </p:sp>
      <p:sp>
        <p:nvSpPr>
          <p:cNvPr id="27" name="!!row1_act"/>
          <p:cNvSpPr/>
          <p:nvPr/>
        </p:nvSpPr>
        <p:spPr>
          <a:xfrm>
            <a:off x="5777200" y="27944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$1,720K</a:t>
            </a:r>
          </a:p>
        </p:txBody>
      </p:sp>
      <p:sp>
        <p:nvSpPr>
          <p:cNvPr id="28" name="!!row1_var"/>
          <p:cNvSpPr/>
          <p:nvPr/>
        </p:nvSpPr>
        <p:spPr>
          <a:xfrm>
            <a:off x="7777200" y="27944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5A05A"/>
                </a:solidFill>
                <a:latin typeface="Calibri"/>
                <a:ea typeface="Calibri"/>
              </a:rPr>
              <a:t>-$220K</a:t>
            </a:r>
          </a:p>
        </p:txBody>
      </p:sp>
      <p:sp>
        <p:nvSpPr>
          <p:cNvPr id="29" name="!!row1_sts"/>
          <p:cNvSpPr/>
          <p:nvPr/>
        </p:nvSpPr>
        <p:spPr>
          <a:xfrm>
            <a:off x="9777200" y="27944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C85A3A"/>
                </a:solidFill>
                <a:latin typeface="Calibri"/>
                <a:ea typeface="Calibri"/>
              </a:rPr>
              <a:t>⚠ Over</a:t>
            </a:r>
          </a:p>
        </p:txBody>
      </p:sp>
      <p:sp>
        <p:nvSpPr>
          <p:cNvPr id="30" name="!!row2_bg"/>
          <p:cNvSpPr/>
          <p:nvPr/>
        </p:nvSpPr>
        <p:spPr>
          <a:xfrm>
            <a:off x="457200" y="3188800"/>
            <a:ext cx="11277600" cy="52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!!row2_dept"/>
          <p:cNvSpPr/>
          <p:nvPr/>
        </p:nvSpPr>
        <p:spPr>
          <a:xfrm>
            <a:off x="657200" y="33288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F2F4F7"/>
                </a:solidFill>
                <a:latin typeface="Calibri"/>
                <a:ea typeface="Calibri"/>
              </a:rPr>
              <a:t>Operations</a:t>
            </a:r>
          </a:p>
        </p:txBody>
      </p:sp>
      <p:sp>
        <p:nvSpPr>
          <p:cNvPr id="32" name="!!row2_bud"/>
          <p:cNvSpPr/>
          <p:nvPr/>
        </p:nvSpPr>
        <p:spPr>
          <a:xfrm>
            <a:off x="3777200" y="33288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8899AA"/>
                </a:solidFill>
                <a:latin typeface="Calibri"/>
                <a:ea typeface="Calibri"/>
              </a:rPr>
              <a:t>$2,800K</a:t>
            </a:r>
          </a:p>
        </p:txBody>
      </p:sp>
      <p:sp>
        <p:nvSpPr>
          <p:cNvPr id="33" name="!!row2_act"/>
          <p:cNvSpPr/>
          <p:nvPr/>
        </p:nvSpPr>
        <p:spPr>
          <a:xfrm>
            <a:off x="5777200" y="33288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$2,650K</a:t>
            </a:r>
          </a:p>
        </p:txBody>
      </p:sp>
      <p:sp>
        <p:nvSpPr>
          <p:cNvPr id="34" name="!!row2_var"/>
          <p:cNvSpPr/>
          <p:nvPr/>
        </p:nvSpPr>
        <p:spPr>
          <a:xfrm>
            <a:off x="7777200" y="33288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5A05A"/>
                </a:solidFill>
                <a:latin typeface="Calibri"/>
                <a:ea typeface="Calibri"/>
              </a:rPr>
              <a:t>+$150K</a:t>
            </a:r>
          </a:p>
        </p:txBody>
      </p:sp>
      <p:sp>
        <p:nvSpPr>
          <p:cNvPr id="35" name="!!row2_sts"/>
          <p:cNvSpPr/>
          <p:nvPr/>
        </p:nvSpPr>
        <p:spPr>
          <a:xfrm>
            <a:off x="9777200" y="33288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3A8A5A"/>
                </a:solidFill>
                <a:latin typeface="Calibri"/>
                <a:ea typeface="Calibri"/>
              </a:rPr>
              <a:t>✓ On Track</a:t>
            </a:r>
          </a:p>
        </p:txBody>
      </p:sp>
      <p:sp>
        <p:nvSpPr>
          <p:cNvPr id="36" name="!!row3_bg"/>
          <p:cNvSpPr/>
          <p:nvPr/>
        </p:nvSpPr>
        <p:spPr>
          <a:xfrm>
            <a:off x="457200" y="3723200"/>
            <a:ext cx="11277600" cy="520000"/>
          </a:xfrm>
          <a:prstGeom prst="rect">
            <a:avLst/>
          </a:prstGeom>
          <a:solidFill>
            <a:srgbClr val="0D1B2A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!!row3_dept"/>
          <p:cNvSpPr/>
          <p:nvPr/>
        </p:nvSpPr>
        <p:spPr>
          <a:xfrm>
            <a:off x="657200" y="38632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F2F4F7"/>
                </a:solidFill>
                <a:latin typeface="Calibri"/>
                <a:ea typeface="Calibri"/>
              </a:rPr>
              <a:t>R&amp;D</a:t>
            </a:r>
          </a:p>
        </p:txBody>
      </p:sp>
      <p:sp>
        <p:nvSpPr>
          <p:cNvPr id="38" name="!!row3_bud"/>
          <p:cNvSpPr/>
          <p:nvPr/>
        </p:nvSpPr>
        <p:spPr>
          <a:xfrm>
            <a:off x="3777200" y="38632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8899AA"/>
                </a:solidFill>
                <a:latin typeface="Calibri"/>
                <a:ea typeface="Calibri"/>
              </a:rPr>
              <a:t>$2,000K</a:t>
            </a:r>
          </a:p>
        </p:txBody>
      </p:sp>
      <p:sp>
        <p:nvSpPr>
          <p:cNvPr id="39" name="!!row3_act"/>
          <p:cNvSpPr/>
          <p:nvPr/>
        </p:nvSpPr>
        <p:spPr>
          <a:xfrm>
            <a:off x="5777200" y="38632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$1,980K</a:t>
            </a:r>
          </a:p>
        </p:txBody>
      </p:sp>
      <p:sp>
        <p:nvSpPr>
          <p:cNvPr id="40" name="!!row3_var"/>
          <p:cNvSpPr/>
          <p:nvPr/>
        </p:nvSpPr>
        <p:spPr>
          <a:xfrm>
            <a:off x="7777200" y="38632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5A05A"/>
                </a:solidFill>
                <a:latin typeface="Calibri"/>
                <a:ea typeface="Calibri"/>
              </a:rPr>
              <a:t>+$20K</a:t>
            </a:r>
          </a:p>
        </p:txBody>
      </p:sp>
      <p:sp>
        <p:nvSpPr>
          <p:cNvPr id="41" name="!!row3_sts"/>
          <p:cNvSpPr/>
          <p:nvPr/>
        </p:nvSpPr>
        <p:spPr>
          <a:xfrm>
            <a:off x="9777200" y="38632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3A7A9A"/>
                </a:solidFill>
                <a:latin typeface="Calibri"/>
                <a:ea typeface="Calibri"/>
              </a:rPr>
              <a:t>✓ On Track</a:t>
            </a:r>
          </a:p>
        </p:txBody>
      </p:sp>
      <p:sp>
        <p:nvSpPr>
          <p:cNvPr id="42" name="!!row4_bg"/>
          <p:cNvSpPr/>
          <p:nvPr/>
        </p:nvSpPr>
        <p:spPr>
          <a:xfrm>
            <a:off x="457200" y="4257600"/>
            <a:ext cx="11277600" cy="52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!!row4_dept"/>
          <p:cNvSpPr/>
          <p:nvPr/>
        </p:nvSpPr>
        <p:spPr>
          <a:xfrm>
            <a:off x="657200" y="43976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F2F4F7"/>
                </a:solidFill>
                <a:latin typeface="Calibri"/>
                <a:ea typeface="Calibri"/>
              </a:rPr>
              <a:t>HR</a:t>
            </a:r>
          </a:p>
        </p:txBody>
      </p:sp>
      <p:sp>
        <p:nvSpPr>
          <p:cNvPr id="44" name="!!row4_bud"/>
          <p:cNvSpPr/>
          <p:nvPr/>
        </p:nvSpPr>
        <p:spPr>
          <a:xfrm>
            <a:off x="3777200" y="4397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8899AA"/>
                </a:solidFill>
                <a:latin typeface="Calibri"/>
                <a:ea typeface="Calibri"/>
              </a:rPr>
              <a:t>$800K</a:t>
            </a:r>
          </a:p>
        </p:txBody>
      </p:sp>
      <p:sp>
        <p:nvSpPr>
          <p:cNvPr id="45" name="!!row4_act"/>
          <p:cNvSpPr/>
          <p:nvPr/>
        </p:nvSpPr>
        <p:spPr>
          <a:xfrm>
            <a:off x="5777200" y="4397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$780K</a:t>
            </a:r>
          </a:p>
        </p:txBody>
      </p:sp>
      <p:sp>
        <p:nvSpPr>
          <p:cNvPr id="46" name="!!row4_var"/>
          <p:cNvSpPr/>
          <p:nvPr/>
        </p:nvSpPr>
        <p:spPr>
          <a:xfrm>
            <a:off x="7777200" y="4397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5A05A"/>
                </a:solidFill>
                <a:latin typeface="Calibri"/>
                <a:ea typeface="Calibri"/>
              </a:rPr>
              <a:t>+$20K</a:t>
            </a:r>
          </a:p>
        </p:txBody>
      </p:sp>
      <p:sp>
        <p:nvSpPr>
          <p:cNvPr id="47" name="!!row4_sts"/>
          <p:cNvSpPr/>
          <p:nvPr/>
        </p:nvSpPr>
        <p:spPr>
          <a:xfrm>
            <a:off x="9777200" y="4397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3A8A5A"/>
                </a:solidFill>
                <a:latin typeface="Calibri"/>
                <a:ea typeface="Calibri"/>
              </a:rPr>
              <a:t>✓ On Track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!!bg_mai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top_bar"/>
          <p:cNvSpPr/>
          <p:nvPr/>
        </p:nvSpPr>
        <p:spPr>
          <a:xfrm>
            <a:off x="0" y="0"/>
            <a:ext cx="12192000" cy="288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cover_line"/>
          <p:cNvSpPr/>
          <p:nvPr/>
        </p:nvSpPr>
        <p:spPr>
          <a:xfrm>
            <a:off x="0" y="0"/>
            <a:ext cx="28800" cy="6858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ec_tag"/>
          <p:cNvSpPr/>
          <p:nvPr/>
        </p:nvSpPr>
        <p:spPr>
          <a:xfrm>
            <a:off x="457200" y="420000"/>
            <a:ext cx="700000" cy="11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ec_tag_txt"/>
          <p:cNvSpPr/>
          <p:nvPr/>
        </p:nvSpPr>
        <p:spPr>
          <a:xfrm>
            <a:off x="457200" y="420000"/>
            <a:ext cx="7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D1B2A"/>
                </a:solidFill>
                <a:latin typeface="Calibri"/>
                <a:ea typeface="Calibri"/>
              </a:rPr>
              <a:t>Q4 OUTLOOK</a:t>
            </a:r>
          </a:p>
        </p:txBody>
      </p:sp>
      <p:sp>
        <p:nvSpPr>
          <p:cNvPr id="7" name="!!cover_title"/>
          <p:cNvSpPr/>
          <p:nvPr/>
        </p:nvSpPr>
        <p:spPr>
          <a:xfrm>
            <a:off x="457200" y="62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2F4F7"/>
                </a:solidFill>
                <a:latin typeface="Georgia"/>
                <a:ea typeface="Georgia"/>
              </a:rPr>
              <a:t>Q4 Priorities &amp; Targets</a:t>
            </a:r>
          </a:p>
        </p:txBody>
      </p:sp>
      <p:sp>
        <p:nvSpPr>
          <p:cNvPr id="8" name="!!cover_sub"/>
          <p:cNvSpPr/>
          <p:nvPr/>
        </p:nvSpPr>
        <p:spPr>
          <a:xfrm>
            <a:off x="457200" y="1360000"/>
            <a:ext cx="112776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8899AA"/>
                </a:solidFill>
                <a:latin typeface="Calibri"/>
                <a:ea typeface="Calibri"/>
              </a:rPr>
              <a:t>Strategic focus areas and measurable targets for Q4 2024 to close the year strong.</a:t>
            </a:r>
          </a:p>
        </p:txBody>
      </p:sp>
      <p:sp>
        <p:nvSpPr>
          <p:cNvPr id="9" name="tgt0_num"/>
          <p:cNvSpPr/>
          <p:nvPr/>
        </p:nvSpPr>
        <p:spPr>
          <a:xfrm>
            <a:off x="457200" y="1900000"/>
            <a:ext cx="6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E8793A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" name="tgt0_title"/>
          <p:cNvSpPr/>
          <p:nvPr/>
        </p:nvSpPr>
        <p:spPr>
          <a:xfrm>
            <a:off x="1157200" y="1900000"/>
            <a:ext cx="5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F2F4F7"/>
                </a:solidFill>
                <a:latin typeface="Georgia"/>
                <a:ea typeface="Georgia"/>
              </a:rPr>
              <a:t>Revenue Target: $13.5M</a:t>
            </a:r>
          </a:p>
        </p:txBody>
      </p:sp>
      <p:sp>
        <p:nvSpPr>
          <p:cNvPr id="11" name="tgt0_text"/>
          <p:cNvSpPr/>
          <p:nvPr/>
        </p:nvSpPr>
        <p:spPr>
          <a:xfrm>
            <a:off x="1157200" y="2340000"/>
            <a:ext cx="5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8899AA"/>
                </a:solidFill>
                <a:latin typeface="Calibri"/>
                <a:ea typeface="Calibri"/>
              </a:rPr>
              <a:t>Achieve $13.5M quarterly revenue through expanded enterprise sales pipeline.</a:t>
            </a:r>
          </a:p>
        </p:txBody>
      </p:sp>
      <p:sp>
        <p:nvSpPr>
          <p:cNvPr id="12" name="tgt0_line"/>
          <p:cNvSpPr/>
          <p:nvPr/>
        </p:nvSpPr>
        <p:spPr>
          <a:xfrm>
            <a:off x="457200" y="3240000"/>
            <a:ext cx="5638800" cy="7200"/>
          </a:xfrm>
          <a:prstGeom prst="rect">
            <a:avLst/>
          </a:prstGeom>
          <a:solidFill>
            <a:srgbClr val="1E30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gt1_num"/>
          <p:cNvSpPr/>
          <p:nvPr/>
        </p:nvSpPr>
        <p:spPr>
          <a:xfrm>
            <a:off x="457200" y="3400000"/>
            <a:ext cx="6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E8793A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tgt1_title"/>
          <p:cNvSpPr/>
          <p:nvPr/>
        </p:nvSpPr>
        <p:spPr>
          <a:xfrm>
            <a:off x="1157200" y="3400000"/>
            <a:ext cx="5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F2F4F7"/>
                </a:solidFill>
                <a:latin typeface="Georgia"/>
                <a:ea typeface="Georgia"/>
              </a:rPr>
              <a:t>New Customer Acquisitions: 250+</a:t>
            </a:r>
          </a:p>
        </p:txBody>
      </p:sp>
      <p:sp>
        <p:nvSpPr>
          <p:cNvPr id="15" name="tgt1_text"/>
          <p:cNvSpPr/>
          <p:nvPr/>
        </p:nvSpPr>
        <p:spPr>
          <a:xfrm>
            <a:off x="1157200" y="3840000"/>
            <a:ext cx="5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8899AA"/>
                </a:solidFill>
                <a:latin typeface="Calibri"/>
                <a:ea typeface="Calibri"/>
              </a:rPr>
              <a:t>Drive 250+ net new customer acquisitions via Q4 campaign blitz.</a:t>
            </a:r>
          </a:p>
        </p:txBody>
      </p:sp>
      <p:sp>
        <p:nvSpPr>
          <p:cNvPr id="16" name="tgt1_line"/>
          <p:cNvSpPr/>
          <p:nvPr/>
        </p:nvSpPr>
        <p:spPr>
          <a:xfrm>
            <a:off x="457200" y="4740000"/>
            <a:ext cx="5638800" cy="7200"/>
          </a:xfrm>
          <a:prstGeom prst="rect">
            <a:avLst/>
          </a:prstGeom>
          <a:solidFill>
            <a:srgbClr val="1E30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gt2_num"/>
          <p:cNvSpPr/>
          <p:nvPr/>
        </p:nvSpPr>
        <p:spPr>
          <a:xfrm>
            <a:off x="457200" y="4900000"/>
            <a:ext cx="6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E8793A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8" name="tgt2_title"/>
          <p:cNvSpPr/>
          <p:nvPr/>
        </p:nvSpPr>
        <p:spPr>
          <a:xfrm>
            <a:off x="1157200" y="4900000"/>
            <a:ext cx="5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F2F4F7"/>
                </a:solidFill>
                <a:latin typeface="Georgia"/>
                <a:ea typeface="Georgia"/>
              </a:rPr>
              <a:t>Operating Margin: ≥24%</a:t>
            </a:r>
          </a:p>
        </p:txBody>
      </p:sp>
      <p:sp>
        <p:nvSpPr>
          <p:cNvPr id="19" name="tgt2_text"/>
          <p:cNvSpPr/>
          <p:nvPr/>
        </p:nvSpPr>
        <p:spPr>
          <a:xfrm>
            <a:off x="1157200" y="5340000"/>
            <a:ext cx="5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8899AA"/>
                </a:solidFill>
                <a:latin typeface="Calibri"/>
                <a:ea typeface="Calibri"/>
              </a:rPr>
              <a:t>Maintain operating margin at or above 24% through cost discipline.</a:t>
            </a:r>
          </a:p>
        </p:txBody>
      </p:sp>
      <p:sp>
        <p:nvSpPr>
          <p:cNvPr id="20" name="tgt2_line"/>
          <p:cNvSpPr/>
          <p:nvPr/>
        </p:nvSpPr>
        <p:spPr>
          <a:xfrm>
            <a:off x="457200" y="6240000"/>
            <a:ext cx="5638800" cy="7200"/>
          </a:xfrm>
          <a:prstGeom prst="rect">
            <a:avLst/>
          </a:prstGeom>
          <a:solidFill>
            <a:srgbClr val="1E30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init_bg"/>
          <p:cNvSpPr/>
          <p:nvPr/>
        </p:nvSpPr>
        <p:spPr>
          <a:xfrm>
            <a:off x="6296000" y="1900000"/>
            <a:ext cx="5438800" cy="4400000"/>
          </a:xfrm>
          <a:prstGeom prst="rect">
            <a:avLst/>
          </a:prstGeom>
          <a:solidFill>
            <a:srgbClr val="132233"/>
          </a:solidFill>
          <a:ln w="1">
            <a:solidFill>
              <a:srgbClr val="1E304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init_title"/>
          <p:cNvSpPr/>
          <p:nvPr/>
        </p:nvSpPr>
        <p:spPr>
          <a:xfrm>
            <a:off x="6496000" y="2100000"/>
            <a:ext cx="48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 b="0">
                <a:solidFill>
                  <a:srgbClr val="E8793A"/>
                </a:solidFill>
                <a:latin typeface="Georgia"/>
                <a:ea typeface="Georgia"/>
              </a:rPr>
              <a:t>Key Initiatives</a:t>
            </a:r>
          </a:p>
        </p:txBody>
      </p:sp>
      <p:sp>
        <p:nvSpPr>
          <p:cNvPr id="23" name="init_dot1"/>
          <p:cNvSpPr/>
          <p:nvPr/>
        </p:nvSpPr>
        <p:spPr>
          <a:xfrm>
            <a:off x="6496000" y="2820000"/>
            <a:ext cx="120000" cy="1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init_txt1"/>
          <p:cNvSpPr/>
          <p:nvPr/>
        </p:nvSpPr>
        <p:spPr>
          <a:xfrm>
            <a:off x="6716000" y="2640000"/>
            <a:ext cx="4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Launch enterprise subscription tier</a:t>
            </a:r>
          </a:p>
        </p:txBody>
      </p:sp>
      <p:sp>
        <p:nvSpPr>
          <p:cNvPr id="25" name="init_dot2"/>
          <p:cNvSpPr/>
          <p:nvPr/>
        </p:nvSpPr>
        <p:spPr>
          <a:xfrm>
            <a:off x="6496000" y="3520000"/>
            <a:ext cx="120000" cy="1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init_txt2"/>
          <p:cNvSpPr/>
          <p:nvPr/>
        </p:nvSpPr>
        <p:spPr>
          <a:xfrm>
            <a:off x="6716000" y="3340000"/>
            <a:ext cx="4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Expand APAC sales team to 12 reps</a:t>
            </a:r>
          </a:p>
        </p:txBody>
      </p:sp>
      <p:sp>
        <p:nvSpPr>
          <p:cNvPr id="27" name="init_dot3"/>
          <p:cNvSpPr/>
          <p:nvPr/>
        </p:nvSpPr>
        <p:spPr>
          <a:xfrm>
            <a:off x="6496000" y="4220000"/>
            <a:ext cx="120000" cy="1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init_txt3"/>
          <p:cNvSpPr/>
          <p:nvPr/>
        </p:nvSpPr>
        <p:spPr>
          <a:xfrm>
            <a:off x="6716000" y="4040000"/>
            <a:ext cx="4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Deploy AI-powered customer support</a:t>
            </a:r>
          </a:p>
        </p:txBody>
      </p:sp>
      <p:sp>
        <p:nvSpPr>
          <p:cNvPr id="29" name="init_dot4"/>
          <p:cNvSpPr/>
          <p:nvPr/>
        </p:nvSpPr>
        <p:spPr>
          <a:xfrm>
            <a:off x="6496000" y="4920000"/>
            <a:ext cx="120000" cy="12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init_txt4"/>
          <p:cNvSpPr/>
          <p:nvPr/>
        </p:nvSpPr>
        <p:spPr>
          <a:xfrm>
            <a:off x="6716000" y="4740000"/>
            <a:ext cx="46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F2F4F7"/>
                </a:solidFill>
                <a:latin typeface="Calibri"/>
                <a:ea typeface="Calibri"/>
              </a:rPr>
              <a:t>Complete ISO 27001 certification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