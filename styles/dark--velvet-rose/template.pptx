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d55cbb51c0d44b1e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2a95759bf97b41be"/>
    <p:sldId id="257" r:id="Rbfa52e2a067940af"/>
    <p:sldId id="258" r:id="Ra22800c63eaf4d86"/>
    <p:sldId id="259" r:id="R5481492d5f234073"/>
    <p:sldId id="260" r:id="R5b185046de434930"/>
    <p:sldId id="261" r:id="Rd73a4b6c1b1e422d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2a95759bf97b41be" /><Relationship Type="http://schemas.openxmlformats.org/officeDocument/2006/relationships/slide" Target="/ppt/slides/slide2.xml" Id="Rbfa52e2a067940af" /><Relationship Type="http://schemas.openxmlformats.org/officeDocument/2006/relationships/slide" Target="/ppt/slides/slide3.xml" Id="Ra22800c63eaf4d86" /><Relationship Type="http://schemas.openxmlformats.org/officeDocument/2006/relationships/slide" Target="/ppt/slides/slide4.xml" Id="R5481492d5f234073" /><Relationship Type="http://schemas.openxmlformats.org/officeDocument/2006/relationships/slide" Target="/ppt/slides/slide5.xml" Id="R5b185046de434930" /><Relationship Type="http://schemas.openxmlformats.org/officeDocument/2006/relationships/slide" Target="/ppt/slides/slide6.xml" Id="Rd73a4b6c1b1e422d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38a676a371404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4fac36db474e7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bfecd729e14ee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261593196649a4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fd8aa99b4e3e49ad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5e2ffb42294ab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7c5bc23b004bf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5d321da6cb4ab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672e03e0d0435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743375f8db432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22a420434c4c27" /></Relationships>
</file>

<file path=ppt/slides/slide1.xml><?xml version="1.0" encoding="utf-8"?>
<p:sld xmlns:a="http://schemas.openxmlformats.org/drawingml/2006/main" xmlns:p="http://schemas.openxmlformats.org/presentationml/2006/main">
  <p:cSld>
    <p:bg>
      <p:bgPr>
        <a:gradFill xmlns:a="http://schemas.openxmlformats.org/drawingml/2006/main">
          <a:gsLst>
            <a:gs pos="0">
              <a:srgbClr val="1A0820"/>
            </a:gs>
            <a:gs pos="100000">
              <a:srgbClr val="380A28"/>
            </a:gs>
          </a:gsLst>
          <a:lin ang="9600000" scaled="1"/>
        </a:gradFill>
      </p:bgPr>
    </p:bg>
    <p:spTree>
      <p:nvGrpSpPr>
        <p:cNvPr id="1" name=""/>
        <p:cNvGrpSpPr/>
        <p:nvPr/>
      </p:nvGrpSpPr>
      <p:grpSpPr/>
      <p:sp>
        <p:nvSpPr>
          <p:cNvPr id="2" name="!!arc"/>
          <p:cNvSpPr/>
          <p:nvPr/>
        </p:nvSpPr>
        <p:spPr>
          <a:xfrm>
            <a:off x="8064000" y="180000"/>
            <a:ext cx="180000" cy="6480000"/>
          </a:xfrm>
          <a:prstGeom prst="ellipse">
            <a:avLst/>
          </a:prstGeom>
          <a:solidFill>
            <a:srgbClr val="C07890">
              <a:alpha val="2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TextBox 3"/>
          <p:cNvSpPr/>
          <p:nvPr/>
        </p:nvSpPr>
        <p:spPr>
          <a:xfrm>
            <a:off x="9072000" y="180000"/>
            <a:ext cx="216000" cy="6480000"/>
          </a:xfrm>
          <a:prstGeom prst="ellipse">
            <a:avLst/>
          </a:prstGeom>
          <a:solidFill>
            <a:srgbClr val="C07890">
              <a:alpha val="19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TextBox 4"/>
          <p:cNvSpPr/>
          <p:nvPr/>
        </p:nvSpPr>
        <p:spPr>
          <a:xfrm>
            <a:off x="10080000" y="180000"/>
            <a:ext cx="252000" cy="6480000"/>
          </a:xfrm>
          <a:prstGeom prst="ellipse">
            <a:avLst/>
          </a:prstGeom>
          <a:solidFill>
            <a:srgbClr val="C07890">
              <a:alpha val="13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TextBox 5"/>
          <p:cNvSpPr/>
          <p:nvPr/>
        </p:nvSpPr>
        <p:spPr>
          <a:xfrm>
            <a:off x="11088000" y="180000"/>
            <a:ext cx="288000" cy="6480000"/>
          </a:xfrm>
          <a:prstGeom prst="ellipse">
            <a:avLst/>
          </a:prstGeom>
          <a:solidFill>
            <a:srgbClr val="C07890">
              <a:alpha val="7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TextBox 6"/>
          <p:cNvSpPr/>
          <p:nvPr/>
        </p:nvSpPr>
        <p:spPr>
          <a:xfrm>
            <a:off x="7920000" y="360000"/>
            <a:ext cx="4320000" cy="57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0000" b="1">
                <a:solidFill>
                  <a:srgbClr val="2E1030"/>
                </a:solidFill>
                <a:latin typeface="Segoe UI Black"/>
                <a:ea typeface="Segoe UI Black"/>
              </a:rPr>
              <a:t>I</a:t>
            </a:r>
          </a:p>
        </p:txBody>
      </p:sp>
      <p:sp>
        <p:nvSpPr>
          <p:cNvPr id="7" name="TextBox 7"/>
          <p:cNvSpPr/>
          <p:nvPr/>
        </p:nvSpPr>
        <p:spPr>
          <a:xfrm>
            <a:off x="720000" y="900000"/>
            <a:ext cx="7920000" cy="32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000">
                <a:solidFill>
                  <a:srgbClr val="906878"/>
                </a:solidFill>
                <a:latin typeface="Segoe UI"/>
                <a:ea typeface="Segoe UI"/>
              </a:rPr>
              <a:t>MAISON IVORÉ  ·  BRAND MANIFESTO</a:t>
            </a:r>
          </a:p>
        </p:txBody>
      </p:sp>
      <p:sp>
        <p:nvSpPr>
          <p:cNvPr id="8" name="!!accent"/>
          <p:cNvSpPr/>
          <p:nvPr/>
        </p:nvSpPr>
        <p:spPr>
          <a:xfrm>
            <a:off x="720000" y="1368000"/>
            <a:ext cx="1080000" cy="36000"/>
          </a:xfrm>
          <a:prstGeom prst="rect">
            <a:avLst/>
          </a:prstGeom>
          <a:solidFill>
            <a:srgbClr val="E8C09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9" name="TextBox 9"/>
          <p:cNvSpPr/>
          <p:nvPr/>
        </p:nvSpPr>
        <p:spPr>
          <a:xfrm>
            <a:off x="720000" y="1620000"/>
            <a:ext cx="7920000" cy="32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5200" b="1">
                <a:gradFill>
                  <a:gsLst>
                    <a:gs pos="0">
                      <a:srgbClr val="F5D8A8"/>
                    </a:gs>
                    <a:gs pos="100000">
                      <a:srgbClr val="1A0820"/>
                    </a:gs>
                  </a:gsLst>
                  <a:lin ang="0" scaled="1"/>
                </a:gradFill>
                <a:latin typeface="Segoe UI Black"/>
                <a:ea typeface="Segoe UI Black"/>
              </a:rPr>
              <a:t>Where Silence</a:t>
            </a:r>
          </a:p>
          <a:p>
            <a:r>
              <a:rPr lang="en-US" sz="5200" b="1">
                <a:gradFill>
                  <a:gsLst>
                    <a:gs pos="0">
                      <a:srgbClr val="F5D8A8"/>
                    </a:gs>
                    <a:gs pos="100000">
                      <a:srgbClr val="1A0820"/>
                    </a:gs>
                  </a:gsLst>
                  <a:lin ang="0" scaled="1"/>
                </a:gradFill>
                <a:latin typeface="Segoe UI Black"/>
                <a:ea typeface="Segoe UI Black"/>
              </a:rPr>
              <a:t>Become Style.</a:t>
            </a:r>
          </a:p>
        </p:txBody>
      </p:sp>
      <p:sp>
        <p:nvSpPr>
          <p:cNvPr id="10" name="TextBox 10"/>
          <p:cNvSpPr/>
          <p:nvPr/>
        </p:nvSpPr>
        <p:spPr>
          <a:xfrm>
            <a:off x="720000" y="5220000"/>
            <a:ext cx="6480000" cy="108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400">
                <a:solidFill>
                  <a:srgbClr val="906878"/>
                </a:solidFill>
                <a:latin typeface="Segoe UI"/>
                <a:ea typeface="Segoe UI"/>
              </a:rPr>
              <a:t>Luxury fragrance and lifestyle atelier.</a:t>
            </a:r>
          </a:p>
          <a:p>
            <a:r>
              <a:rPr lang="en-US" sz="1400">
                <a:solidFill>
                  <a:srgbClr val="906878"/>
                </a:solidFill>
                <a:latin typeface="Segoe UI"/>
                <a:ea typeface="Segoe UI"/>
              </a:rPr>
              <a:t>Established Paris, 1987.</a:t>
            </a:r>
          </a:p>
        </p:txBody>
      </p:sp>
      <p:sp>
        <p:nvSpPr>
          <p:cNvPr id="11" name="TextBox 11"/>
          <p:cNvSpPr/>
          <p:nvPr/>
        </p:nvSpPr>
        <p:spPr>
          <a:xfrm>
            <a:off x="720000" y="6372000"/>
            <a:ext cx="4320000" cy="32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000">
                <a:solidFill>
                  <a:srgbClr val="906878"/>
                </a:solidFill>
                <a:latin typeface="Segoe UI"/>
                <a:ea typeface="Segoe UI"/>
              </a:rPr>
              <a:t>maisonivore.com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>
    <p:bg>
      <p:bgPr>
        <a:gradFill xmlns:a="http://schemas.openxmlformats.org/drawingml/2006/main">
          <a:gsLst>
            <a:gs pos="0">
              <a:srgbClr val="1A0820"/>
            </a:gs>
            <a:gs pos="100000">
              <a:srgbClr val="380A28"/>
            </a:gs>
          </a:gsLst>
          <a:lin ang="9600000" scaled="1"/>
        </a:gradFill>
      </p:bgPr>
    </p:bg>
    <p:spTree>
      <p:nvGrpSpPr>
        <p:cNvPr id="1" name=""/>
        <p:cNvGrpSpPr/>
        <p:nvPr/>
      </p:nvGrpSpPr>
      <p:grpSpPr/>
      <p:sp>
        <p:nvSpPr>
          <p:cNvPr id="2" name="!!arc"/>
          <p:cNvSpPr/>
          <p:nvPr/>
        </p:nvSpPr>
        <p:spPr>
          <a:xfrm>
            <a:off x="5040000" y="180000"/>
            <a:ext cx="180000" cy="6480000"/>
          </a:xfrm>
          <a:prstGeom prst="ellipse">
            <a:avLst/>
          </a:prstGeom>
          <a:solidFill>
            <a:srgbClr val="C07890">
              <a:alpha val="2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TextBox 3"/>
          <p:cNvSpPr/>
          <p:nvPr/>
        </p:nvSpPr>
        <p:spPr>
          <a:xfrm>
            <a:off x="6120000" y="180000"/>
            <a:ext cx="216000" cy="6480000"/>
          </a:xfrm>
          <a:prstGeom prst="ellipse">
            <a:avLst/>
          </a:prstGeom>
          <a:solidFill>
            <a:srgbClr val="C07890">
              <a:alpha val="19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TextBox 4"/>
          <p:cNvSpPr/>
          <p:nvPr/>
        </p:nvSpPr>
        <p:spPr>
          <a:xfrm>
            <a:off x="7200000" y="180000"/>
            <a:ext cx="252000" cy="6480000"/>
          </a:xfrm>
          <a:prstGeom prst="ellipse">
            <a:avLst/>
          </a:prstGeom>
          <a:solidFill>
            <a:srgbClr val="C07890">
              <a:alpha val="13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!!accent"/>
          <p:cNvSpPr/>
          <p:nvPr/>
        </p:nvSpPr>
        <p:spPr>
          <a:xfrm>
            <a:off x="720000" y="1368000"/>
            <a:ext cx="1080000" cy="36000"/>
          </a:xfrm>
          <a:prstGeom prst="rect">
            <a:avLst/>
          </a:prstGeom>
          <a:solidFill>
            <a:srgbClr val="E8C09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TextBox 6"/>
          <p:cNvSpPr/>
          <p:nvPr/>
        </p:nvSpPr>
        <p:spPr>
          <a:xfrm>
            <a:off x="720000" y="900000"/>
            <a:ext cx="5760000" cy="32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000">
                <a:solidFill>
                  <a:srgbClr val="906878"/>
                </a:solidFill>
                <a:latin typeface="Segoe UI"/>
                <a:ea typeface="Segoe UI"/>
              </a:rPr>
              <a:t>OUR PILLARS</a:t>
            </a:r>
          </a:p>
        </p:txBody>
      </p:sp>
      <p:sp>
        <p:nvSpPr>
          <p:cNvPr id="7" name="TextBox 7"/>
          <p:cNvSpPr/>
          <p:nvPr/>
        </p:nvSpPr>
        <p:spPr>
          <a:xfrm>
            <a:off x="720000" y="1620000"/>
            <a:ext cx="7200000" cy="16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800" b="1">
                <a:solidFill>
                  <a:srgbClr val="FFFFFF"/>
                </a:solidFill>
                <a:latin typeface="Segoe UI Black"/>
                <a:ea typeface="Segoe UI Black"/>
              </a:rPr>
              <a:t>Three beliefs that</a:t>
            </a:r>
          </a:p>
          <a:p>
            <a:r>
              <a:rPr lang="en-US" sz="2800" b="1">
                <a:solidFill>
                  <a:srgbClr val="FFFFFF"/>
                </a:solidFill>
                <a:latin typeface="Segoe UI Black"/>
                <a:ea typeface="Segoe UI Black"/>
              </a:rPr>
              <a:t>guide everything.</a:t>
            </a:r>
          </a:p>
        </p:txBody>
      </p:sp>
      <p:sp>
        <p:nvSpPr>
          <p:cNvPr id="8" name="TextBox 8"/>
          <p:cNvSpPr/>
          <p:nvPr/>
        </p:nvSpPr>
        <p:spPr>
          <a:xfrm>
            <a:off x="720000" y="3420000"/>
            <a:ext cx="10440000" cy="21600"/>
          </a:xfrm>
          <a:prstGeom prst="rect">
            <a:avLst/>
          </a:prstGeom>
          <a:solidFill>
            <a:srgbClr val="906878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9" name="TextBox 9"/>
          <p:cNvSpPr/>
          <p:nvPr/>
        </p:nvSpPr>
        <p:spPr>
          <a:xfrm>
            <a:off x="720000" y="3600000"/>
            <a:ext cx="2880000" cy="108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800" b="1">
                <a:solidFill>
                  <a:srgbClr val="F5D8A8"/>
                </a:solidFill>
                <a:latin typeface="Segoe UI Black"/>
                <a:ea typeface="Segoe UI Black"/>
              </a:rPr>
              <a:t>I.</a:t>
            </a:r>
          </a:p>
        </p:txBody>
      </p:sp>
      <p:sp>
        <p:nvSpPr>
          <p:cNvPr id="10" name="TextBox 10"/>
          <p:cNvSpPr/>
          <p:nvPr/>
        </p:nvSpPr>
        <p:spPr>
          <a:xfrm>
            <a:off x="720000" y="4680000"/>
            <a:ext cx="288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800" b="1">
                <a:solidFill>
                  <a:srgbClr val="E8C090"/>
                </a:solidFill>
                <a:latin typeface="Segoe UI Black"/>
                <a:ea typeface="Segoe UI Black"/>
              </a:rPr>
              <a:t>Restraint</a:t>
            </a:r>
          </a:p>
        </p:txBody>
      </p:sp>
      <p:sp>
        <p:nvSpPr>
          <p:cNvPr id="11" name="TextBox 11"/>
          <p:cNvSpPr/>
          <p:nvPr/>
        </p:nvSpPr>
        <p:spPr>
          <a:xfrm>
            <a:off x="720000" y="5472000"/>
            <a:ext cx="3240000" cy="108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>
                <a:solidFill>
                  <a:srgbClr val="906878"/>
                </a:solidFill>
                <a:latin typeface="Segoe UI"/>
                <a:ea typeface="Segoe UI"/>
              </a:rPr>
              <a:t>True luxury removes,</a:t>
            </a:r>
          </a:p>
          <a:p>
            <a:r>
              <a:rPr lang="en-US" sz="1200">
                <a:solidFill>
                  <a:srgbClr val="906878"/>
                </a:solidFill>
                <a:latin typeface="Segoe UI"/>
                <a:ea typeface="Segoe UI"/>
              </a:rPr>
              <a:t>not adds.</a:t>
            </a:r>
          </a:p>
        </p:txBody>
      </p:sp>
      <p:sp>
        <p:nvSpPr>
          <p:cNvPr id="12" name="TextBox 12"/>
          <p:cNvSpPr/>
          <p:nvPr/>
        </p:nvSpPr>
        <p:spPr>
          <a:xfrm>
            <a:off x="4320000" y="3600000"/>
            <a:ext cx="2880000" cy="108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800" b="1">
                <a:solidFill>
                  <a:srgbClr val="FFFFFF"/>
                </a:solidFill>
                <a:latin typeface="Segoe UI Black"/>
                <a:ea typeface="Segoe UI Black"/>
              </a:rPr>
              <a:t>II.</a:t>
            </a:r>
          </a:p>
        </p:txBody>
      </p:sp>
      <p:sp>
        <p:nvSpPr>
          <p:cNvPr id="13" name="TextBox 13"/>
          <p:cNvSpPr/>
          <p:nvPr/>
        </p:nvSpPr>
        <p:spPr>
          <a:xfrm>
            <a:off x="4320000" y="4680000"/>
            <a:ext cx="288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800" b="1">
                <a:solidFill>
                  <a:srgbClr val="C07890"/>
                </a:solidFill>
                <a:latin typeface="Segoe UI Black"/>
                <a:ea typeface="Segoe UI Black"/>
              </a:rPr>
              <a:t>Permanence</a:t>
            </a:r>
          </a:p>
        </p:txBody>
      </p:sp>
      <p:sp>
        <p:nvSpPr>
          <p:cNvPr id="14" name="TextBox 14"/>
          <p:cNvSpPr/>
          <p:nvPr/>
        </p:nvSpPr>
        <p:spPr>
          <a:xfrm>
            <a:off x="4320000" y="5472000"/>
            <a:ext cx="3240000" cy="108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>
                <a:solidFill>
                  <a:srgbClr val="906878"/>
                </a:solidFill>
                <a:latin typeface="Segoe UI"/>
                <a:ea typeface="Segoe UI"/>
              </a:rPr>
              <a:t>We make things</a:t>
            </a:r>
          </a:p>
          <a:p>
            <a:r>
              <a:rPr lang="en-US" sz="1200">
                <a:solidFill>
                  <a:srgbClr val="906878"/>
                </a:solidFill>
                <a:latin typeface="Segoe UI"/>
                <a:ea typeface="Segoe UI"/>
              </a:rPr>
              <a:t>built to outlast trends.</a:t>
            </a:r>
          </a:p>
        </p:txBody>
      </p:sp>
      <p:sp>
        <p:nvSpPr>
          <p:cNvPr id="15" name="TextBox 15"/>
          <p:cNvSpPr/>
          <p:nvPr/>
        </p:nvSpPr>
        <p:spPr>
          <a:xfrm>
            <a:off x="8280000" y="3600000"/>
            <a:ext cx="2880000" cy="108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800" b="1">
                <a:solidFill>
                  <a:srgbClr val="E8C090"/>
                </a:solidFill>
                <a:latin typeface="Segoe UI Black"/>
                <a:ea typeface="Segoe UI Black"/>
              </a:rPr>
              <a:t>III.</a:t>
            </a:r>
          </a:p>
        </p:txBody>
      </p:sp>
      <p:sp>
        <p:nvSpPr>
          <p:cNvPr id="16" name="TextBox 16"/>
          <p:cNvSpPr/>
          <p:nvPr/>
        </p:nvSpPr>
        <p:spPr>
          <a:xfrm>
            <a:off x="8280000" y="4680000"/>
            <a:ext cx="288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800" b="1">
                <a:solidFill>
                  <a:srgbClr val="E8C090"/>
                </a:solidFill>
                <a:latin typeface="Segoe UI Black"/>
                <a:ea typeface="Segoe UI Black"/>
              </a:rPr>
              <a:t>Intimacy</a:t>
            </a:r>
          </a:p>
        </p:txBody>
      </p:sp>
      <p:sp>
        <p:nvSpPr>
          <p:cNvPr id="17" name="TextBox 17"/>
          <p:cNvSpPr/>
          <p:nvPr/>
        </p:nvSpPr>
        <p:spPr>
          <a:xfrm>
            <a:off x="8280000" y="5472000"/>
            <a:ext cx="2880000" cy="108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>
                <a:solidFill>
                  <a:srgbClr val="906878"/>
                </a:solidFill>
                <a:latin typeface="Segoe UI"/>
                <a:ea typeface="Segoe UI"/>
              </a:rPr>
              <a:t>One atelier.</a:t>
            </a:r>
          </a:p>
          <a:p>
            <a:r>
              <a:rPr lang="en-US" sz="1200">
                <a:solidFill>
                  <a:srgbClr val="906878"/>
                </a:solidFill>
                <a:latin typeface="Segoe UI"/>
                <a:ea typeface="Segoe UI"/>
              </a:rPr>
              <a:t>Every client known.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>
    <p:bg>
      <p:bgPr>
        <a:solidFill xmlns:a="http://schemas.openxmlformats.org/drawingml/2006/main">
          <a:srgbClr val="F8EFE8"/>
        </a:solidFill>
      </p:bgPr>
    </p:bg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0" y="0"/>
            <a:ext cx="2880000" cy="6858000"/>
          </a:xfrm>
          <a:prstGeom prst="rect">
            <a:avLst/>
          </a:prstGeom>
          <a:gradFill>
            <a:gsLst>
              <a:gs pos="0">
                <a:srgbClr val="380A28"/>
              </a:gs>
              <a:gs pos="100000">
                <a:srgbClr val="1A0820"/>
              </a:gs>
            </a:gsLst>
            <a:lin ang="5400000" scaled="1"/>
          </a:gra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!!arc"/>
          <p:cNvSpPr/>
          <p:nvPr/>
        </p:nvSpPr>
        <p:spPr>
          <a:xfrm>
            <a:off x="0" y="2520000"/>
            <a:ext cx="2880000" cy="2880000"/>
          </a:xfrm>
          <a:prstGeom prst="ellipse">
            <a:avLst/>
          </a:prstGeom>
          <a:solidFill>
            <a:srgbClr val="C07890">
              <a:alpha val="2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TextBox 4"/>
          <p:cNvSpPr/>
          <p:nvPr/>
        </p:nvSpPr>
        <p:spPr>
          <a:xfrm>
            <a:off x="288000" y="720000"/>
            <a:ext cx="2340000" cy="14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200" b="1">
                <a:solidFill>
                  <a:srgbClr val="E8C090"/>
                </a:solidFill>
                <a:latin typeface="Segoe UI Black"/>
                <a:ea typeface="Segoe UI Black"/>
              </a:rPr>
              <a:t>SELECTED</a:t>
            </a:r>
          </a:p>
          <a:p>
            <a:r>
              <a:rPr lang="en-US" sz="2200" b="1">
                <a:solidFill>
                  <a:srgbClr val="E8C090"/>
                </a:solidFill>
                <a:latin typeface="Segoe UI Black"/>
                <a:ea typeface="Segoe UI Black"/>
              </a:rPr>
              <a:t>WORK</a:t>
            </a:r>
          </a:p>
        </p:txBody>
      </p:sp>
      <p:sp>
        <p:nvSpPr>
          <p:cNvPr id="5" name="TextBox 5"/>
          <p:cNvSpPr/>
          <p:nvPr/>
        </p:nvSpPr>
        <p:spPr>
          <a:xfrm>
            <a:off x="288000" y="5040000"/>
            <a:ext cx="2340000" cy="108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300">
                <a:solidFill>
                  <a:srgbClr val="906878"/>
                </a:solidFill>
                <a:latin typeface="Segoe UI"/>
                <a:ea typeface="Segoe UI"/>
              </a:rPr>
              <a:t>2020—</a:t>
            </a:r>
          </a:p>
          <a:p>
            <a:r>
              <a:rPr lang="en-US" sz="1300">
                <a:solidFill>
                  <a:srgbClr val="906878"/>
                </a:solidFill>
                <a:latin typeface="Segoe UI"/>
                <a:ea typeface="Segoe UI"/>
              </a:rPr>
              <a:t>2024</a:t>
            </a:r>
          </a:p>
        </p:txBody>
      </p:sp>
      <p:sp>
        <p:nvSpPr>
          <p:cNvPr id="6" name="!!accent"/>
          <p:cNvSpPr/>
          <p:nvPr/>
        </p:nvSpPr>
        <p:spPr>
          <a:xfrm>
            <a:off x="288000" y="612000"/>
            <a:ext cx="720000" cy="36000"/>
          </a:xfrm>
          <a:prstGeom prst="rect">
            <a:avLst/>
          </a:prstGeom>
          <a:solidFill>
            <a:srgbClr val="E8C09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" name="TextBox 7"/>
          <p:cNvSpPr/>
          <p:nvPr/>
        </p:nvSpPr>
        <p:spPr>
          <a:xfrm>
            <a:off x="3420000" y="648000"/>
            <a:ext cx="7920000" cy="32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000">
                <a:solidFill>
                  <a:srgbClr val="906878"/>
                </a:solidFill>
                <a:latin typeface="Segoe UI"/>
                <a:ea typeface="Segoe UI"/>
              </a:rPr>
              <a:t>PORTFOLIO</a:t>
            </a:r>
          </a:p>
        </p:txBody>
      </p:sp>
      <p:sp>
        <p:nvSpPr>
          <p:cNvPr id="8" name="TextBox 8"/>
          <p:cNvSpPr/>
          <p:nvPr/>
        </p:nvSpPr>
        <p:spPr>
          <a:xfrm>
            <a:off x="3420000" y="1008000"/>
            <a:ext cx="7920000" cy="21600"/>
          </a:xfrm>
          <a:prstGeom prst="rect">
            <a:avLst/>
          </a:prstGeom>
          <a:solidFill>
            <a:srgbClr val="C0789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9" name="TextBox 9"/>
          <p:cNvSpPr/>
          <p:nvPr/>
        </p:nvSpPr>
        <p:spPr>
          <a:xfrm>
            <a:off x="3420000" y="2088000"/>
            <a:ext cx="7920000" cy="21600"/>
          </a:xfrm>
          <a:prstGeom prst="rect">
            <a:avLst/>
          </a:prstGeom>
          <a:solidFill>
            <a:srgbClr val="C0789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0" name="TextBox 10"/>
          <p:cNvSpPr/>
          <p:nvPr/>
        </p:nvSpPr>
        <p:spPr>
          <a:xfrm>
            <a:off x="3420000" y="1260000"/>
            <a:ext cx="5400000" cy="468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400" b="1">
                <a:solidFill>
                  <a:srgbClr val="1A1020"/>
                </a:solidFill>
                <a:latin typeface="Segoe UI Black"/>
                <a:ea typeface="Segoe UI Black"/>
              </a:rPr>
              <a:t>No.01  La Mer Noire</a:t>
            </a:r>
          </a:p>
        </p:txBody>
      </p:sp>
      <p:sp>
        <p:nvSpPr>
          <p:cNvPr id="11" name="TextBox 11"/>
          <p:cNvSpPr/>
          <p:nvPr/>
        </p:nvSpPr>
        <p:spPr>
          <a:xfrm>
            <a:off x="3420000" y="1764000"/>
            <a:ext cx="7200000" cy="32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>
                <a:solidFill>
                  <a:srgbClr val="906878"/>
                </a:solidFill>
                <a:latin typeface="Segoe UI"/>
                <a:ea typeface="Segoe UI"/>
              </a:rPr>
              <a:t>Fragrance campaign  ·  Paris 2024</a:t>
            </a:r>
          </a:p>
        </p:txBody>
      </p:sp>
      <p:sp>
        <p:nvSpPr>
          <p:cNvPr id="12" name="TextBox 12"/>
          <p:cNvSpPr/>
          <p:nvPr/>
        </p:nvSpPr>
        <p:spPr>
          <a:xfrm>
            <a:off x="3420000" y="3096000"/>
            <a:ext cx="7920000" cy="21600"/>
          </a:xfrm>
          <a:prstGeom prst="rect">
            <a:avLst/>
          </a:prstGeom>
          <a:solidFill>
            <a:srgbClr val="C0789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3" name="TextBox 13"/>
          <p:cNvSpPr/>
          <p:nvPr/>
        </p:nvSpPr>
        <p:spPr>
          <a:xfrm>
            <a:off x="3420000" y="2268000"/>
            <a:ext cx="5400000" cy="468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400" b="1">
                <a:solidFill>
                  <a:srgbClr val="1A1020"/>
                </a:solidFill>
                <a:latin typeface="Segoe UI Black"/>
                <a:ea typeface="Segoe UI Black"/>
              </a:rPr>
              <a:t>No.02  House of Calme</a:t>
            </a:r>
          </a:p>
        </p:txBody>
      </p:sp>
      <p:sp>
        <p:nvSpPr>
          <p:cNvPr id="14" name="TextBox 14"/>
          <p:cNvSpPr/>
          <p:nvPr/>
        </p:nvSpPr>
        <p:spPr>
          <a:xfrm>
            <a:off x="3420000" y="2772000"/>
            <a:ext cx="7200000" cy="32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>
                <a:solidFill>
                  <a:srgbClr val="906878"/>
                </a:solidFill>
                <a:latin typeface="Segoe UI"/>
                <a:ea typeface="Segoe UI"/>
              </a:rPr>
              <a:t>Complete identity system  ·  Milan 2023</a:t>
            </a:r>
          </a:p>
        </p:txBody>
      </p:sp>
      <p:sp>
        <p:nvSpPr>
          <p:cNvPr id="15" name="TextBox 15"/>
          <p:cNvSpPr/>
          <p:nvPr/>
        </p:nvSpPr>
        <p:spPr>
          <a:xfrm>
            <a:off x="3420000" y="4104000"/>
            <a:ext cx="7920000" cy="21600"/>
          </a:xfrm>
          <a:prstGeom prst="rect">
            <a:avLst/>
          </a:prstGeom>
          <a:solidFill>
            <a:srgbClr val="C0789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6" name="TextBox 16"/>
          <p:cNvSpPr/>
          <p:nvPr/>
        </p:nvSpPr>
        <p:spPr>
          <a:xfrm>
            <a:off x="3420000" y="3276000"/>
            <a:ext cx="5400000" cy="468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400" b="1">
                <a:solidFill>
                  <a:srgbClr val="1A1020"/>
                </a:solidFill>
                <a:latin typeface="Segoe UI Black"/>
                <a:ea typeface="Segoe UI Black"/>
              </a:rPr>
              <a:t>No.03  Édition Privée</a:t>
            </a:r>
          </a:p>
        </p:txBody>
      </p:sp>
      <p:sp>
        <p:nvSpPr>
          <p:cNvPr id="17" name="TextBox 17"/>
          <p:cNvSpPr/>
          <p:nvPr/>
        </p:nvSpPr>
        <p:spPr>
          <a:xfrm>
            <a:off x="3420000" y="3780000"/>
            <a:ext cx="7200000" cy="32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>
                <a:solidFill>
                  <a:srgbClr val="906878"/>
                </a:solidFill>
                <a:latin typeface="Segoe UI"/>
                <a:ea typeface="Segoe UI"/>
              </a:rPr>
              <a:t>Limited edition packaging  ·  Geneva 2023</a:t>
            </a:r>
          </a:p>
        </p:txBody>
      </p:sp>
      <p:sp>
        <p:nvSpPr>
          <p:cNvPr id="18" name="TextBox 18"/>
          <p:cNvSpPr/>
          <p:nvPr/>
        </p:nvSpPr>
        <p:spPr>
          <a:xfrm>
            <a:off x="3420000" y="5112000"/>
            <a:ext cx="7920000" cy="21600"/>
          </a:xfrm>
          <a:prstGeom prst="rect">
            <a:avLst/>
          </a:prstGeom>
          <a:solidFill>
            <a:srgbClr val="C0789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9" name="TextBox 19"/>
          <p:cNvSpPr/>
          <p:nvPr/>
        </p:nvSpPr>
        <p:spPr>
          <a:xfrm>
            <a:off x="3420000" y="4284000"/>
            <a:ext cx="5400000" cy="468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400" b="1">
                <a:solidFill>
                  <a:srgbClr val="1A1020"/>
                </a:solidFill>
                <a:latin typeface="Segoe UI Black"/>
                <a:ea typeface="Segoe UI Black"/>
              </a:rPr>
              <a:t>No.04  Atelier Nuée</a:t>
            </a:r>
          </a:p>
        </p:txBody>
      </p:sp>
      <p:sp>
        <p:nvSpPr>
          <p:cNvPr id="20" name="TextBox 20"/>
          <p:cNvSpPr/>
          <p:nvPr/>
        </p:nvSpPr>
        <p:spPr>
          <a:xfrm>
            <a:off x="3420000" y="4788000"/>
            <a:ext cx="7200000" cy="32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>
                <a:solidFill>
                  <a:srgbClr val="906878"/>
                </a:solidFill>
                <a:latin typeface="Segoe UI"/>
                <a:ea typeface="Segoe UI"/>
              </a:rPr>
              <a:t>Brand architecture  ·  Tokyo 2022</a:t>
            </a:r>
          </a:p>
        </p:txBody>
      </p:sp>
      <p:sp>
        <p:nvSpPr>
          <p:cNvPr id="21" name="TextBox 21"/>
          <p:cNvSpPr/>
          <p:nvPr/>
        </p:nvSpPr>
        <p:spPr>
          <a:xfrm>
            <a:off x="3420000" y="6120000"/>
            <a:ext cx="7920000" cy="21600"/>
          </a:xfrm>
          <a:prstGeom prst="rect">
            <a:avLst/>
          </a:prstGeom>
          <a:solidFill>
            <a:srgbClr val="C0789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2" name="TextBox 22"/>
          <p:cNvSpPr/>
          <p:nvPr/>
        </p:nvSpPr>
        <p:spPr>
          <a:xfrm>
            <a:off x="3420000" y="5292000"/>
            <a:ext cx="5400000" cy="468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400" b="1">
                <a:solidFill>
                  <a:srgbClr val="1A1020"/>
                </a:solidFill>
                <a:latin typeface="Segoe UI Black"/>
                <a:ea typeface="Segoe UI Black"/>
              </a:rPr>
              <a:t>No.05  Sève Collective</a:t>
            </a:r>
          </a:p>
        </p:txBody>
      </p:sp>
      <p:sp>
        <p:nvSpPr>
          <p:cNvPr id="23" name="TextBox 23"/>
          <p:cNvSpPr/>
          <p:nvPr/>
        </p:nvSpPr>
        <p:spPr>
          <a:xfrm>
            <a:off x="3420000" y="5796000"/>
            <a:ext cx="7200000" cy="32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>
                <a:solidFill>
                  <a:srgbClr val="906878"/>
                </a:solidFill>
                <a:latin typeface="Segoe UI"/>
                <a:ea typeface="Segoe UI"/>
              </a:rPr>
              <a:t>Campaign + editorial  ·  New York 2021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>
    <p:bg>
      <p:bgPr>
        <a:gradFill xmlns:a="http://schemas.openxmlformats.org/drawingml/2006/main">
          <a:gsLst>
            <a:gs pos="0">
              <a:srgbClr val="1A0820"/>
            </a:gs>
            <a:gs pos="100000">
              <a:srgbClr val="380A28"/>
            </a:gs>
          </a:gsLst>
          <a:lin ang="9600000" scaled="1"/>
        </a:gradFill>
      </p:bgPr>
    </p:bg>
    <p:spTree>
      <p:nvGrpSpPr>
        <p:cNvPr id="1" name=""/>
        <p:cNvGrpSpPr/>
        <p:nvPr/>
      </p:nvGrpSpPr>
      <p:grpSpPr/>
      <p:sp>
        <p:nvSpPr>
          <p:cNvPr id="2" name="!!arc"/>
          <p:cNvSpPr/>
          <p:nvPr/>
        </p:nvSpPr>
        <p:spPr>
          <a:xfrm>
            <a:off x="9216000" y="540000"/>
            <a:ext cx="144000" cy="5760000"/>
          </a:xfrm>
          <a:prstGeom prst="ellipse">
            <a:avLst/>
          </a:prstGeom>
          <a:solidFill>
            <a:srgbClr val="C07890">
              <a:alpha val="2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TextBox 3"/>
          <p:cNvSpPr/>
          <p:nvPr/>
        </p:nvSpPr>
        <p:spPr>
          <a:xfrm>
            <a:off x="10008000" y="540000"/>
            <a:ext cx="180000" cy="5760000"/>
          </a:xfrm>
          <a:prstGeom prst="ellipse">
            <a:avLst/>
          </a:prstGeom>
          <a:solidFill>
            <a:srgbClr val="C07890">
              <a:alpha val="19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TextBox 4"/>
          <p:cNvSpPr/>
          <p:nvPr/>
        </p:nvSpPr>
        <p:spPr>
          <a:xfrm>
            <a:off x="10800000" y="540000"/>
            <a:ext cx="216000" cy="5760000"/>
          </a:xfrm>
          <a:prstGeom prst="ellipse">
            <a:avLst/>
          </a:prstGeom>
          <a:solidFill>
            <a:srgbClr val="C07890">
              <a:alpha val="13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TextBox 5"/>
          <p:cNvSpPr/>
          <p:nvPr/>
        </p:nvSpPr>
        <p:spPr>
          <a:xfrm>
            <a:off x="11592000" y="540000"/>
            <a:ext cx="252000" cy="5760000"/>
          </a:xfrm>
          <a:prstGeom prst="ellipse">
            <a:avLst/>
          </a:prstGeom>
          <a:solidFill>
            <a:srgbClr val="C07890">
              <a:alpha val="7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TextBox 6"/>
          <p:cNvSpPr/>
          <p:nvPr/>
        </p:nvSpPr>
        <p:spPr>
          <a:xfrm>
            <a:off x="12384000" y="540000"/>
            <a:ext cx="288000" cy="5760000"/>
          </a:xfrm>
          <a:prstGeom prst="ellipse">
            <a:avLst/>
          </a:prstGeom>
          <a:solidFill>
            <a:srgbClr val="C07890">
              <a:alpha val="1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" name="TextBox 7"/>
          <p:cNvSpPr/>
          <p:nvPr/>
        </p:nvSpPr>
        <p:spPr>
          <a:xfrm>
            <a:off x="720000" y="3060000"/>
            <a:ext cx="9360000" cy="21600"/>
          </a:xfrm>
          <a:prstGeom prst="rect">
            <a:avLst/>
          </a:prstGeom>
          <a:solidFill>
            <a:srgbClr val="906878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" name="!!accent"/>
          <p:cNvSpPr/>
          <p:nvPr/>
        </p:nvSpPr>
        <p:spPr>
          <a:xfrm>
            <a:off x="720000" y="1368000"/>
            <a:ext cx="720000" cy="36000"/>
          </a:xfrm>
          <a:prstGeom prst="rect">
            <a:avLst/>
          </a:prstGeom>
          <a:solidFill>
            <a:srgbClr val="E8C09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9" name="TextBox 9"/>
          <p:cNvSpPr/>
          <p:nvPr/>
        </p:nvSpPr>
        <p:spPr>
          <a:xfrm>
            <a:off x="720000" y="900000"/>
            <a:ext cx="5760000" cy="32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000">
                <a:solidFill>
                  <a:srgbClr val="906878"/>
                </a:solidFill>
                <a:latin typeface="Segoe UI"/>
                <a:ea typeface="Segoe UI"/>
              </a:rPr>
              <a:t>MANIFESTO</a:t>
            </a:r>
          </a:p>
        </p:txBody>
      </p:sp>
      <p:sp>
        <p:nvSpPr>
          <p:cNvPr id="10" name="TextBox 10"/>
          <p:cNvSpPr/>
          <p:nvPr/>
        </p:nvSpPr>
        <p:spPr>
          <a:xfrm>
            <a:off x="720000" y="1620000"/>
            <a:ext cx="9360000" cy="25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200">
                <a:solidFill>
                  <a:srgbClr val="FFFFFF"/>
                </a:solidFill>
                <a:latin typeface="Segoe UI"/>
                <a:ea typeface="Segoe UI"/>
              </a:rPr>
              <a:t>“A scent is a letter written</a:t>
            </a:r>
          </a:p>
          <a:p>
            <a:r>
              <a:rPr lang="en-US" sz="3200">
                <a:solidFill>
                  <a:srgbClr val="FFFFFF"/>
                </a:solidFill>
                <a:latin typeface="Segoe UI"/>
                <a:ea typeface="Segoe UI"/>
              </a:rPr>
              <a:t>without words.”</a:t>
            </a:r>
          </a:p>
        </p:txBody>
      </p:sp>
      <p:sp>
        <p:nvSpPr>
          <p:cNvPr id="11" name="TextBox 11"/>
          <p:cNvSpPr/>
          <p:nvPr/>
        </p:nvSpPr>
        <p:spPr>
          <a:xfrm>
            <a:off x="720000" y="3240000"/>
            <a:ext cx="720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400">
                <a:solidFill>
                  <a:srgbClr val="906878"/>
                </a:solidFill>
                <a:latin typeface="Segoe UI"/>
                <a:ea typeface="Segoe UI"/>
              </a:rPr>
              <a:t>On the philosophy of Maison Ivoré —</a:t>
            </a:r>
          </a:p>
        </p:txBody>
      </p:sp>
      <p:sp>
        <p:nvSpPr>
          <p:cNvPr id="12" name="TextBox 12"/>
          <p:cNvSpPr/>
          <p:nvPr/>
        </p:nvSpPr>
        <p:spPr>
          <a:xfrm>
            <a:off x="720000" y="3960000"/>
            <a:ext cx="8640000" cy="18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800">
                <a:solidFill>
                  <a:srgbClr val="E8C090"/>
                </a:solidFill>
                <a:latin typeface="Segoe UI"/>
                <a:ea typeface="Segoe UI"/>
              </a:rPr>
              <a:t>Every fragrance begins with one question:</a:t>
            </a:r>
          </a:p>
          <a:p>
            <a:r>
              <a:rPr lang="en-US" sz="1800">
                <a:solidFill>
                  <a:srgbClr val="E8C090"/>
                </a:solidFill>
                <a:latin typeface="Segoe UI"/>
                <a:ea typeface="Segoe UI"/>
              </a:rPr>
              <a:t>what does this moment deserve to smell like?</a:t>
            </a:r>
          </a:p>
        </p:txBody>
      </p:sp>
      <p:sp>
        <p:nvSpPr>
          <p:cNvPr id="13" name="TextBox 13"/>
          <p:cNvSpPr/>
          <p:nvPr/>
        </p:nvSpPr>
        <p:spPr>
          <a:xfrm>
            <a:off x="720000" y="6372000"/>
            <a:ext cx="4320000" cy="32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000">
                <a:solidFill>
                  <a:srgbClr val="906878"/>
                </a:solidFill>
                <a:latin typeface="Segoe UI"/>
                <a:ea typeface="Segoe UI"/>
              </a:rPr>
              <a:t>maisonivore.com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>
    <p:bg>
      <p:bgPr>
        <a:gradFill xmlns:a="http://schemas.openxmlformats.org/drawingml/2006/main">
          <a:gsLst>
            <a:gs pos="0">
              <a:srgbClr val="1A0820"/>
            </a:gs>
            <a:gs pos="100000">
              <a:srgbClr val="380A28"/>
            </a:gs>
          </a:gsLst>
          <a:lin ang="9600000" scaled="1"/>
        </a:gradFill>
      </p:bgPr>
    </p:bg>
    <p:spTree>
      <p:nvGrpSpPr>
        <p:cNvPr id="1" name=""/>
        <p:cNvGrpSpPr/>
        <p:nvPr/>
      </p:nvGrpSpPr>
      <p:grpSpPr/>
      <p:sp>
        <p:nvSpPr>
          <p:cNvPr id="2" name="!!arc"/>
          <p:cNvSpPr/>
          <p:nvPr/>
        </p:nvSpPr>
        <p:spPr>
          <a:xfrm>
            <a:off x="360000" y="900000"/>
            <a:ext cx="144000" cy="5040000"/>
          </a:xfrm>
          <a:prstGeom prst="ellipse">
            <a:avLst/>
          </a:prstGeom>
          <a:solidFill>
            <a:srgbClr val="C07890">
              <a:alpha val="2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TextBox 3"/>
          <p:cNvSpPr/>
          <p:nvPr/>
        </p:nvSpPr>
        <p:spPr>
          <a:xfrm>
            <a:off x="1080000" y="900000"/>
            <a:ext cx="180000" cy="5040000"/>
          </a:xfrm>
          <a:prstGeom prst="ellipse">
            <a:avLst/>
          </a:prstGeom>
          <a:solidFill>
            <a:srgbClr val="C07890">
              <a:alpha val="19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TextBox 4"/>
          <p:cNvSpPr/>
          <p:nvPr/>
        </p:nvSpPr>
        <p:spPr>
          <a:xfrm>
            <a:off x="1800000" y="900000"/>
            <a:ext cx="216000" cy="5040000"/>
          </a:xfrm>
          <a:prstGeom prst="ellipse">
            <a:avLst/>
          </a:prstGeom>
          <a:solidFill>
            <a:srgbClr val="C07890">
              <a:alpha val="13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TextBox 5"/>
          <p:cNvSpPr/>
          <p:nvPr/>
        </p:nvSpPr>
        <p:spPr>
          <a:xfrm>
            <a:off x="720000" y="3168000"/>
            <a:ext cx="648000" cy="648000"/>
          </a:xfrm>
          <a:prstGeom prst="ellipse">
            <a:avLst/>
          </a:prstGeom>
          <a:solidFill>
            <a:srgbClr val="E8C09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TextBox 6"/>
          <p:cNvSpPr/>
          <p:nvPr/>
        </p:nvSpPr>
        <p:spPr>
          <a:xfrm>
            <a:off x="864000" y="3204000"/>
            <a:ext cx="432000" cy="576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 b="1">
                <a:solidFill>
                  <a:srgbClr val="1A0820"/>
                </a:solidFill>
                <a:latin typeface="Segoe UI Black"/>
                <a:ea typeface="Segoe UI Black"/>
              </a:rPr>
              <a:t>01</a:t>
            </a:r>
          </a:p>
        </p:txBody>
      </p:sp>
      <p:sp>
        <p:nvSpPr>
          <p:cNvPr id="7" name="TextBox 7"/>
          <p:cNvSpPr/>
          <p:nvPr/>
        </p:nvSpPr>
        <p:spPr>
          <a:xfrm>
            <a:off x="720000" y="4140000"/>
            <a:ext cx="252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300" b="1">
                <a:solidFill>
                  <a:srgbClr val="E8C090"/>
                </a:solidFill>
                <a:latin typeface="Segoe UI Black"/>
                <a:ea typeface="Segoe UI Black"/>
              </a:rPr>
              <a:t>Consultation</a:t>
            </a:r>
          </a:p>
        </p:txBody>
      </p:sp>
      <p:sp>
        <p:nvSpPr>
          <p:cNvPr id="8" name="TextBox 8"/>
          <p:cNvSpPr/>
          <p:nvPr/>
        </p:nvSpPr>
        <p:spPr>
          <a:xfrm>
            <a:off x="720000" y="4752000"/>
            <a:ext cx="2520000" cy="12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>
                <a:solidFill>
                  <a:srgbClr val="906878"/>
                </a:solidFill>
                <a:latin typeface="Segoe UI"/>
                <a:ea typeface="Segoe UI"/>
              </a:rPr>
              <a:t>Private appointment</a:t>
            </a:r>
          </a:p>
          <a:p>
            <a:r>
              <a:rPr lang="en-US" sz="1100">
                <a:solidFill>
                  <a:srgbClr val="906878"/>
                </a:solidFill>
                <a:latin typeface="Segoe UI"/>
                <a:ea typeface="Segoe UI"/>
              </a:rPr>
              <a:t>to understand your needs.</a:t>
            </a:r>
          </a:p>
        </p:txBody>
      </p:sp>
      <p:sp>
        <p:nvSpPr>
          <p:cNvPr id="9" name="TextBox 9"/>
          <p:cNvSpPr/>
          <p:nvPr/>
        </p:nvSpPr>
        <p:spPr>
          <a:xfrm>
            <a:off x="3528000" y="3168000"/>
            <a:ext cx="648000" cy="648000"/>
          </a:xfrm>
          <a:prstGeom prst="ellipse">
            <a:avLst/>
          </a:prstGeom>
          <a:solidFill>
            <a:srgbClr val="E8C09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0" name="TextBox 10"/>
          <p:cNvSpPr/>
          <p:nvPr/>
        </p:nvSpPr>
        <p:spPr>
          <a:xfrm>
            <a:off x="3672000" y="3204000"/>
            <a:ext cx="432000" cy="576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 b="1">
                <a:solidFill>
                  <a:srgbClr val="1A0820"/>
                </a:solidFill>
                <a:latin typeface="Segoe UI Black"/>
                <a:ea typeface="Segoe UI Black"/>
              </a:rPr>
              <a:t>02</a:t>
            </a:r>
          </a:p>
        </p:txBody>
      </p:sp>
      <p:sp>
        <p:nvSpPr>
          <p:cNvPr id="11" name="TextBox 11"/>
          <p:cNvSpPr/>
          <p:nvPr/>
        </p:nvSpPr>
        <p:spPr>
          <a:xfrm>
            <a:off x="3528000" y="4140000"/>
            <a:ext cx="252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300" b="1">
                <a:solidFill>
                  <a:srgbClr val="E8C090"/>
                </a:solidFill>
                <a:latin typeface="Segoe UI Black"/>
                <a:ea typeface="Segoe UI Black"/>
              </a:rPr>
              <a:t>Composition</a:t>
            </a:r>
          </a:p>
        </p:txBody>
      </p:sp>
      <p:sp>
        <p:nvSpPr>
          <p:cNvPr id="12" name="TextBox 12"/>
          <p:cNvSpPr/>
          <p:nvPr/>
        </p:nvSpPr>
        <p:spPr>
          <a:xfrm>
            <a:off x="3528000" y="4752000"/>
            <a:ext cx="2520000" cy="12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>
                <a:solidFill>
                  <a:srgbClr val="906878"/>
                </a:solidFill>
                <a:latin typeface="Segoe UI"/>
                <a:ea typeface="Segoe UI"/>
              </a:rPr>
              <a:t>Our nose crafts 3 bespoke</a:t>
            </a:r>
          </a:p>
          <a:p>
            <a:r>
              <a:rPr lang="en-US" sz="1100">
                <a:solidFill>
                  <a:srgbClr val="906878"/>
                </a:solidFill>
                <a:latin typeface="Segoe UI"/>
                <a:ea typeface="Segoe UI"/>
              </a:rPr>
              <a:t>formula proposals.</a:t>
            </a:r>
          </a:p>
        </p:txBody>
      </p:sp>
      <p:sp>
        <p:nvSpPr>
          <p:cNvPr id="13" name="TextBox 13"/>
          <p:cNvSpPr/>
          <p:nvPr/>
        </p:nvSpPr>
        <p:spPr>
          <a:xfrm>
            <a:off x="6336000" y="3168000"/>
            <a:ext cx="648000" cy="648000"/>
          </a:xfrm>
          <a:prstGeom prst="ellipse">
            <a:avLst/>
          </a:prstGeom>
          <a:solidFill>
            <a:srgbClr val="E8C09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4" name="TextBox 14"/>
          <p:cNvSpPr/>
          <p:nvPr/>
        </p:nvSpPr>
        <p:spPr>
          <a:xfrm>
            <a:off x="6480000" y="3204000"/>
            <a:ext cx="432000" cy="576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 b="1">
                <a:solidFill>
                  <a:srgbClr val="1A0820"/>
                </a:solidFill>
                <a:latin typeface="Segoe UI Black"/>
                <a:ea typeface="Segoe UI Black"/>
              </a:rPr>
              <a:t>03</a:t>
            </a:r>
          </a:p>
        </p:txBody>
      </p:sp>
      <p:sp>
        <p:nvSpPr>
          <p:cNvPr id="15" name="TextBox 15"/>
          <p:cNvSpPr/>
          <p:nvPr/>
        </p:nvSpPr>
        <p:spPr>
          <a:xfrm>
            <a:off x="6336000" y="4140000"/>
            <a:ext cx="252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300" b="1">
                <a:solidFill>
                  <a:srgbClr val="E8C090"/>
                </a:solidFill>
                <a:latin typeface="Segoe UI Black"/>
                <a:ea typeface="Segoe UI Black"/>
              </a:rPr>
              <a:t>Refinement</a:t>
            </a:r>
          </a:p>
        </p:txBody>
      </p:sp>
      <p:sp>
        <p:nvSpPr>
          <p:cNvPr id="16" name="TextBox 16"/>
          <p:cNvSpPr/>
          <p:nvPr/>
        </p:nvSpPr>
        <p:spPr>
          <a:xfrm>
            <a:off x="6336000" y="4752000"/>
            <a:ext cx="2520000" cy="12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>
                <a:solidFill>
                  <a:srgbClr val="906878"/>
                </a:solidFill>
                <a:latin typeface="Segoe UI"/>
                <a:ea typeface="Segoe UI"/>
              </a:rPr>
              <a:t>Two rounds of adjustment</a:t>
            </a:r>
          </a:p>
          <a:p>
            <a:r>
              <a:rPr lang="en-US" sz="1100">
                <a:solidFill>
                  <a:srgbClr val="906878"/>
                </a:solidFill>
                <a:latin typeface="Segoe UI"/>
                <a:ea typeface="Segoe UI"/>
              </a:rPr>
              <a:t>until it is perfect.</a:t>
            </a:r>
          </a:p>
        </p:txBody>
      </p:sp>
      <p:sp>
        <p:nvSpPr>
          <p:cNvPr id="17" name="TextBox 17"/>
          <p:cNvSpPr/>
          <p:nvPr/>
        </p:nvSpPr>
        <p:spPr>
          <a:xfrm>
            <a:off x="9144000" y="3168000"/>
            <a:ext cx="648000" cy="648000"/>
          </a:xfrm>
          <a:prstGeom prst="ellipse">
            <a:avLst/>
          </a:prstGeom>
          <a:solidFill>
            <a:srgbClr val="E8C09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8" name="TextBox 18"/>
          <p:cNvSpPr/>
          <p:nvPr/>
        </p:nvSpPr>
        <p:spPr>
          <a:xfrm>
            <a:off x="9288000" y="3204000"/>
            <a:ext cx="432000" cy="576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 b="1">
                <a:solidFill>
                  <a:srgbClr val="1A0820"/>
                </a:solidFill>
                <a:latin typeface="Segoe UI Black"/>
                <a:ea typeface="Segoe UI Black"/>
              </a:rPr>
              <a:t>04</a:t>
            </a:r>
          </a:p>
        </p:txBody>
      </p:sp>
      <p:sp>
        <p:nvSpPr>
          <p:cNvPr id="19" name="TextBox 19"/>
          <p:cNvSpPr/>
          <p:nvPr/>
        </p:nvSpPr>
        <p:spPr>
          <a:xfrm>
            <a:off x="9144000" y="4140000"/>
            <a:ext cx="252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300" b="1">
                <a:solidFill>
                  <a:srgbClr val="E8C090"/>
                </a:solidFill>
                <a:latin typeface="Segoe UI Black"/>
                <a:ea typeface="Segoe UI Black"/>
              </a:rPr>
              <a:t>Presentation</a:t>
            </a:r>
          </a:p>
        </p:txBody>
      </p:sp>
      <p:sp>
        <p:nvSpPr>
          <p:cNvPr id="20" name="TextBox 20"/>
          <p:cNvSpPr/>
          <p:nvPr/>
        </p:nvSpPr>
        <p:spPr>
          <a:xfrm>
            <a:off x="9144000" y="4752000"/>
            <a:ext cx="2520000" cy="12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>
                <a:solidFill>
                  <a:srgbClr val="906878"/>
                </a:solidFill>
                <a:latin typeface="Segoe UI"/>
                <a:ea typeface="Segoe UI"/>
              </a:rPr>
              <a:t>Your fragrance, engraved</a:t>
            </a:r>
          </a:p>
          <a:p>
            <a:r>
              <a:rPr lang="en-US" sz="1100">
                <a:solidFill>
                  <a:srgbClr val="906878"/>
                </a:solidFill>
                <a:latin typeface="Segoe UI"/>
                <a:ea typeface="Segoe UI"/>
              </a:rPr>
              <a:t>bottle, delivered worldwide.</a:t>
            </a:r>
          </a:p>
        </p:txBody>
      </p:sp>
      <p:sp>
        <p:nvSpPr>
          <p:cNvPr id="21" name="TextBox 21"/>
          <p:cNvSpPr/>
          <p:nvPr/>
        </p:nvSpPr>
        <p:spPr>
          <a:xfrm>
            <a:off x="720000" y="3492000"/>
            <a:ext cx="10440000" cy="21600"/>
          </a:xfrm>
          <a:prstGeom prst="rect">
            <a:avLst/>
          </a:prstGeom>
          <a:solidFill>
            <a:srgbClr val="E8C09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2" name="!!accent"/>
          <p:cNvSpPr/>
          <p:nvPr/>
        </p:nvSpPr>
        <p:spPr>
          <a:xfrm>
            <a:off x="720000" y="1368000"/>
            <a:ext cx="720000" cy="36000"/>
          </a:xfrm>
          <a:prstGeom prst="rect">
            <a:avLst/>
          </a:prstGeom>
          <a:solidFill>
            <a:srgbClr val="E8C09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3" name="TextBox 23"/>
          <p:cNvSpPr/>
          <p:nvPr/>
        </p:nvSpPr>
        <p:spPr>
          <a:xfrm>
            <a:off x="720000" y="900000"/>
            <a:ext cx="5760000" cy="32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000">
                <a:solidFill>
                  <a:srgbClr val="906878"/>
                </a:solidFill>
                <a:latin typeface="Segoe UI"/>
                <a:ea typeface="Segoe UI"/>
              </a:rPr>
              <a:t>PROCESS</a:t>
            </a:r>
          </a:p>
        </p:txBody>
      </p:sp>
      <p:sp>
        <p:nvSpPr>
          <p:cNvPr id="24" name="TextBox 24"/>
          <p:cNvSpPr/>
          <p:nvPr/>
        </p:nvSpPr>
        <p:spPr>
          <a:xfrm>
            <a:off x="720000" y="1620000"/>
            <a:ext cx="7920000" cy="12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200" b="1">
                <a:gradFill>
                  <a:gsLst>
                    <a:gs pos="0">
                      <a:srgbClr val="FFFFFF"/>
                    </a:gs>
                    <a:gs pos="100000">
                      <a:srgbClr val="380A28"/>
                    </a:gs>
                  </a:gsLst>
                  <a:lin ang="0" scaled="1"/>
                </a:gradFill>
                <a:latin typeface="Segoe UI Black"/>
                <a:ea typeface="Segoe UI Black"/>
              </a:rPr>
              <a:t>The Atelier Experience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>
    <p:bg>
      <p:bgPr>
        <a:gradFill xmlns:a="http://schemas.openxmlformats.org/drawingml/2006/main">
          <a:gsLst>
            <a:gs pos="0">
              <a:srgbClr val="380A28"/>
            </a:gs>
            <a:gs pos="100000">
              <a:srgbClr val="1A0820"/>
            </a:gs>
          </a:gsLst>
          <a:lin ang="9600000" scaled="1"/>
        </a:gradFill>
      </p:bgPr>
    </p:bg>
    <p:spTree>
      <p:nvGrpSpPr>
        <p:cNvPr id="1" name=""/>
        <p:cNvGrpSpPr/>
        <p:nvPr/>
      </p:nvGrpSpPr>
      <p:grpSpPr/>
      <p:sp>
        <p:nvSpPr>
          <p:cNvPr id="2" name="!!arc"/>
          <p:cNvSpPr/>
          <p:nvPr/>
        </p:nvSpPr>
        <p:spPr>
          <a:xfrm>
            <a:off x="9000000" y="0"/>
            <a:ext cx="180000" cy="6840000"/>
          </a:xfrm>
          <a:prstGeom prst="ellipse">
            <a:avLst/>
          </a:prstGeom>
          <a:solidFill>
            <a:srgbClr val="C07890">
              <a:alpha val="2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TextBox 3"/>
          <p:cNvSpPr/>
          <p:nvPr/>
        </p:nvSpPr>
        <p:spPr>
          <a:xfrm>
            <a:off x="9900000" y="0"/>
            <a:ext cx="216000" cy="6840000"/>
          </a:xfrm>
          <a:prstGeom prst="ellipse">
            <a:avLst/>
          </a:prstGeom>
          <a:solidFill>
            <a:srgbClr val="C07890">
              <a:alpha val="19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TextBox 4"/>
          <p:cNvSpPr/>
          <p:nvPr/>
        </p:nvSpPr>
        <p:spPr>
          <a:xfrm>
            <a:off x="10800000" y="0"/>
            <a:ext cx="252000" cy="6840000"/>
          </a:xfrm>
          <a:prstGeom prst="ellipse">
            <a:avLst/>
          </a:prstGeom>
          <a:solidFill>
            <a:srgbClr val="C07890">
              <a:alpha val="13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TextBox 5"/>
          <p:cNvSpPr/>
          <p:nvPr/>
        </p:nvSpPr>
        <p:spPr>
          <a:xfrm>
            <a:off x="11700000" y="0"/>
            <a:ext cx="288000" cy="6840000"/>
          </a:xfrm>
          <a:prstGeom prst="ellipse">
            <a:avLst/>
          </a:prstGeom>
          <a:solidFill>
            <a:srgbClr val="C07890">
              <a:alpha val="7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TextBox 6"/>
          <p:cNvSpPr/>
          <p:nvPr/>
        </p:nvSpPr>
        <p:spPr>
          <a:xfrm>
            <a:off x="12600000" y="0"/>
            <a:ext cx="324000" cy="6840000"/>
          </a:xfrm>
          <a:prstGeom prst="ellipse">
            <a:avLst/>
          </a:prstGeom>
          <a:solidFill>
            <a:srgbClr val="C07890">
              <a:alpha val="1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" name="TextBox 7"/>
          <p:cNvSpPr/>
          <p:nvPr/>
        </p:nvSpPr>
        <p:spPr>
          <a:xfrm>
            <a:off x="3600000" y="1440000"/>
            <a:ext cx="6480000" cy="5040000"/>
          </a:xfrm>
          <a:prstGeom prst="ellipse">
            <a:avLst/>
          </a:prstGeom>
          <a:solidFill>
            <a:srgbClr val="E8C090">
              <a:alpha val="8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" name="!!accent"/>
          <p:cNvSpPr/>
          <p:nvPr/>
        </p:nvSpPr>
        <p:spPr>
          <a:xfrm>
            <a:off x="720000" y="1368000"/>
            <a:ext cx="720000" cy="36000"/>
          </a:xfrm>
          <a:prstGeom prst="rect">
            <a:avLst/>
          </a:prstGeom>
          <a:solidFill>
            <a:srgbClr val="E8C09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9" name="TextBox 9"/>
          <p:cNvSpPr/>
          <p:nvPr/>
        </p:nvSpPr>
        <p:spPr>
          <a:xfrm>
            <a:off x="720000" y="900000"/>
            <a:ext cx="8640000" cy="32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000">
                <a:solidFill>
                  <a:srgbClr val="906878"/>
                </a:solidFill>
                <a:latin typeface="Segoe UI"/>
                <a:ea typeface="Segoe UI"/>
              </a:rPr>
              <a:t>BESPOKE FRAGRANCE  ·  MAISON IVORÉ</a:t>
            </a:r>
          </a:p>
        </p:txBody>
      </p:sp>
      <p:sp>
        <p:nvSpPr>
          <p:cNvPr id="10" name="TextBox 10"/>
          <p:cNvSpPr/>
          <p:nvPr/>
        </p:nvSpPr>
        <p:spPr>
          <a:xfrm>
            <a:off x="720000" y="1620000"/>
            <a:ext cx="7920000" cy="32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6000" b="1">
                <a:gradFill>
                  <a:gsLst>
                    <a:gs pos="0">
                      <a:srgbClr val="F5D8A8"/>
                    </a:gs>
                    <a:gs pos="100000">
                      <a:srgbClr val="380A28"/>
                    </a:gs>
                  </a:gsLst>
                  <a:lin ang="0" scaled="1"/>
                </a:gradFill>
                <a:latin typeface="Segoe UI Black"/>
                <a:ea typeface="Segoe UI Black"/>
              </a:rPr>
              <a:t>Begin</a:t>
            </a:r>
          </a:p>
          <a:p>
            <a:r>
              <a:rPr lang="en-US" sz="6000" b="1">
                <a:gradFill>
                  <a:gsLst>
                    <a:gs pos="0">
                      <a:srgbClr val="F5D8A8"/>
                    </a:gs>
                    <a:gs pos="100000">
                      <a:srgbClr val="380A28"/>
                    </a:gs>
                  </a:gsLst>
                  <a:lin ang="0" scaled="1"/>
                </a:gradFill>
                <a:latin typeface="Segoe UI Black"/>
                <a:ea typeface="Segoe UI Black"/>
              </a:rPr>
              <a:t>your story.</a:t>
            </a:r>
          </a:p>
        </p:txBody>
      </p:sp>
      <p:sp>
        <p:nvSpPr>
          <p:cNvPr id="11" name="TextBox 11"/>
          <p:cNvSpPr/>
          <p:nvPr/>
        </p:nvSpPr>
        <p:spPr>
          <a:xfrm>
            <a:off x="720000" y="5040000"/>
            <a:ext cx="7200000" cy="12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>
                <a:solidFill>
                  <a:srgbClr val="906878"/>
                </a:solidFill>
                <a:latin typeface="Segoe UI"/>
                <a:ea typeface="Segoe UI"/>
              </a:rPr>
              <a:t>Private appointments by invitation.</a:t>
            </a:r>
          </a:p>
          <a:p>
            <a:r>
              <a:rPr lang="en-US" sz="1600">
                <a:solidFill>
                  <a:srgbClr val="906878"/>
                </a:solidFill>
                <a:latin typeface="Segoe UI"/>
                <a:ea typeface="Segoe UI"/>
              </a:rPr>
              <a:t>We welcome new patrons each season.</a:t>
            </a:r>
          </a:p>
        </p:txBody>
      </p:sp>
      <p:sp>
        <p:nvSpPr>
          <p:cNvPr id="12" name="TextBox 12"/>
          <p:cNvSpPr/>
          <p:nvPr/>
        </p:nvSpPr>
        <p:spPr>
          <a:xfrm>
            <a:off x="720000" y="5760000"/>
            <a:ext cx="3600000" cy="900000"/>
          </a:xfrm>
          <a:prstGeom prst="roundRect">
            <a:avLst/>
          </a:prstGeom>
          <a:solidFill>
            <a:srgbClr val="F8EFE8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3" name="TextBox 13"/>
          <p:cNvSpPr/>
          <p:nvPr/>
        </p:nvSpPr>
        <p:spPr>
          <a:xfrm>
            <a:off x="720000" y="5760000"/>
            <a:ext cx="3600000" cy="9000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1200" b="1">
                <a:solidFill>
                  <a:srgbClr val="1A1020"/>
                </a:solidFill>
                <a:latin typeface="Segoe UI Black"/>
                <a:ea typeface="Segoe UI Black"/>
              </a:rPr>
              <a:t>Request an Appointment</a:t>
            </a:r>
          </a:p>
        </p:txBody>
      </p:sp>
      <p:sp>
        <p:nvSpPr>
          <p:cNvPr id="14" name="TextBox 14"/>
          <p:cNvSpPr/>
          <p:nvPr/>
        </p:nvSpPr>
        <p:spPr>
          <a:xfrm>
            <a:off x="9360000" y="6300000"/>
            <a:ext cx="2160000" cy="360000"/>
          </a:xfrm>
          <a:prstGeom prst="rect">
            <a:avLst/>
          </a:prstGeom>
          <a:noFill/>
        </p:spPr>
        <p:txBody>
          <a:bodyPr/>
          <a:lstStyle/>
          <a:p>
            <a:pPr algn="r"/>
            <a:r>
              <a:rPr lang="en-US" sz="1000">
                <a:solidFill>
                  <a:srgbClr val="906878"/>
                </a:solidFill>
                <a:latin typeface="Segoe UI"/>
                <a:ea typeface="Segoe UI"/>
              </a:rPr>
              <a:t>maisonivore.com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