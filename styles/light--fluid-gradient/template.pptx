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1780f3113ca44d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173ba2164f14d16"/>
    <p:sldId id="257" r:id="R8fce8bf17ee846ec"/>
    <p:sldId id="258" r:id="R9b1c41aa21104f53"/>
    <p:sldId id="259" r:id="R14d4db4bf88841c1"/>
    <p:sldId id="260" r:id="R0d05463767d449e0"/>
    <p:sldId id="261" r:id="R1a1104750c6e4dc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173ba2164f14d16" /><Relationship Type="http://schemas.openxmlformats.org/officeDocument/2006/relationships/slide" Target="/ppt/slides/slide2.xml" Id="R8fce8bf17ee846ec" /><Relationship Type="http://schemas.openxmlformats.org/officeDocument/2006/relationships/slide" Target="/ppt/slides/slide3.xml" Id="R9b1c41aa21104f53" /><Relationship Type="http://schemas.openxmlformats.org/officeDocument/2006/relationships/slide" Target="/ppt/slides/slide4.xml" Id="R14d4db4bf88841c1" /><Relationship Type="http://schemas.openxmlformats.org/officeDocument/2006/relationships/slide" Target="/ppt/slides/slide5.xml" Id="R0d05463767d449e0" /><Relationship Type="http://schemas.openxmlformats.org/officeDocument/2006/relationships/slide" Target="/ppt/slides/slide6.xml" Id="R1a1104750c6e4dc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d7f1a72b141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b98f7cbbd49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7726d2b7240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e6ab51af4472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549e165349d4c9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200898baa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88106824f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0d1f5ed084d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e86a21c5540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39d3f8d2e4a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61d317f474f6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2D0050"/>
            </a:gs>
            <a:gs pos="100000">
              <a:srgbClr val="00C8B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1800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836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71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1866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62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1902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53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1932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4399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1968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35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1998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26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2034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17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 rot="2064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108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 rot="21000000">
            <a:off x="0" y="6814800"/>
            <a:ext cx="10080000" cy="90000"/>
          </a:xfrm>
          <a:prstGeom prst="rect">
            <a:avLst/>
          </a:prstGeom>
          <a:solidFill>
            <a:srgbClr val="B4FF20">
              <a:alpha val="99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2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68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864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1260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656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2052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2448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2844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3240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3636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4032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4428000" y="4860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72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468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864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1260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656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2052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2448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2844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3240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3636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4032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4428000" y="5256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72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468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864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1260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1656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2052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2448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2844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3240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3636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4032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4428000" y="5652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72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468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864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1260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1656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" name="TextBox 53"/>
          <p:cNvSpPr/>
          <p:nvPr/>
        </p:nvSpPr>
        <p:spPr>
          <a:xfrm>
            <a:off x="2052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2448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" name="TextBox 55"/>
          <p:cNvSpPr/>
          <p:nvPr/>
        </p:nvSpPr>
        <p:spPr>
          <a:xfrm>
            <a:off x="2844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" name="TextBox 56"/>
          <p:cNvSpPr/>
          <p:nvPr/>
        </p:nvSpPr>
        <p:spPr>
          <a:xfrm>
            <a:off x="3240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3636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8" name="TextBox 58"/>
          <p:cNvSpPr/>
          <p:nvPr/>
        </p:nvSpPr>
        <p:spPr>
          <a:xfrm>
            <a:off x="4032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>
            <a:off x="4428000" y="6048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>
            <a:off x="72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1" name="TextBox 61"/>
          <p:cNvSpPr/>
          <p:nvPr/>
        </p:nvSpPr>
        <p:spPr>
          <a:xfrm>
            <a:off x="468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2" name="TextBox 62"/>
          <p:cNvSpPr/>
          <p:nvPr/>
        </p:nvSpPr>
        <p:spPr>
          <a:xfrm>
            <a:off x="864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3" name="TextBox 63"/>
          <p:cNvSpPr/>
          <p:nvPr/>
        </p:nvSpPr>
        <p:spPr>
          <a:xfrm>
            <a:off x="1260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4" name="TextBox 64"/>
          <p:cNvSpPr/>
          <p:nvPr/>
        </p:nvSpPr>
        <p:spPr>
          <a:xfrm>
            <a:off x="1656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5" name="TextBox 65"/>
          <p:cNvSpPr/>
          <p:nvPr/>
        </p:nvSpPr>
        <p:spPr>
          <a:xfrm>
            <a:off x="2052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6" name="TextBox 66"/>
          <p:cNvSpPr/>
          <p:nvPr/>
        </p:nvSpPr>
        <p:spPr>
          <a:xfrm>
            <a:off x="2448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7" name="TextBox 67"/>
          <p:cNvSpPr/>
          <p:nvPr/>
        </p:nvSpPr>
        <p:spPr>
          <a:xfrm>
            <a:off x="2844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8" name="TextBox 68"/>
          <p:cNvSpPr/>
          <p:nvPr/>
        </p:nvSpPr>
        <p:spPr>
          <a:xfrm>
            <a:off x="3240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9" name="TextBox 69"/>
          <p:cNvSpPr/>
          <p:nvPr/>
        </p:nvSpPr>
        <p:spPr>
          <a:xfrm>
            <a:off x="3636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0" name="TextBox 70"/>
          <p:cNvSpPr/>
          <p:nvPr/>
        </p:nvSpPr>
        <p:spPr>
          <a:xfrm>
            <a:off x="4032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1" name="TextBox 71"/>
          <p:cNvSpPr/>
          <p:nvPr/>
        </p:nvSpPr>
        <p:spPr>
          <a:xfrm>
            <a:off x="4428000" y="6444000"/>
            <a:ext cx="100800" cy="100800"/>
          </a:xfrm>
          <a:prstGeom prst="ellipse">
            <a:avLst/>
          </a:prstGeom>
          <a:solidFill>
            <a:srgbClr val="B4FF2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2" name="!!orb"/>
          <p:cNvSpPr/>
          <p:nvPr/>
        </p:nvSpPr>
        <p:spPr>
          <a:xfrm>
            <a:off x="7200000" y="0"/>
            <a:ext cx="5760000" cy="5760000"/>
          </a:xfrm>
          <a:prstGeom prst="ellipse">
            <a:avLst/>
          </a:prstGeom>
          <a:solidFill>
            <a:srgbClr val="B4FF20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3" name="TextBox 73"/>
          <p:cNvSpPr/>
          <p:nvPr/>
        </p:nvSpPr>
        <p:spPr>
          <a:xfrm>
            <a:off x="7920000" y="720000"/>
            <a:ext cx="4320000" cy="4320000"/>
          </a:xfrm>
          <a:prstGeom prst="ellipse">
            <a:avLst/>
          </a:prstGeom>
          <a:solidFill>
            <a:srgbClr val="00C8B8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4" name="TextBox 74"/>
          <p:cNvSpPr/>
          <p:nvPr/>
        </p:nvSpPr>
        <p:spPr>
          <a:xfrm>
            <a:off x="8280000" y="1800000"/>
            <a:ext cx="3600000" cy="2160000"/>
          </a:xfrm>
          <a:prstGeom prst="ellipse">
            <a:avLst/>
          </a:prstGeom>
          <a:solidFill>
            <a:srgbClr val="B4FF2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5" name="TextBox 75"/>
          <p:cNvSpPr/>
          <p:nvPr/>
        </p:nvSpPr>
        <p:spPr>
          <a:xfrm>
            <a:off x="9000000" y="1080000"/>
            <a:ext cx="2160000" cy="3600000"/>
          </a:xfrm>
          <a:prstGeom prst="ellipse">
            <a:avLst/>
          </a:prstGeom>
          <a:solidFill>
            <a:srgbClr val="D870FF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6" name="TextBox 76"/>
          <p:cNvSpPr/>
          <p:nvPr/>
        </p:nvSpPr>
        <p:spPr>
          <a:xfrm>
            <a:off x="720000" y="540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B4FF20"/>
                </a:solidFill>
                <a:latin typeface="Segoe UI"/>
                <a:ea typeface="Segoe UI"/>
              </a:rPr>
              <a:t>NOVA PLATFORM</a:t>
            </a:r>
          </a:p>
        </p:txBody>
      </p:sp>
      <p:sp>
        <p:nvSpPr>
          <p:cNvPr id="77" name="TextBox 77"/>
          <p:cNvSpPr/>
          <p:nvPr/>
        </p:nvSpPr>
        <p:spPr>
          <a:xfrm>
            <a:off x="720000" y="1008000"/>
            <a:ext cx="1260000" cy="43200"/>
          </a:xfrm>
          <a:prstGeom prst="rect">
            <a:avLst/>
          </a:prstGeom>
          <a:solidFill>
            <a:srgbClr val="B4FF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8" name="TextBox 78"/>
          <p:cNvSpPr/>
          <p:nvPr/>
        </p:nvSpPr>
        <p:spPr>
          <a:xfrm>
            <a:off x="720000" y="1260000"/>
            <a:ext cx="720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Effortless flow.</a:t>
            </a:r>
          </a:p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Limitless brilliance.</a:t>
            </a:r>
          </a:p>
        </p:txBody>
      </p:sp>
      <p:sp>
        <p:nvSpPr>
          <p:cNvPr id="79" name="TextBox 79"/>
          <p:cNvSpPr/>
          <p:nvPr/>
        </p:nvSpPr>
        <p:spPr>
          <a:xfrm>
            <a:off x="720000" y="4140000"/>
            <a:ext cx="648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E0E8FF"/>
                </a:solidFill>
                <a:latin typeface="Segoe UI"/>
                <a:ea typeface="Segoe UI"/>
              </a:rPr>
              <a:t>Nova is where developers and AI come together in perfect flow —</a:t>
            </a:r>
          </a:p>
          <a:p>
            <a:r>
              <a:rPr lang="en-US" sz="1400">
                <a:solidFill>
                  <a:srgbClr val="E0E8FF"/>
                </a:solidFill>
                <a:latin typeface="Segoe UI"/>
                <a:ea typeface="Segoe UI"/>
              </a:rPr>
              <a:t>coding into an effortless, almost magical experience.</a:t>
            </a:r>
          </a:p>
        </p:txBody>
      </p:sp>
      <p:sp>
        <p:nvSpPr>
          <p:cNvPr id="80" name="TextBox 80"/>
          <p:cNvSpPr/>
          <p:nvPr/>
        </p:nvSpPr>
        <p:spPr>
          <a:xfrm>
            <a:off x="720000" y="5760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E0E8FF"/>
                </a:solidFill>
                <a:latin typeface="Segoe UI"/>
                <a:ea typeface="Segoe UI"/>
              </a:rPr>
              <a:t>Now in public beta  ·  novaplatform.ai</a:t>
            </a:r>
          </a:p>
        </p:txBody>
      </p:sp>
      <p:sp>
        <p:nvSpPr>
          <p:cNvPr id="81" name="TextBox 81"/>
          <p:cNvSpPr/>
          <p:nvPr/>
        </p:nvSpPr>
        <p:spPr>
          <a:xfrm>
            <a:off x="720000" y="6192000"/>
            <a:ext cx="3240000" cy="576000"/>
          </a:xfrm>
          <a:prstGeom prst="roundRect">
            <a:avLst/>
          </a:prstGeom>
          <a:solidFill>
            <a:srgbClr val="B4FF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2" name="TextBox 82"/>
          <p:cNvSpPr/>
          <p:nvPr/>
        </p:nvSpPr>
        <p:spPr>
          <a:xfrm>
            <a:off x="720000" y="6192000"/>
            <a:ext cx="3240000" cy="57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b="1">
                <a:solidFill>
                  <a:srgbClr val="2D0050"/>
                </a:solidFill>
                <a:latin typeface="Segoe UI Black"/>
                <a:ea typeface="Segoe UI Black"/>
              </a:rPr>
              <a:t>Get Early Access  →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CD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1200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236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114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1266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108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1302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102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1338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96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1374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1404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84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14400000">
            <a:off x="6840000" y="3564000"/>
            <a:ext cx="7920000" cy="72000"/>
          </a:xfrm>
          <a:prstGeom prst="rect">
            <a:avLst/>
          </a:prstGeom>
          <a:solidFill>
            <a:srgbClr val="4A0090">
              <a:alpha val="78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orb"/>
          <p:cNvSpPr/>
          <p:nvPr/>
        </p:nvSpPr>
        <p:spPr>
          <a:xfrm>
            <a:off x="0" y="2880000"/>
            <a:ext cx="5040000" cy="5040000"/>
          </a:xfrm>
          <a:prstGeom prst="ellipse">
            <a:avLst/>
          </a:prstGeom>
          <a:solidFill>
            <a:srgbClr val="2D005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3600000"/>
            <a:ext cx="3600000" cy="3600000"/>
          </a:xfrm>
          <a:prstGeom prst="ellipse">
            <a:avLst/>
          </a:prstGeom>
          <a:solidFill>
            <a:srgbClr val="00C8B8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54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4A0090"/>
                </a:solidFill>
                <a:latin typeface="Segoe UI"/>
                <a:ea typeface="Segoe UI"/>
              </a:rPr>
              <a:t>PRODUCT  ·  HOW IT WORKS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1008000"/>
            <a:ext cx="1260000" cy="43200"/>
          </a:xfrm>
          <a:prstGeom prst="rect">
            <a:avLst/>
          </a:prstGeom>
          <a:solidFill>
            <a:srgbClr val="4A0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1260000"/>
            <a:ext cx="792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2D0050"/>
                </a:solidFill>
                <a:latin typeface="Segoe UI Black"/>
                <a:ea typeface="Segoe UI Black"/>
              </a:rPr>
              <a:t>Crush creative</a:t>
            </a:r>
          </a:p>
          <a:p>
            <a:r>
              <a:rPr lang="en-US" sz="4400" b="1">
                <a:solidFill>
                  <a:srgbClr val="2D0050"/>
                </a:solidFill>
                <a:latin typeface="Segoe UI Black"/>
                <a:ea typeface="Segoe UI Black"/>
              </a:rPr>
              <a:t>blocks forever.</a:t>
            </a:r>
          </a:p>
        </p:txBody>
      </p:sp>
      <p:sp>
        <p:nvSpPr>
          <p:cNvPr id="15" name="TextBox 15"/>
          <p:cNvSpPr/>
          <p:nvPr/>
        </p:nvSpPr>
        <p:spPr>
          <a:xfrm>
            <a:off x="720000" y="4140000"/>
            <a:ext cx="79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2D0050"/>
                </a:solidFill>
                <a:latin typeface="Segoe UI"/>
                <a:ea typeface="Segoe UI"/>
              </a:rPr>
              <a:t>Nova learns your patterns, suggests completions, and catches errors before you see them. It’s not autocomplete — it’s a co-pilot that knows your style.</a:t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5760000"/>
            <a:ext cx="2520000" cy="648000"/>
          </a:xfrm>
          <a:prstGeom prst="roundRect">
            <a:avLst/>
          </a:prstGeom>
          <a:solidFill>
            <a:srgbClr val="2D00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5760000"/>
            <a:ext cx="2520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Segoe UI Black"/>
                <a:ea typeface="Segoe UI Black"/>
              </a:rPr>
              <a:t>AI Completions</a:t>
            </a:r>
          </a:p>
        </p:txBody>
      </p:sp>
      <p:sp>
        <p:nvSpPr>
          <p:cNvPr id="18" name="TextBox 18"/>
          <p:cNvSpPr/>
          <p:nvPr/>
        </p:nvSpPr>
        <p:spPr>
          <a:xfrm>
            <a:off x="3600000" y="5760000"/>
            <a:ext cx="2520000" cy="648000"/>
          </a:xfrm>
          <a:prstGeom prst="roundRect">
            <a:avLst/>
          </a:prstGeom>
          <a:solidFill>
            <a:srgbClr val="00C8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3600000" y="5760000"/>
            <a:ext cx="2520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2D0050"/>
                </a:solidFill>
                <a:latin typeface="Segoe UI Black"/>
                <a:ea typeface="Segoe UI Black"/>
              </a:rPr>
              <a:t>Code Review</a:t>
            </a:r>
          </a:p>
        </p:txBody>
      </p:sp>
      <p:sp>
        <p:nvSpPr>
          <p:cNvPr id="20" name="TextBox 20"/>
          <p:cNvSpPr/>
          <p:nvPr/>
        </p:nvSpPr>
        <p:spPr>
          <a:xfrm>
            <a:off x="6480000" y="5760000"/>
            <a:ext cx="2520000" cy="648000"/>
          </a:xfrm>
          <a:prstGeom prst="roundRect">
            <a:avLst/>
          </a:prstGeom>
          <a:solidFill>
            <a:srgbClr val="B4FF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480000" y="5760000"/>
            <a:ext cx="2520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1">
                <a:solidFill>
                  <a:srgbClr val="2D0050"/>
                </a:solidFill>
                <a:latin typeface="Segoe UI Black"/>
                <a:ea typeface="Segoe UI Black"/>
              </a:rPr>
              <a:t>Live Refactor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00C8B8"/>
            </a:gs>
            <a:gs pos="100000">
              <a:srgbClr val="2D0050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6480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912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344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776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8208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8640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9072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9504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9936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0368000" y="72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6480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6912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344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7776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8208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8640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9072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9504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9936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10368000" y="504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6480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6912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7344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7776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8208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8640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9072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9504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9936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10368000" y="936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6480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6912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7344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7776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8208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8640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9072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9504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9936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10368000" y="1368000"/>
            <a:ext cx="90000" cy="90000"/>
          </a:xfrm>
          <a:prstGeom prst="ellipse">
            <a:avLst/>
          </a:prstGeom>
          <a:solidFill>
            <a:srgbClr val="FFFFFF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!!orb"/>
          <p:cNvSpPr/>
          <p:nvPr/>
        </p:nvSpPr>
        <p:spPr>
          <a:xfrm>
            <a:off x="6480000" y="1440000"/>
            <a:ext cx="5760000" cy="5760000"/>
          </a:xfrm>
          <a:prstGeom prst="ellipse">
            <a:avLst/>
          </a:prstGeom>
          <a:solidFill>
            <a:srgbClr val="B4FF20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7200000" y="2160000"/>
            <a:ext cx="4320000" cy="4320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720000" y="540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B4FF20"/>
                </a:solidFill>
                <a:latin typeface="Segoe UI"/>
                <a:ea typeface="Segoe UI"/>
              </a:rPr>
              <a:t>FEATURES  ·  WHAT’S INSIDE</a:t>
            </a:r>
          </a:p>
        </p:txBody>
      </p:sp>
      <p:sp>
        <p:nvSpPr>
          <p:cNvPr id="45" name="TextBox 45"/>
          <p:cNvSpPr/>
          <p:nvPr/>
        </p:nvSpPr>
        <p:spPr>
          <a:xfrm>
            <a:off x="720000" y="1008000"/>
            <a:ext cx="1260000" cy="43200"/>
          </a:xfrm>
          <a:prstGeom prst="rect">
            <a:avLst/>
          </a:prstGeom>
          <a:solidFill>
            <a:srgbClr val="B4FF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720000" y="1260000"/>
            <a:ext cx="576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Everything</a:t>
            </a:r>
          </a:p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you need.</a:t>
            </a:r>
          </a:p>
        </p:txBody>
      </p:sp>
      <p:sp>
        <p:nvSpPr>
          <p:cNvPr id="47" name="TextBox 47"/>
          <p:cNvSpPr/>
          <p:nvPr/>
        </p:nvSpPr>
        <p:spPr>
          <a:xfrm>
            <a:off x="720000" y="3420000"/>
            <a:ext cx="504000" cy="504000"/>
          </a:xfrm>
          <a:prstGeom prst="ellipse">
            <a:avLst/>
          </a:prstGeom>
          <a:solidFill>
            <a:srgbClr val="B4FF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1440000" y="3420000"/>
            <a:ext cx="504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Supercomplete</a:t>
            </a:r>
          </a:p>
        </p:txBody>
      </p:sp>
      <p:sp>
        <p:nvSpPr>
          <p:cNvPr id="49" name="TextBox 49"/>
          <p:cNvSpPr/>
          <p:nvPr/>
        </p:nvSpPr>
        <p:spPr>
          <a:xfrm>
            <a:off x="1440000" y="3852000"/>
            <a:ext cx="504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Context-aware completions trained on 2B lines of production code.</a:t>
            </a:r>
          </a:p>
        </p:txBody>
      </p:sp>
      <p:sp>
        <p:nvSpPr>
          <p:cNvPr id="50" name="TextBox 50"/>
          <p:cNvSpPr/>
          <p:nvPr/>
        </p:nvSpPr>
        <p:spPr>
          <a:xfrm>
            <a:off x="720000" y="4428000"/>
            <a:ext cx="504000" cy="504000"/>
          </a:xfrm>
          <a:prstGeom prst="ellipse">
            <a:avLst/>
          </a:prstGeom>
          <a:solidFill>
            <a:srgbClr val="00C8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1440000" y="4428000"/>
            <a:ext cx="504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Flow State Guard</a:t>
            </a:r>
          </a:p>
        </p:txBody>
      </p:sp>
      <p:sp>
        <p:nvSpPr>
          <p:cNvPr id="52" name="TextBox 52"/>
          <p:cNvSpPr/>
          <p:nvPr/>
        </p:nvSpPr>
        <p:spPr>
          <a:xfrm>
            <a:off x="1440000" y="4860000"/>
            <a:ext cx="504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Detects focus breaks before they happen and mutes all distractions.</a:t>
            </a:r>
          </a:p>
        </p:txBody>
      </p:sp>
      <p:sp>
        <p:nvSpPr>
          <p:cNvPr id="53" name="TextBox 53"/>
          <p:cNvSpPr/>
          <p:nvPr/>
        </p:nvSpPr>
        <p:spPr>
          <a:xfrm>
            <a:off x="720000" y="5436000"/>
            <a:ext cx="504000" cy="504000"/>
          </a:xfrm>
          <a:prstGeom prst="ellipse">
            <a:avLst/>
          </a:prstGeom>
          <a:solidFill>
            <a:srgbClr val="D870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1440000" y="5436000"/>
            <a:ext cx="5040000" cy="39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Pair Review</a:t>
            </a:r>
          </a:p>
        </p:txBody>
      </p:sp>
      <p:sp>
        <p:nvSpPr>
          <p:cNvPr id="55" name="TextBox 55"/>
          <p:cNvSpPr/>
          <p:nvPr/>
        </p:nvSpPr>
        <p:spPr>
          <a:xfrm>
            <a:off x="1440000" y="5868000"/>
            <a:ext cx="504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AI partner that reviews PRs in real-time and explains every suggestion.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0ECD8"/>
        </a:solidFill>
      </p:bgPr>
    </p:bg>
    <p:spTree>
      <p:nvGrpSpPr>
        <p:cNvPr id="1" name=""/>
        <p:cNvGrpSpPr/>
        <p:nvPr/>
      </p:nvGrpSpPr>
      <p:grpSpPr/>
      <p:sp>
        <p:nvSpPr>
          <p:cNvPr id="2" name="!!orb"/>
          <p:cNvSpPr/>
          <p:nvPr/>
        </p:nvSpPr>
        <p:spPr>
          <a:xfrm>
            <a:off x="0" y="0"/>
            <a:ext cx="6480000" cy="6480000"/>
          </a:xfrm>
          <a:prstGeom prst="ellipse">
            <a:avLst/>
          </a:prstGeom>
          <a:solidFill>
            <a:srgbClr val="2D0050">
              <a:alpha val="1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360000"/>
            <a:ext cx="4320000" cy="4320000"/>
          </a:xfrm>
          <a:prstGeom prst="ellipse">
            <a:avLst/>
          </a:prstGeom>
          <a:solidFill>
            <a:srgbClr val="00C8B8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4A0090"/>
                </a:solidFill>
                <a:latin typeface="Segoe UI"/>
                <a:ea typeface="Segoe UI"/>
              </a:rPr>
              <a:t>TRACTION  ·  BY THE NUMBERS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008000"/>
            <a:ext cx="1260000" cy="43200"/>
          </a:xfrm>
          <a:prstGeom prst="rect">
            <a:avLst/>
          </a:prstGeom>
          <a:solidFill>
            <a:srgbClr val="4A0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260000"/>
            <a:ext cx="79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2D0050"/>
                </a:solidFill>
                <a:latin typeface="Segoe UI Black"/>
                <a:ea typeface="Segoe UI Black"/>
              </a:rPr>
              <a:t>Numbers that</a:t>
            </a:r>
          </a:p>
          <a:p>
            <a:r>
              <a:rPr lang="en-US" sz="3600" b="1">
                <a:solidFill>
                  <a:srgbClr val="2D0050"/>
                </a:solidFill>
                <a:latin typeface="Segoe UI Black"/>
                <a:ea typeface="Segoe UI Black"/>
              </a:rPr>
              <a:t>speak for themselves.</a:t>
            </a:r>
          </a:p>
        </p:txBody>
      </p:sp>
      <p:sp>
        <p:nvSpPr>
          <p:cNvPr id="7" name="TextBox 7"/>
          <p:cNvSpPr/>
          <p:nvPr/>
        </p:nvSpPr>
        <p:spPr>
          <a:xfrm>
            <a:off x="6480000" y="720000"/>
            <a:ext cx="5040000" cy="2700000"/>
          </a:xfrm>
          <a:prstGeom prst="roundRect">
            <a:avLst/>
          </a:prstGeom>
          <a:solidFill>
            <a:srgbClr val="2D00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6660000" y="1008000"/>
            <a:ext cx="43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B4FF20"/>
                </a:solidFill>
                <a:latin typeface="Segoe UI Black"/>
                <a:ea typeface="Segoe UI Black"/>
              </a:rPr>
              <a:t>2.4M</a:t>
            </a:r>
          </a:p>
        </p:txBody>
      </p:sp>
      <p:sp>
        <p:nvSpPr>
          <p:cNvPr id="9" name="TextBox 9"/>
          <p:cNvSpPr/>
          <p:nvPr/>
        </p:nvSpPr>
        <p:spPr>
          <a:xfrm>
            <a:off x="6660000" y="2268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FFFFFF"/>
                </a:solidFill>
                <a:latin typeface="Segoe UI Black"/>
                <a:ea typeface="Segoe UI Black"/>
              </a:rPr>
              <a:t>ACTIVE DEVELOPERS</a:t>
            </a:r>
          </a:p>
        </p:txBody>
      </p:sp>
      <p:sp>
        <p:nvSpPr>
          <p:cNvPr id="10" name="TextBox 10"/>
          <p:cNvSpPr/>
          <p:nvPr/>
        </p:nvSpPr>
        <p:spPr>
          <a:xfrm>
            <a:off x="6660000" y="2664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Growing 18% month-over-month since launch.</a:t>
            </a:r>
          </a:p>
        </p:txBody>
      </p:sp>
      <p:sp>
        <p:nvSpPr>
          <p:cNvPr id="11" name="TextBox 11"/>
          <p:cNvSpPr/>
          <p:nvPr/>
        </p:nvSpPr>
        <p:spPr>
          <a:xfrm>
            <a:off x="6480000" y="3780000"/>
            <a:ext cx="5040000" cy="2700000"/>
          </a:xfrm>
          <a:prstGeom prst="roundRect">
            <a:avLst/>
          </a:prstGeom>
          <a:solidFill>
            <a:srgbClr val="00C8B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6660000" y="4068000"/>
            <a:ext cx="43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2D0050"/>
                </a:solidFill>
                <a:latin typeface="Segoe UI Black"/>
                <a:ea typeface="Segoe UI Black"/>
              </a:rPr>
              <a:t>8ms</a:t>
            </a:r>
          </a:p>
        </p:txBody>
      </p:sp>
      <p:sp>
        <p:nvSpPr>
          <p:cNvPr id="13" name="TextBox 13"/>
          <p:cNvSpPr/>
          <p:nvPr/>
        </p:nvSpPr>
        <p:spPr>
          <a:xfrm>
            <a:off x="6660000" y="5328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2D0050"/>
                </a:solidFill>
                <a:latin typeface="Segoe UI Black"/>
                <a:ea typeface="Segoe UI Black"/>
              </a:rPr>
              <a:t>P99 SUGGESTION LATENCY</a:t>
            </a:r>
          </a:p>
        </p:txBody>
      </p:sp>
      <p:sp>
        <p:nvSpPr>
          <p:cNvPr id="14" name="TextBox 14"/>
          <p:cNvSpPr/>
          <p:nvPr/>
        </p:nvSpPr>
        <p:spPr>
          <a:xfrm>
            <a:off x="6660000" y="5724000"/>
            <a:ext cx="43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2D0050"/>
                </a:solidFill>
                <a:latin typeface="Segoe UI"/>
                <a:ea typeface="Segoe UI"/>
              </a:rPr>
              <a:t>Faster than you can type — seriously.</a:t>
            </a:r>
          </a:p>
        </p:txBody>
      </p:sp>
      <p:sp>
        <p:nvSpPr>
          <p:cNvPr id="15" name="TextBox 15"/>
          <p:cNvSpPr/>
          <p:nvPr/>
        </p:nvSpPr>
        <p:spPr>
          <a:xfrm>
            <a:off x="720000" y="3420000"/>
            <a:ext cx="54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2D0050"/>
                </a:solidFill>
                <a:latin typeface="Segoe UI"/>
                <a:ea typeface="Segoe UI"/>
              </a:rPr>
              <a:t>We’re not just fast. We’re accurate to 94.2% on standard</a:t>
            </a:r>
          </a:p>
          <a:p>
            <a:r>
              <a:rPr lang="en-US" sz="1300">
                <a:solidFill>
                  <a:srgbClr val="2D0050"/>
                </a:solidFill>
                <a:latin typeface="Segoe UI"/>
                <a:ea typeface="Segoe UI"/>
              </a:rPr>
              <a:t>benchmarks — 31 points ahead of nearest competitor.</a:t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3240000"/>
            <a:ext cx="5400000" cy="18000"/>
          </a:xfrm>
          <a:prstGeom prst="rect">
            <a:avLst/>
          </a:prstGeom>
          <a:solidFill>
            <a:srgbClr val="2D0050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2D0050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 rot="1560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 rot="1590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133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 rot="1626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126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 rot="1656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119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 rot="1692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112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1722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105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1758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98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 rot="1788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91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 rot="1824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84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 rot="1854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77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 rot="1890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 rot="19200000">
            <a:off x="1414800" y="6825600"/>
            <a:ext cx="9360000" cy="64800"/>
          </a:xfrm>
          <a:prstGeom prst="rect">
            <a:avLst/>
          </a:prstGeom>
          <a:solidFill>
            <a:srgbClr val="00C8B8">
              <a:alpha val="63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orb"/>
          <p:cNvSpPr/>
          <p:nvPr/>
        </p:nvSpPr>
        <p:spPr>
          <a:xfrm>
            <a:off x="2520000" y="360000"/>
            <a:ext cx="7200000" cy="7200000"/>
          </a:xfrm>
          <a:prstGeom prst="ellipse">
            <a:avLst/>
          </a:prstGeom>
          <a:solidFill>
            <a:srgbClr val="B4FF20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3240000" y="1080000"/>
            <a:ext cx="5760000" cy="5760000"/>
          </a:xfrm>
          <a:prstGeom prst="ellipse">
            <a:avLst/>
          </a:prstGeom>
          <a:solidFill>
            <a:srgbClr val="00C8B8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3600000" y="2160000"/>
            <a:ext cx="5040000" cy="2520000"/>
          </a:xfrm>
          <a:prstGeom prst="ellipse">
            <a:avLst/>
          </a:prstGeom>
          <a:solidFill>
            <a:srgbClr val="B4FF20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4680000" y="1080000"/>
            <a:ext cx="2520000" cy="5040000"/>
          </a:xfrm>
          <a:prstGeom prst="ellipse">
            <a:avLst/>
          </a:prstGeom>
          <a:solidFill>
            <a:srgbClr val="D870FF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720000" y="54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B4FF20"/>
                </a:solidFill>
                <a:latin typeface="Segoe UI"/>
                <a:ea typeface="Segoe UI"/>
              </a:rPr>
              <a:t>VISION  ·  WHERE WE’RE GOING</a:t>
            </a:r>
          </a:p>
        </p:txBody>
      </p:sp>
      <p:sp>
        <p:nvSpPr>
          <p:cNvPr id="19" name="TextBox 19"/>
          <p:cNvSpPr/>
          <p:nvPr/>
        </p:nvSpPr>
        <p:spPr>
          <a:xfrm>
            <a:off x="720000" y="1008000"/>
            <a:ext cx="1260000" cy="43200"/>
          </a:xfrm>
          <a:prstGeom prst="rect">
            <a:avLst/>
          </a:prstGeom>
          <a:solidFill>
            <a:srgbClr val="B4FF2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720000" y="1368000"/>
            <a:ext cx="792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Do the best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work of your life.</a:t>
            </a:r>
          </a:p>
        </p:txBody>
      </p:sp>
      <p:sp>
        <p:nvSpPr>
          <p:cNvPr id="21" name="TextBox 21"/>
          <p:cNvSpPr/>
          <p:nvPr/>
        </p:nvSpPr>
        <p:spPr>
          <a:xfrm>
            <a:off x="720000" y="4500000"/>
            <a:ext cx="720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E0E8FF"/>
                </a:solidFill>
                <a:latin typeface="Segoe UI"/>
                <a:ea typeface="Segoe UI"/>
              </a:rPr>
              <a:t>Nova is building the future of programming —</a:t>
            </a:r>
          </a:p>
          <a:p>
            <a:r>
              <a:rPr lang="en-US" sz="1400">
                <a:solidFill>
                  <a:srgbClr val="E0E8FF"/>
                </a:solidFill>
                <a:latin typeface="Segoe UI"/>
                <a:ea typeface="Segoe UI"/>
              </a:rPr>
              <a:t>where AI removes friction so humans can focus on what matters.</a:t>
            </a:r>
          </a:p>
        </p:txBody>
      </p:sp>
      <p:sp>
        <p:nvSpPr>
          <p:cNvPr id="22" name="TextBox 22"/>
          <p:cNvSpPr/>
          <p:nvPr/>
        </p:nvSpPr>
        <p:spPr>
          <a:xfrm>
            <a:off x="720000" y="6048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B4FF20"/>
                </a:solidFill>
                <a:latin typeface="Segoe UI"/>
                <a:ea typeface="Segoe UI"/>
              </a:rPr>
              <a:t>[LEARN MORE]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B4FF20"/>
            </a:gs>
            <a:gs pos="100000">
              <a:srgbClr val="00C8B8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80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76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972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368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764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2160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2556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2952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348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744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4140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536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4932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328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5724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6120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516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6912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7308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7704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8100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8496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8892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9288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9684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10080000" y="4860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80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576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972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1368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1764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2160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2556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2952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3348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3744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4140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4536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4932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5328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5724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6120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6516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6912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7308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7" name="TextBox 47"/>
          <p:cNvSpPr/>
          <p:nvPr/>
        </p:nvSpPr>
        <p:spPr>
          <a:xfrm>
            <a:off x="7704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8100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8496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8892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9288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9684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" name="TextBox 53"/>
          <p:cNvSpPr/>
          <p:nvPr/>
        </p:nvSpPr>
        <p:spPr>
          <a:xfrm>
            <a:off x="10080000" y="5256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4" name="TextBox 54"/>
          <p:cNvSpPr/>
          <p:nvPr/>
        </p:nvSpPr>
        <p:spPr>
          <a:xfrm>
            <a:off x="180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5" name="TextBox 55"/>
          <p:cNvSpPr/>
          <p:nvPr/>
        </p:nvSpPr>
        <p:spPr>
          <a:xfrm>
            <a:off x="576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6" name="TextBox 56"/>
          <p:cNvSpPr/>
          <p:nvPr/>
        </p:nvSpPr>
        <p:spPr>
          <a:xfrm>
            <a:off x="972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1368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8" name="TextBox 58"/>
          <p:cNvSpPr/>
          <p:nvPr/>
        </p:nvSpPr>
        <p:spPr>
          <a:xfrm>
            <a:off x="1764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9" name="TextBox 59"/>
          <p:cNvSpPr/>
          <p:nvPr/>
        </p:nvSpPr>
        <p:spPr>
          <a:xfrm>
            <a:off x="2160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>
            <a:off x="2556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1" name="TextBox 61"/>
          <p:cNvSpPr/>
          <p:nvPr/>
        </p:nvSpPr>
        <p:spPr>
          <a:xfrm>
            <a:off x="2952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2" name="TextBox 62"/>
          <p:cNvSpPr/>
          <p:nvPr/>
        </p:nvSpPr>
        <p:spPr>
          <a:xfrm>
            <a:off x="3348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3" name="TextBox 63"/>
          <p:cNvSpPr/>
          <p:nvPr/>
        </p:nvSpPr>
        <p:spPr>
          <a:xfrm>
            <a:off x="3744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4" name="TextBox 64"/>
          <p:cNvSpPr/>
          <p:nvPr/>
        </p:nvSpPr>
        <p:spPr>
          <a:xfrm>
            <a:off x="4140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5" name="TextBox 65"/>
          <p:cNvSpPr/>
          <p:nvPr/>
        </p:nvSpPr>
        <p:spPr>
          <a:xfrm>
            <a:off x="4536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6" name="TextBox 66"/>
          <p:cNvSpPr/>
          <p:nvPr/>
        </p:nvSpPr>
        <p:spPr>
          <a:xfrm>
            <a:off x="4932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7" name="TextBox 67"/>
          <p:cNvSpPr/>
          <p:nvPr/>
        </p:nvSpPr>
        <p:spPr>
          <a:xfrm>
            <a:off x="5328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8" name="TextBox 68"/>
          <p:cNvSpPr/>
          <p:nvPr/>
        </p:nvSpPr>
        <p:spPr>
          <a:xfrm>
            <a:off x="5724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9" name="TextBox 69"/>
          <p:cNvSpPr/>
          <p:nvPr/>
        </p:nvSpPr>
        <p:spPr>
          <a:xfrm>
            <a:off x="6120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0" name="TextBox 70"/>
          <p:cNvSpPr/>
          <p:nvPr/>
        </p:nvSpPr>
        <p:spPr>
          <a:xfrm>
            <a:off x="6516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1" name="TextBox 71"/>
          <p:cNvSpPr/>
          <p:nvPr/>
        </p:nvSpPr>
        <p:spPr>
          <a:xfrm>
            <a:off x="6912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2" name="TextBox 72"/>
          <p:cNvSpPr/>
          <p:nvPr/>
        </p:nvSpPr>
        <p:spPr>
          <a:xfrm>
            <a:off x="7308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3" name="TextBox 73"/>
          <p:cNvSpPr/>
          <p:nvPr/>
        </p:nvSpPr>
        <p:spPr>
          <a:xfrm>
            <a:off x="7704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4" name="TextBox 74"/>
          <p:cNvSpPr/>
          <p:nvPr/>
        </p:nvSpPr>
        <p:spPr>
          <a:xfrm>
            <a:off x="8100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5" name="TextBox 75"/>
          <p:cNvSpPr/>
          <p:nvPr/>
        </p:nvSpPr>
        <p:spPr>
          <a:xfrm>
            <a:off x="8496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6" name="TextBox 76"/>
          <p:cNvSpPr/>
          <p:nvPr/>
        </p:nvSpPr>
        <p:spPr>
          <a:xfrm>
            <a:off x="8892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7" name="TextBox 77"/>
          <p:cNvSpPr/>
          <p:nvPr/>
        </p:nvSpPr>
        <p:spPr>
          <a:xfrm>
            <a:off x="9288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8" name="TextBox 78"/>
          <p:cNvSpPr/>
          <p:nvPr/>
        </p:nvSpPr>
        <p:spPr>
          <a:xfrm>
            <a:off x="9684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9" name="TextBox 79"/>
          <p:cNvSpPr/>
          <p:nvPr/>
        </p:nvSpPr>
        <p:spPr>
          <a:xfrm>
            <a:off x="10080000" y="5652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0" name="TextBox 80"/>
          <p:cNvSpPr/>
          <p:nvPr/>
        </p:nvSpPr>
        <p:spPr>
          <a:xfrm>
            <a:off x="180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1" name="TextBox 81"/>
          <p:cNvSpPr/>
          <p:nvPr/>
        </p:nvSpPr>
        <p:spPr>
          <a:xfrm>
            <a:off x="576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2" name="TextBox 82"/>
          <p:cNvSpPr/>
          <p:nvPr/>
        </p:nvSpPr>
        <p:spPr>
          <a:xfrm>
            <a:off x="972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3" name="TextBox 83"/>
          <p:cNvSpPr/>
          <p:nvPr/>
        </p:nvSpPr>
        <p:spPr>
          <a:xfrm>
            <a:off x="1368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4" name="TextBox 84"/>
          <p:cNvSpPr/>
          <p:nvPr/>
        </p:nvSpPr>
        <p:spPr>
          <a:xfrm>
            <a:off x="1764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5" name="TextBox 85"/>
          <p:cNvSpPr/>
          <p:nvPr/>
        </p:nvSpPr>
        <p:spPr>
          <a:xfrm>
            <a:off x="2160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6" name="TextBox 86"/>
          <p:cNvSpPr/>
          <p:nvPr/>
        </p:nvSpPr>
        <p:spPr>
          <a:xfrm>
            <a:off x="2556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7" name="TextBox 87"/>
          <p:cNvSpPr/>
          <p:nvPr/>
        </p:nvSpPr>
        <p:spPr>
          <a:xfrm>
            <a:off x="2952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8" name="TextBox 88"/>
          <p:cNvSpPr/>
          <p:nvPr/>
        </p:nvSpPr>
        <p:spPr>
          <a:xfrm>
            <a:off x="3348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9" name="TextBox 89"/>
          <p:cNvSpPr/>
          <p:nvPr/>
        </p:nvSpPr>
        <p:spPr>
          <a:xfrm>
            <a:off x="3744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0" name="TextBox 90"/>
          <p:cNvSpPr/>
          <p:nvPr/>
        </p:nvSpPr>
        <p:spPr>
          <a:xfrm>
            <a:off x="4140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1" name="TextBox 91"/>
          <p:cNvSpPr/>
          <p:nvPr/>
        </p:nvSpPr>
        <p:spPr>
          <a:xfrm>
            <a:off x="4536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2" name="TextBox 92"/>
          <p:cNvSpPr/>
          <p:nvPr/>
        </p:nvSpPr>
        <p:spPr>
          <a:xfrm>
            <a:off x="4932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3" name="TextBox 93"/>
          <p:cNvSpPr/>
          <p:nvPr/>
        </p:nvSpPr>
        <p:spPr>
          <a:xfrm>
            <a:off x="5328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4" name="TextBox 94"/>
          <p:cNvSpPr/>
          <p:nvPr/>
        </p:nvSpPr>
        <p:spPr>
          <a:xfrm>
            <a:off x="5724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5" name="TextBox 95"/>
          <p:cNvSpPr/>
          <p:nvPr/>
        </p:nvSpPr>
        <p:spPr>
          <a:xfrm>
            <a:off x="6120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6" name="TextBox 96"/>
          <p:cNvSpPr/>
          <p:nvPr/>
        </p:nvSpPr>
        <p:spPr>
          <a:xfrm>
            <a:off x="6516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7" name="TextBox 97"/>
          <p:cNvSpPr/>
          <p:nvPr/>
        </p:nvSpPr>
        <p:spPr>
          <a:xfrm>
            <a:off x="6912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8" name="TextBox 98"/>
          <p:cNvSpPr/>
          <p:nvPr/>
        </p:nvSpPr>
        <p:spPr>
          <a:xfrm>
            <a:off x="7308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9" name="TextBox 99"/>
          <p:cNvSpPr/>
          <p:nvPr/>
        </p:nvSpPr>
        <p:spPr>
          <a:xfrm>
            <a:off x="7704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0" name="TextBox 100"/>
          <p:cNvSpPr/>
          <p:nvPr/>
        </p:nvSpPr>
        <p:spPr>
          <a:xfrm>
            <a:off x="8100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1" name="TextBox 101"/>
          <p:cNvSpPr/>
          <p:nvPr/>
        </p:nvSpPr>
        <p:spPr>
          <a:xfrm>
            <a:off x="8496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2" name="TextBox 102"/>
          <p:cNvSpPr/>
          <p:nvPr/>
        </p:nvSpPr>
        <p:spPr>
          <a:xfrm>
            <a:off x="8892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3" name="TextBox 103"/>
          <p:cNvSpPr/>
          <p:nvPr/>
        </p:nvSpPr>
        <p:spPr>
          <a:xfrm>
            <a:off x="9288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4" name="TextBox 104"/>
          <p:cNvSpPr/>
          <p:nvPr/>
        </p:nvSpPr>
        <p:spPr>
          <a:xfrm>
            <a:off x="9684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5" name="TextBox 105"/>
          <p:cNvSpPr/>
          <p:nvPr/>
        </p:nvSpPr>
        <p:spPr>
          <a:xfrm>
            <a:off x="10080000" y="6048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6" name="TextBox 106"/>
          <p:cNvSpPr/>
          <p:nvPr/>
        </p:nvSpPr>
        <p:spPr>
          <a:xfrm>
            <a:off x="180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7" name="TextBox 107"/>
          <p:cNvSpPr/>
          <p:nvPr/>
        </p:nvSpPr>
        <p:spPr>
          <a:xfrm>
            <a:off x="576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8" name="TextBox 108"/>
          <p:cNvSpPr/>
          <p:nvPr/>
        </p:nvSpPr>
        <p:spPr>
          <a:xfrm>
            <a:off x="972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9" name="TextBox 109"/>
          <p:cNvSpPr/>
          <p:nvPr/>
        </p:nvSpPr>
        <p:spPr>
          <a:xfrm>
            <a:off x="1368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0" name="TextBox 110"/>
          <p:cNvSpPr/>
          <p:nvPr/>
        </p:nvSpPr>
        <p:spPr>
          <a:xfrm>
            <a:off x="1764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1" name="TextBox 111"/>
          <p:cNvSpPr/>
          <p:nvPr/>
        </p:nvSpPr>
        <p:spPr>
          <a:xfrm>
            <a:off x="2160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2" name="TextBox 112"/>
          <p:cNvSpPr/>
          <p:nvPr/>
        </p:nvSpPr>
        <p:spPr>
          <a:xfrm>
            <a:off x="2556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3" name="TextBox 113"/>
          <p:cNvSpPr/>
          <p:nvPr/>
        </p:nvSpPr>
        <p:spPr>
          <a:xfrm>
            <a:off x="2952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4" name="TextBox 114"/>
          <p:cNvSpPr/>
          <p:nvPr/>
        </p:nvSpPr>
        <p:spPr>
          <a:xfrm>
            <a:off x="3348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5" name="TextBox 115"/>
          <p:cNvSpPr/>
          <p:nvPr/>
        </p:nvSpPr>
        <p:spPr>
          <a:xfrm>
            <a:off x="3744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6" name="TextBox 116"/>
          <p:cNvSpPr/>
          <p:nvPr/>
        </p:nvSpPr>
        <p:spPr>
          <a:xfrm>
            <a:off x="4140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7" name="TextBox 117"/>
          <p:cNvSpPr/>
          <p:nvPr/>
        </p:nvSpPr>
        <p:spPr>
          <a:xfrm>
            <a:off x="4536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8" name="TextBox 118"/>
          <p:cNvSpPr/>
          <p:nvPr/>
        </p:nvSpPr>
        <p:spPr>
          <a:xfrm>
            <a:off x="4932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9" name="TextBox 119"/>
          <p:cNvSpPr/>
          <p:nvPr/>
        </p:nvSpPr>
        <p:spPr>
          <a:xfrm>
            <a:off x="5328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0" name="TextBox 120"/>
          <p:cNvSpPr/>
          <p:nvPr/>
        </p:nvSpPr>
        <p:spPr>
          <a:xfrm>
            <a:off x="5724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1" name="TextBox 121"/>
          <p:cNvSpPr/>
          <p:nvPr/>
        </p:nvSpPr>
        <p:spPr>
          <a:xfrm>
            <a:off x="6120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2" name="TextBox 122"/>
          <p:cNvSpPr/>
          <p:nvPr/>
        </p:nvSpPr>
        <p:spPr>
          <a:xfrm>
            <a:off x="6516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3" name="TextBox 123"/>
          <p:cNvSpPr/>
          <p:nvPr/>
        </p:nvSpPr>
        <p:spPr>
          <a:xfrm>
            <a:off x="6912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4" name="TextBox 124"/>
          <p:cNvSpPr/>
          <p:nvPr/>
        </p:nvSpPr>
        <p:spPr>
          <a:xfrm>
            <a:off x="7308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5" name="TextBox 125"/>
          <p:cNvSpPr/>
          <p:nvPr/>
        </p:nvSpPr>
        <p:spPr>
          <a:xfrm>
            <a:off x="7704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6" name="TextBox 126"/>
          <p:cNvSpPr/>
          <p:nvPr/>
        </p:nvSpPr>
        <p:spPr>
          <a:xfrm>
            <a:off x="8100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7" name="TextBox 127"/>
          <p:cNvSpPr/>
          <p:nvPr/>
        </p:nvSpPr>
        <p:spPr>
          <a:xfrm>
            <a:off x="8496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8" name="TextBox 128"/>
          <p:cNvSpPr/>
          <p:nvPr/>
        </p:nvSpPr>
        <p:spPr>
          <a:xfrm>
            <a:off x="8892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9" name="TextBox 129"/>
          <p:cNvSpPr/>
          <p:nvPr/>
        </p:nvSpPr>
        <p:spPr>
          <a:xfrm>
            <a:off x="9288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0" name="TextBox 130"/>
          <p:cNvSpPr/>
          <p:nvPr/>
        </p:nvSpPr>
        <p:spPr>
          <a:xfrm>
            <a:off x="9684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1" name="TextBox 131"/>
          <p:cNvSpPr/>
          <p:nvPr/>
        </p:nvSpPr>
        <p:spPr>
          <a:xfrm>
            <a:off x="10080000" y="6444000"/>
            <a:ext cx="72000" cy="72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2" name="!!orb"/>
          <p:cNvSpPr/>
          <p:nvPr/>
        </p:nvSpPr>
        <p:spPr>
          <a:xfrm>
            <a:off x="3600000" y="720000"/>
            <a:ext cx="5040000" cy="5040000"/>
          </a:xfrm>
          <a:prstGeom prst="ellipse">
            <a:avLst/>
          </a:prstGeom>
          <a:solidFill>
            <a:srgbClr val="2D0050">
              <a:alpha val="1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3" name="TextBox 133"/>
          <p:cNvSpPr/>
          <p:nvPr/>
        </p:nvSpPr>
        <p:spPr>
          <a:xfrm>
            <a:off x="720000" y="54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4A0090"/>
                </a:solidFill>
                <a:latin typeface="Segoe UI"/>
                <a:ea typeface="Segoe UI"/>
              </a:rPr>
              <a:t>GET STARTED  ·  FREE 30 DAYS</a:t>
            </a:r>
          </a:p>
        </p:txBody>
      </p:sp>
      <p:sp>
        <p:nvSpPr>
          <p:cNvPr id="134" name="TextBox 134"/>
          <p:cNvSpPr/>
          <p:nvPr/>
        </p:nvSpPr>
        <p:spPr>
          <a:xfrm>
            <a:off x="720000" y="1008000"/>
            <a:ext cx="1260000" cy="43200"/>
          </a:xfrm>
          <a:prstGeom prst="rect">
            <a:avLst/>
          </a:prstGeom>
          <a:solidFill>
            <a:srgbClr val="4A0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5" name="TextBox 135"/>
          <p:cNvSpPr/>
          <p:nvPr/>
        </p:nvSpPr>
        <p:spPr>
          <a:xfrm>
            <a:off x="720000" y="1260000"/>
            <a:ext cx="792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2D0050"/>
                </a:solidFill>
                <a:latin typeface="Segoe UI Black"/>
                <a:ea typeface="Segoe UI Black"/>
              </a:rPr>
              <a:t>Start building</a:t>
            </a:r>
          </a:p>
          <a:p>
            <a:r>
              <a:rPr lang="en-US" sz="5200" b="1">
                <a:solidFill>
                  <a:srgbClr val="2D0050"/>
                </a:solidFill>
                <a:latin typeface="Segoe UI Black"/>
                <a:ea typeface="Segoe UI Black"/>
              </a:rPr>
              <a:t>in flow.</a:t>
            </a:r>
          </a:p>
        </p:txBody>
      </p:sp>
      <p:sp>
        <p:nvSpPr>
          <p:cNvPr id="136" name="TextBox 136"/>
          <p:cNvSpPr/>
          <p:nvPr/>
        </p:nvSpPr>
        <p:spPr>
          <a:xfrm>
            <a:off x="720000" y="4140000"/>
            <a:ext cx="79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2D0050"/>
                </a:solidFill>
                <a:latin typeface="Segoe UI"/>
                <a:ea typeface="Segoe UI"/>
              </a:rPr>
              <a:t>No credit card. No config. Just open Nova and start coding.</a:t>
            </a:r>
          </a:p>
        </p:txBody>
      </p:sp>
      <p:sp>
        <p:nvSpPr>
          <p:cNvPr id="137" name="TextBox 137"/>
          <p:cNvSpPr/>
          <p:nvPr/>
        </p:nvSpPr>
        <p:spPr>
          <a:xfrm>
            <a:off x="720000" y="5220000"/>
            <a:ext cx="4680000" cy="1008000"/>
          </a:xfrm>
          <a:prstGeom prst="roundRect">
            <a:avLst/>
          </a:prstGeom>
          <a:solidFill>
            <a:srgbClr val="2D00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8" name="TextBox 138"/>
          <p:cNvSpPr/>
          <p:nvPr/>
        </p:nvSpPr>
        <p:spPr>
          <a:xfrm>
            <a:off x="720000" y="5220000"/>
            <a:ext cx="4680000" cy="100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B4FF20"/>
                </a:solidFill>
                <a:latin typeface="Segoe UI Black"/>
                <a:ea typeface="Segoe UI Black"/>
              </a:rPr>
              <a:t>Try Nova Free  →</a:t>
            </a:r>
          </a:p>
        </p:txBody>
      </p:sp>
      <p:sp>
        <p:nvSpPr>
          <p:cNvPr id="139" name="TextBox 139"/>
          <p:cNvSpPr/>
          <p:nvPr/>
        </p:nvSpPr>
        <p:spPr>
          <a:xfrm>
            <a:off x="9360000" y="6408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2D0050"/>
                </a:solidFill>
                <a:latin typeface="Segoe UI"/>
                <a:ea typeface="Segoe UI"/>
              </a:rPr>
              <a:t>novaplatform.ai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