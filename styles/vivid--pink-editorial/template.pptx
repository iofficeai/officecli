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3843650ea844d1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72e5e28222048bb"/>
    <p:sldId id="257" r:id="R1684526c236c4ce8"/>
    <p:sldId id="258" r:id="R46baad9e349148d5"/>
    <p:sldId id="259" r:id="Rdd9273d0e55248c2"/>
    <p:sldId id="260" r:id="Re86aea6f7d004944"/>
    <p:sldId id="261" r:id="Rce2d39261fb84cf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72e5e28222048bb" /><Relationship Type="http://schemas.openxmlformats.org/officeDocument/2006/relationships/slide" Target="/ppt/slides/slide2.xml" Id="R1684526c236c4ce8" /><Relationship Type="http://schemas.openxmlformats.org/officeDocument/2006/relationships/slide" Target="/ppt/slides/slide3.xml" Id="R46baad9e349148d5" /><Relationship Type="http://schemas.openxmlformats.org/officeDocument/2006/relationships/slide" Target="/ppt/slides/slide4.xml" Id="Rdd9273d0e55248c2" /><Relationship Type="http://schemas.openxmlformats.org/officeDocument/2006/relationships/slide" Target="/ppt/slides/slide5.xml" Id="Re86aea6f7d004944" /><Relationship Type="http://schemas.openxmlformats.org/officeDocument/2006/relationships/slide" Target="/ppt/slides/slide6.xml" Id="Rce2d39261fb84cf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1f10640b541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29763e3ec41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f411ca1624e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e5c75619b4e4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17f979722bd44f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51dbad22d4b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e37cd21eb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00cf59a4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81004522947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66e5cfef24b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eb1dfc1ff436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160B33"/>
            </a:gs>
            <a:gs pos="100000">
              <a:srgbClr val="7B2D52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0" y="1080000"/>
            <a:ext cx="324000" cy="32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00000" y="2232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72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306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04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0" y="414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360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216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612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num-sweep"/>
          <p:cNvSpPr/>
          <p:nvPr/>
        </p:nvSpPr>
        <p:spPr>
          <a:xfrm>
            <a:off x="0" y="1080000"/>
            <a:ext cx="12193200" cy="4320000"/>
          </a:xfrm>
          <a:prstGeom prst="rect">
            <a:avLst/>
          </a:prstGeom>
          <a:gradFill>
            <a:gsLst>
              <a:gs pos="0">
                <a:srgbClr val="C85080">
                  <a:alpha val="35000"/>
                </a:srgbClr>
              </a:gs>
              <a:gs pos="100000">
                <a:srgbClr val="160B33">
                  <a:alpha val="35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accent-dot"/>
          <p:cNvSpPr/>
          <p:nvPr/>
        </p:nvSpPr>
        <p:spPr>
          <a:xfrm>
            <a:off x="10080000" y="4860000"/>
            <a:ext cx="1980000" cy="1980000"/>
          </a:xfrm>
          <a:prstGeom prst="ellipse">
            <a:avLst/>
          </a:prstGeom>
          <a:gradFill>
            <a:gsLst>
              <a:gs pos="0">
                <a:srgbClr val="FF8DB8"/>
              </a:gs>
              <a:gs pos="100000">
                <a:srgbClr val="C85080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60000" y="0"/>
            <a:ext cx="11520000" cy="50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0" b="1">
                <a:solidFill>
                  <a:srgbClr val="FFFFFF"/>
                </a:solidFill>
                <a:latin typeface="Segoe UI Black"/>
                <a:ea typeface="Segoe UI Black"/>
              </a:rPr>
              <a:t>73%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5220000"/>
            <a:ext cx="79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5E8F0"/>
                </a:solidFill>
                <a:latin typeface="Segoe UI Black"/>
                <a:ea typeface="Segoe UI Black"/>
              </a:rPr>
              <a:t>of businesses report better</a:t>
            </a:r>
          </a:p>
          <a:p>
            <a:r>
              <a:rPr lang="en-US" sz="2200" b="1">
                <a:solidFill>
                  <a:srgbClr val="F5E8F0"/>
                </a:solidFill>
                <a:latin typeface="Segoe UI Black"/>
                <a:ea typeface="Segoe UI Black"/>
              </a:rPr>
              <a:t>outcomes with AI.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6300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C090A8"/>
                </a:solidFill>
                <a:latin typeface="Segoe UI"/>
                <a:ea typeface="Segoe UI"/>
              </a:rPr>
              <a:t>FUTUREFORM — Annual Intelligence Report 2024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60B33"/>
            </a:gs>
            <a:gs pos="100000">
              <a:srgbClr val="7B2D52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0" y="1080000"/>
            <a:ext cx="324000" cy="32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00000" y="2232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72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306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04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0" y="414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360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216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612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num-sweep"/>
          <p:cNvSpPr/>
          <p:nvPr/>
        </p:nvSpPr>
        <p:spPr>
          <a:xfrm>
            <a:off x="0" y="1800000"/>
            <a:ext cx="12193200" cy="3600000"/>
          </a:xfrm>
          <a:prstGeom prst="rect">
            <a:avLst/>
          </a:prstGeom>
          <a:gradFill>
            <a:gsLst>
              <a:gs pos="0">
                <a:srgbClr val="160B33">
                  <a:alpha val="35000"/>
                </a:srgbClr>
              </a:gs>
              <a:gs pos="100000">
                <a:srgbClr val="C85080">
                  <a:alpha val="35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accent-dot"/>
          <p:cNvSpPr/>
          <p:nvPr/>
        </p:nvSpPr>
        <p:spPr>
          <a:xfrm>
            <a:off x="360000" y="360000"/>
            <a:ext cx="1440000" cy="1440000"/>
          </a:xfrm>
          <a:prstGeom prst="ellipse">
            <a:avLst/>
          </a:prstGeom>
          <a:gradFill>
            <a:gsLst>
              <a:gs pos="0">
                <a:srgbClr val="FF8DB8"/>
              </a:gs>
              <a:gs pos="100000">
                <a:srgbClr val="7B2D52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60000" y="720000"/>
            <a:ext cx="1152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0" b="1">
                <a:solidFill>
                  <a:srgbClr val="FFFFFF"/>
                </a:solidFill>
                <a:latin typeface="Segoe UI Black"/>
                <a:ea typeface="Segoe UI Black"/>
              </a:rPr>
              <a:t>99.2%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5400000"/>
            <a:ext cx="79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5E8F0"/>
                </a:solidFill>
                <a:latin typeface="Segoe UI Black"/>
                <a:ea typeface="Segoe UI Black"/>
              </a:rPr>
              <a:t>customer retention rate</a:t>
            </a:r>
          </a:p>
          <a:p>
            <a:r>
              <a:rPr lang="en-US" sz="2200" b="1">
                <a:solidFill>
                  <a:srgbClr val="F5E8F0"/>
                </a:solidFill>
                <a:latin typeface="Segoe UI Black"/>
                <a:ea typeface="Segoe UI Black"/>
              </a:rPr>
              <a:t>across enterprise clients.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6300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C090A8"/>
                </a:solidFill>
                <a:latin typeface="Segoe UI"/>
                <a:ea typeface="Segoe UI"/>
              </a:rPr>
              <a:t>FUTUREFORM — Annual Intelligence Report 2024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60B33"/>
            </a:gs>
            <a:gs pos="100000">
              <a:srgbClr val="7B2D52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0" y="1080000"/>
            <a:ext cx="324000" cy="32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00000" y="2232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72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306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04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0" y="414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360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216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612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0" y="0"/>
            <a:ext cx="5760000" cy="6858000"/>
          </a:xfrm>
          <a:prstGeom prst="rect">
            <a:avLst/>
          </a:prstGeom>
          <a:gradFill>
            <a:gsLst>
              <a:gs pos="0">
                <a:srgbClr val="160B33"/>
              </a:gs>
              <a:gs pos="100000">
                <a:srgbClr val="C85080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num-sweep"/>
          <p:cNvSpPr/>
          <p:nvPr/>
        </p:nvSpPr>
        <p:spPr>
          <a:xfrm>
            <a:off x="720000" y="1080000"/>
            <a:ext cx="4320000" cy="43200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accent-dot"/>
          <p:cNvSpPr/>
          <p:nvPr/>
        </p:nvSpPr>
        <p:spPr>
          <a:xfrm>
            <a:off x="1260000" y="4860000"/>
            <a:ext cx="1080000" cy="1080000"/>
          </a:xfrm>
          <a:prstGeom prst="ellipse">
            <a:avLst/>
          </a:prstGeom>
          <a:solidFill>
            <a:srgbClr val="FF8D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360000" y="1080000"/>
            <a:ext cx="504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The</a:t>
            </a:r>
          </a:p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FutureForm</a:t>
            </a:r>
          </a:p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Report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4680000"/>
            <a:ext cx="43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C090A8"/>
                </a:solidFill>
                <a:latin typeface="Segoe UI"/>
                <a:ea typeface="Segoe UI"/>
              </a:rPr>
              <a:t>Annual</a:t>
            </a:r>
          </a:p>
          <a:p>
            <a:r>
              <a:rPr lang="en-US" sz="1600">
                <a:solidFill>
                  <a:srgbClr val="C090A8"/>
                </a:solidFill>
                <a:latin typeface="Segoe UI"/>
                <a:ea typeface="Segoe UI"/>
              </a:rPr>
              <a:t>2024</a:t>
            </a:r>
          </a:p>
        </p:txBody>
      </p:sp>
      <p:sp>
        <p:nvSpPr>
          <p:cNvPr id="18" name="TextBox 18"/>
          <p:cNvSpPr/>
          <p:nvPr/>
        </p:nvSpPr>
        <p:spPr>
          <a:xfrm>
            <a:off x="6480000" y="1080000"/>
            <a:ext cx="50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Executive</a:t>
            </a:r>
          </a:p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Summary</a:t>
            </a:r>
          </a:p>
        </p:txBody>
      </p:sp>
      <p:sp>
        <p:nvSpPr>
          <p:cNvPr id="19" name="TextBox 19"/>
          <p:cNvSpPr/>
          <p:nvPr/>
        </p:nvSpPr>
        <p:spPr>
          <a:xfrm>
            <a:off x="6480000" y="2880000"/>
            <a:ext cx="504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F5E8F0"/>
                </a:solidFill>
                <a:latin typeface="Segoe UI"/>
                <a:ea typeface="Segoe UI"/>
              </a:rPr>
              <a:t>AI adoption has crossed a critical threshold. Organizations that fail to integrate intelligent systems by 2025 risk significant competitive disadvantage in market positioning and customer retention.</a:t>
            </a:r>
          </a:p>
        </p:txBody>
      </p:sp>
      <p:sp>
        <p:nvSpPr>
          <p:cNvPr id="20" name="TextBox 20"/>
          <p:cNvSpPr/>
          <p:nvPr/>
        </p:nvSpPr>
        <p:spPr>
          <a:xfrm>
            <a:off x="6480000" y="63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C090A8"/>
                </a:solidFill>
                <a:latin typeface="Segoe UI"/>
                <a:ea typeface="Segoe UI"/>
              </a:rPr>
              <a:t>FUTUREFORM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60B33"/>
            </a:gs>
            <a:gs pos="100000">
              <a:srgbClr val="7B2D52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0" y="1080000"/>
            <a:ext cx="324000" cy="32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00000" y="2232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72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306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04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0" y="414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360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216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612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40000"/>
            <a:ext cx="79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Segoe UI Black"/>
                <a:ea typeface="Segoe UI Black"/>
              </a:rPr>
              <a:t>2024 by the numbers</a:t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1800000"/>
            <a:ext cx="5040000" cy="2160000"/>
          </a:xfrm>
          <a:prstGeom prst="rect">
            <a:avLst/>
          </a:prstGeom>
          <a:gradFill>
            <a:gsLst>
              <a:gs pos="0">
                <a:srgbClr val="7B2D52"/>
              </a:gs>
              <a:gs pos="100000">
                <a:srgbClr val="C85080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1980000"/>
            <a:ext cx="43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000" b="1">
                <a:solidFill>
                  <a:srgbClr val="FFFFFF"/>
                </a:solidFill>
                <a:latin typeface="Segoe UI Black"/>
                <a:ea typeface="Segoe UI Black"/>
              </a:rPr>
              <a:t>40+</a:t>
            </a:r>
          </a:p>
        </p:txBody>
      </p:sp>
      <p:sp>
        <p:nvSpPr>
          <p:cNvPr id="16" name="TextBox 16"/>
          <p:cNvSpPr/>
          <p:nvPr/>
        </p:nvSpPr>
        <p:spPr>
          <a:xfrm>
            <a:off x="900000" y="324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5E8F0"/>
                </a:solidFill>
                <a:latin typeface="Segoe UI"/>
                <a:ea typeface="Segoe UI"/>
              </a:rPr>
              <a:t>Countries Reached</a:t>
            </a:r>
          </a:p>
        </p:txBody>
      </p:sp>
      <p:sp>
        <p:nvSpPr>
          <p:cNvPr id="17" name="TextBox 17"/>
          <p:cNvSpPr/>
          <p:nvPr/>
        </p:nvSpPr>
        <p:spPr>
          <a:xfrm>
            <a:off x="6120000" y="1800000"/>
            <a:ext cx="5040000" cy="2160000"/>
          </a:xfrm>
          <a:prstGeom prst="rect">
            <a:avLst/>
          </a:prstGeom>
          <a:gradFill>
            <a:gsLst>
              <a:gs pos="0">
                <a:srgbClr val="C85080"/>
              </a:gs>
              <a:gs pos="100000">
                <a:srgbClr val="160B33"/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300000" y="1980000"/>
            <a:ext cx="43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1200+</a:t>
            </a:r>
          </a:p>
        </p:txBody>
      </p:sp>
      <p:sp>
        <p:nvSpPr>
          <p:cNvPr id="19" name="TextBox 19"/>
          <p:cNvSpPr/>
          <p:nvPr/>
        </p:nvSpPr>
        <p:spPr>
          <a:xfrm>
            <a:off x="6300000" y="324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5E8F0"/>
                </a:solidFill>
                <a:latin typeface="Segoe UI"/>
                <a:ea typeface="Segoe UI"/>
              </a:rPr>
              <a:t>Enterprise Clients</a:t>
            </a:r>
          </a:p>
        </p:txBody>
      </p:sp>
      <p:sp>
        <p:nvSpPr>
          <p:cNvPr id="20" name="TextBox 20"/>
          <p:cNvSpPr/>
          <p:nvPr/>
        </p:nvSpPr>
        <p:spPr>
          <a:xfrm>
            <a:off x="720000" y="4320000"/>
            <a:ext cx="5040000" cy="2160000"/>
          </a:xfrm>
          <a:prstGeom prst="rect">
            <a:avLst/>
          </a:prstGeom>
          <a:gradFill>
            <a:gsLst>
              <a:gs pos="0">
                <a:srgbClr val="160B33"/>
              </a:gs>
              <a:gs pos="100000">
                <a:srgbClr val="7B2D52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900000" y="4500000"/>
            <a:ext cx="43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$2.4B</a:t>
            </a:r>
          </a:p>
        </p:txBody>
      </p:sp>
      <p:sp>
        <p:nvSpPr>
          <p:cNvPr id="22" name="TextBox 22"/>
          <p:cNvSpPr/>
          <p:nvPr/>
        </p:nvSpPr>
        <p:spPr>
          <a:xfrm>
            <a:off x="900000" y="576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5E8F0"/>
                </a:solidFill>
                <a:latin typeface="Segoe UI"/>
                <a:ea typeface="Segoe UI"/>
              </a:rPr>
              <a:t>Revenue Influenced</a:t>
            </a:r>
          </a:p>
        </p:txBody>
      </p:sp>
      <p:sp>
        <p:nvSpPr>
          <p:cNvPr id="23" name="TextBox 23"/>
          <p:cNvSpPr/>
          <p:nvPr/>
        </p:nvSpPr>
        <p:spPr>
          <a:xfrm>
            <a:off x="6120000" y="4320000"/>
            <a:ext cx="5040000" cy="2160000"/>
          </a:xfrm>
          <a:prstGeom prst="rect">
            <a:avLst/>
          </a:prstGeom>
          <a:gradFill>
            <a:gsLst>
              <a:gs pos="0">
                <a:srgbClr val="7B2D52"/>
              </a:gs>
              <a:gs pos="100000">
                <a:srgbClr val="160B33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num-sweep"/>
          <p:cNvSpPr/>
          <p:nvPr/>
        </p:nvSpPr>
        <p:spPr>
          <a:xfrm>
            <a:off x="6840000" y="3960000"/>
            <a:ext cx="3600000" cy="3600000"/>
          </a:xfrm>
          <a:prstGeom prst="ellipse">
            <a:avLst/>
          </a:prstGeom>
          <a:solidFill>
            <a:srgbClr val="FF8DB8">
              <a:alpha val="2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accent-dot"/>
          <p:cNvSpPr/>
          <p:nvPr/>
        </p:nvSpPr>
        <p:spPr>
          <a:xfrm>
            <a:off x="7920000" y="4680000"/>
            <a:ext cx="1980000" cy="1980000"/>
          </a:xfrm>
          <a:prstGeom prst="ellipse">
            <a:avLst/>
          </a:prstGeom>
          <a:solidFill>
            <a:srgbClr val="FF8D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920000" y="4608000"/>
            <a:ext cx="25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60B33"/>
                </a:solidFill>
                <a:latin typeface="Segoe UI Black"/>
                <a:ea typeface="Segoe UI Black"/>
              </a:rPr>
              <a:t>6×</a:t>
            </a:r>
          </a:p>
        </p:txBody>
      </p:sp>
      <p:sp>
        <p:nvSpPr>
          <p:cNvPr id="27" name="TextBox 27"/>
          <p:cNvSpPr/>
          <p:nvPr/>
        </p:nvSpPr>
        <p:spPr>
          <a:xfrm>
            <a:off x="6300000" y="594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FFFFFF"/>
                </a:solidFill>
                <a:latin typeface="Segoe UI"/>
                <a:ea typeface="Segoe UI"/>
              </a:rPr>
              <a:t>Faster Decisions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60B33"/>
            </a:gs>
            <a:gs pos="100000">
              <a:srgbClr val="7B2D52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0" y="1080000"/>
            <a:ext cx="324000" cy="32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00000" y="2232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72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306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04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0" y="414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360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216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612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num-sweep"/>
          <p:cNvSpPr/>
          <p:nvPr/>
        </p:nvSpPr>
        <p:spPr>
          <a:xfrm>
            <a:off x="2880000" y="0"/>
            <a:ext cx="7920000" cy="7920000"/>
          </a:xfrm>
          <a:prstGeom prst="ellipse">
            <a:avLst/>
          </a:prstGeom>
          <a:gradFill>
            <a:gsLst>
              <a:gs pos="0">
                <a:srgbClr val="C85080">
                  <a:alpha val="40000"/>
                </a:srgbClr>
              </a:gs>
              <a:gs pos="100000">
                <a:srgbClr val="160B33">
                  <a:alpha val="4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accent-dot"/>
          <p:cNvSpPr/>
          <p:nvPr/>
        </p:nvSpPr>
        <p:spPr>
          <a:xfrm>
            <a:off x="720000" y="4680000"/>
            <a:ext cx="1440000" cy="1440000"/>
          </a:xfrm>
          <a:prstGeom prst="ellipse">
            <a:avLst/>
          </a:prstGeom>
          <a:solidFill>
            <a:srgbClr val="FF8D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360000"/>
            <a:ext cx="360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0" b="1">
                <a:solidFill>
                  <a:srgbClr val="FF8DB8"/>
                </a:solidFill>
                <a:latin typeface="Segoe UI Black"/>
                <a:ea typeface="Segoe UI Black"/>
              </a:rPr>
              <a:t>“</a:t>
            </a:r>
          </a:p>
        </p:txBody>
      </p:sp>
      <p:sp>
        <p:nvSpPr>
          <p:cNvPr id="16" name="TextBox 16"/>
          <p:cNvSpPr/>
          <p:nvPr/>
        </p:nvSpPr>
        <p:spPr>
          <a:xfrm>
            <a:off x="1440000" y="2340000"/>
            <a:ext cx="936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AI is not the future.</a:t>
            </a:r>
          </a:p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It is the operating</a:t>
            </a:r>
          </a:p>
          <a:p>
            <a:r>
              <a:rPr lang="en-US" sz="3600" b="1">
                <a:solidFill>
                  <a:srgbClr val="FFFFFF"/>
                </a:solidFill>
                <a:latin typeface="Segoe UI Black"/>
                <a:ea typeface="Segoe UI Black"/>
              </a:rPr>
              <a:t>system of the present.</a:t>
            </a:r>
          </a:p>
        </p:txBody>
      </p:sp>
      <p:sp>
        <p:nvSpPr>
          <p:cNvPr id="17" name="TextBox 17"/>
          <p:cNvSpPr/>
          <p:nvPr/>
        </p:nvSpPr>
        <p:spPr>
          <a:xfrm>
            <a:off x="1440000" y="5400000"/>
            <a:ext cx="86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8A0BC"/>
                </a:solidFill>
                <a:latin typeface="Segoe UI"/>
                <a:ea typeface="Segoe UI"/>
              </a:rPr>
              <a:t>— Clara Voss, CTO at Meridian Systems</a:t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6300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C090A8"/>
                </a:solidFill>
                <a:latin typeface="Segoe UI"/>
                <a:ea typeface="Segoe UI"/>
              </a:rPr>
              <a:t>FUTUREFORM — Annual Intelligence Report 2024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60B33"/>
            </a:gs>
            <a:gs pos="100000">
              <a:srgbClr val="7B2D52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0" y="1080000"/>
            <a:ext cx="324000" cy="32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00000" y="2232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72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306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04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0" y="414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360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216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612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gradFill>
            <a:gsLst>
              <a:gs pos="0">
                <a:srgbClr val="160B33">
                  <a:alpha val="50000"/>
                </a:srgbClr>
              </a:gs>
              <a:gs pos="100000">
                <a:srgbClr val="7B2D52">
                  <a:alpha val="50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num-sweep"/>
          <p:cNvSpPr/>
          <p:nvPr/>
        </p:nvSpPr>
        <p:spPr>
          <a:xfrm>
            <a:off x="5040000" y="0"/>
            <a:ext cx="7200000" cy="7200000"/>
          </a:xfrm>
          <a:prstGeom prst="ellipse">
            <a:avLst/>
          </a:prstGeom>
          <a:solidFill>
            <a:srgbClr val="FF8DB8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accent-dot"/>
          <p:cNvSpPr/>
          <p:nvPr/>
        </p:nvSpPr>
        <p:spPr>
          <a:xfrm>
            <a:off x="360000" y="360000"/>
            <a:ext cx="1260000" cy="1260000"/>
          </a:xfrm>
          <a:prstGeom prst="ellipse">
            <a:avLst/>
          </a:prstGeom>
          <a:solidFill>
            <a:srgbClr val="FF8D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1080000"/>
            <a:ext cx="100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Shape the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intelligent future.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432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E8A0BC"/>
                </a:solidFill>
                <a:latin typeface="Segoe UI"/>
                <a:ea typeface="Segoe UI"/>
              </a:rPr>
              <a:t>Download the full FutureForm 2024 Intelligence Report.</a:t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5580000"/>
            <a:ext cx="3960000" cy="900000"/>
          </a:xfrm>
          <a:prstGeom prst="roundRect">
            <a:avLst/>
          </a:prstGeom>
          <a:solidFill>
            <a:srgbClr val="FF8D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5580000"/>
            <a:ext cx="396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160B33"/>
                </a:solidFill>
                <a:latin typeface="Segoe UI Black"/>
                <a:ea typeface="Segoe UI Black"/>
              </a:rPr>
              <a:t>Get the Report →</a:t>
            </a:r>
          </a:p>
        </p:txBody>
      </p:sp>
      <p:sp>
        <p:nvSpPr>
          <p:cNvPr id="20" name="TextBox 20"/>
          <p:cNvSpPr/>
          <p:nvPr/>
        </p:nvSpPr>
        <p:spPr>
          <a:xfrm>
            <a:off x="936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100">
                <a:solidFill>
                  <a:srgbClr val="C090A8"/>
                </a:solidFill>
                <a:latin typeface="Segoe UI"/>
                <a:ea typeface="Segoe UI"/>
              </a:rPr>
              <a:t>futureform.ai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