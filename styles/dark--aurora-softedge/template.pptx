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6399f6e14c3b40d6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9be6d4094b824315"/>
    <p:sldId id="257" r:id="R9e3c6e01ec0146ab"/>
    <p:sldId id="258" r:id="Ra2544317274e4b90"/>
    <p:sldId id="259" r:id="R0671ee00fef141f7"/>
    <p:sldId id="260" r:id="Re5f8b48df89e4537"/>
    <p:sldId id="261" r:id="R79976126ef4645d5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9be6d4094b824315" /><Relationship Type="http://schemas.openxmlformats.org/officeDocument/2006/relationships/slide" Target="/ppt/slides/slide2.xml" Id="R9e3c6e01ec0146ab" /><Relationship Type="http://schemas.openxmlformats.org/officeDocument/2006/relationships/slide" Target="/ppt/slides/slide3.xml" Id="Ra2544317274e4b90" /><Relationship Type="http://schemas.openxmlformats.org/officeDocument/2006/relationships/slide" Target="/ppt/slides/slide4.xml" Id="R0671ee00fef141f7" /><Relationship Type="http://schemas.openxmlformats.org/officeDocument/2006/relationships/slide" Target="/ppt/slides/slide5.xml" Id="Re5f8b48df89e4537" /><Relationship Type="http://schemas.openxmlformats.org/officeDocument/2006/relationships/slide" Target="/ppt/slides/slide6.xml" Id="R79976126ef4645d5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8eaa1ad4464eb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c26f5a784f4d9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5945758e1749e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e664dd6fc84bd1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67a2ef7a16684aee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011f7e7fed4f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472d86757d4c4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dbcde93d7645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00ff3be39e496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d4ed827ee54f3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ced595b00b4217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50510"/>
        </a:solidFill>
      </p:bgPr>
    </p:bg>
    <p:spTree>
      <p:nvGrpSpPr>
        <p:cNvPr id="1" name=""/>
        <p:cNvGrpSpPr/>
        <p:nvPr/>
      </p:nvGrpSpPr>
      <p:grpSpPr/>
      <p:sp>
        <p:nvSpPr>
          <p:cNvPr id="2" name="!!aurora"/>
          <p:cNvSpPr/>
          <p:nvPr/>
        </p:nvSpPr>
        <p:spPr>
          <a:xfrm>
            <a:off x="5760000" y="0"/>
            <a:ext cx="6433200" cy="6858000"/>
          </a:xfrm>
          <a:prstGeom prst="ellipse">
            <a:avLst/>
          </a:prstGeom>
          <a:gradFill>
            <a:gsLst>
              <a:gs pos="0">
                <a:srgbClr val="FF6622">
                  <a:alpha val="90000"/>
                </a:srgbClr>
              </a:gs>
              <a:gs pos="100000">
                <a:srgbClr val="8822EE">
                  <a:alpha val="90000"/>
                </a:srgbClr>
              </a:gs>
            </a:gsLst>
            <a:lin ang="8100000" scaled="1"/>
          </a:gradFill>
          <a:effectLst>
            <a:softEdge rad="317500"/>
          </a:effectLst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6840000" y="0"/>
            <a:ext cx="5040000" cy="5040000"/>
          </a:xfrm>
          <a:prstGeom prst="ellipse">
            <a:avLst/>
          </a:prstGeom>
          <a:gradFill>
            <a:gsLst>
              <a:gs pos="0">
                <a:srgbClr val="8822EE">
                  <a:alpha val="55000"/>
                </a:srgbClr>
              </a:gs>
              <a:gs pos="100000">
                <a:srgbClr val="8822EE">
                  <a:alpha val="55000"/>
                </a:srgbClr>
              </a:gs>
            </a:gsLst>
            <a:lin ang="11700000" scaled="1"/>
          </a:gradFill>
          <a:effectLst>
            <a:softEdge rad="127000"/>
          </a:effectLst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>
            <a:off x="7992000" y="792000"/>
            <a:ext cx="2736000" cy="2736000"/>
          </a:xfrm>
          <a:prstGeom prst="ellipse">
            <a:avLst/>
          </a:prstGeom>
          <a:solidFill>
            <a:srgbClr val="FFB830">
              <a:alpha val="30000"/>
            </a:srgbClr>
          </a:solidFill>
          <a:effectLst>
            <a:softEdge rad="50800"/>
          </a:effectLst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spark-h"/>
          <p:cNvSpPr/>
          <p:nvPr/>
        </p:nvSpPr>
        <p:spPr>
          <a:xfrm>
            <a:off x="900000" y="1234800"/>
            <a:ext cx="1080000" cy="504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spark-v"/>
          <p:cNvSpPr/>
          <p:nvPr/>
        </p:nvSpPr>
        <p:spPr>
          <a:xfrm>
            <a:off x="1414800" y="720000"/>
            <a:ext cx="50400" cy="1080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 rot="2700000">
            <a:off x="1116000" y="1242000"/>
            <a:ext cx="648000" cy="25200"/>
          </a:xfrm>
          <a:prstGeom prst="rect">
            <a:avLst/>
          </a:prstGeom>
          <a:solidFill>
            <a:srgbClr val="FFFFFF">
              <a:alpha val="5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 rot="-2700000">
            <a:off x="1116000" y="1242000"/>
            <a:ext cx="648000" cy="25200"/>
          </a:xfrm>
          <a:prstGeom prst="rect">
            <a:avLst/>
          </a:prstGeom>
          <a:solidFill>
            <a:srgbClr val="FFFFFF">
              <a:alpha val="5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10764000" y="273600"/>
            <a:ext cx="432000" cy="28800"/>
          </a:xfrm>
          <a:prstGeom prst="rect">
            <a:avLst/>
          </a:prstGeom>
          <a:solidFill>
            <a:srgbClr val="FFFFFF">
              <a:alpha val="7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TextBox 10"/>
          <p:cNvSpPr/>
          <p:nvPr/>
        </p:nvSpPr>
        <p:spPr>
          <a:xfrm>
            <a:off x="10965600" y="72000"/>
            <a:ext cx="28800" cy="432000"/>
          </a:xfrm>
          <a:prstGeom prst="rect">
            <a:avLst/>
          </a:prstGeom>
          <a:solidFill>
            <a:srgbClr val="FFFFFF">
              <a:alpha val="7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TextBox 11"/>
          <p:cNvSpPr/>
          <p:nvPr/>
        </p:nvSpPr>
        <p:spPr>
          <a:xfrm>
            <a:off x="540000" y="6408000"/>
            <a:ext cx="11113200" cy="14400"/>
          </a:xfrm>
          <a:prstGeom prst="rect">
            <a:avLst/>
          </a:prstGeom>
          <a:solidFill>
            <a:srgbClr val="8899BB">
              <a:alpha val="4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" name="TextBox 12"/>
          <p:cNvSpPr/>
          <p:nvPr/>
        </p:nvSpPr>
        <p:spPr>
          <a:xfrm>
            <a:off x="540000" y="6480000"/>
            <a:ext cx="5760000" cy="28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900">
                <a:solidFill>
                  <a:srgbClr val="8899BB"/>
                </a:solidFill>
                <a:latin typeface="Segoe UI"/>
                <a:ea typeface="Segoe UI"/>
              </a:rPr>
              <a:t>www.luminadesign.co</a:t>
            </a:r>
          </a:p>
        </p:txBody>
      </p:sp>
      <p:sp>
        <p:nvSpPr>
          <p:cNvPr id="13" name="TextBox 13"/>
          <p:cNvSpPr/>
          <p:nvPr/>
        </p:nvSpPr>
        <p:spPr>
          <a:xfrm>
            <a:off x="6300000" y="6480000"/>
            <a:ext cx="5400000" cy="288000"/>
          </a:xfrm>
          <a:prstGeom prst="rect">
            <a:avLst/>
          </a:prstGeom>
          <a:noFill/>
        </p:spPr>
        <p:txBody>
          <a:bodyPr/>
          <a:lstStyle/>
          <a:p>
            <a:pPr algn="r"/>
            <a:r>
              <a:rPr lang="en-US" sz="900">
                <a:solidFill>
                  <a:srgbClr val="8899BB"/>
                </a:solidFill>
                <a:latin typeface="Segoe UI"/>
                <a:ea typeface="Segoe UI"/>
              </a:rPr>
              <a:t>By Jamie Chastain</a:t>
            </a:r>
          </a:p>
        </p:txBody>
      </p:sp>
      <p:sp>
        <p:nvSpPr>
          <p:cNvPr id="14" name="TextBox 14"/>
          <p:cNvSpPr/>
          <p:nvPr/>
        </p:nvSpPr>
        <p:spPr>
          <a:xfrm>
            <a:off x="10080000" y="540000"/>
            <a:ext cx="324000" cy="324000"/>
          </a:xfrm>
          <a:prstGeom prst="rect">
            <a:avLst/>
          </a:prstGeom>
          <a:solidFill>
            <a:srgbClr val="1844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5" name="TextBox 15"/>
          <p:cNvSpPr/>
          <p:nvPr/>
        </p:nvSpPr>
        <p:spPr>
          <a:xfrm>
            <a:off x="540000" y="2160000"/>
            <a:ext cx="11113200" cy="2880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6000" b="1">
                <a:solidFill>
                  <a:srgbClr val="FFFFFF"/>
                </a:solidFill>
                <a:latin typeface="Segoe UI Black"/>
                <a:ea typeface="Segoe UI Black"/>
              </a:rPr>
              <a:t>Graphic</a:t>
            </a:r>
          </a:p>
          <a:p>
            <a:pPr algn="ctr"/>
            <a:r>
              <a:rPr lang="en-US" sz="6000" b="1">
                <a:solidFill>
                  <a:srgbClr val="FFFFFF"/>
                </a:solidFill>
                <a:latin typeface="Segoe UI Black"/>
                <a:ea typeface="Segoe UI Black"/>
              </a:rPr>
              <a:t>Design</a:t>
            </a:r>
          </a:p>
        </p:txBody>
      </p:sp>
      <p:sp>
        <p:nvSpPr>
          <p:cNvPr id="16" name="TextBox 16"/>
          <p:cNvSpPr/>
          <p:nvPr/>
        </p:nvSpPr>
        <p:spPr>
          <a:xfrm>
            <a:off x="540000" y="5220000"/>
            <a:ext cx="11113200" cy="14400"/>
          </a:xfrm>
          <a:prstGeom prst="rect">
            <a:avLst/>
          </a:prstGeom>
          <a:solidFill>
            <a:srgbClr val="334455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7" name="TextBox 17"/>
          <p:cNvSpPr/>
          <p:nvPr/>
        </p:nvSpPr>
        <p:spPr>
          <a:xfrm>
            <a:off x="540000" y="5400000"/>
            <a:ext cx="5760000" cy="43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FFFFFF"/>
                </a:solidFill>
                <a:latin typeface="Segoe UI"/>
                <a:ea typeface="Segoe UI"/>
              </a:rPr>
              <a:t>Portfolio</a:t>
            </a:r>
          </a:p>
        </p:txBody>
      </p:sp>
      <p:sp>
        <p:nvSpPr>
          <p:cNvPr id="18" name="TextBox 18"/>
          <p:cNvSpPr/>
          <p:nvPr/>
        </p:nvSpPr>
        <p:spPr>
          <a:xfrm>
            <a:off x="6300000" y="5400000"/>
            <a:ext cx="5400000" cy="432000"/>
          </a:xfrm>
          <a:prstGeom prst="rect">
            <a:avLst/>
          </a:prstGeom>
          <a:noFill/>
        </p:spPr>
        <p:txBody>
          <a:bodyPr/>
          <a:lstStyle/>
          <a:p>
            <a:pPr algn="r"/>
            <a:r>
              <a:rPr lang="en-US" sz="1400">
                <a:solidFill>
                  <a:srgbClr val="8899BB"/>
                </a:solidFill>
                <a:latin typeface="Segoe UI"/>
                <a:ea typeface="Segoe UI"/>
              </a:rPr>
              <a:t>By Jamie Chastain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0A0A20"/>
        </a:solidFill>
      </p:bgPr>
    </p:bg>
    <p:spTree>
      <p:nvGrpSpPr>
        <p:cNvPr id="1" name=""/>
        <p:cNvGrpSpPr/>
        <p:nvPr/>
      </p:nvGrpSpPr>
      <p:grpSpPr/>
      <p:sp>
        <p:nvSpPr>
          <p:cNvPr id="2" name="!!aurora"/>
          <p:cNvSpPr/>
          <p:nvPr/>
        </p:nvSpPr>
        <p:spPr>
          <a:xfrm>
            <a:off x="0" y="2160000"/>
            <a:ext cx="5760000" cy="4698000"/>
          </a:xfrm>
          <a:prstGeom prst="ellipse">
            <a:avLst/>
          </a:prstGeom>
          <a:gradFill>
            <a:gsLst>
              <a:gs pos="0">
                <a:srgbClr val="00DDBB">
                  <a:alpha val="85000"/>
                </a:srgbClr>
              </a:gs>
              <a:gs pos="100000">
                <a:srgbClr val="1844FF">
                  <a:alpha val="85000"/>
                </a:srgbClr>
              </a:gs>
            </a:gsLst>
            <a:lin ang="9600000" scaled="1"/>
          </a:gradFill>
          <a:effectLst>
            <a:softEdge rad="254000"/>
          </a:effectLst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504000" y="3024000"/>
            <a:ext cx="4032000" cy="4032000"/>
          </a:xfrm>
          <a:prstGeom prst="ellipse">
            <a:avLst/>
          </a:prstGeom>
          <a:gradFill>
            <a:gsLst>
              <a:gs pos="0">
                <a:srgbClr val="1844FF">
                  <a:alpha val="55000"/>
                </a:srgbClr>
              </a:gs>
              <a:gs pos="100000">
                <a:srgbClr val="8822EE">
                  <a:alpha val="55000"/>
                </a:srgbClr>
              </a:gs>
            </a:gsLst>
            <a:lin ang="13200000" scaled="1"/>
          </a:gradFill>
          <a:effectLst>
            <a:softEdge rad="101600"/>
          </a:effectLst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>
            <a:off x="1425600" y="3945600"/>
            <a:ext cx="2188800" cy="2188800"/>
          </a:xfrm>
          <a:prstGeom prst="ellipse">
            <a:avLst/>
          </a:prstGeom>
          <a:solidFill>
            <a:srgbClr val="FFB830">
              <a:alpha val="30000"/>
            </a:srgbClr>
          </a:solidFill>
          <a:effectLst>
            <a:softEdge rad="40640"/>
          </a:effectLst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spark-h"/>
          <p:cNvSpPr/>
          <p:nvPr/>
        </p:nvSpPr>
        <p:spPr>
          <a:xfrm>
            <a:off x="9540000" y="1414800"/>
            <a:ext cx="1080000" cy="504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spark-v"/>
          <p:cNvSpPr/>
          <p:nvPr/>
        </p:nvSpPr>
        <p:spPr>
          <a:xfrm>
            <a:off x="10054800" y="900000"/>
            <a:ext cx="50400" cy="1080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 rot="2700000">
            <a:off x="9756000" y="1422000"/>
            <a:ext cx="648000" cy="25200"/>
          </a:xfrm>
          <a:prstGeom prst="rect">
            <a:avLst/>
          </a:prstGeom>
          <a:solidFill>
            <a:srgbClr val="FFFFFF">
              <a:alpha val="5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 rot="-2700000">
            <a:off x="9756000" y="1422000"/>
            <a:ext cx="648000" cy="25200"/>
          </a:xfrm>
          <a:prstGeom prst="rect">
            <a:avLst/>
          </a:prstGeom>
          <a:solidFill>
            <a:srgbClr val="FFFFFF">
              <a:alpha val="5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360000" y="2865600"/>
            <a:ext cx="360000" cy="28800"/>
          </a:xfrm>
          <a:prstGeom prst="rect">
            <a:avLst/>
          </a:prstGeom>
          <a:solidFill>
            <a:srgbClr val="00DDBB">
              <a:alpha val="6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TextBox 10"/>
          <p:cNvSpPr/>
          <p:nvPr/>
        </p:nvSpPr>
        <p:spPr>
          <a:xfrm>
            <a:off x="525600" y="2700000"/>
            <a:ext cx="28800" cy="360000"/>
          </a:xfrm>
          <a:prstGeom prst="rect">
            <a:avLst/>
          </a:prstGeom>
          <a:solidFill>
            <a:srgbClr val="00DDBB">
              <a:alpha val="6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TextBox 11"/>
          <p:cNvSpPr/>
          <p:nvPr/>
        </p:nvSpPr>
        <p:spPr>
          <a:xfrm>
            <a:off x="540000" y="6408000"/>
            <a:ext cx="11113200" cy="14400"/>
          </a:xfrm>
          <a:prstGeom prst="rect">
            <a:avLst/>
          </a:prstGeom>
          <a:solidFill>
            <a:srgbClr val="8899BB">
              <a:alpha val="4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" name="TextBox 12"/>
          <p:cNvSpPr/>
          <p:nvPr/>
        </p:nvSpPr>
        <p:spPr>
          <a:xfrm>
            <a:off x="540000" y="6480000"/>
            <a:ext cx="5760000" cy="28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900">
                <a:solidFill>
                  <a:srgbClr val="8899BB"/>
                </a:solidFill>
                <a:latin typeface="Segoe UI"/>
                <a:ea typeface="Segoe UI"/>
              </a:rPr>
              <a:t>www.luminadesign.co</a:t>
            </a:r>
          </a:p>
        </p:txBody>
      </p:sp>
      <p:sp>
        <p:nvSpPr>
          <p:cNvPr id="13" name="TextBox 13"/>
          <p:cNvSpPr/>
          <p:nvPr/>
        </p:nvSpPr>
        <p:spPr>
          <a:xfrm>
            <a:off x="6300000" y="6480000"/>
            <a:ext cx="5400000" cy="288000"/>
          </a:xfrm>
          <a:prstGeom prst="rect">
            <a:avLst/>
          </a:prstGeom>
          <a:noFill/>
        </p:spPr>
        <p:txBody>
          <a:bodyPr/>
          <a:lstStyle/>
          <a:p>
            <a:pPr algn="r"/>
            <a:r>
              <a:rPr lang="en-US" sz="900">
                <a:solidFill>
                  <a:srgbClr val="8899BB"/>
                </a:solidFill>
                <a:latin typeface="Segoe UI"/>
                <a:ea typeface="Segoe UI"/>
              </a:rPr>
              <a:t>By Jamie Chastain</a:t>
            </a:r>
          </a:p>
        </p:txBody>
      </p:sp>
      <p:sp>
        <p:nvSpPr>
          <p:cNvPr id="14" name="TextBox 14"/>
          <p:cNvSpPr/>
          <p:nvPr/>
        </p:nvSpPr>
        <p:spPr>
          <a:xfrm>
            <a:off x="288000" y="540000"/>
            <a:ext cx="324000" cy="324000"/>
          </a:xfrm>
          <a:prstGeom prst="rect">
            <a:avLst/>
          </a:prstGeom>
          <a:solidFill>
            <a:srgbClr val="1844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5" name="TextBox 15"/>
          <p:cNvSpPr/>
          <p:nvPr/>
        </p:nvSpPr>
        <p:spPr>
          <a:xfrm>
            <a:off x="1800000" y="648000"/>
            <a:ext cx="8640000" cy="900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2600">
                <a:solidFill>
                  <a:srgbClr val="FFFFFF"/>
                </a:solidFill>
                <a:latin typeface="Segoe UI"/>
                <a:ea typeface="Segoe UI"/>
              </a:rPr>
              <a:t>Introduction</a:t>
            </a:r>
          </a:p>
        </p:txBody>
      </p:sp>
      <p:sp>
        <p:nvSpPr>
          <p:cNvPr id="16" name="TextBox 16"/>
          <p:cNvSpPr/>
          <p:nvPr/>
        </p:nvSpPr>
        <p:spPr>
          <a:xfrm>
            <a:off x="1800000" y="1620000"/>
            <a:ext cx="8640000" cy="14400"/>
          </a:xfrm>
          <a:prstGeom prst="rect">
            <a:avLst/>
          </a:prstGeom>
          <a:solidFill>
            <a:srgbClr val="334455">
              <a:alpha val="5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7" name="TextBox 17"/>
          <p:cNvSpPr/>
          <p:nvPr/>
        </p:nvSpPr>
        <p:spPr>
          <a:xfrm>
            <a:off x="1800000" y="1980000"/>
            <a:ext cx="8640000" cy="43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 b="1">
                <a:solidFill>
                  <a:srgbClr val="FFFFFF"/>
                </a:solidFill>
                <a:latin typeface="Segoe UI Black"/>
                <a:ea typeface="Segoe UI Black"/>
              </a:rPr>
              <a:t>About Me</a:t>
            </a:r>
          </a:p>
        </p:txBody>
      </p:sp>
      <p:sp>
        <p:nvSpPr>
          <p:cNvPr id="18" name="TextBox 18"/>
          <p:cNvSpPr/>
          <p:nvPr/>
        </p:nvSpPr>
        <p:spPr>
          <a:xfrm>
            <a:off x="1800000" y="2592000"/>
            <a:ext cx="8640000" cy="21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8899BB"/>
                </a:solidFill>
                <a:latin typeface="Segoe UI"/>
                <a:ea typeface="Segoe UI"/>
              </a:rPr>
              <a:t>A multidisciplinary graphic designer with 8+ years of experience creating bold visual identities, motion campaigns, and interactive experiences for brands across fashion, tech, and culture.</a:t>
            </a:r>
          </a:p>
          <a:p>
            <a:r>
              <a:rPr lang="en-US" sz="1200">
                <a:solidFill>
                  <a:srgbClr val="8899BB"/>
                </a:solidFill>
                <a:latin typeface="Segoe UI"/>
                <a:ea typeface="Segoe UI"/>
              </a:rPr>
              <a:t/>
            </a:r>
          </a:p>
          <a:p>
            <a:r>
              <a:rPr lang="en-US" sz="1200">
                <a:solidFill>
                  <a:srgbClr val="8899BB"/>
                </a:solidFill>
                <a:latin typeface="Segoe UI"/>
                <a:ea typeface="Segoe UI"/>
              </a:rPr>
              <a:t>Previously at Pentagram, now working independently with clients worldwide.</a:t>
            </a:r>
          </a:p>
        </p:txBody>
      </p:sp>
      <p:sp>
        <p:nvSpPr>
          <p:cNvPr id="19" name="TextBox 19"/>
          <p:cNvSpPr/>
          <p:nvPr/>
        </p:nvSpPr>
        <p:spPr>
          <a:xfrm>
            <a:off x="1800000" y="4860000"/>
            <a:ext cx="8640000" cy="14400"/>
          </a:xfrm>
          <a:prstGeom prst="rect">
            <a:avLst/>
          </a:prstGeom>
          <a:solidFill>
            <a:srgbClr val="334455">
              <a:alpha val="5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0" name="TextBox 20"/>
          <p:cNvSpPr/>
          <p:nvPr/>
        </p:nvSpPr>
        <p:spPr>
          <a:xfrm>
            <a:off x="1800000" y="5112000"/>
            <a:ext cx="864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8899BB"/>
                </a:solidFill>
                <a:latin typeface="Segoe UI"/>
                <a:ea typeface="Segoe UI"/>
              </a:rPr>
              <a:t>A multidisciplinary graphic designer with 8+ years creating bold visual identities and motion campaigns.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050510"/>
        </a:solidFill>
      </p:bgPr>
    </p:bg>
    <p:spTree>
      <p:nvGrpSpPr>
        <p:cNvPr id="1" name=""/>
        <p:cNvGrpSpPr/>
        <p:nvPr/>
      </p:nvGrpSpPr>
      <p:grpSpPr/>
      <p:sp>
        <p:nvSpPr>
          <p:cNvPr id="2" name="!!aurora"/>
          <p:cNvSpPr/>
          <p:nvPr/>
        </p:nvSpPr>
        <p:spPr>
          <a:xfrm>
            <a:off x="4680000" y="360000"/>
            <a:ext cx="6480000" cy="6480000"/>
          </a:xfrm>
          <a:prstGeom prst="ellipse">
            <a:avLst/>
          </a:prstGeom>
          <a:gradFill>
            <a:gsLst>
              <a:gs pos="0">
                <a:srgbClr val="FF6622">
                  <a:alpha val="80000"/>
                </a:srgbClr>
              </a:gs>
              <a:gs pos="100000">
                <a:srgbClr val="00DDBB">
                  <a:alpha val="80000"/>
                </a:srgbClr>
              </a:gs>
            </a:gsLst>
            <a:lin ang="6000000" scaled="1"/>
          </a:gradFill>
          <a:effectLst>
            <a:softEdge rad="285750"/>
          </a:effectLst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5652000" y="1332000"/>
            <a:ext cx="4536000" cy="4536000"/>
          </a:xfrm>
          <a:prstGeom prst="ellipse">
            <a:avLst/>
          </a:prstGeom>
          <a:gradFill>
            <a:gsLst>
              <a:gs pos="0">
                <a:srgbClr val="00DDBB">
                  <a:alpha val="55000"/>
                </a:srgbClr>
              </a:gs>
              <a:gs pos="100000">
                <a:srgbClr val="8822EE">
                  <a:alpha val="55000"/>
                </a:srgbClr>
              </a:gs>
            </a:gsLst>
            <a:lin ang="9600000" scaled="1"/>
          </a:gradFill>
          <a:effectLst>
            <a:softEdge rad="114300"/>
          </a:effectLst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>
            <a:off x="6688800" y="2368800"/>
            <a:ext cx="2462400" cy="2462400"/>
          </a:xfrm>
          <a:prstGeom prst="ellipse">
            <a:avLst/>
          </a:prstGeom>
          <a:solidFill>
            <a:srgbClr val="FFB830">
              <a:alpha val="30000"/>
            </a:srgbClr>
          </a:solidFill>
          <a:effectLst>
            <a:softEdge rad="45720"/>
          </a:effectLst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spark-h"/>
          <p:cNvSpPr/>
          <p:nvPr/>
        </p:nvSpPr>
        <p:spPr>
          <a:xfrm>
            <a:off x="1980000" y="5014800"/>
            <a:ext cx="1080000" cy="504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spark-v"/>
          <p:cNvSpPr/>
          <p:nvPr/>
        </p:nvSpPr>
        <p:spPr>
          <a:xfrm>
            <a:off x="2494800" y="4500000"/>
            <a:ext cx="50400" cy="1080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 rot="2700000">
            <a:off x="2196000" y="5022000"/>
            <a:ext cx="648000" cy="25200"/>
          </a:xfrm>
          <a:prstGeom prst="rect">
            <a:avLst/>
          </a:prstGeom>
          <a:solidFill>
            <a:srgbClr val="FFFFFF">
              <a:alpha val="5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 rot="-2700000">
            <a:off x="2196000" y="5022000"/>
            <a:ext cx="648000" cy="25200"/>
          </a:xfrm>
          <a:prstGeom prst="rect">
            <a:avLst/>
          </a:prstGeom>
          <a:solidFill>
            <a:srgbClr val="FFFFFF">
              <a:alpha val="5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180000" y="705600"/>
            <a:ext cx="360000" cy="28800"/>
          </a:xfrm>
          <a:prstGeom prst="rect">
            <a:avLst/>
          </a:prstGeom>
          <a:solidFill>
            <a:srgbClr val="FFFFFF">
              <a:alpha val="6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TextBox 10"/>
          <p:cNvSpPr/>
          <p:nvPr/>
        </p:nvSpPr>
        <p:spPr>
          <a:xfrm>
            <a:off x="345600" y="540000"/>
            <a:ext cx="28800" cy="360000"/>
          </a:xfrm>
          <a:prstGeom prst="rect">
            <a:avLst/>
          </a:prstGeom>
          <a:solidFill>
            <a:srgbClr val="FFFFFF">
              <a:alpha val="6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TextBox 11"/>
          <p:cNvSpPr/>
          <p:nvPr/>
        </p:nvSpPr>
        <p:spPr>
          <a:xfrm>
            <a:off x="11376000" y="6105600"/>
            <a:ext cx="288000" cy="28800"/>
          </a:xfrm>
          <a:prstGeom prst="rect">
            <a:avLst/>
          </a:prstGeom>
          <a:solidFill>
            <a:srgbClr val="00DDBB">
              <a:alpha val="5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" name="TextBox 12"/>
          <p:cNvSpPr/>
          <p:nvPr/>
        </p:nvSpPr>
        <p:spPr>
          <a:xfrm>
            <a:off x="11505600" y="5976000"/>
            <a:ext cx="28800" cy="288000"/>
          </a:xfrm>
          <a:prstGeom prst="rect">
            <a:avLst/>
          </a:prstGeom>
          <a:solidFill>
            <a:srgbClr val="00DDBB">
              <a:alpha val="5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" name="TextBox 13"/>
          <p:cNvSpPr/>
          <p:nvPr/>
        </p:nvSpPr>
        <p:spPr>
          <a:xfrm>
            <a:off x="540000" y="6408000"/>
            <a:ext cx="11113200" cy="14400"/>
          </a:xfrm>
          <a:prstGeom prst="rect">
            <a:avLst/>
          </a:prstGeom>
          <a:solidFill>
            <a:srgbClr val="8899BB">
              <a:alpha val="4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4" name="TextBox 14"/>
          <p:cNvSpPr/>
          <p:nvPr/>
        </p:nvSpPr>
        <p:spPr>
          <a:xfrm>
            <a:off x="540000" y="6480000"/>
            <a:ext cx="5760000" cy="28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900">
                <a:solidFill>
                  <a:srgbClr val="8899BB"/>
                </a:solidFill>
                <a:latin typeface="Segoe UI"/>
                <a:ea typeface="Segoe UI"/>
              </a:rPr>
              <a:t>Selected Work  2022 – 2025</a:t>
            </a:r>
          </a:p>
        </p:txBody>
      </p:sp>
      <p:sp>
        <p:nvSpPr>
          <p:cNvPr id="15" name="TextBox 15"/>
          <p:cNvSpPr/>
          <p:nvPr/>
        </p:nvSpPr>
        <p:spPr>
          <a:xfrm>
            <a:off x="6300000" y="6480000"/>
            <a:ext cx="5400000" cy="288000"/>
          </a:xfrm>
          <a:prstGeom prst="rect">
            <a:avLst/>
          </a:prstGeom>
          <a:noFill/>
        </p:spPr>
        <p:txBody>
          <a:bodyPr/>
          <a:lstStyle/>
          <a:p>
            <a:pPr algn="r"/>
            <a:r>
              <a:rPr lang="en-US" sz="900">
                <a:solidFill>
                  <a:srgbClr val="8899BB"/>
                </a:solidFill>
                <a:latin typeface="Segoe UI"/>
                <a:ea typeface="Segoe UI"/>
              </a:rPr>
              <a:t>lumina.design/work</a:t>
            </a:r>
          </a:p>
        </p:txBody>
      </p:sp>
      <p:sp>
        <p:nvSpPr>
          <p:cNvPr id="16" name="TextBox 16"/>
          <p:cNvSpPr/>
          <p:nvPr/>
        </p:nvSpPr>
        <p:spPr>
          <a:xfrm>
            <a:off x="288000" y="288000"/>
            <a:ext cx="324000" cy="324000"/>
          </a:xfrm>
          <a:prstGeom prst="rect">
            <a:avLst/>
          </a:prstGeom>
          <a:solidFill>
            <a:srgbClr val="1844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7" name="TextBox 17"/>
          <p:cNvSpPr/>
          <p:nvPr/>
        </p:nvSpPr>
        <p:spPr>
          <a:xfrm>
            <a:off x="540000" y="720000"/>
            <a:ext cx="6480000" cy="18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>
                <a:solidFill>
                  <a:srgbClr val="FFFFFF"/>
                </a:solidFill>
                <a:latin typeface="Segoe UI Black"/>
                <a:ea typeface="Segoe UI Black"/>
              </a:rPr>
              <a:t>Selected</a:t>
            </a:r>
          </a:p>
          <a:p>
            <a:r>
              <a:rPr lang="en-US" sz="4400" b="1">
                <a:solidFill>
                  <a:srgbClr val="FFFFFF"/>
                </a:solidFill>
                <a:latin typeface="Segoe UI Black"/>
                <a:ea typeface="Segoe UI Black"/>
              </a:rPr>
              <a:t>Work</a:t>
            </a:r>
          </a:p>
        </p:txBody>
      </p:sp>
      <p:sp>
        <p:nvSpPr>
          <p:cNvPr id="18" name="TextBox 18"/>
          <p:cNvSpPr/>
          <p:nvPr/>
        </p:nvSpPr>
        <p:spPr>
          <a:xfrm>
            <a:off x="540000" y="2880000"/>
            <a:ext cx="5040000" cy="2880000"/>
          </a:xfrm>
          <a:prstGeom prst="roundRect">
            <a:avLst/>
          </a:prstGeom>
          <a:solidFill>
            <a:srgbClr val="334455">
              <a:alpha val="8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9" name="TextBox 19"/>
          <p:cNvSpPr/>
          <p:nvPr/>
        </p:nvSpPr>
        <p:spPr>
          <a:xfrm>
            <a:off x="540000" y="2880000"/>
            <a:ext cx="5040000" cy="288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000">
                <a:solidFill>
                  <a:srgbClr val="8899BB"/>
                </a:solidFill>
                <a:latin typeface="Segoe UI"/>
                <a:ea typeface="Segoe UI"/>
              </a:rPr>
              <a:t>[ Project Preview ]</a:t>
            </a:r>
          </a:p>
        </p:txBody>
      </p:sp>
      <p:sp>
        <p:nvSpPr>
          <p:cNvPr id="20" name="TextBox 20"/>
          <p:cNvSpPr/>
          <p:nvPr/>
        </p:nvSpPr>
        <p:spPr>
          <a:xfrm>
            <a:off x="540000" y="5868000"/>
            <a:ext cx="504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b="1">
                <a:solidFill>
                  <a:srgbClr val="FFFFFF"/>
                </a:solidFill>
                <a:latin typeface="Segoe UI Black"/>
                <a:ea typeface="Segoe UI Black"/>
              </a:rPr>
              <a:t>Orbit — Brand Identity</a:t>
            </a:r>
          </a:p>
        </p:txBody>
      </p:sp>
      <p:sp>
        <p:nvSpPr>
          <p:cNvPr id="21" name="TextBox 21"/>
          <p:cNvSpPr/>
          <p:nvPr/>
        </p:nvSpPr>
        <p:spPr>
          <a:xfrm>
            <a:off x="540000" y="6300000"/>
            <a:ext cx="5040000" cy="28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8899BB"/>
                </a:solidFill>
                <a:latin typeface="Segoe UI"/>
                <a:ea typeface="Segoe UI"/>
              </a:rPr>
              <a:t>Identity  ·  Motion  ·  Web  ·  2024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0A0A20"/>
        </a:solidFill>
      </p:bgPr>
    </p:bg>
    <p:spTree>
      <p:nvGrpSpPr>
        <p:cNvPr id="1" name=""/>
        <p:cNvGrpSpPr/>
        <p:nvPr/>
      </p:nvGrpSpPr>
      <p:grpSpPr/>
      <p:sp>
        <p:nvSpPr>
          <p:cNvPr id="2" name="!!aurora"/>
          <p:cNvSpPr/>
          <p:nvPr/>
        </p:nvSpPr>
        <p:spPr>
          <a:xfrm>
            <a:off x="0" y="0"/>
            <a:ext cx="5040000" cy="5040000"/>
          </a:xfrm>
          <a:prstGeom prst="ellipse">
            <a:avLst/>
          </a:prstGeom>
          <a:gradFill>
            <a:gsLst>
              <a:gs pos="0">
                <a:srgbClr val="8822EE">
                  <a:alpha val="82000"/>
                </a:srgbClr>
              </a:gs>
              <a:gs pos="100000">
                <a:srgbClr val="FF6622">
                  <a:alpha val="82000"/>
                </a:srgbClr>
              </a:gs>
            </a:gsLst>
            <a:lin ang="2700000" scaled="1"/>
          </a:gradFill>
          <a:effectLst>
            <a:softEdge rad="222250"/>
          </a:effectLst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36000" y="36000"/>
            <a:ext cx="3528000" cy="3528000"/>
          </a:xfrm>
          <a:prstGeom prst="ellipse">
            <a:avLst/>
          </a:prstGeom>
          <a:gradFill>
            <a:gsLst>
              <a:gs pos="0">
                <a:srgbClr val="FF6622">
                  <a:alpha val="55000"/>
                </a:srgbClr>
              </a:gs>
              <a:gs pos="100000">
                <a:srgbClr val="8822EE">
                  <a:alpha val="55000"/>
                </a:srgbClr>
              </a:gs>
            </a:gsLst>
            <a:lin ang="6300000" scaled="1"/>
          </a:gradFill>
          <a:effectLst>
            <a:softEdge rad="88900"/>
          </a:effectLst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>
            <a:off x="842400" y="842400"/>
            <a:ext cx="1915200" cy="1915200"/>
          </a:xfrm>
          <a:prstGeom prst="ellipse">
            <a:avLst/>
          </a:prstGeom>
          <a:solidFill>
            <a:srgbClr val="FFB830">
              <a:alpha val="30000"/>
            </a:srgbClr>
          </a:solidFill>
          <a:effectLst>
            <a:softEdge rad="35560"/>
          </a:effectLst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spark-h"/>
          <p:cNvSpPr/>
          <p:nvPr/>
        </p:nvSpPr>
        <p:spPr>
          <a:xfrm>
            <a:off x="8820000" y="5014800"/>
            <a:ext cx="1080000" cy="504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spark-v"/>
          <p:cNvSpPr/>
          <p:nvPr/>
        </p:nvSpPr>
        <p:spPr>
          <a:xfrm>
            <a:off x="9334800" y="4500000"/>
            <a:ext cx="50400" cy="1080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 rot="2700000">
            <a:off x="9036000" y="5022000"/>
            <a:ext cx="648000" cy="25200"/>
          </a:xfrm>
          <a:prstGeom prst="rect">
            <a:avLst/>
          </a:prstGeom>
          <a:solidFill>
            <a:srgbClr val="FFFFFF">
              <a:alpha val="5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 rot="-2700000">
            <a:off x="9036000" y="5022000"/>
            <a:ext cx="648000" cy="25200"/>
          </a:xfrm>
          <a:prstGeom prst="rect">
            <a:avLst/>
          </a:prstGeom>
          <a:solidFill>
            <a:srgbClr val="FFFFFF">
              <a:alpha val="5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11340000" y="705600"/>
            <a:ext cx="360000" cy="28800"/>
          </a:xfrm>
          <a:prstGeom prst="rect">
            <a:avLst/>
          </a:prstGeom>
          <a:solidFill>
            <a:srgbClr val="FF6622">
              <a:alpha val="6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TextBox 10"/>
          <p:cNvSpPr/>
          <p:nvPr/>
        </p:nvSpPr>
        <p:spPr>
          <a:xfrm>
            <a:off x="11505600" y="540000"/>
            <a:ext cx="28800" cy="360000"/>
          </a:xfrm>
          <a:prstGeom prst="rect">
            <a:avLst/>
          </a:prstGeom>
          <a:solidFill>
            <a:srgbClr val="FF6622">
              <a:alpha val="6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TextBox 11"/>
          <p:cNvSpPr/>
          <p:nvPr/>
        </p:nvSpPr>
        <p:spPr>
          <a:xfrm>
            <a:off x="540000" y="6408000"/>
            <a:ext cx="11113200" cy="14400"/>
          </a:xfrm>
          <a:prstGeom prst="rect">
            <a:avLst/>
          </a:prstGeom>
          <a:solidFill>
            <a:srgbClr val="8899BB">
              <a:alpha val="4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" name="TextBox 12"/>
          <p:cNvSpPr/>
          <p:nvPr/>
        </p:nvSpPr>
        <p:spPr>
          <a:xfrm>
            <a:off x="540000" y="6480000"/>
            <a:ext cx="5760000" cy="28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900">
                <a:solidFill>
                  <a:srgbClr val="8899BB"/>
                </a:solidFill>
                <a:latin typeface="Segoe UI"/>
                <a:ea typeface="Segoe UI"/>
              </a:rPr>
              <a:t>Selected Work</a:t>
            </a:r>
          </a:p>
        </p:txBody>
      </p:sp>
      <p:sp>
        <p:nvSpPr>
          <p:cNvPr id="13" name="TextBox 13"/>
          <p:cNvSpPr/>
          <p:nvPr/>
        </p:nvSpPr>
        <p:spPr>
          <a:xfrm>
            <a:off x="6300000" y="6480000"/>
            <a:ext cx="5400000" cy="288000"/>
          </a:xfrm>
          <a:prstGeom prst="rect">
            <a:avLst/>
          </a:prstGeom>
          <a:noFill/>
        </p:spPr>
        <p:txBody>
          <a:bodyPr/>
          <a:lstStyle/>
          <a:p>
            <a:pPr algn="r"/>
            <a:r>
              <a:rPr lang="en-US" sz="900">
                <a:solidFill>
                  <a:srgbClr val="8899BB"/>
                </a:solidFill>
                <a:latin typeface="Segoe UI"/>
                <a:ea typeface="Segoe UI"/>
              </a:rPr>
              <a:t>2 / 4</a:t>
            </a:r>
          </a:p>
        </p:txBody>
      </p:sp>
      <p:sp>
        <p:nvSpPr>
          <p:cNvPr id="14" name="TextBox 14"/>
          <p:cNvSpPr/>
          <p:nvPr/>
        </p:nvSpPr>
        <p:spPr>
          <a:xfrm>
            <a:off x="288000" y="288000"/>
            <a:ext cx="324000" cy="324000"/>
          </a:xfrm>
          <a:prstGeom prst="rect">
            <a:avLst/>
          </a:prstGeom>
          <a:solidFill>
            <a:srgbClr val="8822EE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5" name="TextBox 15"/>
          <p:cNvSpPr/>
          <p:nvPr/>
        </p:nvSpPr>
        <p:spPr>
          <a:xfrm>
            <a:off x="360000" y="900000"/>
            <a:ext cx="4320000" cy="18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000" b="1">
                <a:solidFill>
                  <a:srgbClr val="FFFFFF"/>
                </a:solidFill>
                <a:latin typeface="Segoe UI Black"/>
                <a:ea typeface="Segoe UI Black"/>
              </a:rPr>
              <a:t>More</a:t>
            </a:r>
          </a:p>
          <a:p>
            <a:r>
              <a:rPr lang="en-US" sz="4000" b="1">
                <a:solidFill>
                  <a:srgbClr val="FFFFFF"/>
                </a:solidFill>
                <a:latin typeface="Segoe UI Black"/>
                <a:ea typeface="Segoe UI Black"/>
              </a:rPr>
              <a:t>Work.</a:t>
            </a:r>
          </a:p>
        </p:txBody>
      </p:sp>
      <p:sp>
        <p:nvSpPr>
          <p:cNvPr id="16" name="TextBox 16"/>
          <p:cNvSpPr/>
          <p:nvPr/>
        </p:nvSpPr>
        <p:spPr>
          <a:xfrm>
            <a:off x="5040000" y="180000"/>
            <a:ext cx="6973200" cy="3060000"/>
          </a:xfrm>
          <a:prstGeom prst="roundRect">
            <a:avLst/>
          </a:prstGeom>
          <a:solidFill>
            <a:srgbClr val="334455">
              <a:alpha val="7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7" name="TextBox 17"/>
          <p:cNvSpPr/>
          <p:nvPr/>
        </p:nvSpPr>
        <p:spPr>
          <a:xfrm>
            <a:off x="5040000" y="180000"/>
            <a:ext cx="6973200" cy="306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000">
                <a:solidFill>
                  <a:srgbClr val="8899BB"/>
                </a:solidFill>
                <a:latin typeface="Segoe UI"/>
                <a:ea typeface="Segoe UI"/>
              </a:rPr>
              <a:t>[ Neon Tokyo — Campaign ]</a:t>
            </a:r>
          </a:p>
        </p:txBody>
      </p:sp>
      <p:sp>
        <p:nvSpPr>
          <p:cNvPr id="18" name="TextBox 18"/>
          <p:cNvSpPr/>
          <p:nvPr/>
        </p:nvSpPr>
        <p:spPr>
          <a:xfrm>
            <a:off x="5040000" y="3348000"/>
            <a:ext cx="69732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b="1">
                <a:solidFill>
                  <a:srgbClr val="FFFFFF"/>
                </a:solidFill>
                <a:latin typeface="Segoe UI Black"/>
                <a:ea typeface="Segoe UI Black"/>
              </a:rPr>
              <a:t>Neon Tokyo</a:t>
            </a:r>
          </a:p>
        </p:txBody>
      </p:sp>
      <p:sp>
        <p:nvSpPr>
          <p:cNvPr id="19" name="TextBox 19"/>
          <p:cNvSpPr/>
          <p:nvPr/>
        </p:nvSpPr>
        <p:spPr>
          <a:xfrm>
            <a:off x="5040000" y="3780000"/>
            <a:ext cx="6973200" cy="28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8899BB"/>
                </a:solidFill>
                <a:latin typeface="Segoe UI"/>
                <a:ea typeface="Segoe UI"/>
              </a:rPr>
              <a:t>Campaign  ·  Motion  ·  2023</a:t>
            </a:r>
          </a:p>
        </p:txBody>
      </p:sp>
      <p:sp>
        <p:nvSpPr>
          <p:cNvPr id="20" name="TextBox 20"/>
          <p:cNvSpPr/>
          <p:nvPr/>
        </p:nvSpPr>
        <p:spPr>
          <a:xfrm>
            <a:off x="5040000" y="4140000"/>
            <a:ext cx="3312000" cy="2520000"/>
          </a:xfrm>
          <a:prstGeom prst="roundRect">
            <a:avLst/>
          </a:prstGeom>
          <a:solidFill>
            <a:srgbClr val="334455">
              <a:alpha val="7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1" name="TextBox 21"/>
          <p:cNvSpPr/>
          <p:nvPr/>
        </p:nvSpPr>
        <p:spPr>
          <a:xfrm>
            <a:off x="5040000" y="4140000"/>
            <a:ext cx="3312000" cy="252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000">
                <a:solidFill>
                  <a:srgbClr val="8899BB"/>
                </a:solidFill>
                <a:latin typeface="Segoe UI"/>
                <a:ea typeface="Segoe UI"/>
              </a:rPr>
              <a:t>[ Auris ]</a:t>
            </a:r>
          </a:p>
        </p:txBody>
      </p:sp>
      <p:sp>
        <p:nvSpPr>
          <p:cNvPr id="22" name="TextBox 22"/>
          <p:cNvSpPr/>
          <p:nvPr/>
        </p:nvSpPr>
        <p:spPr>
          <a:xfrm>
            <a:off x="5040000" y="6732000"/>
            <a:ext cx="3312000" cy="306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 b="1">
                <a:solidFill>
                  <a:srgbClr val="FFFFFF"/>
                </a:solidFill>
                <a:latin typeface="Segoe UI Black"/>
                <a:ea typeface="Segoe UI Black"/>
              </a:rPr>
              <a:t>Auris Audio</a:t>
            </a:r>
          </a:p>
        </p:txBody>
      </p:sp>
      <p:sp>
        <p:nvSpPr>
          <p:cNvPr id="23" name="TextBox 23"/>
          <p:cNvSpPr/>
          <p:nvPr/>
        </p:nvSpPr>
        <p:spPr>
          <a:xfrm>
            <a:off x="8593200" y="4140000"/>
            <a:ext cx="3420000" cy="2520000"/>
          </a:xfrm>
          <a:prstGeom prst="roundRect">
            <a:avLst/>
          </a:prstGeom>
          <a:solidFill>
            <a:srgbClr val="334455">
              <a:alpha val="7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4" name="TextBox 24"/>
          <p:cNvSpPr/>
          <p:nvPr/>
        </p:nvSpPr>
        <p:spPr>
          <a:xfrm>
            <a:off x="8593200" y="4140000"/>
            <a:ext cx="3420000" cy="252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000">
                <a:solidFill>
                  <a:srgbClr val="8899BB"/>
                </a:solidFill>
                <a:latin typeface="Segoe UI"/>
                <a:ea typeface="Segoe UI"/>
              </a:rPr>
              <a:t>[ Mira ]</a:t>
            </a:r>
          </a:p>
        </p:txBody>
      </p:sp>
      <p:sp>
        <p:nvSpPr>
          <p:cNvPr id="25" name="TextBox 25"/>
          <p:cNvSpPr/>
          <p:nvPr/>
        </p:nvSpPr>
        <p:spPr>
          <a:xfrm>
            <a:off x="8593200" y="6732000"/>
            <a:ext cx="3420000" cy="306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 b="1">
                <a:solidFill>
                  <a:srgbClr val="FFFFFF"/>
                </a:solidFill>
                <a:latin typeface="Segoe UI Black"/>
                <a:ea typeface="Segoe UI Black"/>
              </a:rPr>
              <a:t>Mira Health</a:t>
            </a:r>
          </a:p>
        </p:txBody>
      </p:sp>
      <p:sp>
        <p:nvSpPr>
          <p:cNvPr id="26" name="TextBox 26"/>
          <p:cNvSpPr/>
          <p:nvPr/>
        </p:nvSpPr>
        <p:spPr>
          <a:xfrm>
            <a:off x="360000" y="3060000"/>
            <a:ext cx="432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>
                <a:solidFill>
                  <a:srgbClr val="8899BB"/>
                </a:solidFill>
                <a:latin typeface="Segoe UI"/>
                <a:ea typeface="Segoe UI"/>
              </a:rPr>
              <a:t>Brand, Motion, Web, Print.</a:t>
            </a:r>
          </a:p>
        </p:txBody>
      </p:sp>
      <p:sp>
        <p:nvSpPr>
          <p:cNvPr id="27" name="TextBox 27"/>
          <p:cNvSpPr/>
          <p:nvPr/>
        </p:nvSpPr>
        <p:spPr>
          <a:xfrm>
            <a:off x="360000" y="3960000"/>
            <a:ext cx="4320000" cy="18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200" b="1">
                <a:solidFill>
                  <a:srgbClr val="FFFFFF"/>
                </a:solidFill>
                <a:latin typeface="Segoe UI Black"/>
                <a:ea typeface="Segoe UI Black"/>
              </a:rPr>
              <a:t>60+</a:t>
            </a:r>
          </a:p>
          <a:p>
            <a:r>
              <a:rPr lang="en-US" sz="3200" b="1">
                <a:solidFill>
                  <a:srgbClr val="FFFFFF"/>
                </a:solidFill>
                <a:latin typeface="Segoe UI Black"/>
                <a:ea typeface="Segoe UI Black"/>
              </a:rPr>
              <a:t>projects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050510"/>
        </a:solidFill>
      </p:bgPr>
    </p:bg>
    <p:spTree>
      <p:nvGrpSpPr>
        <p:cNvPr id="1" name=""/>
        <p:cNvGrpSpPr/>
        <p:nvPr/>
      </p:nvGrpSpPr>
      <p:grpSpPr/>
      <p:sp>
        <p:nvSpPr>
          <p:cNvPr id="2" name="!!aurora"/>
          <p:cNvSpPr/>
          <p:nvPr/>
        </p:nvSpPr>
        <p:spPr>
          <a:xfrm>
            <a:off x="1080000" y="0"/>
            <a:ext cx="10080000" cy="6858000"/>
          </a:xfrm>
          <a:prstGeom prst="ellipse">
            <a:avLst/>
          </a:prstGeom>
          <a:gradFill>
            <a:gsLst>
              <a:gs pos="0">
                <a:srgbClr val="1844FF">
                  <a:alpha val="60000"/>
                </a:srgbClr>
              </a:gs>
              <a:gs pos="100000">
                <a:srgbClr val="FF6622">
                  <a:alpha val="60000"/>
                </a:srgbClr>
              </a:gs>
            </a:gsLst>
            <a:lin ang="5400000" scaled="1"/>
          </a:gradFill>
          <a:effectLst>
            <a:softEdge rad="444500"/>
          </a:effectLst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2592000" y="0"/>
            <a:ext cx="7056000" cy="7056000"/>
          </a:xfrm>
          <a:prstGeom prst="ellipse">
            <a:avLst/>
          </a:prstGeom>
          <a:gradFill>
            <a:gsLst>
              <a:gs pos="0">
                <a:srgbClr val="FF6622">
                  <a:alpha val="55000"/>
                </a:srgbClr>
              </a:gs>
              <a:gs pos="100000">
                <a:srgbClr val="8822EE">
                  <a:alpha val="55000"/>
                </a:srgbClr>
              </a:gs>
            </a:gsLst>
            <a:lin ang="9000000" scaled="1"/>
          </a:gradFill>
          <a:effectLst>
            <a:softEdge rad="177800"/>
          </a:effectLst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>
            <a:off x="4204800" y="964800"/>
            <a:ext cx="3830400" cy="3830400"/>
          </a:xfrm>
          <a:prstGeom prst="ellipse">
            <a:avLst/>
          </a:prstGeom>
          <a:solidFill>
            <a:srgbClr val="FFB830">
              <a:alpha val="30000"/>
            </a:srgbClr>
          </a:solidFill>
          <a:effectLst>
            <a:softEdge rad="71120"/>
          </a:effectLst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spark-h"/>
          <p:cNvSpPr/>
          <p:nvPr/>
        </p:nvSpPr>
        <p:spPr>
          <a:xfrm>
            <a:off x="900000" y="1234800"/>
            <a:ext cx="1080000" cy="504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spark-v"/>
          <p:cNvSpPr/>
          <p:nvPr/>
        </p:nvSpPr>
        <p:spPr>
          <a:xfrm>
            <a:off x="1414800" y="720000"/>
            <a:ext cx="50400" cy="1080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 rot="2700000">
            <a:off x="1116000" y="1242000"/>
            <a:ext cx="648000" cy="25200"/>
          </a:xfrm>
          <a:prstGeom prst="rect">
            <a:avLst/>
          </a:prstGeom>
          <a:solidFill>
            <a:srgbClr val="FFFFFF">
              <a:alpha val="5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 rot="-2700000">
            <a:off x="1116000" y="1242000"/>
            <a:ext cx="648000" cy="25200"/>
          </a:xfrm>
          <a:prstGeom prst="rect">
            <a:avLst/>
          </a:prstGeom>
          <a:solidFill>
            <a:srgbClr val="FFFFFF">
              <a:alpha val="5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11340000" y="5385600"/>
            <a:ext cx="360000" cy="28800"/>
          </a:xfrm>
          <a:prstGeom prst="rect">
            <a:avLst/>
          </a:prstGeom>
          <a:solidFill>
            <a:srgbClr val="FFFFFF">
              <a:alpha val="5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TextBox 10"/>
          <p:cNvSpPr/>
          <p:nvPr/>
        </p:nvSpPr>
        <p:spPr>
          <a:xfrm>
            <a:off x="11505600" y="5220000"/>
            <a:ext cx="28800" cy="360000"/>
          </a:xfrm>
          <a:prstGeom prst="rect">
            <a:avLst/>
          </a:prstGeom>
          <a:solidFill>
            <a:srgbClr val="FFFFFF">
              <a:alpha val="5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TextBox 11"/>
          <p:cNvSpPr/>
          <p:nvPr/>
        </p:nvSpPr>
        <p:spPr>
          <a:xfrm>
            <a:off x="576000" y="5745600"/>
            <a:ext cx="288000" cy="28800"/>
          </a:xfrm>
          <a:prstGeom prst="rect">
            <a:avLst/>
          </a:prstGeom>
          <a:solidFill>
            <a:srgbClr val="00DDBB">
              <a:alpha val="5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" name="TextBox 12"/>
          <p:cNvSpPr/>
          <p:nvPr/>
        </p:nvSpPr>
        <p:spPr>
          <a:xfrm>
            <a:off x="705600" y="5616000"/>
            <a:ext cx="28800" cy="288000"/>
          </a:xfrm>
          <a:prstGeom prst="rect">
            <a:avLst/>
          </a:prstGeom>
          <a:solidFill>
            <a:srgbClr val="00DDBB">
              <a:alpha val="5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" name="TextBox 13"/>
          <p:cNvSpPr/>
          <p:nvPr/>
        </p:nvSpPr>
        <p:spPr>
          <a:xfrm>
            <a:off x="540000" y="6408000"/>
            <a:ext cx="11113200" cy="14400"/>
          </a:xfrm>
          <a:prstGeom prst="rect">
            <a:avLst/>
          </a:prstGeom>
          <a:solidFill>
            <a:srgbClr val="8899BB">
              <a:alpha val="4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4" name="TextBox 14"/>
          <p:cNvSpPr/>
          <p:nvPr/>
        </p:nvSpPr>
        <p:spPr>
          <a:xfrm>
            <a:off x="540000" y="6480000"/>
            <a:ext cx="5760000" cy="28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900">
                <a:solidFill>
                  <a:srgbClr val="8899BB"/>
                </a:solidFill>
                <a:latin typeface="Segoe UI"/>
                <a:ea typeface="Segoe UI"/>
              </a:rPr>
              <a:t>Skills &amp; Tools</a:t>
            </a:r>
          </a:p>
        </p:txBody>
      </p:sp>
      <p:sp>
        <p:nvSpPr>
          <p:cNvPr id="15" name="TextBox 15"/>
          <p:cNvSpPr/>
          <p:nvPr/>
        </p:nvSpPr>
        <p:spPr>
          <a:xfrm>
            <a:off x="6300000" y="6480000"/>
            <a:ext cx="5400000" cy="288000"/>
          </a:xfrm>
          <a:prstGeom prst="rect">
            <a:avLst/>
          </a:prstGeom>
          <a:noFill/>
        </p:spPr>
        <p:txBody>
          <a:bodyPr/>
          <a:lstStyle/>
          <a:p>
            <a:pPr algn="r"/>
            <a:r>
              <a:rPr lang="en-US" sz="900">
                <a:solidFill>
                  <a:srgbClr val="8899BB"/>
                </a:solidFill>
                <a:latin typeface="Segoe UI"/>
                <a:ea typeface="Segoe UI"/>
              </a:rPr>
              <a:t>lumina.design</a:t>
            </a:r>
          </a:p>
        </p:txBody>
      </p:sp>
      <p:sp>
        <p:nvSpPr>
          <p:cNvPr id="16" name="TextBox 16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50510">
              <a:alpha val="4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7" name="TextBox 17"/>
          <p:cNvSpPr/>
          <p:nvPr/>
        </p:nvSpPr>
        <p:spPr>
          <a:xfrm>
            <a:off x="288000" y="288000"/>
            <a:ext cx="324000" cy="324000"/>
          </a:xfrm>
          <a:prstGeom prst="rect">
            <a:avLst/>
          </a:prstGeom>
          <a:solidFill>
            <a:srgbClr val="1844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8" name="TextBox 18"/>
          <p:cNvSpPr/>
          <p:nvPr/>
        </p:nvSpPr>
        <p:spPr>
          <a:xfrm>
            <a:off x="540000" y="648000"/>
            <a:ext cx="10800000" cy="1800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4000" b="1">
                <a:solidFill>
                  <a:srgbClr val="FFFFFF"/>
                </a:solidFill>
                <a:latin typeface="Segoe UI Black"/>
                <a:ea typeface="Segoe UI Black"/>
              </a:rPr>
              <a:t>Skills &amp;</a:t>
            </a:r>
          </a:p>
          <a:p>
            <a:pPr algn="ctr"/>
            <a:r>
              <a:rPr lang="en-US" sz="4000" b="1">
                <a:solidFill>
                  <a:srgbClr val="FFFFFF"/>
                </a:solidFill>
                <a:latin typeface="Segoe UI Black"/>
                <a:ea typeface="Segoe UI Black"/>
              </a:rPr>
              <a:t>Process.</a:t>
            </a:r>
          </a:p>
        </p:txBody>
      </p:sp>
      <p:sp>
        <p:nvSpPr>
          <p:cNvPr id="19" name="TextBox 19"/>
          <p:cNvSpPr/>
          <p:nvPr/>
        </p:nvSpPr>
        <p:spPr>
          <a:xfrm>
            <a:off x="540000" y="2880000"/>
            <a:ext cx="2520000" cy="28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 b="1">
                <a:solidFill>
                  <a:srgbClr val="00DDBB"/>
                </a:solidFill>
                <a:latin typeface="Segoe UI Black"/>
                <a:ea typeface="Segoe UI Black"/>
              </a:rPr>
              <a:t>DESIGN</a:t>
            </a:r>
          </a:p>
        </p:txBody>
      </p:sp>
      <p:sp>
        <p:nvSpPr>
          <p:cNvPr id="20" name="TextBox 20"/>
          <p:cNvSpPr/>
          <p:nvPr/>
        </p:nvSpPr>
        <p:spPr>
          <a:xfrm>
            <a:off x="540000" y="3312000"/>
            <a:ext cx="2520000" cy="18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FFFFFF"/>
                </a:solidFill>
                <a:latin typeface="Segoe UI"/>
                <a:ea typeface="Segoe UI"/>
              </a:rPr>
              <a:t>Brand Identity</a:t>
            </a:r>
          </a:p>
          <a:p>
            <a:r>
              <a:rPr lang="en-US" sz="1100">
                <a:solidFill>
                  <a:srgbClr val="FFFFFF"/>
                </a:solidFill>
                <a:latin typeface="Segoe UI"/>
                <a:ea typeface="Segoe UI"/>
              </a:rPr>
              <a:t>Typography</a:t>
            </a:r>
          </a:p>
          <a:p>
            <a:r>
              <a:rPr lang="en-US" sz="1100">
                <a:solidFill>
                  <a:srgbClr val="FFFFFF"/>
                </a:solidFill>
                <a:latin typeface="Segoe UI"/>
                <a:ea typeface="Segoe UI"/>
              </a:rPr>
              <a:t>Art Direction</a:t>
            </a:r>
          </a:p>
          <a:p>
            <a:r>
              <a:rPr lang="en-US" sz="1100">
                <a:solidFill>
                  <a:srgbClr val="FFFFFF"/>
                </a:solidFill>
                <a:latin typeface="Segoe UI"/>
                <a:ea typeface="Segoe UI"/>
              </a:rPr>
              <a:t>Packaging</a:t>
            </a:r>
          </a:p>
        </p:txBody>
      </p:sp>
      <p:sp>
        <p:nvSpPr>
          <p:cNvPr id="21" name="TextBox 21"/>
          <p:cNvSpPr/>
          <p:nvPr/>
        </p:nvSpPr>
        <p:spPr>
          <a:xfrm>
            <a:off x="3780000" y="2880000"/>
            <a:ext cx="2520000" cy="28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 b="1">
                <a:solidFill>
                  <a:srgbClr val="FF6622"/>
                </a:solidFill>
                <a:latin typeface="Segoe UI Black"/>
                <a:ea typeface="Segoe UI Black"/>
              </a:rPr>
              <a:t>MOTION</a:t>
            </a:r>
          </a:p>
        </p:txBody>
      </p:sp>
      <p:sp>
        <p:nvSpPr>
          <p:cNvPr id="22" name="TextBox 22"/>
          <p:cNvSpPr/>
          <p:nvPr/>
        </p:nvSpPr>
        <p:spPr>
          <a:xfrm>
            <a:off x="3780000" y="3312000"/>
            <a:ext cx="2520000" cy="18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FFFFFF"/>
                </a:solidFill>
                <a:latin typeface="Segoe UI"/>
                <a:ea typeface="Segoe UI"/>
              </a:rPr>
              <a:t>After Effects</a:t>
            </a:r>
          </a:p>
          <a:p>
            <a:r>
              <a:rPr lang="en-US" sz="1100">
                <a:solidFill>
                  <a:srgbClr val="FFFFFF"/>
                </a:solidFill>
                <a:latin typeface="Segoe UI"/>
                <a:ea typeface="Segoe UI"/>
              </a:rPr>
              <a:t>Cinema 4D</a:t>
            </a:r>
          </a:p>
          <a:p>
            <a:r>
              <a:rPr lang="en-US" sz="1100">
                <a:solidFill>
                  <a:srgbClr val="FFFFFF"/>
                </a:solidFill>
                <a:latin typeface="Segoe UI"/>
                <a:ea typeface="Segoe UI"/>
              </a:rPr>
              <a:t>WebGL / Three.js</a:t>
            </a:r>
          </a:p>
          <a:p>
            <a:r>
              <a:rPr lang="en-US" sz="1100">
                <a:solidFill>
                  <a:srgbClr val="FFFFFF"/>
                </a:solidFill>
                <a:latin typeface="Segoe UI"/>
                <a:ea typeface="Segoe UI"/>
              </a:rPr>
              <a:t>Prototyping</a:t>
            </a:r>
          </a:p>
        </p:txBody>
      </p:sp>
      <p:sp>
        <p:nvSpPr>
          <p:cNvPr id="23" name="TextBox 23"/>
          <p:cNvSpPr/>
          <p:nvPr/>
        </p:nvSpPr>
        <p:spPr>
          <a:xfrm>
            <a:off x="7020000" y="2880000"/>
            <a:ext cx="2520000" cy="28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 b="1">
                <a:solidFill>
                  <a:srgbClr val="FFB830"/>
                </a:solidFill>
                <a:latin typeface="Segoe UI Black"/>
                <a:ea typeface="Segoe UI Black"/>
              </a:rPr>
              <a:t>STRATEGY</a:t>
            </a:r>
          </a:p>
        </p:txBody>
      </p:sp>
      <p:sp>
        <p:nvSpPr>
          <p:cNvPr id="24" name="TextBox 24"/>
          <p:cNvSpPr/>
          <p:nvPr/>
        </p:nvSpPr>
        <p:spPr>
          <a:xfrm>
            <a:off x="7020000" y="3312000"/>
            <a:ext cx="2520000" cy="18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FFFFFF"/>
                </a:solidFill>
                <a:latin typeface="Segoe UI"/>
                <a:ea typeface="Segoe UI"/>
              </a:rPr>
              <a:t>Brand Positioning</a:t>
            </a:r>
          </a:p>
          <a:p>
            <a:r>
              <a:rPr lang="en-US" sz="1100">
                <a:solidFill>
                  <a:srgbClr val="FFFFFF"/>
                </a:solidFill>
                <a:latin typeface="Segoe UI"/>
                <a:ea typeface="Segoe UI"/>
              </a:rPr>
              <a:t>Audience Research</a:t>
            </a:r>
          </a:p>
          <a:p>
            <a:r>
              <a:rPr lang="en-US" sz="1100">
                <a:solidFill>
                  <a:srgbClr val="FFFFFF"/>
                </a:solidFill>
                <a:latin typeface="Segoe UI"/>
                <a:ea typeface="Segoe UI"/>
              </a:rPr>
              <a:t>Naming</a:t>
            </a:r>
          </a:p>
          <a:p>
            <a:r>
              <a:rPr lang="en-US" sz="1100">
                <a:solidFill>
                  <a:srgbClr val="FFFFFF"/>
                </a:solidFill>
                <a:latin typeface="Segoe UI"/>
                <a:ea typeface="Segoe UI"/>
              </a:rPr>
              <a:t>Messaging</a:t>
            </a:r>
          </a:p>
        </p:txBody>
      </p:sp>
      <p:sp>
        <p:nvSpPr>
          <p:cNvPr id="25" name="TextBox 25"/>
          <p:cNvSpPr/>
          <p:nvPr/>
        </p:nvSpPr>
        <p:spPr>
          <a:xfrm>
            <a:off x="9720000" y="2880000"/>
            <a:ext cx="2160000" cy="28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 b="1">
                <a:solidFill>
                  <a:srgbClr val="8822EE"/>
                </a:solidFill>
                <a:latin typeface="Segoe UI Black"/>
                <a:ea typeface="Segoe UI Black"/>
              </a:rPr>
              <a:t>DIGITAL</a:t>
            </a:r>
          </a:p>
        </p:txBody>
      </p:sp>
      <p:sp>
        <p:nvSpPr>
          <p:cNvPr id="26" name="TextBox 26"/>
          <p:cNvSpPr/>
          <p:nvPr/>
        </p:nvSpPr>
        <p:spPr>
          <a:xfrm>
            <a:off x="9720000" y="3312000"/>
            <a:ext cx="2160000" cy="18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FFFFFF"/>
                </a:solidFill>
                <a:latin typeface="Segoe UI"/>
                <a:ea typeface="Segoe UI"/>
              </a:rPr>
              <a:t>Webflow</a:t>
            </a:r>
          </a:p>
          <a:p>
            <a:r>
              <a:rPr lang="en-US" sz="1100">
                <a:solidFill>
                  <a:srgbClr val="FFFFFF"/>
                </a:solidFill>
                <a:latin typeface="Segoe UI"/>
                <a:ea typeface="Segoe UI"/>
              </a:rPr>
              <a:t>Figma</a:t>
            </a:r>
          </a:p>
          <a:p>
            <a:r>
              <a:rPr lang="en-US" sz="1100">
                <a:solidFill>
                  <a:srgbClr val="FFFFFF"/>
                </a:solidFill>
                <a:latin typeface="Segoe UI"/>
                <a:ea typeface="Segoe UI"/>
              </a:rPr>
              <a:t>Framer</a:t>
            </a:r>
          </a:p>
          <a:p>
            <a:r>
              <a:rPr lang="en-US" sz="1100">
                <a:solidFill>
                  <a:srgbClr val="FFFFFF"/>
                </a:solidFill>
                <a:latin typeface="Segoe UI"/>
                <a:ea typeface="Segoe UI"/>
              </a:rPr>
              <a:t>Shopify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050510"/>
        </a:solidFill>
      </p:bgPr>
    </p:bg>
    <p:spTree>
      <p:nvGrpSpPr>
        <p:cNvPr id="1" name=""/>
        <p:cNvGrpSpPr/>
        <p:nvPr/>
      </p:nvGrpSpPr>
      <p:grpSpPr/>
      <p:sp>
        <p:nvSpPr>
          <p:cNvPr id="2" name="!!aurora"/>
          <p:cNvSpPr/>
          <p:nvPr/>
        </p:nvSpPr>
        <p:spPr>
          <a:xfrm>
            <a:off x="1440000" y="0"/>
            <a:ext cx="9360000" cy="6858000"/>
          </a:xfrm>
          <a:prstGeom prst="ellipse">
            <a:avLst/>
          </a:prstGeom>
          <a:gradFill>
            <a:gsLst>
              <a:gs pos="0">
                <a:srgbClr val="FF6622">
                  <a:alpha val="88000"/>
                </a:srgbClr>
              </a:gs>
              <a:gs pos="100000">
                <a:srgbClr val="8822EE">
                  <a:alpha val="88000"/>
                </a:srgbClr>
              </a:gs>
            </a:gsLst>
            <a:lin ang="8100000" scaled="1"/>
          </a:gradFill>
          <a:effectLst>
            <a:softEdge rad="412750"/>
          </a:effectLst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2844000" y="144000"/>
            <a:ext cx="6552000" cy="6552000"/>
          </a:xfrm>
          <a:prstGeom prst="ellipse">
            <a:avLst/>
          </a:prstGeom>
          <a:gradFill>
            <a:gsLst>
              <a:gs pos="0">
                <a:srgbClr val="8822EE">
                  <a:alpha val="55000"/>
                </a:srgbClr>
              </a:gs>
              <a:gs pos="100000">
                <a:srgbClr val="8822EE">
                  <a:alpha val="55000"/>
                </a:srgbClr>
              </a:gs>
            </a:gsLst>
            <a:lin ang="11700000" scaled="1"/>
          </a:gradFill>
          <a:effectLst>
            <a:softEdge rad="165100"/>
          </a:effectLst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>
            <a:off x="4341600" y="1641600"/>
            <a:ext cx="3556800" cy="3556800"/>
          </a:xfrm>
          <a:prstGeom prst="ellipse">
            <a:avLst/>
          </a:prstGeom>
          <a:solidFill>
            <a:srgbClr val="FFB830">
              <a:alpha val="30000"/>
            </a:srgbClr>
          </a:solidFill>
          <a:effectLst>
            <a:softEdge rad="66040"/>
          </a:effectLst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spark-h"/>
          <p:cNvSpPr/>
          <p:nvPr/>
        </p:nvSpPr>
        <p:spPr>
          <a:xfrm>
            <a:off x="9540000" y="1234800"/>
            <a:ext cx="1080000" cy="504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spark-v"/>
          <p:cNvSpPr/>
          <p:nvPr/>
        </p:nvSpPr>
        <p:spPr>
          <a:xfrm>
            <a:off x="10054800" y="720000"/>
            <a:ext cx="50400" cy="1080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 rot="2700000">
            <a:off x="9756000" y="1242000"/>
            <a:ext cx="648000" cy="25200"/>
          </a:xfrm>
          <a:prstGeom prst="rect">
            <a:avLst/>
          </a:prstGeom>
          <a:solidFill>
            <a:srgbClr val="FFFFFF">
              <a:alpha val="5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 rot="-2700000">
            <a:off x="9756000" y="1242000"/>
            <a:ext cx="648000" cy="25200"/>
          </a:xfrm>
          <a:prstGeom prst="rect">
            <a:avLst/>
          </a:prstGeom>
          <a:solidFill>
            <a:srgbClr val="FFFFFF">
              <a:alpha val="5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1548000" y="525600"/>
            <a:ext cx="504000" cy="28800"/>
          </a:xfrm>
          <a:prstGeom prst="rect">
            <a:avLst/>
          </a:prstGeom>
          <a:solidFill>
            <a:srgbClr val="FFFFFF">
              <a:alpha val="7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TextBox 10"/>
          <p:cNvSpPr/>
          <p:nvPr/>
        </p:nvSpPr>
        <p:spPr>
          <a:xfrm>
            <a:off x="1785600" y="288000"/>
            <a:ext cx="28800" cy="504000"/>
          </a:xfrm>
          <a:prstGeom prst="rect">
            <a:avLst/>
          </a:prstGeom>
          <a:solidFill>
            <a:srgbClr val="FFFFFF">
              <a:alpha val="7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TextBox 11"/>
          <p:cNvSpPr/>
          <p:nvPr/>
        </p:nvSpPr>
        <p:spPr>
          <a:xfrm>
            <a:off x="360000" y="6105600"/>
            <a:ext cx="360000" cy="28800"/>
          </a:xfrm>
          <a:prstGeom prst="rect">
            <a:avLst/>
          </a:prstGeom>
          <a:solidFill>
            <a:srgbClr val="00DDBB">
              <a:alpha val="5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" name="TextBox 12"/>
          <p:cNvSpPr/>
          <p:nvPr/>
        </p:nvSpPr>
        <p:spPr>
          <a:xfrm>
            <a:off x="525600" y="5940000"/>
            <a:ext cx="28800" cy="360000"/>
          </a:xfrm>
          <a:prstGeom prst="rect">
            <a:avLst/>
          </a:prstGeom>
          <a:solidFill>
            <a:srgbClr val="00DDBB">
              <a:alpha val="5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" name="TextBox 13"/>
          <p:cNvSpPr/>
          <p:nvPr/>
        </p:nvSpPr>
        <p:spPr>
          <a:xfrm>
            <a:off x="540000" y="6408000"/>
            <a:ext cx="11113200" cy="14400"/>
          </a:xfrm>
          <a:prstGeom prst="rect">
            <a:avLst/>
          </a:prstGeom>
          <a:solidFill>
            <a:srgbClr val="8899BB">
              <a:alpha val="4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4" name="TextBox 14"/>
          <p:cNvSpPr/>
          <p:nvPr/>
        </p:nvSpPr>
        <p:spPr>
          <a:xfrm>
            <a:off x="540000" y="6480000"/>
            <a:ext cx="5760000" cy="28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900">
                <a:solidFill>
                  <a:srgbClr val="8899BB"/>
                </a:solidFill>
                <a:latin typeface="Segoe UI"/>
                <a:ea typeface="Segoe UI"/>
              </a:rPr>
              <a:t>lumina.design</a:t>
            </a:r>
          </a:p>
        </p:txBody>
      </p:sp>
      <p:sp>
        <p:nvSpPr>
          <p:cNvPr id="15" name="TextBox 15"/>
          <p:cNvSpPr/>
          <p:nvPr/>
        </p:nvSpPr>
        <p:spPr>
          <a:xfrm>
            <a:off x="6300000" y="6480000"/>
            <a:ext cx="5400000" cy="288000"/>
          </a:xfrm>
          <a:prstGeom prst="rect">
            <a:avLst/>
          </a:prstGeom>
          <a:noFill/>
        </p:spPr>
        <p:txBody>
          <a:bodyPr/>
          <a:lstStyle/>
          <a:p>
            <a:pPr algn="r"/>
            <a:r>
              <a:rPr lang="en-US" sz="900">
                <a:solidFill>
                  <a:srgbClr val="8899BB"/>
                </a:solidFill>
                <a:latin typeface="Segoe UI"/>
                <a:ea typeface="Segoe UI"/>
              </a:rPr>
              <a:t>©2025 Jamie Chastain</a:t>
            </a:r>
          </a:p>
        </p:txBody>
      </p:sp>
      <p:sp>
        <p:nvSpPr>
          <p:cNvPr id="16" name="TextBox 16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50510">
              <a:alpha val="5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7" name="TextBox 17"/>
          <p:cNvSpPr/>
          <p:nvPr/>
        </p:nvSpPr>
        <p:spPr>
          <a:xfrm>
            <a:off x="288000" y="288000"/>
            <a:ext cx="324000" cy="324000"/>
          </a:xfrm>
          <a:prstGeom prst="rect">
            <a:avLst/>
          </a:prstGeom>
          <a:solidFill>
            <a:srgbClr val="1844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8" name="TextBox 18"/>
          <p:cNvSpPr/>
          <p:nvPr/>
        </p:nvSpPr>
        <p:spPr>
          <a:xfrm>
            <a:off x="540000" y="720000"/>
            <a:ext cx="11113200" cy="3600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4800" b="1">
                <a:solidFill>
                  <a:srgbClr val="FFFFFF"/>
                </a:solidFill>
                <a:latin typeface="Segoe UI Black"/>
                <a:ea typeface="Segoe UI Black"/>
              </a:rPr>
              <a:t>Let's create</a:t>
            </a:r>
          </a:p>
          <a:p>
            <a:pPr algn="ctr"/>
            <a:r>
              <a:rPr lang="en-US" sz="4800" b="1">
                <a:solidFill>
                  <a:srgbClr val="FFFFFF"/>
                </a:solidFill>
                <a:latin typeface="Segoe UI Black"/>
                <a:ea typeface="Segoe UI Black"/>
              </a:rPr>
              <a:t>something</a:t>
            </a:r>
          </a:p>
          <a:p>
            <a:pPr algn="ctr"/>
            <a:r>
              <a:rPr lang="en-US" sz="4800" b="1">
                <a:solidFill>
                  <a:srgbClr val="FFFFFF"/>
                </a:solidFill>
                <a:latin typeface="Segoe UI Black"/>
                <a:ea typeface="Segoe UI Black"/>
              </a:rPr>
              <a:t>unforgettable.</a:t>
            </a:r>
          </a:p>
        </p:txBody>
      </p:sp>
      <p:sp>
        <p:nvSpPr>
          <p:cNvPr id="19" name="TextBox 19"/>
          <p:cNvSpPr/>
          <p:nvPr/>
        </p:nvSpPr>
        <p:spPr>
          <a:xfrm>
            <a:off x="3240000" y="4680000"/>
            <a:ext cx="5760000" cy="1008000"/>
          </a:xfrm>
          <a:prstGeom prst="roundRect">
            <a:avLst/>
          </a:prstGeom>
          <a:solidFill>
            <a:srgbClr val="FFFF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0" name="TextBox 20"/>
          <p:cNvSpPr/>
          <p:nvPr/>
        </p:nvSpPr>
        <p:spPr>
          <a:xfrm>
            <a:off x="3240000" y="4680000"/>
            <a:ext cx="5760000" cy="1008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400" b="1">
                <a:solidFill>
                  <a:srgbClr val="050510"/>
                </a:solidFill>
                <a:latin typeface="Segoe UI Black"/>
                <a:ea typeface="Segoe UI Black"/>
              </a:rPr>
              <a:t>hello@luminadesign.co  →</a:t>
            </a:r>
          </a:p>
        </p:txBody>
      </p:sp>
      <p:sp>
        <p:nvSpPr>
          <p:cNvPr id="21" name="TextBox 21"/>
          <p:cNvSpPr/>
          <p:nvPr/>
        </p:nvSpPr>
        <p:spPr>
          <a:xfrm>
            <a:off x="540000" y="5940000"/>
            <a:ext cx="11113200" cy="324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1100">
                <a:solidFill>
                  <a:srgbClr val="8899BB"/>
                </a:solidFill>
                <a:latin typeface="Segoe UI"/>
                <a:ea typeface="Segoe UI"/>
              </a:rPr>
              <a:t>Available for new projects from Q3 2025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