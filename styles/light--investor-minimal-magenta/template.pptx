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f854160449d418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5fee034801140af"/>
    <p:sldId id="257" r:id="R3d057ad4855f4a92"/>
    <p:sldId id="258" r:id="R1d59310efb1c477f"/>
    <p:sldId id="259" r:id="Rcc7685dfba274106"/>
    <p:sldId id="260" r:id="R4f03af2067704f1f"/>
    <p:sldId id="261" r:id="R421520e2dca244ef"/>
    <p:sldId id="262" r:id="R2593b6e017af4d9d"/>
    <p:sldId id="263" r:id="Rb597cdb92d384e2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5fee034801140af" /><Relationship Type="http://schemas.openxmlformats.org/officeDocument/2006/relationships/slide" Target="/ppt/slides/slide2.xml" Id="R3d057ad4855f4a92" /><Relationship Type="http://schemas.openxmlformats.org/officeDocument/2006/relationships/slide" Target="/ppt/slides/slide3.xml" Id="R1d59310efb1c477f" /><Relationship Type="http://schemas.openxmlformats.org/officeDocument/2006/relationships/slide" Target="/ppt/slides/slide4.xml" Id="Rcc7685dfba274106" /><Relationship Type="http://schemas.openxmlformats.org/officeDocument/2006/relationships/slide" Target="/ppt/slides/slide5.xml" Id="R4f03af2067704f1f" /><Relationship Type="http://schemas.openxmlformats.org/officeDocument/2006/relationships/slide" Target="/ppt/slides/slide6.xml" Id="R421520e2dca244ef" /><Relationship Type="http://schemas.openxmlformats.org/officeDocument/2006/relationships/slide" Target="/ppt/slides/slide7.xml" Id="R2593b6e017af4d9d" /><Relationship Type="http://schemas.openxmlformats.org/officeDocument/2006/relationships/slide" Target="/ppt/slides/slide8.xml" Id="Rb597cdb92d384e2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29ccf120e44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0123c707441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83408861e41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475efca684ed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009b0b726624be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4812d2a9442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c3ecacb7146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eac74860d48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3db8e538c40ca" /><Relationship Type="http://schemas.openxmlformats.org/officeDocument/2006/relationships/chart" Target="/ppt/slides/charts/chart1.xml" Id="Rbf1c006cdfa642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e74382b6d4f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b64d87e1d4611" /><Relationship Type="http://schemas.openxmlformats.org/officeDocument/2006/relationships/chart" Target="/ppt/slides/charts/chart2.xml" Id="R286b2aef503a4f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3d6ec24ab41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a86f25cbe4709" /></Relationships>
</file>

<file path=ppt/slides/charts/chart1.xml><?xml version="1.0" encoding="utf-8"?>
<c:chartSpace xmlns:c="http://schemas.openxmlformats.org/drawingml/2006/chart">
  <c:chart>
    <c:plotArea>
      <c:layout/>
      <c:lineChart>
        <c:grouping val="standar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E8215A"/>
            </a:solidFill>
          </c:spPr>
          <c:cat>
            <c:strLit>
              <c:ptCount val="8"/>
              <c:pt idx="0">
                <c:v>Q1 23</c:v>
              </c:pt>
              <c:pt idx="1">
                <c:v>Q2 23</c:v>
              </c:pt>
              <c:pt idx="2">
                <c:v>Q3 23</c:v>
              </c:pt>
              <c:pt idx="3">
                <c:v>Q4 23</c:v>
              </c:pt>
              <c:pt idx="4">
                <c:v>Q1 24</c:v>
              </c:pt>
              <c:pt idx="5">
                <c:v>Q2 24</c:v>
              </c:pt>
              <c:pt idx="6">
                <c:v>Q3 24</c:v>
              </c:pt>
              <c:pt idx="7">
                <c:v>Q4 24</c:v>
              </c:pt>
            </c:strLit>
          </c:cat>
          <c:val>
            <c:numLit>
              <c:formatCode>General</c:formatCode>
              <c:ptCount val="8"/>
              <c:pt idx="0">
                <c:v>8</c:v>
              </c:pt>
              <c:pt idx="1">
                <c:v>12</c:v>
              </c:pt>
              <c:pt idx="2">
                <c:v>18</c:v>
              </c:pt>
              <c:pt idx="3">
                <c:v>26</c:v>
              </c:pt>
              <c:pt idx="4">
                <c:v>32</c:v>
              </c:pt>
              <c:pt idx="5">
                <c:v>38</c:v>
              </c:pt>
              <c:pt idx="6">
                <c:v>42</c:v>
              </c:pt>
              <c:pt idx="7">
                <c:v>42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</c:dLbls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2.xml><?xml version="1.0" encoding="utf-8"?>
<c:chartSpace xmlns:c="http://schemas.openxmlformats.org/drawingml/2006/chart">
  <c:chart>
    <c:plotArea>
      <c:layout/>
      <c:barChart>
        <c:barDir val="bar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E8215A"/>
            </a:solidFill>
          </c:spPr>
          <c:cat>
            <c:strLit>
              <c:ptCount val="5"/>
              <c:pt idx="0">
                <c:v>Product R&amp;D</c:v>
              </c:pt>
              <c:pt idx="1">
                <c:v>Sales &amp; Mktg</c:v>
              </c:pt>
              <c:pt idx="2">
                <c:v>Ops &amp; Infra</c:v>
              </c:pt>
              <c:pt idx="3">
                <c:v>G&amp;A</c:v>
              </c:pt>
              <c:pt idx="4">
                <c:v>Reserve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30</c:v>
              </c:pt>
              <c:pt idx="2">
                <c:v>15</c:v>
              </c:pt>
              <c:pt idx="3">
                <c:v>10</c:v>
              </c:pt>
              <c:pt idx="4">
                <c:v>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7920000" y="0"/>
            <a:ext cx="6480000" cy="6480000"/>
          </a:xfrm>
          <a:prstGeom prst="ellipse">
            <a:avLst/>
          </a:prstGeom>
          <a:solidFill>
            <a:srgbClr val="E8215A">
              <a:alpha val="6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9720000" y="3960000"/>
            <a:ext cx="3240000" cy="3240000"/>
          </a:xfrm>
          <a:prstGeom prst="ellipse">
            <a:avLst/>
          </a:prstGeom>
          <a:solidFill>
            <a:srgbClr val="E8215A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5400000" y="5400000"/>
            <a:ext cx="900000" cy="900000"/>
          </a:xfrm>
          <a:solidFill>
            <a:srgbClr val="E8215A">
              <a:alpha val="12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4320000" y="1080000"/>
            <a:ext cx="252000" cy="252000"/>
          </a:xfrm>
          <a:prstGeom prst="ellipse">
            <a:avLst/>
          </a:prstGeom>
          <a:solidFill>
            <a:srgbClr val="E8215A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756000"/>
            <a:ext cx="216000" cy="756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720000" y="720000"/>
            <a:ext cx="6480000" cy="21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400" b="0">
                <a:solidFill>
                  <a:srgbClr val="0D0D0D"/>
                </a:solidFill>
                <a:latin typeface="Aptos Display"/>
                <a:ea typeface="Aptos Display"/>
              </a:rPr>
              <a:t>Investor Presentation</a:t>
            </a:r>
          </a:p>
        </p:txBody>
      </p:sp>
      <p:sp>
        <p:nvSpPr>
          <p:cNvPr id="10" name="!!hl_sub"/>
          <p:cNvSpPr/>
          <p:nvPr/>
        </p:nvSpPr>
        <p:spPr>
          <a:xfrm>
            <a:off x="720000" y="2952000"/>
            <a:ext cx="5760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4A4A5A"/>
                </a:solidFill>
                <a:latin typeface="Aptos"/>
                <a:ea typeface="Aptos"/>
              </a:rPr>
              <a:t>Series B — Strategic Growth Plan 2025</a:t>
            </a:r>
          </a:p>
        </p:txBody>
      </p:sp>
      <p:sp>
        <p:nvSpPr>
          <p:cNvPr id="11" name="!!co_n1"/>
          <p:cNvSpPr/>
          <p:nvPr/>
        </p:nvSpPr>
        <p:spPr>
          <a:xfrm>
            <a:off x="432000" y="3960000"/>
            <a:ext cx="216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000" b="0">
                <a:solidFill>
                  <a:srgbClr val="E8215A"/>
                </a:solidFill>
                <a:latin typeface="Aptos Display"/>
                <a:ea typeface="Aptos Display"/>
              </a:rPr>
              <a:t>$42M</a:t>
            </a:r>
          </a:p>
        </p:txBody>
      </p:sp>
      <p:sp>
        <p:nvSpPr>
          <p:cNvPr id="12" name="!!co_l1"/>
          <p:cNvSpPr/>
          <p:nvPr/>
        </p:nvSpPr>
        <p:spPr>
          <a:xfrm>
            <a:off x="432000" y="4968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9A9AAA"/>
                </a:solidFill>
                <a:latin typeface="Aptos"/>
                <a:ea typeface="Aptos"/>
              </a:rPr>
              <a:t>ARR</a:t>
            </a:r>
          </a:p>
        </p:txBody>
      </p:sp>
      <p:sp>
        <p:nvSpPr>
          <p:cNvPr id="13" name="!!co_n2"/>
          <p:cNvSpPr/>
          <p:nvPr/>
        </p:nvSpPr>
        <p:spPr>
          <a:xfrm>
            <a:off x="2880000" y="3960000"/>
            <a:ext cx="216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000" b="0">
                <a:solidFill>
                  <a:srgbClr val="E8215A"/>
                </a:solidFill>
                <a:latin typeface="Aptos Display"/>
                <a:ea typeface="Aptos Display"/>
              </a:rPr>
              <a:t>3.2×</a:t>
            </a:r>
          </a:p>
        </p:txBody>
      </p:sp>
      <p:sp>
        <p:nvSpPr>
          <p:cNvPr id="14" name="!!co_l2"/>
          <p:cNvSpPr/>
          <p:nvPr/>
        </p:nvSpPr>
        <p:spPr>
          <a:xfrm>
            <a:off x="2880000" y="4968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9A9AAA"/>
                </a:solidFill>
                <a:latin typeface="Aptos"/>
                <a:ea typeface="Aptos"/>
              </a:rPr>
              <a:t>YoY Growth</a:t>
            </a:r>
          </a:p>
        </p:txBody>
      </p:sp>
      <p:sp>
        <p:nvSpPr>
          <p:cNvPr id="15" name="!!co_n3"/>
          <p:cNvSpPr/>
          <p:nvPr/>
        </p:nvSpPr>
        <p:spPr>
          <a:xfrm>
            <a:off x="5580000" y="3960000"/>
            <a:ext cx="216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000" b="0">
                <a:solidFill>
                  <a:srgbClr val="E8215A"/>
                </a:solidFill>
                <a:latin typeface="Aptos Display"/>
                <a:ea typeface="Aptos Display"/>
              </a:rPr>
              <a:t>94%</a:t>
            </a:r>
          </a:p>
        </p:txBody>
      </p:sp>
      <p:sp>
        <p:nvSpPr>
          <p:cNvPr id="16" name="!!co_l3"/>
          <p:cNvSpPr/>
          <p:nvPr/>
        </p:nvSpPr>
        <p:spPr>
          <a:xfrm>
            <a:off x="5580000" y="4968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9A9AAA"/>
                </a:solidFill>
                <a:latin typeface="Aptos"/>
                <a:ea typeface="Aptos"/>
              </a:rPr>
              <a:t>Net Retention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7200000" y="1800000"/>
            <a:ext cx="7200000" cy="7200000"/>
          </a:xfrm>
          <a:prstGeom prst="ellipse">
            <a:avLst/>
          </a:prstGeom>
          <a:solidFill>
            <a:srgbClr val="E8215A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3600000"/>
            <a:ext cx="3600000" cy="3600000"/>
          </a:xfrm>
          <a:prstGeom prst="ellipse">
            <a:avLst/>
          </a:prstGeom>
          <a:solidFill>
            <a:srgbClr val="E8215A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0"/>
            <a:ext cx="12192000" cy="2160000"/>
          </a:xfrm>
          <a:prstGeom prst="rect">
            <a:avLst/>
          </a:prstGeom>
          <a:solidFill>
            <a:srgbClr val="E8215A">
              <a:alpha val="6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10800000" y="5400000"/>
            <a:ext cx="1440000" cy="1440000"/>
          </a:xfrm>
          <a:solidFill>
            <a:srgbClr val="FF6B9D">
              <a:alpha val="20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1800000" y="1080000"/>
            <a:ext cx="360000" cy="360000"/>
          </a:xfrm>
          <a:prstGeom prst="ellipse">
            <a:avLst/>
          </a:prstGeom>
          <a:solidFill>
            <a:srgbClr val="FF6B9D">
              <a:alpha val="6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900000"/>
            <a:ext cx="3240000" cy="72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1080000"/>
            <a:ext cx="7560000" cy="21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800" b="0">
                <a:solidFill>
                  <a:srgbClr val="FAFAFA"/>
                </a:solidFill>
                <a:latin typeface="Aptos Display"/>
                <a:ea typeface="Aptos Display"/>
              </a:rPr>
              <a:t>The market is broken.</a:t>
            </a:r>
          </a:p>
        </p:txBody>
      </p:sp>
      <p:sp>
        <p:nvSpPr>
          <p:cNvPr id="10" name="!!hl_sub"/>
          <p:cNvSpPr/>
          <p:nvPr/>
        </p:nvSpPr>
        <p:spPr>
          <a:xfrm>
            <a:off x="432000" y="3456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FF6B9D"/>
                </a:solidFill>
                <a:latin typeface="Aptos"/>
                <a:ea typeface="Aptos"/>
              </a:rPr>
              <a:t>Enterprises waste $2.4T annually on fragmented, disconnected workflows. We fix that.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8640000" y="2160000"/>
            <a:ext cx="5400000" cy="5400000"/>
          </a:xfrm>
          <a:prstGeom prst="ellipse">
            <a:avLst/>
          </a:prstGeom>
          <a:solidFill>
            <a:srgbClr val="E8215A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1440000"/>
            <a:ext cx="12192000" cy="7200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4320000"/>
            <a:ext cx="2160000" cy="2160000"/>
          </a:xfrm>
          <a:prstGeom prst="ellipse">
            <a:avLst/>
          </a:prstGeom>
          <a:solidFill>
            <a:srgbClr val="E8215A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11520000" y="360000"/>
            <a:ext cx="720000" cy="720000"/>
          </a:xfrm>
          <a:solidFill>
            <a:srgbClr val="E8215A">
              <a:alpha val="10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6480000" y="720000"/>
            <a:ext cx="216000" cy="216000"/>
          </a:xfrm>
          <a:prstGeom prst="ellipse">
            <a:avLst/>
          </a:prstGeom>
          <a:solidFill>
            <a:srgbClr val="E8215A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2880000" cy="72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504000"/>
            <a:ext cx="648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400" b="0">
                <a:solidFill>
                  <a:srgbClr val="0D0D0D"/>
                </a:solidFill>
                <a:latin typeface="Aptos Display"/>
                <a:ea typeface="Aptos Display"/>
              </a:rPr>
              <a:t>Why We Win</a:t>
            </a:r>
          </a:p>
        </p:txBody>
      </p:sp>
      <p:sp>
        <p:nvSpPr>
          <p:cNvPr id="10" name="!!co_card0"/>
          <p:cNvSpPr/>
          <p:nvPr/>
        </p:nvSpPr>
        <p:spPr>
          <a:xfrm>
            <a:off x="432000" y="1872000"/>
            <a:ext cx="3420000" cy="3600000"/>
          </a:xfrm>
          <a:prstGeom prst="roundRect">
            <a:avLst/>
          </a:prstGeom>
          <a:solidFill>
            <a:srgbClr val="FFFFFF"/>
          </a:solidFill>
          <a:ln w="2">
            <a:solidFill>
              <a:srgbClr val="E0E0E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o_bar0"/>
          <p:cNvSpPr/>
          <p:nvPr/>
        </p:nvSpPr>
        <p:spPr>
          <a:xfrm>
            <a:off x="432000" y="1872000"/>
            <a:ext cx="3420000" cy="108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co_num0"/>
          <p:cNvSpPr/>
          <p:nvPr/>
        </p:nvSpPr>
        <p:spPr>
          <a:xfrm>
            <a:off x="648000" y="2160000"/>
            <a:ext cx="144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200" b="0">
                <a:solidFill>
                  <a:srgbClr val="E8215A"/>
                </a:solidFill>
                <a:latin typeface="Aptos Display"/>
                <a:ea typeface="Aptos Display"/>
              </a:rPr>
              <a:t>01</a:t>
            </a:r>
          </a:p>
        </p:txBody>
      </p:sp>
      <p:sp>
        <p:nvSpPr>
          <p:cNvPr id="13" name="!!co_tit0"/>
          <p:cNvSpPr/>
          <p:nvPr/>
        </p:nvSpPr>
        <p:spPr>
          <a:xfrm>
            <a:off x="648000" y="3528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0D0D0D"/>
                </a:solidFill>
                <a:latin typeface="Aptos Display"/>
                <a:ea typeface="Aptos Display"/>
              </a:rPr>
              <a:t>Unified Platform</a:t>
            </a:r>
          </a:p>
        </p:txBody>
      </p:sp>
      <p:sp>
        <p:nvSpPr>
          <p:cNvPr id="14" name="!!co_bod0"/>
          <p:cNvSpPr/>
          <p:nvPr/>
        </p:nvSpPr>
        <p:spPr>
          <a:xfrm>
            <a:off x="648000" y="4140000"/>
            <a:ext cx="288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One workspace for all teams — no more context switching</a:t>
            </a:r>
          </a:p>
        </p:txBody>
      </p:sp>
      <p:sp>
        <p:nvSpPr>
          <p:cNvPr id="15" name="!!co_card1"/>
          <p:cNvSpPr/>
          <p:nvPr/>
        </p:nvSpPr>
        <p:spPr>
          <a:xfrm>
            <a:off x="4176000" y="1872000"/>
            <a:ext cx="3420000" cy="3600000"/>
          </a:xfrm>
          <a:prstGeom prst="roundRect">
            <a:avLst/>
          </a:prstGeom>
          <a:solidFill>
            <a:srgbClr val="FFFFFF"/>
          </a:solidFill>
          <a:ln w="2">
            <a:solidFill>
              <a:srgbClr val="E0E0E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!!co_bar1"/>
          <p:cNvSpPr/>
          <p:nvPr/>
        </p:nvSpPr>
        <p:spPr>
          <a:xfrm>
            <a:off x="4176000" y="1872000"/>
            <a:ext cx="3420000" cy="108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co_num1"/>
          <p:cNvSpPr/>
          <p:nvPr/>
        </p:nvSpPr>
        <p:spPr>
          <a:xfrm>
            <a:off x="4392000" y="2160000"/>
            <a:ext cx="144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200" b="0">
                <a:solidFill>
                  <a:srgbClr val="E8215A"/>
                </a:solidFill>
                <a:latin typeface="Aptos Display"/>
                <a:ea typeface="Aptos Display"/>
              </a:rPr>
              <a:t>02</a:t>
            </a:r>
          </a:p>
        </p:txBody>
      </p:sp>
      <p:sp>
        <p:nvSpPr>
          <p:cNvPr id="18" name="!!co_tit1"/>
          <p:cNvSpPr/>
          <p:nvPr/>
        </p:nvSpPr>
        <p:spPr>
          <a:xfrm>
            <a:off x="4392000" y="3528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0D0D0D"/>
                </a:solidFill>
                <a:latin typeface="Aptos Display"/>
                <a:ea typeface="Aptos Display"/>
              </a:rPr>
              <a:t>AI-Native</a:t>
            </a:r>
          </a:p>
        </p:txBody>
      </p:sp>
      <p:sp>
        <p:nvSpPr>
          <p:cNvPr id="19" name="!!co_bod1"/>
          <p:cNvSpPr/>
          <p:nvPr/>
        </p:nvSpPr>
        <p:spPr>
          <a:xfrm>
            <a:off x="4392000" y="4140000"/>
            <a:ext cx="288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Intelligent automation that learns your workflow patterns</a:t>
            </a:r>
          </a:p>
        </p:txBody>
      </p:sp>
      <p:sp>
        <p:nvSpPr>
          <p:cNvPr id="20" name="!!co_card2"/>
          <p:cNvSpPr/>
          <p:nvPr/>
        </p:nvSpPr>
        <p:spPr>
          <a:xfrm>
            <a:off x="7920000" y="1872000"/>
            <a:ext cx="3420000" cy="3600000"/>
          </a:xfrm>
          <a:prstGeom prst="roundRect">
            <a:avLst/>
          </a:prstGeom>
          <a:solidFill>
            <a:srgbClr val="FFFFFF"/>
          </a:solidFill>
          <a:ln w="2">
            <a:solidFill>
              <a:srgbClr val="E0E0E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co_bar2"/>
          <p:cNvSpPr/>
          <p:nvPr/>
        </p:nvSpPr>
        <p:spPr>
          <a:xfrm>
            <a:off x="7920000" y="1872000"/>
            <a:ext cx="3420000" cy="108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!!co_num2"/>
          <p:cNvSpPr/>
          <p:nvPr/>
        </p:nvSpPr>
        <p:spPr>
          <a:xfrm>
            <a:off x="8136000" y="2160000"/>
            <a:ext cx="144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200" b="0">
                <a:solidFill>
                  <a:srgbClr val="E8215A"/>
                </a:solidFill>
                <a:latin typeface="Aptos Display"/>
                <a:ea typeface="Aptos Display"/>
              </a:rPr>
              <a:t>03</a:t>
            </a:r>
          </a:p>
        </p:txBody>
      </p:sp>
      <p:sp>
        <p:nvSpPr>
          <p:cNvPr id="23" name="!!co_tit2"/>
          <p:cNvSpPr/>
          <p:nvPr/>
        </p:nvSpPr>
        <p:spPr>
          <a:xfrm>
            <a:off x="8136000" y="3528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0D0D0D"/>
                </a:solidFill>
                <a:latin typeface="Aptos Display"/>
                <a:ea typeface="Aptos Display"/>
              </a:rPr>
              <a:t>Enterprise Scale</a:t>
            </a:r>
          </a:p>
        </p:txBody>
      </p:sp>
      <p:sp>
        <p:nvSpPr>
          <p:cNvPr id="24" name="!!co_bod2"/>
          <p:cNvSpPr/>
          <p:nvPr/>
        </p:nvSpPr>
        <p:spPr>
          <a:xfrm>
            <a:off x="8136000" y="4140000"/>
            <a:ext cx="288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SOC2 Type II, 99.99% uptime, deploys in 24 hours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0" y="0"/>
            <a:ext cx="12192000" cy="1620000"/>
          </a:xfrm>
          <a:prstGeom prst="rect">
            <a:avLst/>
          </a:prstGeom>
          <a:solidFill>
            <a:srgbClr val="E8215A">
              <a:alpha val="6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9360000" y="2520000"/>
            <a:ext cx="3960000" cy="3960000"/>
          </a:xfrm>
          <a:prstGeom prst="ellipse">
            <a:avLst/>
          </a:prstGeom>
          <a:solidFill>
            <a:srgbClr val="E8215A">
              <a:alpha val="7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5040000"/>
            <a:ext cx="1800000" cy="1800000"/>
          </a:xfrm>
          <a:prstGeom prst="ellipse">
            <a:avLst/>
          </a:prstGeom>
          <a:solidFill>
            <a:srgbClr val="E8215A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5760000" y="5400000"/>
            <a:ext cx="720000" cy="720000"/>
          </a:xfrm>
          <a:solidFill>
            <a:srgbClr val="E8215A">
              <a:alpha val="12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3600000" y="3600000"/>
            <a:ext cx="216000" cy="216000"/>
          </a:xfrm>
          <a:prstGeom prst="ellipse">
            <a:avLst/>
          </a:prstGeom>
          <a:solidFill>
            <a:srgbClr val="E8215A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2520000" cy="72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504000"/>
            <a:ext cx="5400000" cy="1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200" b="0">
                <a:solidFill>
                  <a:srgbClr val="0D0D0D"/>
                </a:solidFill>
                <a:latin typeface="Aptos Display"/>
                <a:ea typeface="Aptos Display"/>
              </a:rPr>
              <a:t>Traction</a:t>
            </a:r>
          </a:p>
        </p:txBody>
      </p:sp>
      <p:sp>
        <p:nvSpPr>
          <p:cNvPr id="10" name="!!co_div0"/>
          <p:cNvSpPr/>
          <p:nvPr/>
        </p:nvSpPr>
        <p:spPr>
          <a:xfrm>
            <a:off x="432000" y="1980000"/>
            <a:ext cx="2016000" cy="2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o_n0"/>
          <p:cNvSpPr/>
          <p:nvPr/>
        </p:nvSpPr>
        <p:spPr>
          <a:xfrm>
            <a:off x="432000" y="2160000"/>
            <a:ext cx="252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600" b="0">
                <a:solidFill>
                  <a:srgbClr val="E8215A"/>
                </a:solidFill>
                <a:latin typeface="Aptos Display"/>
                <a:ea typeface="Aptos Display"/>
              </a:rPr>
              <a:t>850+</a:t>
            </a:r>
          </a:p>
        </p:txBody>
      </p:sp>
      <p:sp>
        <p:nvSpPr>
          <p:cNvPr id="12" name="!!co_l0"/>
          <p:cNvSpPr/>
          <p:nvPr/>
        </p:nvSpPr>
        <p:spPr>
          <a:xfrm>
            <a:off x="432000" y="3672000"/>
            <a:ext cx="252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Enterprise Customers</a:t>
            </a:r>
          </a:p>
        </p:txBody>
      </p:sp>
      <p:sp>
        <p:nvSpPr>
          <p:cNvPr id="13" name="!!co_div1"/>
          <p:cNvSpPr/>
          <p:nvPr/>
        </p:nvSpPr>
        <p:spPr>
          <a:xfrm>
            <a:off x="3240000" y="1980000"/>
            <a:ext cx="2016000" cy="2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co_n1"/>
          <p:cNvSpPr/>
          <p:nvPr/>
        </p:nvSpPr>
        <p:spPr>
          <a:xfrm>
            <a:off x="3240000" y="2160000"/>
            <a:ext cx="252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600" b="0">
                <a:solidFill>
                  <a:srgbClr val="E8215A"/>
                </a:solidFill>
                <a:latin typeface="Aptos Display"/>
                <a:ea typeface="Aptos Display"/>
              </a:rPr>
              <a:t>$42M</a:t>
            </a:r>
          </a:p>
        </p:txBody>
      </p:sp>
      <p:sp>
        <p:nvSpPr>
          <p:cNvPr id="15" name="!!co_l1"/>
          <p:cNvSpPr/>
          <p:nvPr/>
        </p:nvSpPr>
        <p:spPr>
          <a:xfrm>
            <a:off x="3240000" y="3672000"/>
            <a:ext cx="252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Annual Recurring Revenue</a:t>
            </a:r>
          </a:p>
        </p:txBody>
      </p:sp>
      <p:sp>
        <p:nvSpPr>
          <p:cNvPr id="16" name="!!co_div2"/>
          <p:cNvSpPr/>
          <p:nvPr/>
        </p:nvSpPr>
        <p:spPr>
          <a:xfrm>
            <a:off x="6048000" y="1980000"/>
            <a:ext cx="2016000" cy="2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co_n2"/>
          <p:cNvSpPr/>
          <p:nvPr/>
        </p:nvSpPr>
        <p:spPr>
          <a:xfrm>
            <a:off x="6048000" y="2160000"/>
            <a:ext cx="252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600" b="0">
                <a:solidFill>
                  <a:srgbClr val="E8215A"/>
                </a:solidFill>
                <a:latin typeface="Aptos Display"/>
                <a:ea typeface="Aptos Display"/>
              </a:rPr>
              <a:t>94%</a:t>
            </a:r>
          </a:p>
        </p:txBody>
      </p:sp>
      <p:sp>
        <p:nvSpPr>
          <p:cNvPr id="18" name="!!co_l2"/>
          <p:cNvSpPr/>
          <p:nvPr/>
        </p:nvSpPr>
        <p:spPr>
          <a:xfrm>
            <a:off x="6048000" y="3672000"/>
            <a:ext cx="252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Net Revenue Retention</a:t>
            </a:r>
          </a:p>
        </p:txBody>
      </p:sp>
      <p:sp>
        <p:nvSpPr>
          <p:cNvPr id="19" name="!!co_div3"/>
          <p:cNvSpPr/>
          <p:nvPr/>
        </p:nvSpPr>
        <p:spPr>
          <a:xfrm>
            <a:off x="8856000" y="1980000"/>
            <a:ext cx="2016000" cy="2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!!co_n3"/>
          <p:cNvSpPr/>
          <p:nvPr/>
        </p:nvSpPr>
        <p:spPr>
          <a:xfrm>
            <a:off x="8856000" y="2160000"/>
            <a:ext cx="252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600" b="0">
                <a:solidFill>
                  <a:srgbClr val="E8215A"/>
                </a:solidFill>
                <a:latin typeface="Aptos Display"/>
                <a:ea typeface="Aptos Display"/>
              </a:rPr>
              <a:t>3.2×</a:t>
            </a:r>
          </a:p>
        </p:txBody>
      </p:sp>
      <p:sp>
        <p:nvSpPr>
          <p:cNvPr id="21" name="!!co_l3"/>
          <p:cNvSpPr/>
          <p:nvPr/>
        </p:nvSpPr>
        <p:spPr>
          <a:xfrm>
            <a:off x="8856000" y="3672000"/>
            <a:ext cx="252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YoY Growth</a:t>
            </a:r>
          </a:p>
        </p:txBody>
      </p:sp>
      <p:graphicFrame>
        <p:nvGraphicFramePr>
          <p:cNvPr id="24" name="Chart 24"/>
          <p:cNvGraphicFramePr/>
          <p:nvPr/>
        </p:nvGraphicFramePr>
        <p:xfrm>
          <a:off x="432000" y="4320000"/>
          <a:ext cx="11328000" cy="216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bf1c006cdfa642d2"/>
          </a:graphicData>
        </a:graphic>
      </p:graphicFrame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7560000" y="0"/>
            <a:ext cx="5400000" cy="5400000"/>
          </a:xfrm>
          <a:prstGeom prst="ellipse">
            <a:avLst/>
          </a:prstGeom>
          <a:solidFill>
            <a:srgbClr val="E8215A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0"/>
            <a:ext cx="12192000" cy="1440000"/>
          </a:xfrm>
          <a:prstGeom prst="rect">
            <a:avLst/>
          </a:prstGeom>
          <a:solidFill>
            <a:srgbClr val="E8215A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5040000"/>
            <a:ext cx="1800000" cy="1800000"/>
          </a:xfrm>
          <a:prstGeom prst="ellipse">
            <a:avLst/>
          </a:prstGeom>
          <a:solidFill>
            <a:srgbClr val="E8215A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6480000" y="5400000"/>
            <a:ext cx="900000" cy="900000"/>
          </a:xfrm>
          <a:solidFill>
            <a:srgbClr val="E8215A">
              <a:alpha val="10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10800000" y="1440000"/>
            <a:ext cx="252000" cy="252000"/>
          </a:xfrm>
          <a:prstGeom prst="ellipse">
            <a:avLst/>
          </a:prstGeom>
          <a:solidFill>
            <a:srgbClr val="E8215A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3240000" cy="72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504000"/>
            <a:ext cx="864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400" b="0">
                <a:solidFill>
                  <a:srgbClr val="0D0D0D"/>
                </a:solidFill>
                <a:latin typeface="Aptos Display"/>
                <a:ea typeface="Aptos Display"/>
              </a:rPr>
              <a:t>Competitive Advantage</a:t>
            </a:r>
          </a:p>
        </p:txBody>
      </p:sp>
      <p:sp>
        <p:nvSpPr>
          <p:cNvPr id="10" name="!!co_hdr"/>
          <p:cNvSpPr/>
          <p:nvPr/>
        </p:nvSpPr>
        <p:spPr>
          <a:xfrm>
            <a:off x="432000" y="1800000"/>
            <a:ext cx="11328000" cy="540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o_h0"/>
          <p:cNvSpPr/>
          <p:nvPr/>
        </p:nvSpPr>
        <p:spPr>
          <a:xfrm>
            <a:off x="432000" y="1872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FAFAFA"/>
                </a:solidFill>
                <a:latin typeface="Aptos"/>
                <a:ea typeface="Aptos"/>
              </a:rPr>
              <a:t>Feature</a:t>
            </a:r>
          </a:p>
        </p:txBody>
      </p:sp>
      <p:sp>
        <p:nvSpPr>
          <p:cNvPr id="12" name="!!co_h1"/>
          <p:cNvSpPr/>
          <p:nvPr/>
        </p:nvSpPr>
        <p:spPr>
          <a:xfrm>
            <a:off x="3600000" y="1872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FAFAFA"/>
                </a:solidFill>
                <a:latin typeface="Aptos"/>
                <a:ea typeface="Aptos"/>
              </a:rPr>
              <a:t>Us</a:t>
            </a:r>
          </a:p>
        </p:txBody>
      </p:sp>
      <p:sp>
        <p:nvSpPr>
          <p:cNvPr id="13" name="!!co_h2"/>
          <p:cNvSpPr/>
          <p:nvPr/>
        </p:nvSpPr>
        <p:spPr>
          <a:xfrm>
            <a:off x="6768000" y="1872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FAFAFA"/>
                </a:solidFill>
                <a:latin typeface="Aptos"/>
                <a:ea typeface="Aptos"/>
              </a:rPr>
              <a:t>Competitor A</a:t>
            </a:r>
          </a:p>
        </p:txBody>
      </p:sp>
      <p:sp>
        <p:nvSpPr>
          <p:cNvPr id="14" name="!!co_h3"/>
          <p:cNvSpPr/>
          <p:nvPr/>
        </p:nvSpPr>
        <p:spPr>
          <a:xfrm>
            <a:off x="9936000" y="1872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FAFAFA"/>
                </a:solidFill>
                <a:latin typeface="Aptos"/>
                <a:ea typeface="Aptos"/>
              </a:rPr>
              <a:t>Competitor B</a:t>
            </a:r>
          </a:p>
        </p:txBody>
      </p:sp>
      <p:sp>
        <p:nvSpPr>
          <p:cNvPr id="15" name="!!co_rbg0"/>
          <p:cNvSpPr/>
          <p:nvPr/>
        </p:nvSpPr>
        <p:spPr>
          <a:xfrm>
            <a:off x="432000" y="2520000"/>
            <a:ext cx="11328000" cy="72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!!co_rlbl0"/>
          <p:cNvSpPr/>
          <p:nvPr/>
        </p:nvSpPr>
        <p:spPr>
          <a:xfrm>
            <a:off x="612000" y="2700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Unified workspace</a:t>
            </a:r>
          </a:p>
        </p:txBody>
      </p:sp>
      <p:sp>
        <p:nvSpPr>
          <p:cNvPr id="17" name="!!co_us0"/>
          <p:cNvSpPr/>
          <p:nvPr/>
        </p:nvSpPr>
        <p:spPr>
          <a:xfrm>
            <a:off x="3960000" y="2664000"/>
            <a:ext cx="9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 b="1">
                <a:solidFill>
                  <a:srgbClr val="E8215A"/>
                </a:solidFill>
                <a:latin typeface="Aptos"/>
                <a:ea typeface="Aptos"/>
              </a:rPr>
              <a:t>✓</a:t>
            </a:r>
          </a:p>
        </p:txBody>
      </p:sp>
      <p:sp>
        <p:nvSpPr>
          <p:cNvPr id="18" name="!!co_rlbl1"/>
          <p:cNvSpPr/>
          <p:nvPr/>
        </p:nvSpPr>
        <p:spPr>
          <a:xfrm>
            <a:off x="612000" y="3456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AI automation</a:t>
            </a:r>
          </a:p>
        </p:txBody>
      </p:sp>
      <p:sp>
        <p:nvSpPr>
          <p:cNvPr id="19" name="!!co_us1"/>
          <p:cNvSpPr/>
          <p:nvPr/>
        </p:nvSpPr>
        <p:spPr>
          <a:xfrm>
            <a:off x="3960000" y="3420000"/>
            <a:ext cx="9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 b="1">
                <a:solidFill>
                  <a:srgbClr val="E8215A"/>
                </a:solidFill>
                <a:latin typeface="Aptos"/>
                <a:ea typeface="Aptos"/>
              </a:rPr>
              <a:t>✓</a:t>
            </a:r>
          </a:p>
        </p:txBody>
      </p:sp>
      <p:sp>
        <p:nvSpPr>
          <p:cNvPr id="20" name="!!co_rbg2"/>
          <p:cNvSpPr/>
          <p:nvPr/>
        </p:nvSpPr>
        <p:spPr>
          <a:xfrm>
            <a:off x="432000" y="4032000"/>
            <a:ext cx="11328000" cy="72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co_rlbl2"/>
          <p:cNvSpPr/>
          <p:nvPr/>
        </p:nvSpPr>
        <p:spPr>
          <a:xfrm>
            <a:off x="612000" y="4212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Real-time sync</a:t>
            </a:r>
          </a:p>
        </p:txBody>
      </p:sp>
      <p:sp>
        <p:nvSpPr>
          <p:cNvPr id="22" name="!!co_us2"/>
          <p:cNvSpPr/>
          <p:nvPr/>
        </p:nvSpPr>
        <p:spPr>
          <a:xfrm>
            <a:off x="3960000" y="4176000"/>
            <a:ext cx="9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 b="1">
                <a:solidFill>
                  <a:srgbClr val="E8215A"/>
                </a:solidFill>
                <a:latin typeface="Aptos"/>
                <a:ea typeface="Aptos"/>
              </a:rPr>
              <a:t>✓</a:t>
            </a:r>
          </a:p>
        </p:txBody>
      </p:sp>
      <p:sp>
        <p:nvSpPr>
          <p:cNvPr id="23" name="!!co_rlbl3"/>
          <p:cNvSpPr/>
          <p:nvPr/>
        </p:nvSpPr>
        <p:spPr>
          <a:xfrm>
            <a:off x="612000" y="4968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SOC2 compliant</a:t>
            </a:r>
          </a:p>
        </p:txBody>
      </p:sp>
      <p:sp>
        <p:nvSpPr>
          <p:cNvPr id="24" name="!!co_us3"/>
          <p:cNvSpPr/>
          <p:nvPr/>
        </p:nvSpPr>
        <p:spPr>
          <a:xfrm>
            <a:off x="3960000" y="4932000"/>
            <a:ext cx="9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 b="1">
                <a:solidFill>
                  <a:srgbClr val="E8215A"/>
                </a:solidFill>
                <a:latin typeface="Aptos"/>
                <a:ea typeface="Aptos"/>
              </a:rPr>
              <a:t>✓</a:t>
            </a:r>
          </a:p>
        </p:txBody>
      </p:sp>
      <p:sp>
        <p:nvSpPr>
          <p:cNvPr id="25" name="!!co_rbg4"/>
          <p:cNvSpPr/>
          <p:nvPr/>
        </p:nvSpPr>
        <p:spPr>
          <a:xfrm>
            <a:off x="432000" y="5544000"/>
            <a:ext cx="11328000" cy="72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!!co_rlbl4"/>
          <p:cNvSpPr/>
          <p:nvPr/>
        </p:nvSpPr>
        <p:spPr>
          <a:xfrm>
            <a:off x="612000" y="5724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4A4A5A"/>
                </a:solidFill>
                <a:latin typeface="Aptos"/>
                <a:ea typeface="Aptos"/>
              </a:rPr>
              <a:t>Open API</a:t>
            </a:r>
          </a:p>
        </p:txBody>
      </p:sp>
      <p:sp>
        <p:nvSpPr>
          <p:cNvPr id="27" name="!!co_us4"/>
          <p:cNvSpPr/>
          <p:nvPr/>
        </p:nvSpPr>
        <p:spPr>
          <a:xfrm>
            <a:off x="3960000" y="5688000"/>
            <a:ext cx="9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 b="1">
                <a:solidFill>
                  <a:srgbClr val="E8215A"/>
                </a:solidFill>
                <a:latin typeface="Aptos"/>
                <a:ea typeface="Aptos"/>
              </a:rPr>
              <a:t>✓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0" y="2520000"/>
            <a:ext cx="4320000" cy="4320000"/>
          </a:xfrm>
          <a:prstGeom prst="ellipse">
            <a:avLst/>
          </a:prstGeom>
          <a:solidFill>
            <a:srgbClr val="E8215A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9360000" y="0"/>
            <a:ext cx="3600000" cy="3600000"/>
          </a:xfrm>
          <a:prstGeom prst="ellipse">
            <a:avLst/>
          </a:prstGeom>
          <a:solidFill>
            <a:srgbClr val="E8215A">
              <a:alpha val="7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5418000"/>
            <a:ext cx="12192000" cy="1440000"/>
          </a:xfrm>
          <a:prstGeom prst="rect">
            <a:avLst/>
          </a:prstGeom>
          <a:solidFill>
            <a:srgbClr val="E8215A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5760000" y="360000"/>
            <a:ext cx="720000" cy="720000"/>
          </a:xfrm>
          <a:solidFill>
            <a:srgbClr val="E8215A">
              <a:alpha val="10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2160000" y="5760000"/>
            <a:ext cx="252000" cy="252000"/>
          </a:xfrm>
          <a:prstGeom prst="ellipse">
            <a:avLst/>
          </a:prstGeom>
          <a:solidFill>
            <a:srgbClr val="E8215A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2520000" cy="72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504000"/>
            <a:ext cx="54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400" b="0">
                <a:solidFill>
                  <a:srgbClr val="0D0D0D"/>
                </a:solidFill>
                <a:latin typeface="Aptos Display"/>
                <a:ea typeface="Aptos Display"/>
              </a:rPr>
              <a:t>Use of Funds</a:t>
            </a:r>
          </a:p>
        </p:txBody>
      </p:sp>
      <p:sp>
        <p:nvSpPr>
          <p:cNvPr id="10" name="!!hl_sub"/>
          <p:cNvSpPr/>
          <p:nvPr/>
        </p:nvSpPr>
        <p:spPr>
          <a:xfrm>
            <a:off x="432000" y="1656000"/>
            <a:ext cx="648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4A4A5A"/>
                </a:solidFill>
                <a:latin typeface="Aptos"/>
                <a:ea typeface="Aptos"/>
              </a:rPr>
              <a:t>$20M Series B — 24-month runway to profitability</a:t>
            </a:r>
          </a:p>
        </p:txBody>
      </p:sp>
      <p:graphicFrame>
        <p:nvGraphicFramePr>
          <p:cNvPr id="13" name="Chart 13"/>
          <p:cNvGraphicFramePr/>
          <p:nvPr/>
        </p:nvGraphicFramePr>
        <p:xfrm>
          <a:off x="432000" y="2340000"/>
          <a:ext cx="6480000" cy="396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286b2aef503a4fd4"/>
          </a:graphicData>
        </a:graphic>
      </p:graphicFrame>
      <p:sp>
        <p:nvSpPr>
          <p:cNvPr id="14" name="!!m1_ico"/>
          <p:cNvSpPr/>
          <p:nvPr/>
        </p:nvSpPr>
        <p:spPr>
          <a:xfrm>
            <a:off x="7200000" y="2394000"/>
            <a:ext cx="504000" cy="504000"/>
          </a:xfrm>
          <a:noFill/>
          <a:ln w="7">
            <a:solidFill>
              <a:srgbClr val="E8215A"/>
            </a:solidFill>
          </a:ln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m1_txt"/>
          <p:cNvSpPr/>
          <p:nvPr/>
        </p:nvSpPr>
        <p:spPr>
          <a:xfrm>
            <a:off x="7884000" y="2340000"/>
            <a:ext cx="3876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4A4A5A"/>
                </a:solidFill>
                <a:latin typeface="Aptos"/>
                <a:ea typeface="Aptos"/>
              </a:rPr>
              <a:t>Q1: Launch Enterprise tier — 100 new logos</a:t>
            </a:r>
          </a:p>
        </p:txBody>
      </p:sp>
      <p:sp>
        <p:nvSpPr>
          <p:cNvPr id="16" name="!!m2_ico"/>
          <p:cNvSpPr/>
          <p:nvPr/>
        </p:nvSpPr>
        <p:spPr>
          <a:xfrm>
            <a:off x="7200000" y="3114000"/>
            <a:ext cx="504000" cy="504000"/>
          </a:xfrm>
          <a:noFill/>
          <a:ln w="7">
            <a:solidFill>
              <a:srgbClr val="E8215A"/>
            </a:solidFill>
          </a:ln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m2_txt"/>
          <p:cNvSpPr/>
          <p:nvPr/>
        </p:nvSpPr>
        <p:spPr>
          <a:xfrm>
            <a:off x="7884000" y="3060000"/>
            <a:ext cx="3876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4A4A5A"/>
                </a:solidFill>
                <a:latin typeface="Aptos"/>
                <a:ea typeface="Aptos"/>
              </a:rPr>
              <a:t>Q2: Expand APAC — 3 new markets</a:t>
            </a:r>
          </a:p>
        </p:txBody>
      </p:sp>
      <p:sp>
        <p:nvSpPr>
          <p:cNvPr id="18" name="!!m3_ico"/>
          <p:cNvSpPr/>
          <p:nvPr/>
        </p:nvSpPr>
        <p:spPr>
          <a:xfrm>
            <a:off x="7200000" y="3834000"/>
            <a:ext cx="504000" cy="504000"/>
          </a:xfrm>
          <a:noFill/>
          <a:ln w="7">
            <a:solidFill>
              <a:srgbClr val="E8215A"/>
            </a:solidFill>
          </a:ln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!!m3_txt"/>
          <p:cNvSpPr/>
          <p:nvPr/>
        </p:nvSpPr>
        <p:spPr>
          <a:xfrm>
            <a:off x="7884000" y="3780000"/>
            <a:ext cx="3876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4A4A5A"/>
                </a:solidFill>
                <a:latin typeface="Aptos"/>
                <a:ea typeface="Aptos"/>
              </a:rPr>
              <a:t>Q3: AI features GA — 40% upsell target</a:t>
            </a:r>
          </a:p>
        </p:txBody>
      </p:sp>
      <p:sp>
        <p:nvSpPr>
          <p:cNvPr id="20" name="!!m4_ico"/>
          <p:cNvSpPr/>
          <p:nvPr/>
        </p:nvSpPr>
        <p:spPr>
          <a:xfrm>
            <a:off x="7200000" y="4554000"/>
            <a:ext cx="504000" cy="504000"/>
          </a:xfrm>
          <a:noFill/>
          <a:ln w="7">
            <a:solidFill>
              <a:srgbClr val="E8215A"/>
            </a:solidFill>
          </a:ln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m4_txt"/>
          <p:cNvSpPr/>
          <p:nvPr/>
        </p:nvSpPr>
        <p:spPr>
          <a:xfrm>
            <a:off x="7884000" y="4500000"/>
            <a:ext cx="3876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4A4A5A"/>
                </a:solidFill>
                <a:latin typeface="Aptos"/>
                <a:ea typeface="Aptos"/>
              </a:rPr>
              <a:t>Q4: Reach $65M ARR milestone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8640000" y="3240000"/>
            <a:ext cx="4320000" cy="4320000"/>
          </a:xfrm>
          <a:prstGeom prst="ellipse">
            <a:avLst/>
          </a:prstGeom>
          <a:solidFill>
            <a:srgbClr val="E8215A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1440000"/>
            <a:ext cx="12192000" cy="2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4320000"/>
            <a:ext cx="1800000" cy="1800000"/>
          </a:xfrm>
          <a:prstGeom prst="ellipse">
            <a:avLst/>
          </a:prstGeom>
          <a:solidFill>
            <a:srgbClr val="E8215A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11520000" y="5040000"/>
            <a:ext cx="720000" cy="720000"/>
          </a:xfrm>
          <a:solidFill>
            <a:srgbClr val="E8215A">
              <a:alpha val="10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5400000" y="3600000"/>
            <a:ext cx="216000" cy="216000"/>
          </a:xfrm>
          <a:prstGeom prst="ellipse">
            <a:avLst/>
          </a:prstGeom>
          <a:solidFill>
            <a:srgbClr val="E8215A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1800000" cy="72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504000"/>
            <a:ext cx="54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400" b="0">
                <a:solidFill>
                  <a:srgbClr val="0D0D0D"/>
                </a:solidFill>
                <a:latin typeface="Aptos Display"/>
                <a:ea typeface="Aptos Display"/>
              </a:rPr>
              <a:t>The Team</a:t>
            </a:r>
          </a:p>
        </p:txBody>
      </p:sp>
      <p:sp>
        <p:nvSpPr>
          <p:cNvPr id="10" name="!!co_av0"/>
          <p:cNvSpPr/>
          <p:nvPr/>
        </p:nvSpPr>
        <p:spPr>
          <a:xfrm>
            <a:off x="1152000" y="1800000"/>
            <a:ext cx="1440000" cy="1440000"/>
          </a:xfrm>
          <a:prstGeom prst="ellipse">
            <a:avLst/>
          </a:prstGeom>
          <a:solidFill>
            <a:srgbClr val="F0F0F0"/>
          </a:solidFill>
          <a:ln w="3">
            <a:solidFill>
              <a:srgbClr val="E8215A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o_avlbl0"/>
          <p:cNvSpPr/>
          <p:nvPr/>
        </p:nvSpPr>
        <p:spPr>
          <a:xfrm>
            <a:off x="1152000" y="2016000"/>
            <a:ext cx="1440000" cy="10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9A9AAA"/>
                </a:solidFill>
                <a:latin typeface="Aptos"/>
                <a:ea typeface="Aptos"/>
              </a:rPr>
              <a:t>Photo</a:t>
            </a:r>
          </a:p>
        </p:txBody>
      </p:sp>
      <p:sp>
        <p:nvSpPr>
          <p:cNvPr id="12" name="!!co_tn0"/>
          <p:cNvSpPr/>
          <p:nvPr/>
        </p:nvSpPr>
        <p:spPr>
          <a:xfrm>
            <a:off x="432000" y="3384000"/>
            <a:ext cx="270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 b="0">
                <a:solidFill>
                  <a:srgbClr val="0D0D0D"/>
                </a:solidFill>
                <a:latin typeface="Aptos Display"/>
                <a:ea typeface="Aptos Display"/>
              </a:rPr>
              <a:t>Sarah Chen</a:t>
            </a:r>
          </a:p>
        </p:txBody>
      </p:sp>
      <p:sp>
        <p:nvSpPr>
          <p:cNvPr id="13" name="!!co_tr0"/>
          <p:cNvSpPr/>
          <p:nvPr/>
        </p:nvSpPr>
        <p:spPr>
          <a:xfrm>
            <a:off x="432000" y="3888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E8215A"/>
                </a:solidFill>
                <a:latin typeface="Aptos"/>
                <a:ea typeface="Aptos"/>
              </a:rPr>
              <a:t>CEO &amp; Co-founder</a:t>
            </a:r>
          </a:p>
        </p:txBody>
      </p:sp>
      <p:sp>
        <p:nvSpPr>
          <p:cNvPr id="14" name="!!co_tb0"/>
          <p:cNvSpPr/>
          <p:nvPr/>
        </p:nvSpPr>
        <p:spPr>
          <a:xfrm>
            <a:off x="432000" y="4320000"/>
            <a:ext cx="270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4A4A5A"/>
                </a:solidFill>
                <a:latin typeface="Aptos"/>
                <a:ea typeface="Aptos"/>
              </a:rPr>
              <a:t>Ex-Salesforce CPO, Stanford MBA</a:t>
            </a:r>
          </a:p>
        </p:txBody>
      </p:sp>
      <p:sp>
        <p:nvSpPr>
          <p:cNvPr id="15" name="!!co_av1"/>
          <p:cNvSpPr/>
          <p:nvPr/>
        </p:nvSpPr>
        <p:spPr>
          <a:xfrm>
            <a:off x="4032000" y="1800000"/>
            <a:ext cx="1440000" cy="1440000"/>
          </a:xfrm>
          <a:prstGeom prst="ellipse">
            <a:avLst/>
          </a:prstGeom>
          <a:solidFill>
            <a:srgbClr val="F0F0F0"/>
          </a:solidFill>
          <a:ln w="3">
            <a:solidFill>
              <a:srgbClr val="E8215A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!!co_avlbl1"/>
          <p:cNvSpPr/>
          <p:nvPr/>
        </p:nvSpPr>
        <p:spPr>
          <a:xfrm>
            <a:off x="4032000" y="2016000"/>
            <a:ext cx="1440000" cy="10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9A9AAA"/>
                </a:solidFill>
                <a:latin typeface="Aptos"/>
                <a:ea typeface="Aptos"/>
              </a:rPr>
              <a:t>Photo</a:t>
            </a:r>
          </a:p>
        </p:txBody>
      </p:sp>
      <p:sp>
        <p:nvSpPr>
          <p:cNvPr id="17" name="!!co_tn1"/>
          <p:cNvSpPr/>
          <p:nvPr/>
        </p:nvSpPr>
        <p:spPr>
          <a:xfrm>
            <a:off x="3312000" y="3384000"/>
            <a:ext cx="270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 b="0">
                <a:solidFill>
                  <a:srgbClr val="0D0D0D"/>
                </a:solidFill>
                <a:latin typeface="Aptos Display"/>
                <a:ea typeface="Aptos Display"/>
              </a:rPr>
              <a:t>Marcus Williams</a:t>
            </a:r>
          </a:p>
        </p:txBody>
      </p:sp>
      <p:sp>
        <p:nvSpPr>
          <p:cNvPr id="18" name="!!co_tr1"/>
          <p:cNvSpPr/>
          <p:nvPr/>
        </p:nvSpPr>
        <p:spPr>
          <a:xfrm>
            <a:off x="3312000" y="3888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E8215A"/>
                </a:solidFill>
                <a:latin typeface="Aptos"/>
                <a:ea typeface="Aptos"/>
              </a:rPr>
              <a:t>CTO &amp; Co-founder</a:t>
            </a:r>
          </a:p>
        </p:txBody>
      </p:sp>
      <p:sp>
        <p:nvSpPr>
          <p:cNvPr id="19" name="!!co_tb1"/>
          <p:cNvSpPr/>
          <p:nvPr/>
        </p:nvSpPr>
        <p:spPr>
          <a:xfrm>
            <a:off x="3312000" y="4320000"/>
            <a:ext cx="270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4A4A5A"/>
                </a:solidFill>
                <a:latin typeface="Aptos"/>
                <a:ea typeface="Aptos"/>
              </a:rPr>
              <a:t>Ex-Google SWE, MIT CS</a:t>
            </a:r>
          </a:p>
        </p:txBody>
      </p:sp>
      <p:sp>
        <p:nvSpPr>
          <p:cNvPr id="20" name="!!co_av2"/>
          <p:cNvSpPr/>
          <p:nvPr/>
        </p:nvSpPr>
        <p:spPr>
          <a:xfrm>
            <a:off x="6912000" y="1800000"/>
            <a:ext cx="1440000" cy="1440000"/>
          </a:xfrm>
          <a:prstGeom prst="ellipse">
            <a:avLst/>
          </a:prstGeom>
          <a:solidFill>
            <a:srgbClr val="F0F0F0"/>
          </a:solidFill>
          <a:ln w="3">
            <a:solidFill>
              <a:srgbClr val="E8215A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co_avlbl2"/>
          <p:cNvSpPr/>
          <p:nvPr/>
        </p:nvSpPr>
        <p:spPr>
          <a:xfrm>
            <a:off x="6912000" y="2016000"/>
            <a:ext cx="1440000" cy="10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9A9AAA"/>
                </a:solidFill>
                <a:latin typeface="Aptos"/>
                <a:ea typeface="Aptos"/>
              </a:rPr>
              <a:t>Photo</a:t>
            </a:r>
          </a:p>
        </p:txBody>
      </p:sp>
      <p:sp>
        <p:nvSpPr>
          <p:cNvPr id="22" name="!!co_tn2"/>
          <p:cNvSpPr/>
          <p:nvPr/>
        </p:nvSpPr>
        <p:spPr>
          <a:xfrm>
            <a:off x="6192000" y="3384000"/>
            <a:ext cx="270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 b="0">
                <a:solidFill>
                  <a:srgbClr val="0D0D0D"/>
                </a:solidFill>
                <a:latin typeface="Aptos Display"/>
                <a:ea typeface="Aptos Display"/>
              </a:rPr>
              <a:t>Priya Patel</a:t>
            </a:r>
          </a:p>
        </p:txBody>
      </p:sp>
      <p:sp>
        <p:nvSpPr>
          <p:cNvPr id="23" name="!!co_tr2"/>
          <p:cNvSpPr/>
          <p:nvPr/>
        </p:nvSpPr>
        <p:spPr>
          <a:xfrm>
            <a:off x="6192000" y="3888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E8215A"/>
                </a:solidFill>
                <a:latin typeface="Aptos"/>
                <a:ea typeface="Aptos"/>
              </a:rPr>
              <a:t>VP Sales</a:t>
            </a:r>
          </a:p>
        </p:txBody>
      </p:sp>
      <p:sp>
        <p:nvSpPr>
          <p:cNvPr id="24" name="!!co_tb2"/>
          <p:cNvSpPr/>
          <p:nvPr/>
        </p:nvSpPr>
        <p:spPr>
          <a:xfrm>
            <a:off x="6192000" y="4320000"/>
            <a:ext cx="270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4A4A5A"/>
                </a:solidFill>
                <a:latin typeface="Aptos"/>
                <a:ea typeface="Aptos"/>
              </a:rPr>
              <a:t>Ex-Stripe, $200M ARR experience</a:t>
            </a:r>
          </a:p>
        </p:txBody>
      </p:sp>
      <p:sp>
        <p:nvSpPr>
          <p:cNvPr id="25" name="!!co_av3"/>
          <p:cNvSpPr/>
          <p:nvPr/>
        </p:nvSpPr>
        <p:spPr>
          <a:xfrm>
            <a:off x="9792000" y="1800000"/>
            <a:ext cx="1440000" cy="1440000"/>
          </a:xfrm>
          <a:prstGeom prst="ellipse">
            <a:avLst/>
          </a:prstGeom>
          <a:solidFill>
            <a:srgbClr val="F0F0F0"/>
          </a:solidFill>
          <a:ln w="3">
            <a:solidFill>
              <a:srgbClr val="E8215A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!!co_avlbl3"/>
          <p:cNvSpPr/>
          <p:nvPr/>
        </p:nvSpPr>
        <p:spPr>
          <a:xfrm>
            <a:off x="9792000" y="2016000"/>
            <a:ext cx="1440000" cy="10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9A9AAA"/>
                </a:solidFill>
                <a:latin typeface="Aptos"/>
                <a:ea typeface="Aptos"/>
              </a:rPr>
              <a:t>Photo</a:t>
            </a:r>
          </a:p>
        </p:txBody>
      </p:sp>
      <p:sp>
        <p:nvSpPr>
          <p:cNvPr id="27" name="!!co_tn3"/>
          <p:cNvSpPr/>
          <p:nvPr/>
        </p:nvSpPr>
        <p:spPr>
          <a:xfrm>
            <a:off x="9072000" y="3384000"/>
            <a:ext cx="270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 b="0">
                <a:solidFill>
                  <a:srgbClr val="0D0D0D"/>
                </a:solidFill>
                <a:latin typeface="Aptos Display"/>
                <a:ea typeface="Aptos Display"/>
              </a:rPr>
              <a:t>James Rodriguez</a:t>
            </a:r>
          </a:p>
        </p:txBody>
      </p:sp>
      <p:sp>
        <p:nvSpPr>
          <p:cNvPr id="28" name="!!co_tr3"/>
          <p:cNvSpPr/>
          <p:nvPr/>
        </p:nvSpPr>
        <p:spPr>
          <a:xfrm>
            <a:off x="9072000" y="3888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E8215A"/>
                </a:solidFill>
                <a:latin typeface="Aptos"/>
                <a:ea typeface="Aptos"/>
              </a:rPr>
              <a:t>VP Engineering</a:t>
            </a:r>
          </a:p>
        </p:txBody>
      </p:sp>
      <p:sp>
        <p:nvSpPr>
          <p:cNvPr id="29" name="!!co_tb3"/>
          <p:cNvSpPr/>
          <p:nvPr/>
        </p:nvSpPr>
        <p:spPr>
          <a:xfrm>
            <a:off x="9072000" y="4320000"/>
            <a:ext cx="270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4A4A5A"/>
                </a:solidFill>
                <a:latin typeface="Aptos"/>
                <a:ea typeface="Aptos"/>
              </a:rPr>
              <a:t>Ex-Databricks, scaled 0→200 eng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sa1"/>
          <p:cNvSpPr/>
          <p:nvPr/>
        </p:nvSpPr>
        <p:spPr>
          <a:xfrm>
            <a:off x="5760000" y="0"/>
            <a:ext cx="9000000" cy="9000000"/>
          </a:xfrm>
          <a:prstGeom prst="ellipse">
            <a:avLst/>
          </a:prstGeom>
          <a:solidFill>
            <a:srgbClr val="E8215A">
              <a:alpha val="2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sa2"/>
          <p:cNvSpPr/>
          <p:nvPr/>
        </p:nvSpPr>
        <p:spPr>
          <a:xfrm>
            <a:off x="0" y="3600000"/>
            <a:ext cx="3600000" cy="3600000"/>
          </a:xfrm>
          <a:prstGeom prst="ellipse">
            <a:avLst/>
          </a:prstGeom>
          <a:solidFill>
            <a:srgbClr val="E8215A">
              <a:alpha val="1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a3"/>
          <p:cNvSpPr/>
          <p:nvPr/>
        </p:nvSpPr>
        <p:spPr>
          <a:xfrm>
            <a:off x="0" y="0"/>
            <a:ext cx="12192000" cy="2520000"/>
          </a:xfrm>
          <a:prstGeom prst="rect">
            <a:avLst/>
          </a:prstGeom>
          <a:solidFill>
            <a:srgbClr val="E8215A">
              <a:alpha val="6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sa4"/>
          <p:cNvSpPr/>
          <p:nvPr/>
        </p:nvSpPr>
        <p:spPr>
          <a:xfrm>
            <a:off x="10800000" y="5040000"/>
            <a:ext cx="1440000" cy="1440000"/>
          </a:xfrm>
          <a:solidFill>
            <a:srgbClr val="FF6B9D">
              <a:alpha val="25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sa5"/>
          <p:cNvSpPr/>
          <p:nvPr/>
        </p:nvSpPr>
        <p:spPr>
          <a:xfrm>
            <a:off x="2160000" y="1440000"/>
            <a:ext cx="360000" cy="360000"/>
          </a:xfrm>
          <a:prstGeom prst="ellipse">
            <a:avLst/>
          </a:prstGeom>
          <a:solidFill>
            <a:srgbClr val="FF6B9D">
              <a:alpha val="6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sa6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hl_tag"/>
          <p:cNvSpPr/>
          <p:nvPr/>
        </p:nvSpPr>
        <p:spPr>
          <a:xfrm>
            <a:off x="432000" y="1440000"/>
            <a:ext cx="2880000" cy="72000"/>
          </a:xfrm>
          <a:prstGeom prst="rect">
            <a:avLst/>
          </a:prstGeom>
          <a:solidFill>
            <a:srgbClr val="E821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hl_title"/>
          <p:cNvSpPr/>
          <p:nvPr/>
        </p:nvSpPr>
        <p:spPr>
          <a:xfrm>
            <a:off x="432000" y="1620000"/>
            <a:ext cx="9000000" cy="25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200" b="0">
                <a:solidFill>
                  <a:srgbClr val="FAFAFA"/>
                </a:solidFill>
                <a:latin typeface="Aptos Display"/>
                <a:ea typeface="Aptos Display"/>
              </a:rPr>
              <a:t>Let's build the future together.</a:t>
            </a:r>
          </a:p>
        </p:txBody>
      </p:sp>
      <p:sp>
        <p:nvSpPr>
          <p:cNvPr id="10" name="hl_sub"/>
          <p:cNvSpPr/>
          <p:nvPr/>
        </p:nvSpPr>
        <p:spPr>
          <a:xfrm>
            <a:off x="432000" y="4320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FF6B9D"/>
                </a:solidFill>
                <a:latin typeface="Aptos"/>
                <a:ea typeface="Aptos"/>
              </a:rPr>
              <a:t>Raising $20M Series B · Lead investor sought · Close Q2 2025</a:t>
            </a:r>
          </a:p>
        </p:txBody>
      </p:sp>
      <p:sp>
        <p:nvSpPr>
          <p:cNvPr id="11" name="ct1_ico"/>
          <p:cNvSpPr/>
          <p:nvPr/>
        </p:nvSpPr>
        <p:spPr>
          <a:xfrm>
            <a:off x="432000" y="5382000"/>
            <a:ext cx="504000" cy="504000"/>
          </a:xfrm>
          <a:noFill/>
          <a:ln w="7">
            <a:solidFill>
              <a:srgbClr val="E8215A"/>
            </a:solidFill>
          </a:ln>
          <a:custGeom>
            <a:avLst/>
            <a:gdLst/>
            <a:ahLst/>
            <a:cxnLst/>
            <a:rect l="0" t="0" r="r" b="b"/>
            <a:pathLst>
              <a:path w="75" h="70">
                <a:moveTo>
                  <a:pt x="20" y="50"/>
                </a:moveTo>
                <a:lnTo>
                  <a:pt x="70" y="50"/>
                </a:lnTo>
                <a:moveTo>
                  <a:pt x="52" y="30"/>
                </a:moveTo>
                <a:lnTo>
                  <a:pt x="75" y="50"/>
                </a:lnTo>
                <a:lnTo>
                  <a:pt x="52" y="70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ct1_txt"/>
          <p:cNvSpPr/>
          <p:nvPr/>
        </p:nvSpPr>
        <p:spPr>
          <a:xfrm>
            <a:off x="1116000" y="5328000"/>
            <a:ext cx="3636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FAFAFA"/>
                </a:solidFill>
                <a:latin typeface="Aptos"/>
                <a:ea typeface="Aptos"/>
              </a:rPr>
              <a:t>invest@company.com</a:t>
            </a:r>
          </a:p>
        </p:txBody>
      </p:sp>
      <p:sp>
        <p:nvSpPr>
          <p:cNvPr id="13" name="ct2_ico"/>
          <p:cNvSpPr/>
          <p:nvPr/>
        </p:nvSpPr>
        <p:spPr>
          <a:xfrm>
            <a:off x="5040000" y="5382000"/>
            <a:ext cx="504000" cy="504000"/>
          </a:xfrm>
          <a:noFill/>
          <a:ln w="7">
            <a:solidFill>
              <a:srgbClr val="E8215A"/>
            </a:solidFill>
          </a:ln>
          <a:custGeom>
            <a:avLst/>
            <a:gdLst/>
            <a:ahLst/>
            <a:cxnLst/>
            <a:rect l="0" t="0" r="r" b="b"/>
            <a:pathLst>
              <a:path w="75" h="70">
                <a:moveTo>
                  <a:pt x="20" y="50"/>
                </a:moveTo>
                <a:lnTo>
                  <a:pt x="70" y="50"/>
                </a:lnTo>
                <a:moveTo>
                  <a:pt x="52" y="30"/>
                </a:moveTo>
                <a:lnTo>
                  <a:pt x="75" y="50"/>
                </a:lnTo>
                <a:lnTo>
                  <a:pt x="52" y="70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ct2_txt"/>
          <p:cNvSpPr/>
          <p:nvPr/>
        </p:nvSpPr>
        <p:spPr>
          <a:xfrm>
            <a:off x="5724000" y="5328000"/>
            <a:ext cx="3636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FAFAFA"/>
                </a:solidFill>
                <a:latin typeface="Aptos"/>
                <a:ea typeface="Aptos"/>
              </a:rPr>
              <a:t>company.com/investors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