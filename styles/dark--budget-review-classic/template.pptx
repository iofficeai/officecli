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e2e84f6c194eb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bebaf9b64db4652"/>
    <p:sldId id="257" r:id="Re7967ea702e4445a"/>
    <p:sldId id="258" r:id="R7be7f9a89a944ff5"/>
    <p:sldId id="259" r:id="R488a4260b4294fd8"/>
    <p:sldId id="260" r:id="Ra42caa706638418c"/>
    <p:sldId id="261" r:id="R56ec27d16c964115"/>
    <p:sldId id="262" r:id="R0654b976f951469b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bebaf9b64db4652" /><Relationship Type="http://schemas.openxmlformats.org/officeDocument/2006/relationships/slide" Target="/ppt/slides/slide2.xml" Id="Re7967ea702e4445a" /><Relationship Type="http://schemas.openxmlformats.org/officeDocument/2006/relationships/slide" Target="/ppt/slides/slide3.xml" Id="R7be7f9a89a944ff5" /><Relationship Type="http://schemas.openxmlformats.org/officeDocument/2006/relationships/slide" Target="/ppt/slides/slide4.xml" Id="R488a4260b4294fd8" /><Relationship Type="http://schemas.openxmlformats.org/officeDocument/2006/relationships/slide" Target="/ppt/slides/slide5.xml" Id="Ra42caa706638418c" /><Relationship Type="http://schemas.openxmlformats.org/officeDocument/2006/relationships/slide" Target="/ppt/slides/slide6.xml" Id="R56ec27d16c964115" /><Relationship Type="http://schemas.openxmlformats.org/officeDocument/2006/relationships/slide" Target="/ppt/slides/slide7.xml" Id="R0654b976f951469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21f528a3149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37682f0dc42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de524699e4e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fe42217594d1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f7f4dab312c4d3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732244bc640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d648610a2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3101220494e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144ad952243e8" /><Relationship Type="http://schemas.openxmlformats.org/officeDocument/2006/relationships/chart" Target="/ppt/slides/charts/chart1.xml" Id="R174798ef7723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942a9cf36405c" /><Relationship Type="http://schemas.openxmlformats.org/officeDocument/2006/relationships/chart" Target="/ppt/slides/charts/chart2.xml" Id="Rce92ab71b3414f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22d24cdf747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1d5940b940ec" /></Relationships>
</file>

<file path=ppt/slides/charts/chart1.xml><?xml version="1.0" encoding="utf-8"?>
<c:chartSpace xmlns:c="http://schemas.openxmlformats.org/drawingml/2006/chart">
  <c:chart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28</c:v>
              </c:pt>
              <c:pt idx="2">
                <c:v>22</c:v>
              </c:pt>
              <c:pt idx="3">
                <c:v>15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overlay val="0"/>
    </c:legend>
    <c:plotVisOnly val="1"/>
    <c:dispBlanksAs val="gap"/>
  </c:chart>
</c:chartSpace>
</file>

<file path=ppt/slides/charts/chart2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Budget vs Actual by Department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C9A84C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1200000</c:v>
              </c:pt>
              <c:pt idx="1">
                <c:v>800000</c:v>
              </c:pt>
              <c:pt idx="2">
                <c:v>600000</c:v>
              </c:pt>
              <c:pt idx="3">
                <c:v>400000</c:v>
              </c:pt>
              <c:pt idx="4">
                <c:v>500000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4A7A35"/>
            </a:solidFill>
          </c:spPr>
          <c:cat>
            <c:strLit>
              <c:ptCount val="5"/>
              <c:pt idx="0">
                <c:v>Operations</c:v>
              </c:pt>
              <c:pt idx="1">
                <c:v>Marketing</c:v>
              </c:pt>
              <c:pt idx="2">
                <c:v>R&amp;D</c:v>
              </c:pt>
              <c:pt idx="3">
                <c:v>HR</c:v>
              </c:pt>
              <c:pt idx="4">
                <c:v>IT</c:v>
              </c:pt>
            </c:strLit>
          </c:cat>
          <c:val>
            <c:numLit>
              <c:formatCode>General</c:formatCode>
              <c:ptCount val="5"/>
              <c:pt idx="0">
                <c:v>1050000</c:v>
              </c:pt>
              <c:pt idx="1">
                <c:v>920000</c:v>
              </c:pt>
              <c:pt idx="2">
                <c:v>580000</c:v>
              </c:pt>
              <c:pt idx="3">
                <c:v>390000</c:v>
              </c:pt>
              <c:pt idx="4">
                <c:v>460000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54864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54864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5495040" y="0"/>
            <a:ext cx="441756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main_title"/>
          <p:cNvSpPr/>
          <p:nvPr/>
        </p:nvSpPr>
        <p:spPr>
          <a:xfrm xmlns:a="http://schemas.openxmlformats.org/drawingml/2006/main">
            <a:off x="518400" y="1296000"/>
            <a:ext cx="43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0">
                <a:solidFill>
                  <a:srgbClr val="C9A84C"/>
                </a:solidFill>
                <a:latin typeface="Georgia"/>
                <a:ea typeface="Georgia"/>
              </a:rPr>
              <a:t>Budget Review</a:t>
            </a:r>
          </a:p>
        </p:txBody>
      </p:sp>
      <p:sp>
        <p:nvSpPr>
          <p:cNvPr id="6" name="!!subtitle"/>
          <p:cNvSpPr/>
          <p:nvPr/>
        </p:nvSpPr>
        <p:spPr>
          <a:xfrm xmlns:a="http://schemas.openxmlformats.org/drawingml/2006/main">
            <a:off x="518400" y="2088000"/>
            <a:ext cx="4320000" cy="25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777777"/>
                </a:solidFill>
                <a:latin typeface="Calibri"/>
                <a:ea typeface="Calibri"/>
              </a:rPr>
              <a:t>Strategic Financial Analysis &amp; Planning</a:t>
            </a:r>
          </a:p>
        </p:txBody>
      </p:sp>
      <p:sp>
        <p:nvSpPr>
          <p:cNvPr id="7" name="!!year_tag"/>
          <p:cNvSpPr/>
          <p:nvPr/>
        </p:nvSpPr>
        <p:spPr>
          <a:xfrm xmlns:a="http://schemas.openxmlformats.org/drawingml/2006/main">
            <a:off x="518400" y="3456000"/>
            <a:ext cx="302400" cy="17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0A0A"/>
                </a:solidFill>
                <a:latin typeface="Calibri"/>
                <a:ea typeface="Calibri"/>
              </a:rPr>
              <a:t>FY 2024</a:t>
            </a:r>
          </a:p>
        </p:txBody>
      </p:sp>
    </p:spTree>
  </p:cSld>
</p:sld>
</file>

<file path=ppt/slides/slide2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9144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91440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9152640" y="0"/>
            <a:ext cx="75996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section_tag"/>
          <p:cNvSpPr/>
          <p:nvPr/>
        </p:nvSpPr>
        <p:spPr>
          <a:xfrm xmlns:a="http://schemas.openxmlformats.org/drawingml/2006/main">
            <a:off x="432000" y="432000"/>
            <a:ext cx="6480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section_tag_text"/>
          <p:cNvSpPr/>
          <p:nvPr/>
        </p:nvSpPr>
        <p:spPr>
          <a:xfrm xmlns:a="http://schemas.openxmlformats.org/drawingml/2006/main">
            <a:off x="432000" y="432000"/>
            <a:ext cx="6480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OVERVIEW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82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0">
                <a:solidFill>
                  <a:srgbClr val="F5F5F5"/>
                </a:solidFill>
                <a:latin typeface="Georgia"/>
                <a:ea typeface="Georgia"/>
              </a:rPr>
              <a:t>Previous Budget Period Overview</a:t>
            </a:r>
          </a:p>
        </p:txBody>
      </p:sp>
      <p:sp>
        <p:nvSpPr>
          <p:cNvPr id="8" name="!!card1_bg"/>
          <p:cNvSpPr/>
          <p:nvPr/>
        </p:nvSpPr>
        <p:spPr>
          <a:xfrm xmlns:a="http://schemas.openxmlformats.org/drawingml/2006/main">
            <a:off x="432000" y="1152000"/>
            <a:ext cx="396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1">
            <a:solidFill>
              <a:srgbClr val="1C4A1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9" name="!!card1_num"/>
          <p:cNvSpPr/>
          <p:nvPr/>
        </p:nvSpPr>
        <p:spPr>
          <a:xfrm xmlns:a="http://schemas.openxmlformats.org/drawingml/2006/main">
            <a:off x="504000" y="122400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A1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" name="!!card1_title"/>
          <p:cNvSpPr/>
          <p:nvPr/>
        </p:nvSpPr>
        <p:spPr>
          <a:xfrm xmlns:a="http://schemas.openxmlformats.org/drawingml/2006/main">
            <a:off x="936000" y="1224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5F5F5"/>
                </a:solidFill>
                <a:latin typeface="Georgia"/>
                <a:ea typeface="Georgia"/>
              </a:rPr>
              <a:t>Budget Allocated</a:t>
            </a:r>
          </a:p>
        </p:txBody>
      </p:sp>
      <p:sp>
        <p:nvSpPr>
          <p:cNvPr id="11" name="!!card1_sub"/>
          <p:cNvSpPr/>
          <p:nvPr/>
        </p:nvSpPr>
        <p:spPr>
          <a:xfrm xmlns:a="http://schemas.openxmlformats.org/drawingml/2006/main">
            <a:off x="936000" y="1440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88888"/>
                </a:solidFill>
                <a:latin typeface="Calibri"/>
                <a:ea typeface="Calibri"/>
              </a:rPr>
              <a:t>Total funding approved for the period</a:t>
            </a:r>
          </a:p>
        </p:txBody>
      </p:sp>
      <p:sp>
        <p:nvSpPr>
          <p:cNvPr id="12" name="!!card2_bg"/>
          <p:cNvSpPr/>
          <p:nvPr/>
        </p:nvSpPr>
        <p:spPr>
          <a:xfrm xmlns:a="http://schemas.openxmlformats.org/drawingml/2006/main">
            <a:off x="4536000" y="1152000"/>
            <a:ext cx="396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1">
            <a:solidFill>
              <a:srgbClr val="1C4A1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card2_num"/>
          <p:cNvSpPr/>
          <p:nvPr/>
        </p:nvSpPr>
        <p:spPr>
          <a:xfrm xmlns:a="http://schemas.openxmlformats.org/drawingml/2006/main">
            <a:off x="4608000" y="122400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A1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4" name="!!card2_title"/>
          <p:cNvSpPr/>
          <p:nvPr/>
        </p:nvSpPr>
        <p:spPr>
          <a:xfrm xmlns:a="http://schemas.openxmlformats.org/drawingml/2006/main">
            <a:off x="5040000" y="1224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5F5F5"/>
                </a:solidFill>
                <a:latin typeface="Georgia"/>
                <a:ea typeface="Georgia"/>
              </a:rPr>
              <a:t>Period Covered</a:t>
            </a:r>
          </a:p>
        </p:txBody>
      </p:sp>
      <p:sp>
        <p:nvSpPr>
          <p:cNvPr id="15" name="!!card2_sub"/>
          <p:cNvSpPr/>
          <p:nvPr/>
        </p:nvSpPr>
        <p:spPr>
          <a:xfrm xmlns:a="http://schemas.openxmlformats.org/drawingml/2006/main">
            <a:off x="5040000" y="1440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88888"/>
                </a:solidFill>
                <a:latin typeface="Calibri"/>
                <a:ea typeface="Calibri"/>
              </a:rPr>
              <a:t>Timeframe under review</a:t>
            </a:r>
          </a:p>
        </p:txBody>
      </p:sp>
      <p:sp>
        <p:nvSpPr>
          <p:cNvPr id="16" name="!!card3_bg"/>
          <p:cNvSpPr/>
          <p:nvPr/>
        </p:nvSpPr>
        <p:spPr>
          <a:xfrm xmlns:a="http://schemas.openxmlformats.org/drawingml/2006/main">
            <a:off x="432000" y="2160000"/>
            <a:ext cx="396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1">
            <a:solidFill>
              <a:srgbClr val="1C4A1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7" name="!!card3_num"/>
          <p:cNvSpPr/>
          <p:nvPr/>
        </p:nvSpPr>
        <p:spPr>
          <a:xfrm xmlns:a="http://schemas.openxmlformats.org/drawingml/2006/main">
            <a:off x="504000" y="223200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A1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8" name="!!card3_title"/>
          <p:cNvSpPr/>
          <p:nvPr/>
        </p:nvSpPr>
        <p:spPr>
          <a:xfrm xmlns:a="http://schemas.openxmlformats.org/drawingml/2006/main">
            <a:off x="936000" y="2232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5F5F5"/>
                </a:solidFill>
                <a:latin typeface="Georgia"/>
                <a:ea typeface="Georgia"/>
              </a:rPr>
              <a:t>Primary Objectives</a:t>
            </a:r>
          </a:p>
        </p:txBody>
      </p:sp>
      <p:sp>
        <p:nvSpPr>
          <p:cNvPr id="19" name="!!card3_sub"/>
          <p:cNvSpPr/>
          <p:nvPr/>
        </p:nvSpPr>
        <p:spPr>
          <a:xfrm xmlns:a="http://schemas.openxmlformats.org/drawingml/2006/main">
            <a:off x="936000" y="2448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88888"/>
                </a:solidFill>
                <a:latin typeface="Calibri"/>
                <a:ea typeface="Calibri"/>
              </a:rPr>
              <a:t>Key goals and strategic priorities</a:t>
            </a:r>
          </a:p>
        </p:txBody>
      </p:sp>
      <p:sp>
        <p:nvSpPr>
          <p:cNvPr id="20" name="!!card4_bg"/>
          <p:cNvSpPr/>
          <p:nvPr/>
        </p:nvSpPr>
        <p:spPr>
          <a:xfrm xmlns:a="http://schemas.openxmlformats.org/drawingml/2006/main">
            <a:off x="4536000" y="2160000"/>
            <a:ext cx="396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1">
            <a:solidFill>
              <a:srgbClr val="1C4A1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1" name="!!card4_num"/>
          <p:cNvSpPr/>
          <p:nvPr/>
        </p:nvSpPr>
        <p:spPr>
          <a:xfrm xmlns:a="http://schemas.openxmlformats.org/drawingml/2006/main">
            <a:off x="4608000" y="2232000"/>
            <a:ext cx="3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A1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9A84C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2" name="!!card4_title"/>
          <p:cNvSpPr/>
          <p:nvPr/>
        </p:nvSpPr>
        <p:spPr>
          <a:xfrm xmlns:a="http://schemas.openxmlformats.org/drawingml/2006/main">
            <a:off x="5040000" y="2232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5F5F5"/>
                </a:solidFill>
                <a:latin typeface="Georgia"/>
                <a:ea typeface="Georgia"/>
              </a:rPr>
              <a:t>Major Initiatives</a:t>
            </a:r>
          </a:p>
        </p:txBody>
      </p:sp>
      <p:sp>
        <p:nvSpPr>
          <p:cNvPr id="23" name="!!card4_sub"/>
          <p:cNvSpPr/>
          <p:nvPr/>
        </p:nvSpPr>
        <p:spPr>
          <a:xfrm xmlns:a="http://schemas.openxmlformats.org/drawingml/2006/main">
            <a:off x="5040000" y="2448000"/>
            <a:ext cx="33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88888"/>
                </a:solidFill>
                <a:latin typeface="Calibri"/>
                <a:ea typeface="Calibri"/>
              </a:rPr>
              <a:t>Significant projects funded</a:t>
            </a:r>
          </a:p>
        </p:txBody>
      </p:sp>
      <p:sp>
        <p:nvSpPr>
          <p:cNvPr id="24" name="!!footer_text"/>
          <p:cNvSpPr/>
          <p:nvPr/>
        </p:nvSpPr>
        <p:spPr>
          <a:xfrm xmlns:a="http://schemas.openxmlformats.org/drawingml/2006/main">
            <a:off x="432000" y="3168000"/>
            <a:ext cx="82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55555"/>
                </a:solidFill>
                <a:latin typeface="Calibri"/>
                <a:ea typeface="Calibri"/>
              </a:rPr>
              <a:t>This section provides context for the financial period being reviewed, establishing the baseline for our analysis and highlighting the strategic framework that guided budget allocation decisions.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99126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99126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9921240" y="0"/>
            <a:ext cx="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section_tag2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section_tag2_text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BUDGET OVERVIEW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86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0">
                <a:solidFill>
                  <a:srgbClr val="F5F5F5"/>
                </a:solidFill>
                <a:latin typeface="Georgia"/>
                <a:ea typeface="Georgia"/>
              </a:rPr>
              <a:t>Budget Allocation Summary</a:t>
            </a:r>
          </a:p>
        </p:txBody>
      </p:sp>
      <p:sp>
        <p:nvSpPr>
          <p:cNvPr id="8" name="!!desc_text"/>
          <p:cNvSpPr/>
          <p:nvPr/>
        </p:nvSpPr>
        <p:spPr>
          <a:xfrm xmlns:a="http://schemas.openxmlformats.org/drawingml/2006/main">
            <a:off x="432000" y="1044000"/>
            <a:ext cx="86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Comprehensive breakdown of how funds were distributed across organizational units and strategic initiatives during the review period.</a:t>
            </a:r>
          </a:p>
        </p:txBody>
      </p:sp>
      <p:sp>
        <p:nvSpPr>
          <p:cNvPr id="9" name="!!metric1_bg"/>
          <p:cNvSpPr/>
          <p:nvPr/>
        </p:nvSpPr>
        <p:spPr>
          <a:xfrm xmlns:a="http://schemas.openxmlformats.org/drawingml/2006/main">
            <a:off x="432000" y="1368000"/>
            <a:ext cx="2736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metric1_bar"/>
          <p:cNvSpPr/>
          <p:nvPr/>
        </p:nvSpPr>
        <p:spPr>
          <a:xfrm xmlns:a="http://schemas.openxmlformats.org/drawingml/2006/main">
            <a:off x="432000" y="2232000"/>
            <a:ext cx="27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!!metric1_val"/>
          <p:cNvSpPr/>
          <p:nvPr/>
        </p:nvSpPr>
        <p:spPr>
          <a:xfrm xmlns:a="http://schemas.openxmlformats.org/drawingml/2006/main">
            <a:off x="504000" y="1440000"/>
            <a:ext cx="259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0">
                <a:solidFill>
                  <a:srgbClr val="C9A84C"/>
                </a:solidFill>
                <a:latin typeface="Georgia"/>
                <a:ea typeface="Georgia"/>
              </a:rPr>
              <a:t>$4.2M</a:t>
            </a:r>
          </a:p>
        </p:txBody>
      </p:sp>
      <p:sp>
        <p:nvSpPr>
          <p:cNvPr id="12" name="!!metric1_label"/>
          <p:cNvSpPr/>
          <p:nvPr/>
        </p:nvSpPr>
        <p:spPr>
          <a:xfrm xmlns:a="http://schemas.openxmlformats.org/drawingml/2006/main">
            <a:off x="504000" y="1872000"/>
            <a:ext cx="259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Total Budget Allocated</a:t>
            </a:r>
          </a:p>
        </p:txBody>
      </p:sp>
      <p:sp>
        <p:nvSpPr>
          <p:cNvPr id="13" name="!!metric2_bg"/>
          <p:cNvSpPr/>
          <p:nvPr/>
        </p:nvSpPr>
        <p:spPr>
          <a:xfrm xmlns:a="http://schemas.openxmlformats.org/drawingml/2006/main">
            <a:off x="3312000" y="1368000"/>
            <a:ext cx="2736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metric2_bar"/>
          <p:cNvSpPr/>
          <p:nvPr/>
        </p:nvSpPr>
        <p:spPr>
          <a:xfrm xmlns:a="http://schemas.openxmlformats.org/drawingml/2006/main">
            <a:off x="3312000" y="2232000"/>
            <a:ext cx="27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A2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!!metric2_val"/>
          <p:cNvSpPr/>
          <p:nvPr/>
        </p:nvSpPr>
        <p:spPr>
          <a:xfrm xmlns:a="http://schemas.openxmlformats.org/drawingml/2006/main">
            <a:off x="3384000" y="1440000"/>
            <a:ext cx="259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0">
                <a:solidFill>
                  <a:srgbClr val="8BC34A"/>
                </a:solidFill>
                <a:latin typeface="Georgia"/>
                <a:ea typeface="Georgia"/>
              </a:rPr>
              <a:t>$3.8M</a:t>
            </a:r>
          </a:p>
        </p:txBody>
      </p:sp>
      <p:sp>
        <p:nvSpPr>
          <p:cNvPr id="16" name="!!metric2_label"/>
          <p:cNvSpPr/>
          <p:nvPr/>
        </p:nvSpPr>
        <p:spPr>
          <a:xfrm xmlns:a="http://schemas.openxmlformats.org/drawingml/2006/main">
            <a:off x="3384000" y="1872000"/>
            <a:ext cx="259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Total Budget Spent</a:t>
            </a:r>
          </a:p>
        </p:txBody>
      </p:sp>
      <p:sp>
        <p:nvSpPr>
          <p:cNvPr id="17" name="!!metric3_bg"/>
          <p:cNvSpPr/>
          <p:nvPr/>
        </p:nvSpPr>
        <p:spPr>
          <a:xfrm xmlns:a="http://schemas.openxmlformats.org/drawingml/2006/main">
            <a:off x="6192000" y="1368000"/>
            <a:ext cx="2736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8" name="!!metric3_bar"/>
          <p:cNvSpPr/>
          <p:nvPr/>
        </p:nvSpPr>
        <p:spPr>
          <a:xfrm xmlns:a="http://schemas.openxmlformats.org/drawingml/2006/main">
            <a:off x="6192000" y="2232000"/>
            <a:ext cx="2736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9" name="!!metric3_val"/>
          <p:cNvSpPr/>
          <p:nvPr/>
        </p:nvSpPr>
        <p:spPr>
          <a:xfrm xmlns:a="http://schemas.openxmlformats.org/drawingml/2006/main">
            <a:off x="6264000" y="1440000"/>
            <a:ext cx="259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0">
                <a:solidFill>
                  <a:srgbClr val="F5F5F5"/>
                </a:solidFill>
                <a:latin typeface="Georgia"/>
                <a:ea typeface="Georgia"/>
              </a:rPr>
              <a:t>90.5%</a:t>
            </a:r>
          </a:p>
        </p:txBody>
      </p:sp>
      <p:sp>
        <p:nvSpPr>
          <p:cNvPr id="20" name="!!metric3_label"/>
          <p:cNvSpPr/>
          <p:nvPr/>
        </p:nvSpPr>
        <p:spPr>
          <a:xfrm xmlns:a="http://schemas.openxmlformats.org/drawingml/2006/main">
            <a:off x="6264000" y="1872000"/>
            <a:ext cx="259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Utilization Rate</a:t>
            </a:r>
          </a:p>
        </p:txBody>
      </p:sp>
      <p:sp>
        <p:nvSpPr>
          <p:cNvPr id="21" name="!!insight_line"/>
          <p:cNvSpPr/>
          <p:nvPr/>
        </p:nvSpPr>
        <p:spPr>
          <a:xfrm xmlns:a="http://schemas.openxmlformats.org/drawingml/2006/main">
            <a:off x="432000" y="2808000"/>
            <a:ext cx="8640000" cy="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2" name="!!insight_text"/>
          <p:cNvSpPr/>
          <p:nvPr/>
        </p:nvSpPr>
        <p:spPr>
          <a:xfrm xmlns:a="http://schemas.openxmlformats.org/drawingml/2006/main">
            <a:off x="432000" y="2880000"/>
            <a:ext cx="86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77777"/>
                </a:solidFill>
                <a:latin typeface="Calibri"/>
                <a:ea typeface="Calibri"/>
              </a:rPr>
              <a:t>Key Insight: Budget utilization exceeded the 85% target threshold, reflecting strong execution across all departments with strategic reserve maintained.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55296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55296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5538240" y="0"/>
            <a:ext cx="437436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section_tag3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section_tag3_text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SPENDING ANALYSIS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475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0">
                <a:solidFill>
                  <a:srgbClr val="F5F5F5"/>
                </a:solidFill>
                <a:latin typeface="Georgia"/>
                <a:ea typeface="Georgia"/>
              </a:rPr>
              <a:t>Expense Breakdown</a:t>
            </a:r>
          </a:p>
        </p:txBody>
      </p:sp>
      <p:sp>
        <p:nvSpPr>
          <p:cNvPr id="8" name="!!exp_desc"/>
          <p:cNvSpPr/>
          <p:nvPr/>
        </p:nvSpPr>
        <p:spPr>
          <a:xfrm xmlns:a="http://schemas.openxmlformats.org/drawingml/2006/main">
            <a:off x="432000" y="1044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88888"/>
                </a:solidFill>
                <a:latin typeface="Calibri"/>
                <a:ea typeface="Calibri"/>
              </a:rPr>
              <a:t>Understanding how resources were allocated across different categories provides insight into organizational priorities and spending patterns.</a:t>
            </a:r>
          </a:p>
        </p:txBody>
      </p:sp>
      <p:sp>
        <p:nvSpPr>
          <p:cNvPr id="9" name="!!cat_heading"/>
          <p:cNvSpPr/>
          <p:nvPr/>
        </p:nvSpPr>
        <p:spPr>
          <a:xfrm xmlns:a="http://schemas.openxmlformats.org/drawingml/2006/main">
            <a:off x="432000" y="1368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F5F5F5"/>
                </a:solidFill>
                <a:latin typeface="Georgia"/>
                <a:ea typeface="Georgia"/>
              </a:rPr>
              <a:t>Major Spending Categories</a:t>
            </a:r>
          </a:p>
        </p:txBody>
      </p:sp>
      <p:sp>
        <p:nvSpPr>
          <p:cNvPr id="10" name="!!cat_desc"/>
          <p:cNvSpPr/>
          <p:nvPr/>
        </p:nvSpPr>
        <p:spPr>
          <a:xfrm xmlns:a="http://schemas.openxmlformats.org/drawingml/2006/main">
            <a:off x="432000" y="1584000"/>
            <a:ext cx="475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77777"/>
                </a:solidFill>
                <a:latin typeface="Calibri"/>
                <a:ea typeface="Calibri"/>
              </a:rPr>
              <a:t>This distribution reflects strategic priorities and operational requirements for the review period.</a:t>
            </a:r>
          </a:p>
        </p:txBody>
      </p:sp>
      <p:sp>
        <p:nvSpPr>
          <p:cNvPr id="11" name="!!cat1_box"/>
          <p:cNvSpPr/>
          <p:nvPr/>
        </p:nvSpPr>
        <p:spPr>
          <a:xfrm xmlns:a="http://schemas.openxmlformats.org/drawingml/2006/main">
            <a:off x="432000" y="1836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2" name="!!cat1_text"/>
          <p:cNvSpPr/>
          <p:nvPr/>
        </p:nvSpPr>
        <p:spPr>
          <a:xfrm xmlns:a="http://schemas.openxmlformats.org/drawingml/2006/main">
            <a:off x="504000" y="1854000"/>
            <a:ext cx="46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CCCCC"/>
                </a:solidFill>
                <a:latin typeface="Calibri"/>
                <a:ea typeface="Calibri"/>
              </a:rPr>
              <a:t>Category 1 represents the largest portion of expenses</a:t>
            </a:r>
          </a:p>
        </p:txBody>
      </p:sp>
      <p:sp>
        <p:nvSpPr>
          <p:cNvPr id="13" name="!!cat2_box"/>
          <p:cNvSpPr/>
          <p:nvPr/>
        </p:nvSpPr>
        <p:spPr>
          <a:xfrm xmlns:a="http://schemas.openxmlformats.org/drawingml/2006/main">
            <a:off x="432000" y="2088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4" name="!!cat2_text"/>
          <p:cNvSpPr/>
          <p:nvPr/>
        </p:nvSpPr>
        <p:spPr>
          <a:xfrm xmlns:a="http://schemas.openxmlformats.org/drawingml/2006/main">
            <a:off x="504000" y="2106000"/>
            <a:ext cx="46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CCCCC"/>
                </a:solidFill>
                <a:latin typeface="Calibri"/>
                <a:ea typeface="Calibri"/>
              </a:rPr>
              <a:t>Category 2 accounts for significant operational costs</a:t>
            </a:r>
          </a:p>
        </p:txBody>
      </p:sp>
      <p:sp>
        <p:nvSpPr>
          <p:cNvPr id="15" name="!!cat3_box"/>
          <p:cNvSpPr/>
          <p:nvPr/>
        </p:nvSpPr>
        <p:spPr>
          <a:xfrm xmlns:a="http://schemas.openxmlformats.org/drawingml/2006/main">
            <a:off x="432000" y="2340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cat3_text"/>
          <p:cNvSpPr/>
          <p:nvPr/>
        </p:nvSpPr>
        <p:spPr>
          <a:xfrm xmlns:a="http://schemas.openxmlformats.org/drawingml/2006/main">
            <a:off x="504000" y="2358000"/>
            <a:ext cx="46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CCCCC"/>
                </a:solidFill>
                <a:latin typeface="Calibri"/>
                <a:ea typeface="Calibri"/>
              </a:rPr>
              <a:t>Category 3 includes essential support functions</a:t>
            </a:r>
          </a:p>
        </p:txBody>
      </p:sp>
      <p:sp>
        <p:nvSpPr>
          <p:cNvPr id="17" name="!!cat4_box"/>
          <p:cNvSpPr/>
          <p:nvPr/>
        </p:nvSpPr>
        <p:spPr>
          <a:xfrm xmlns:a="http://schemas.openxmlformats.org/drawingml/2006/main">
            <a:off x="432000" y="2592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8" name="!!cat4_text"/>
          <p:cNvSpPr/>
          <p:nvPr/>
        </p:nvSpPr>
        <p:spPr>
          <a:xfrm xmlns:a="http://schemas.openxmlformats.org/drawingml/2006/main">
            <a:off x="504000" y="2610000"/>
            <a:ext cx="46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CCCCC"/>
                </a:solidFill>
                <a:latin typeface="Calibri"/>
                <a:ea typeface="Calibri"/>
              </a:rPr>
              <a:t>Category 4 covers additional strategic investments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616000" y="864000"/>
          <a:ext xmlns:a="http://schemas.openxmlformats.org/drawingml/2006/main" cx="3888000" cy="280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4798ef77234045"/>
          </a:graphicData>
        </a:graphic>
      </p:graphicFrame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99126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99126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9921240" y="0"/>
            <a:ext cx="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section_tag4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section_tag4_text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VARIANCE ANALYSIS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86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0">
                <a:solidFill>
                  <a:srgbClr val="F5F5F5"/>
                </a:solidFill>
                <a:latin typeface="Georgia"/>
                <a:ea typeface="Georgia"/>
              </a:rPr>
              <a:t>Budget vs. Actual Variance</a:t>
            </a:r>
          </a:p>
        </p:txBody>
      </p:sp>
      <p:sp>
        <p:nvSpPr>
          <p:cNvPr id="8" name="!!var_desc"/>
          <p:cNvSpPr/>
          <p:nvPr/>
        </p:nvSpPr>
        <p:spPr>
          <a:xfrm xmlns:a="http://schemas.openxmlformats.org/drawingml/2006/main">
            <a:off x="432000" y="1044000"/>
            <a:ext cx="86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Detailed comparison of planned versus actual expenditures, highlighting areas of significant deviation and their underlying causes.</a:t>
            </a:r>
          </a:p>
        </p:txBody>
      </p:sp>
      <p:graphicFrame>
        <p:nvGraphicFramePr>
          <p:cNvPr id="11" name="Budget vs Actual by Department"/>
          <p:cNvGraphicFramePr/>
          <p:nvPr/>
        </p:nvGraphicFramePr>
        <p:xfrm>
          <a:off xmlns:a="http://schemas.openxmlformats.org/drawingml/2006/main" x="432000" y="1368000"/>
          <a:ext xmlns:a="http://schemas.openxmlformats.org/drawingml/2006/main" cx="8640000" cy="237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2ab71b3414fe3"/>
          </a:graphicData>
        </a:graphic>
      </p:graphicFrame>
      <p:sp>
        <p:nvSpPr>
          <p:cNvPr id="12" name="!!var_note"/>
          <p:cNvSpPr/>
          <p:nvPr/>
        </p:nvSpPr>
        <p:spPr>
          <a:xfrm xmlns:a="http://schemas.openxmlformats.org/drawingml/2006/main">
            <a:off x="432000" y="3816000"/>
            <a:ext cx="8640000" cy="1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55555"/>
                </a:solidFill>
                <a:latin typeface="Calibri"/>
                <a:ea typeface="Calibri"/>
              </a:rPr>
              <a:t>Note: Positive variance in Marketing reflects accelerated Q3 campaign spend. R&amp;D and IT remained within approved parameters.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55296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55296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5538240" y="0"/>
            <a:ext cx="437436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!!section_tag5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!!section_tag5_text"/>
          <p:cNvSpPr/>
          <p:nvPr/>
        </p:nvSpPr>
        <p:spPr>
          <a:xfrm xmlns:a="http://schemas.openxmlformats.org/drawingml/2006/main">
            <a:off x="432000" y="432000"/>
            <a:ext cx="9504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FORWARD OUTLOOK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475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0">
                <a:solidFill>
                  <a:srgbClr val="F5F5F5"/>
                </a:solidFill>
                <a:latin typeface="Georgia"/>
                <a:ea typeface="Georgia"/>
              </a:rPr>
              <a:t>Strategic Priorities for Next Period</a:t>
            </a:r>
          </a:p>
        </p:txBody>
      </p:sp>
      <p:sp>
        <p:nvSpPr>
          <p:cNvPr id="8" name="!!outlook_desc"/>
          <p:cNvSpPr/>
          <p:nvPr/>
        </p:nvSpPr>
        <p:spPr>
          <a:xfrm xmlns:a="http://schemas.openxmlformats.org/drawingml/2006/main">
            <a:off x="432000" y="1044000"/>
            <a:ext cx="47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88888"/>
                </a:solidFill>
                <a:latin typeface="Calibri"/>
                <a:ea typeface="Calibri"/>
              </a:rPr>
              <a:t>Building on this periods learnings to drive more efficient and impactful resource allocation in the upcoming cycle.</a:t>
            </a:r>
          </a:p>
        </p:txBody>
      </p:sp>
      <p:sp>
        <p:nvSpPr>
          <p:cNvPr id="9" name="!!p1_line"/>
          <p:cNvSpPr/>
          <p:nvPr/>
        </p:nvSpPr>
        <p:spPr>
          <a:xfrm xmlns:a="http://schemas.openxmlformats.org/drawingml/2006/main">
            <a:off x="432000" y="1368000"/>
            <a:ext cx="864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!!p1_title"/>
          <p:cNvSpPr/>
          <p:nvPr/>
        </p:nvSpPr>
        <p:spPr>
          <a:xfrm xmlns:a="http://schemas.openxmlformats.org/drawingml/2006/main">
            <a:off x="576000" y="1368000"/>
            <a:ext cx="460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C9A84C"/>
                </a:solidFill>
                <a:latin typeface="Georgia"/>
                <a:ea typeface="Georgia"/>
              </a:rPr>
              <a:t>Operational Excellence</a:t>
            </a:r>
          </a:p>
        </p:txBody>
      </p:sp>
      <p:sp>
        <p:nvSpPr>
          <p:cNvPr id="11" name="!!p1_text"/>
          <p:cNvSpPr/>
          <p:nvPr/>
        </p:nvSpPr>
        <p:spPr>
          <a:xfrm xmlns:a="http://schemas.openxmlformats.org/drawingml/2006/main">
            <a:off x="576000" y="1584000"/>
            <a:ext cx="460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AAAAA"/>
                </a:solidFill>
                <a:latin typeface="Calibri"/>
                <a:ea typeface="Calibri"/>
              </a:rPr>
              <a:t>Streamline core processes and reduce overhead by 12% through targeted efficiency programs.</a:t>
            </a:r>
          </a:p>
        </p:txBody>
      </p:sp>
      <p:sp>
        <p:nvSpPr>
          <p:cNvPr id="12" name="!!p2_line"/>
          <p:cNvSpPr/>
          <p:nvPr/>
        </p:nvSpPr>
        <p:spPr>
          <a:xfrm xmlns:a="http://schemas.openxmlformats.org/drawingml/2006/main">
            <a:off x="432000" y="2304000"/>
            <a:ext cx="864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A3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3" name="!!p2_title"/>
          <p:cNvSpPr/>
          <p:nvPr/>
        </p:nvSpPr>
        <p:spPr>
          <a:xfrm xmlns:a="http://schemas.openxmlformats.org/drawingml/2006/main">
            <a:off x="576000" y="2304000"/>
            <a:ext cx="460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8BC34A"/>
                </a:solidFill>
                <a:latin typeface="Georgia"/>
                <a:ea typeface="Georgia"/>
              </a:rPr>
              <a:t>Strategic Investment</a:t>
            </a:r>
          </a:p>
        </p:txBody>
      </p:sp>
      <p:sp>
        <p:nvSpPr>
          <p:cNvPr id="14" name="!!p2_text"/>
          <p:cNvSpPr/>
          <p:nvPr/>
        </p:nvSpPr>
        <p:spPr>
          <a:xfrm xmlns:a="http://schemas.openxmlformats.org/drawingml/2006/main">
            <a:off x="576000" y="2520000"/>
            <a:ext cx="460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AAAAA"/>
                </a:solidFill>
                <a:latin typeface="Calibri"/>
                <a:ea typeface="Calibri"/>
              </a:rPr>
              <a:t>Increase R&amp;D allocation by 15% to accelerate innovation pipeline and competitive positioning.</a:t>
            </a:r>
          </a:p>
        </p:txBody>
      </p:sp>
      <p:sp>
        <p:nvSpPr>
          <p:cNvPr id="15" name="!!p3_line"/>
          <p:cNvSpPr/>
          <p:nvPr/>
        </p:nvSpPr>
        <p:spPr>
          <a:xfrm xmlns:a="http://schemas.openxmlformats.org/drawingml/2006/main">
            <a:off x="432000" y="3240000"/>
            <a:ext cx="864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!!p3_title"/>
          <p:cNvSpPr/>
          <p:nvPr/>
        </p:nvSpPr>
        <p:spPr>
          <a:xfrm xmlns:a="http://schemas.openxmlformats.org/drawingml/2006/main">
            <a:off x="576000" y="3240000"/>
            <a:ext cx="460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DDDDDD"/>
                </a:solidFill>
                <a:latin typeface="Georgia"/>
                <a:ea typeface="Georgia"/>
              </a:rPr>
              <a:t>Risk Management</a:t>
            </a:r>
          </a:p>
        </p:txBody>
      </p:sp>
      <p:sp>
        <p:nvSpPr>
          <p:cNvPr id="17" name="!!p3_text"/>
          <p:cNvSpPr/>
          <p:nvPr/>
        </p:nvSpPr>
        <p:spPr>
          <a:xfrm xmlns:a="http://schemas.openxmlformats.org/drawingml/2006/main">
            <a:off x="576000" y="3456000"/>
            <a:ext cx="460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AAAAA"/>
                </a:solidFill>
                <a:latin typeface="Calibri"/>
                <a:ea typeface="Calibri"/>
              </a:rPr>
              <a:t>Maintain 10% strategic reserve and implement quarterly variance review cadence.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p159="http://schemas.microsoft.com/office/powerpoint/2015/09/main" xmlns:mc="http://schemas.openxmlformats.org/markup-compatibility/2006" xmlns:p="http://schemas.openxmlformats.org/presentationml/2006/main" mc:Ignorable="p159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/>
      <p:sp>
        <p:nvSpPr>
          <p:cNvPr id="2" name="!!bg_left"/>
          <p:cNvSpPr/>
          <p:nvPr/>
        </p:nvSpPr>
        <p:spPr>
          <a:xfrm xmlns:a="http://schemas.openxmlformats.org/drawingml/2006/main">
            <a:off x="0" y="0"/>
            <a:ext cx="99126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3" name="!!divider"/>
          <p:cNvSpPr/>
          <p:nvPr/>
        </p:nvSpPr>
        <p:spPr>
          <a:xfrm xmlns:a="http://schemas.openxmlformats.org/drawingml/2006/main">
            <a:off x="9912600" y="0"/>
            <a:ext cx="864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4" name="!!bg_right"/>
          <p:cNvSpPr/>
          <p:nvPr/>
        </p:nvSpPr>
        <p:spPr>
          <a:xfrm xmlns:a="http://schemas.openxmlformats.org/drawingml/2006/main">
            <a:off x="9921240" y="0"/>
            <a:ext cx="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0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5" name="section_tag6"/>
          <p:cNvSpPr/>
          <p:nvPr/>
        </p:nvSpPr>
        <p:spPr>
          <a:xfrm xmlns:a="http://schemas.openxmlformats.org/drawingml/2006/main">
            <a:off x="432000" y="432000"/>
            <a:ext cx="648000" cy="1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6" name="section_tag6_text"/>
          <p:cNvSpPr/>
          <p:nvPr/>
        </p:nvSpPr>
        <p:spPr>
          <a:xfrm xmlns:a="http://schemas.openxmlformats.org/drawingml/2006/main">
            <a:off x="432000" y="432000"/>
            <a:ext cx="648000" cy="1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A0A0A"/>
                </a:solidFill>
                <a:latin typeface="Calibri"/>
                <a:ea typeface="Calibri"/>
              </a:rPr>
              <a:t>NEXT STEPS</a:t>
            </a:r>
          </a:p>
        </p:txBody>
      </p:sp>
      <p:sp>
        <p:nvSpPr>
          <p:cNvPr id="7" name="!!main_title"/>
          <p:cNvSpPr/>
          <p:nvPr/>
        </p:nvSpPr>
        <p:spPr>
          <a:xfrm xmlns:a="http://schemas.openxmlformats.org/drawingml/2006/main">
            <a:off x="432000" y="576000"/>
            <a:ext cx="86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0">
                <a:solidFill>
                  <a:srgbClr val="F5F5F5"/>
                </a:solidFill>
                <a:latin typeface="Georgia"/>
                <a:ea typeface="Georgia"/>
              </a:rPr>
              <a:t>Action Items &amp; Decision Points</a:t>
            </a:r>
          </a:p>
        </p:txBody>
      </p:sp>
      <p:sp>
        <p:nvSpPr>
          <p:cNvPr id="8" name="action_desc"/>
          <p:cNvSpPr/>
          <p:nvPr/>
        </p:nvSpPr>
        <p:spPr>
          <a:xfrm xmlns:a="http://schemas.openxmlformats.org/drawingml/2006/main">
            <a:off x="432000" y="1044000"/>
            <a:ext cx="86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88888"/>
                </a:solidFill>
                <a:latin typeface="Calibri"/>
                <a:ea typeface="Calibri"/>
              </a:rPr>
              <a:t>Clear ownership and timelines for each priority item emerging from this budget review.</a:t>
            </a:r>
          </a:p>
        </p:txBody>
      </p:sp>
      <p:sp>
        <p:nvSpPr>
          <p:cNvPr id="9" name="a1_bg"/>
          <p:cNvSpPr/>
          <p:nvPr/>
        </p:nvSpPr>
        <p:spPr>
          <a:xfrm xmlns:a="http://schemas.openxmlformats.org/drawingml/2006/main">
            <a:off x="432000" y="1368000"/>
            <a:ext cx="86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" name="a1_dot"/>
          <p:cNvSpPr/>
          <p:nvPr/>
        </p:nvSpPr>
        <p:spPr>
          <a:xfrm xmlns:a="http://schemas.openxmlformats.org/drawingml/2006/main">
            <a:off x="504000" y="144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1" name="a1_title"/>
          <p:cNvSpPr/>
          <p:nvPr/>
        </p:nvSpPr>
        <p:spPr>
          <a:xfrm xmlns:a="http://schemas.openxmlformats.org/drawingml/2006/main">
            <a:off x="864000" y="1404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5"/>
                </a:solidFill>
                <a:latin typeface="Georgia"/>
                <a:ea typeface="Georgia"/>
              </a:rPr>
              <a:t>Approve Q1 budget reallocation proposals</a:t>
            </a:r>
          </a:p>
        </p:txBody>
      </p:sp>
      <p:sp>
        <p:nvSpPr>
          <p:cNvPr id="12" name="a1_owner"/>
          <p:cNvSpPr/>
          <p:nvPr/>
        </p:nvSpPr>
        <p:spPr>
          <a:xfrm xmlns:a="http://schemas.openxmlformats.org/drawingml/2006/main">
            <a:off x="864000" y="1620000"/>
            <a:ext cx="360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77777"/>
                </a:solidFill>
                <a:latin typeface="Calibri"/>
                <a:ea typeface="Calibri"/>
              </a:rPr>
              <a:t>CFO / Finance Committee</a:t>
            </a:r>
          </a:p>
        </p:txBody>
      </p:sp>
      <p:sp>
        <p:nvSpPr>
          <p:cNvPr id="13" name="a1_date"/>
          <p:cNvSpPr/>
          <p:nvPr/>
        </p:nvSpPr>
        <p:spPr>
          <a:xfrm xmlns:a="http://schemas.openxmlformats.org/drawingml/2006/main">
            <a:off x="8208000" y="1440000"/>
            <a:ext cx="86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9A84C"/>
                </a:solidFill>
                <a:latin typeface="Calibri"/>
                <a:ea typeface="Calibri"/>
              </a:rPr>
              <a:t>Q1 2025</a:t>
            </a:r>
          </a:p>
        </p:txBody>
      </p:sp>
      <p:sp>
        <p:nvSpPr>
          <p:cNvPr id="14" name="a2_bg"/>
          <p:cNvSpPr/>
          <p:nvPr/>
        </p:nvSpPr>
        <p:spPr>
          <a:xfrm xmlns:a="http://schemas.openxmlformats.org/drawingml/2006/main">
            <a:off x="432000" y="1872000"/>
            <a:ext cx="86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5" name="a2_dot"/>
          <p:cNvSpPr/>
          <p:nvPr/>
        </p:nvSpPr>
        <p:spPr>
          <a:xfrm xmlns:a="http://schemas.openxmlformats.org/drawingml/2006/main">
            <a:off x="504000" y="1944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A3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6" name="a2_title"/>
          <p:cNvSpPr/>
          <p:nvPr/>
        </p:nvSpPr>
        <p:spPr>
          <a:xfrm xmlns:a="http://schemas.openxmlformats.org/drawingml/2006/main">
            <a:off x="864000" y="1908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5"/>
                </a:solidFill>
                <a:latin typeface="Georgia"/>
                <a:ea typeface="Georgia"/>
              </a:rPr>
              <a:t>Implement variance tracking dashboard</a:t>
            </a:r>
          </a:p>
        </p:txBody>
      </p:sp>
      <p:sp>
        <p:nvSpPr>
          <p:cNvPr id="17" name="a2_owner"/>
          <p:cNvSpPr/>
          <p:nvPr/>
        </p:nvSpPr>
        <p:spPr>
          <a:xfrm xmlns:a="http://schemas.openxmlformats.org/drawingml/2006/main">
            <a:off x="864000" y="2124000"/>
            <a:ext cx="360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77777"/>
                </a:solidFill>
                <a:latin typeface="Calibri"/>
                <a:ea typeface="Calibri"/>
              </a:rPr>
              <a:t>FP&amp;A Team / IT</a:t>
            </a:r>
          </a:p>
        </p:txBody>
      </p:sp>
      <p:sp>
        <p:nvSpPr>
          <p:cNvPr id="18" name="a2_date"/>
          <p:cNvSpPr/>
          <p:nvPr/>
        </p:nvSpPr>
        <p:spPr>
          <a:xfrm xmlns:a="http://schemas.openxmlformats.org/drawingml/2006/main">
            <a:off x="8208000" y="1944000"/>
            <a:ext cx="86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BC34A"/>
                </a:solidFill>
                <a:latin typeface="Calibri"/>
                <a:ea typeface="Calibri"/>
              </a:rPr>
              <a:t>Q2 2025</a:t>
            </a:r>
          </a:p>
        </p:txBody>
      </p:sp>
      <p:sp>
        <p:nvSpPr>
          <p:cNvPr id="19" name="a3_bg"/>
          <p:cNvSpPr/>
          <p:nvPr/>
        </p:nvSpPr>
        <p:spPr>
          <a:xfrm xmlns:a="http://schemas.openxmlformats.org/drawingml/2006/main">
            <a:off x="432000" y="2376000"/>
            <a:ext cx="86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0" name="a3_dot"/>
          <p:cNvSpPr/>
          <p:nvPr/>
        </p:nvSpPr>
        <p:spPr>
          <a:xfrm xmlns:a="http://schemas.openxmlformats.org/drawingml/2006/main">
            <a:off x="504000" y="2448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1" name="a3_title"/>
          <p:cNvSpPr/>
          <p:nvPr/>
        </p:nvSpPr>
        <p:spPr>
          <a:xfrm xmlns:a="http://schemas.openxmlformats.org/drawingml/2006/main">
            <a:off x="864000" y="2412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F5F5"/>
                </a:solidFill>
                <a:latin typeface="Georgia"/>
                <a:ea typeface="Georgia"/>
              </a:rPr>
              <a:t>Conduct departmental budget alignment workshops</a:t>
            </a:r>
          </a:p>
        </p:txBody>
      </p:sp>
      <p:sp>
        <p:nvSpPr>
          <p:cNvPr id="22" name="a3_owner"/>
          <p:cNvSpPr/>
          <p:nvPr/>
        </p:nvSpPr>
        <p:spPr>
          <a:xfrm xmlns:a="http://schemas.openxmlformats.org/drawingml/2006/main">
            <a:off x="864000" y="2628000"/>
            <a:ext cx="360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77777"/>
                </a:solidFill>
                <a:latin typeface="Calibri"/>
                <a:ea typeface="Calibri"/>
              </a:rPr>
              <a:t>Department Heads / HR</a:t>
            </a:r>
          </a:p>
        </p:txBody>
      </p:sp>
      <p:sp>
        <p:nvSpPr>
          <p:cNvPr id="23" name="a3_date"/>
          <p:cNvSpPr/>
          <p:nvPr/>
        </p:nvSpPr>
        <p:spPr>
          <a:xfrm xmlns:a="http://schemas.openxmlformats.org/drawingml/2006/main">
            <a:off x="8208000" y="2448000"/>
            <a:ext cx="86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AAAAAA"/>
                </a:solidFill>
                <a:latin typeface="Calibri"/>
                <a:ea typeface="Calibri"/>
              </a:rPr>
              <a:t>Q2 2025</a:t>
            </a:r>
          </a:p>
        </p:txBody>
      </p:sp>
      <p:sp>
        <p:nvSpPr>
          <p:cNvPr id="24" name="closing_line"/>
          <p:cNvSpPr/>
          <p:nvPr/>
        </p:nvSpPr>
        <p:spPr>
          <a:xfrm xmlns:a="http://schemas.openxmlformats.org/drawingml/2006/main">
            <a:off x="432000" y="3384000"/>
            <a:ext cx="8640000" cy="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25" name="closing_text"/>
          <p:cNvSpPr/>
          <p:nvPr/>
        </p:nvSpPr>
        <p:spPr>
          <a:xfrm xmlns:a="http://schemas.openxmlformats.org/drawingml/2006/main">
            <a:off x="432000" y="3456000"/>
            <a:ext cx="86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77777"/>
                </a:solidFill>
                <a:latin typeface="Georgia"/>
                <a:ea typeface="Georgia"/>
              </a:rPr>
              <a:t>Together, data-driven decisions create accountability and drive sustainable financial performance across the organization.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