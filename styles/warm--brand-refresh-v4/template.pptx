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e63a07ef6cc542ce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a970a32b71d479b"/>
    <p:sldId id="257" r:id="R409219fe4baf4d41"/>
    <p:sldId id="258" r:id="R7aa99481a35b4f33"/>
    <p:sldId id="259" r:id="R3fdd0a0dc4774f9a"/>
    <p:sldId id="260" r:id="Red08adaa6a154150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a970a32b71d479b" /><Relationship Type="http://schemas.openxmlformats.org/officeDocument/2006/relationships/slide" Target="/ppt/slides/slide2.xml" Id="R409219fe4baf4d41" /><Relationship Type="http://schemas.openxmlformats.org/officeDocument/2006/relationships/slide" Target="/ppt/slides/slide3.xml" Id="R7aa99481a35b4f33" /><Relationship Type="http://schemas.openxmlformats.org/officeDocument/2006/relationships/slide" Target="/ppt/slides/slide4.xml" Id="R3fdd0a0dc4774f9a" /><Relationship Type="http://schemas.openxmlformats.org/officeDocument/2006/relationships/slide" Target="/ppt/slides/slide5.xml" Id="Red08adaa6a154150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94869fc80413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7a491a05c462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f2b4a28634449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705c3199d04416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d634ecc44ab9474a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/Relationships>
</file>

<file path=ppt/slideMasters/slideMaster1.xml><?xml version="1.0" encoding="utf-8"?>
<p:sldMaster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77cd4a23449c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75632dee594df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b8803efdbd43e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fa7d57327b4d5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1608498e784656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!!photo-1"/>
          <p:cNvSpPr/>
          <p:nvPr/>
        </p:nvSpPr>
        <p:spPr>
          <a:xfrm>
            <a:off x="5580000" y="0"/>
            <a:ext cx="3600000" cy="46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a"/>
          <p:cNvSpPr/>
          <p:nvPr/>
        </p:nvSpPr>
        <p:spPr>
          <a:xfrm>
            <a:off x="9180000" y="0"/>
            <a:ext cx="3013200" cy="2520000"/>
          </a:xfrm>
          <a:prstGeom prst="rect">
            <a:avLst/>
          </a:prstGeom>
          <a:solidFill>
            <a:srgbClr val="162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b"/>
          <p:cNvSpPr/>
          <p:nvPr/>
        </p:nvSpPr>
        <p:spPr>
          <a:xfrm>
            <a:off x="9180000" y="2520000"/>
            <a:ext cx="1440000" cy="2160000"/>
          </a:xfrm>
          <a:prstGeom prst="rect">
            <a:avLst/>
          </a:prstGeom>
          <a:solidFill>
            <a:srgbClr val="1A6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c"/>
          <p:cNvSpPr/>
          <p:nvPr/>
        </p:nvSpPr>
        <p:spPr>
          <a:xfrm>
            <a:off x="10620000" y="2520000"/>
            <a:ext cx="1573200" cy="2160000"/>
          </a:xfrm>
          <a:prstGeom prst="rect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k-d"/>
          <p:cNvSpPr/>
          <p:nvPr/>
        </p:nvSpPr>
        <p:spPr>
          <a:xfrm>
            <a:off x="5580000" y="4680000"/>
            <a:ext cx="1800000" cy="2178000"/>
          </a:xfrm>
          <a:prstGeom prst="rect">
            <a:avLst/>
          </a:prstGeom>
          <a:solidFill>
            <a:srgbClr val="00C9D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k-e"/>
          <p:cNvSpPr/>
          <p:nvPr/>
        </p:nvSpPr>
        <p:spPr>
          <a:xfrm>
            <a:off x="7380000" y="4680000"/>
            <a:ext cx="1800000" cy="2178000"/>
          </a:xfrm>
          <a:prstGeom prst="rect">
            <a:avLst/>
          </a:prstGeom>
          <a:solidFill>
            <a:srgbClr val="7EC8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k-f"/>
          <p:cNvSpPr/>
          <p:nvPr/>
        </p:nvSpPr>
        <p:spPr>
          <a:xfrm>
            <a:off x="9180000" y="4680000"/>
            <a:ext cx="3013200" cy="2178000"/>
          </a:xfrm>
          <a:prstGeom prst="rect">
            <a:avLst/>
          </a:prstGeom>
          <a:solidFill>
            <a:srgbClr val="E8749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78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tag"/>
          <p:cNvSpPr/>
          <p:nvPr/>
        </p:nvSpPr>
        <p:spPr>
          <a:xfrm>
            <a:off x="576000" y="2520000"/>
            <a:ext cx="468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9A9080"/>
                </a:solidFill>
                <a:latin typeface="Arial"/>
                <a:ea typeface="Arial"/>
              </a:rPr>
              <a:t>BRAND REFRESH 2025</a:t>
            </a:r>
          </a:p>
        </p:txBody>
      </p:sp>
      <p:sp>
        <p:nvSpPr>
          <p:cNvPr id="11" name="!!h-title"/>
          <p:cNvSpPr/>
          <p:nvPr/>
        </p:nvSpPr>
        <p:spPr>
          <a:xfrm>
            <a:off x="576000" y="2808000"/>
            <a:ext cx="4680000" cy="19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5200" b="1">
                <a:solidFill>
                  <a:srgbClr val="162040"/>
                </a:solidFill>
                <a:latin typeface="Arial"/>
                <a:ea typeface="Arial"/>
              </a:rPr>
              <a:t>Your Brand, Redefined.</a:t>
            </a:r>
          </a:p>
        </p:txBody>
      </p:sp>
      <p:sp>
        <p:nvSpPr>
          <p:cNvPr id="12" name="!!h-sub"/>
          <p:cNvSpPr/>
          <p:nvPr/>
        </p:nvSpPr>
        <p:spPr>
          <a:xfrm>
            <a:off x="576000" y="5040000"/>
            <a:ext cx="468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500">
                <a:solidFill>
                  <a:srgbClr val="6B6355"/>
                </a:solidFill>
                <a:latin typeface="Arial"/>
                <a:ea typeface="Arial"/>
              </a:rPr>
              <a:t>A new visual language built for how the world sees you now.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162040"/>
        </a:solidFill>
      </p:bgPr>
    </p:bg>
    <p:spTree>
      <p:nvGrpSpPr>
        <p:cNvPr id="1" name=""/>
        <p:cNvGrpSpPr/>
        <p:nvPr/>
      </p:nvGrpSpPr>
      <p:grpSpPr/>
      <p:sp>
        <p:nvSpPr>
          <p:cNvPr id="2" name="!!photo-1"/>
          <p:cNvSpPr/>
          <p:nvPr/>
        </p:nvSpPr>
        <p:spPr>
          <a:xfrm>
            <a:off x="0" y="0"/>
            <a:ext cx="5040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a"/>
          <p:cNvSpPr/>
          <p:nvPr/>
        </p:nvSpPr>
        <p:spPr>
          <a:xfrm>
            <a:off x="0" y="0"/>
            <a:ext cx="5040000" cy="6858000"/>
          </a:xfrm>
          <a:prstGeom prst="rect">
            <a:avLst/>
          </a:prstGeom>
          <a:solidFill>
            <a:srgbClr val="162040">
              <a:alpha val="57999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b"/>
          <p:cNvSpPr/>
          <p:nvPr/>
        </p:nvSpPr>
        <p:spPr>
          <a:xfrm>
            <a:off x="7920000" y="0"/>
            <a:ext cx="4273200" cy="1152000"/>
          </a:xfrm>
          <a:prstGeom prst="rect">
            <a:avLst/>
          </a:prstGeom>
          <a:solidFill>
            <a:srgbClr val="1A6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c"/>
          <p:cNvSpPr/>
          <p:nvPr/>
        </p:nvSpPr>
        <p:spPr>
          <a:xfrm>
            <a:off x="7920000" y="1152000"/>
            <a:ext cx="4273200" cy="1152000"/>
          </a:xfrm>
          <a:prstGeom prst="rect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k-d"/>
          <p:cNvSpPr/>
          <p:nvPr/>
        </p:nvSpPr>
        <p:spPr>
          <a:xfrm>
            <a:off x="7920000" y="2304000"/>
            <a:ext cx="4273200" cy="1152000"/>
          </a:xfrm>
          <a:prstGeom prst="rect">
            <a:avLst/>
          </a:prstGeom>
          <a:solidFill>
            <a:srgbClr val="00C9D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k-e"/>
          <p:cNvSpPr/>
          <p:nvPr/>
        </p:nvSpPr>
        <p:spPr>
          <a:xfrm>
            <a:off x="7920000" y="3456000"/>
            <a:ext cx="4273200" cy="1152000"/>
          </a:xfrm>
          <a:prstGeom prst="rect">
            <a:avLst/>
          </a:prstGeom>
          <a:solidFill>
            <a:srgbClr val="7EC8A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k-f"/>
          <p:cNvSpPr/>
          <p:nvPr/>
        </p:nvSpPr>
        <p:spPr>
          <a:xfrm>
            <a:off x="7920000" y="4608000"/>
            <a:ext cx="4273200" cy="2250000"/>
          </a:xfrm>
          <a:prstGeom prst="rect">
            <a:avLst/>
          </a:prstGeom>
          <a:solidFill>
            <a:srgbClr val="E8749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78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tag"/>
          <p:cNvSpPr/>
          <p:nvPr/>
        </p:nvSpPr>
        <p:spPr>
          <a:xfrm>
            <a:off x="5472000" y="1800000"/>
            <a:ext cx="14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>
                <a:solidFill>
                  <a:srgbClr val="4A5A7A"/>
                </a:solidFill>
                <a:latin typeface="Arial"/>
                <a:ea typeface="Arial"/>
              </a:rPr>
              <a:t/>
            </a:r>
          </a:p>
        </p:txBody>
      </p:sp>
      <p:sp>
        <p:nvSpPr>
          <p:cNvPr id="11" name="!!h-title"/>
          <p:cNvSpPr/>
          <p:nvPr/>
        </p:nvSpPr>
        <p:spPr>
          <a:xfrm>
            <a:off x="5472000" y="2160000"/>
            <a:ext cx="5580000" cy="25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600" b="1">
                <a:solidFill>
                  <a:srgbClr val="F5F0E8"/>
                </a:solidFill>
                <a:latin typeface="Arial"/>
                <a:ea typeface="Arial"/>
              </a:rPr>
              <a:t>Clarity beats complexity.</a:t>
            </a:r>
          </a:p>
        </p:txBody>
      </p:sp>
      <p:sp>
        <p:nvSpPr>
          <p:cNvPr id="12" name="!!h-sub"/>
          <p:cNvSpPr/>
          <p:nvPr/>
        </p:nvSpPr>
        <p:spPr>
          <a:xfrm>
            <a:off x="5472000" y="4860000"/>
            <a:ext cx="5400000" cy="9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7890B8"/>
                </a:solidFill>
                <a:latin typeface="Arial"/>
                <a:ea typeface="Arial"/>
              </a:rPr>
              <a:t>The strongest brands say less — and mean more.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162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photo-2"/>
          <p:cNvSpPr/>
          <p:nvPr/>
        </p:nvSpPr>
        <p:spPr>
          <a:xfrm>
            <a:off x="576000" y="864000"/>
            <a:ext cx="3456000" cy="28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photo-1"/>
          <p:cNvSpPr/>
          <p:nvPr/>
        </p:nvSpPr>
        <p:spPr>
          <a:xfrm>
            <a:off x="4464000" y="864000"/>
            <a:ext cx="3456000" cy="28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e"/>
          <p:cNvSpPr/>
          <p:nvPr/>
        </p:nvSpPr>
        <p:spPr>
          <a:xfrm>
            <a:off x="8208000" y="864000"/>
            <a:ext cx="3456000" cy="28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k-b"/>
          <p:cNvSpPr/>
          <p:nvPr/>
        </p:nvSpPr>
        <p:spPr>
          <a:xfrm>
            <a:off x="576000" y="864000"/>
            <a:ext cx="3456000" cy="2880000"/>
          </a:xfrm>
          <a:prstGeom prst="rect">
            <a:avLst/>
          </a:prstGeom>
          <a:solidFill>
            <a:srgbClr val="162040">
              <a:alpha val="42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k-c"/>
          <p:cNvSpPr/>
          <p:nvPr/>
        </p:nvSpPr>
        <p:spPr>
          <a:xfrm>
            <a:off x="4464000" y="864000"/>
            <a:ext cx="3456000" cy="2880000"/>
          </a:xfrm>
          <a:prstGeom prst="rect">
            <a:avLst/>
          </a:prstGeom>
          <a:solidFill>
            <a:srgbClr val="F4713A">
              <a:alpha val="3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k-d"/>
          <p:cNvSpPr/>
          <p:nvPr/>
        </p:nvSpPr>
        <p:spPr>
          <a:xfrm>
            <a:off x="8208000" y="864000"/>
            <a:ext cx="3456000" cy="2880000"/>
          </a:xfrm>
          <a:prstGeom prst="rect">
            <a:avLst/>
          </a:prstGeom>
          <a:solidFill>
            <a:srgbClr val="00C9D4">
              <a:alpha val="38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blk-f"/>
          <p:cNvSpPr/>
          <p:nvPr/>
        </p:nvSpPr>
        <p:spPr>
          <a:xfrm>
            <a:off x="11880000" y="6678000"/>
            <a:ext cx="180000" cy="180000"/>
          </a:xfrm>
          <a:prstGeom prst="rect">
            <a:avLst/>
          </a:prstGeom>
          <a:solidFill>
            <a:srgbClr val="E8749A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tag"/>
          <p:cNvSpPr/>
          <p:nvPr/>
        </p:nvSpPr>
        <p:spPr>
          <a:xfrm>
            <a:off x="576000" y="180000"/>
            <a:ext cx="7200000" cy="504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F5F0E8"/>
                </a:solidFill>
                <a:latin typeface="Arial"/>
                <a:ea typeface="Arial"/>
              </a:rPr>
              <a:t>THREE PILLARS</a:t>
            </a:r>
          </a:p>
        </p:txBody>
      </p:sp>
      <p:sp>
        <p:nvSpPr>
          <p:cNvPr id="11" name="!!h-title"/>
          <p:cNvSpPr/>
          <p:nvPr/>
        </p:nvSpPr>
        <p:spPr>
          <a:xfrm>
            <a:off x="576000" y="3960000"/>
            <a:ext cx="11160000" cy="43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 b="1">
                <a:solidFill>
                  <a:srgbClr val="162040"/>
                </a:solidFill>
                <a:latin typeface="Arial"/>
                <a:ea typeface="Arial"/>
              </a:rPr>
              <a:t>Identity                    Voice                    Experience</a:t>
            </a:r>
          </a:p>
        </p:txBody>
      </p:sp>
      <p:sp>
        <p:nvSpPr>
          <p:cNvPr id="12" name="!!h-sub"/>
          <p:cNvSpPr/>
          <p:nvPr/>
        </p:nvSpPr>
        <p:spPr>
          <a:xfrm>
            <a:off x="576000" y="4464000"/>
            <a:ext cx="3456000" cy="12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B6355"/>
                </a:solidFill>
                <a:latin typeface="Arial"/>
                <a:ea typeface="Arial"/>
              </a:rPr>
              <a:t>A system that speaks before words do.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F5F0E8"/>
        </a:solidFill>
      </p:bgPr>
    </p:bg>
    <p:spTree>
      <p:nvGrpSpPr>
        <p:cNvPr id="1" name=""/>
        <p:cNvGrpSpPr/>
        <p:nvPr/>
      </p:nvGrpSpPr>
      <p:grpSpPr/>
      <p:sp>
        <p:nvSpPr>
          <p:cNvPr id="2" name="!!blk-a"/>
          <p:cNvSpPr/>
          <p:nvPr/>
        </p:nvSpPr>
        <p:spPr>
          <a:xfrm>
            <a:off x="0" y="0"/>
            <a:ext cx="12193200" cy="720000"/>
          </a:xfrm>
          <a:prstGeom prst="rect">
            <a:avLst/>
          </a:prstGeom>
          <a:solidFill>
            <a:srgbClr val="162040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photo-1"/>
          <p:cNvSpPr/>
          <p:nvPr/>
        </p:nvSpPr>
        <p:spPr>
          <a:xfrm>
            <a:off x="0" y="720000"/>
            <a:ext cx="6840000" cy="613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b"/>
          <p:cNvSpPr/>
          <p:nvPr/>
        </p:nvSpPr>
        <p:spPr>
          <a:xfrm>
            <a:off x="0" y="720000"/>
            <a:ext cx="6840000" cy="6138000"/>
          </a:xfrm>
          <a:solidFill>
            <a:srgbClr val="162040">
              <a:alpha val="78000"/>
            </a:srgbClr>
          </a:solidFill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52"/>
                </a:moveTo>
                <a:cubicBezTo>
                  <a:pt x="22" y="36"/>
                  <a:pt x="44" y="66"/>
                  <a:pt x="64" y="46"/>
                </a:cubicBezTo>
                <a:cubicBezTo>
                  <a:pt x="80" y="30"/>
                  <a:pt x="92" y="56"/>
                  <a:pt x="100" y="42"/>
                </a:cubicBezTo>
                <a:lnTo>
                  <a:pt x="100" y="100"/>
                </a:lnTo>
                <a:lnTo>
                  <a:pt x="0" y="10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c"/>
          <p:cNvSpPr/>
          <p:nvPr/>
        </p:nvSpPr>
        <p:spPr>
          <a:xfrm>
            <a:off x="0" y="720000"/>
            <a:ext cx="6840000" cy="6138000"/>
          </a:xfrm>
          <a:solidFill>
            <a:srgbClr val="1A6BFF">
              <a:alpha val="72000"/>
            </a:srgbClr>
          </a:solidFill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63"/>
                </a:moveTo>
                <a:cubicBezTo>
                  <a:pt x="22" y="48"/>
                  <a:pt x="44" y="76"/>
                  <a:pt x="65" y="57"/>
                </a:cubicBezTo>
                <a:cubicBezTo>
                  <a:pt x="82" y="44"/>
                  <a:pt x="93" y="65"/>
                  <a:pt x="100" y="53"/>
                </a:cubicBezTo>
                <a:lnTo>
                  <a:pt x="100" y="100"/>
                </a:lnTo>
                <a:lnTo>
                  <a:pt x="0" y="10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k-d"/>
          <p:cNvSpPr/>
          <p:nvPr/>
        </p:nvSpPr>
        <p:spPr>
          <a:xfrm>
            <a:off x="0" y="720000"/>
            <a:ext cx="6840000" cy="6138000"/>
          </a:xfrm>
          <a:solidFill>
            <a:srgbClr val="00C9D4">
              <a:alpha val="68000"/>
            </a:srgbClr>
          </a:solidFill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73"/>
                </a:moveTo>
                <a:cubicBezTo>
                  <a:pt x="22" y="60"/>
                  <a:pt x="44" y="84"/>
                  <a:pt x="65" y="66"/>
                </a:cubicBezTo>
                <a:cubicBezTo>
                  <a:pt x="83" y="55"/>
                  <a:pt x="93" y="74"/>
                  <a:pt x="100" y="63"/>
                </a:cubicBezTo>
                <a:lnTo>
                  <a:pt x="100" y="100"/>
                </a:lnTo>
                <a:lnTo>
                  <a:pt x="0" y="10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k-e"/>
          <p:cNvSpPr/>
          <p:nvPr/>
        </p:nvSpPr>
        <p:spPr>
          <a:xfrm>
            <a:off x="0" y="720000"/>
            <a:ext cx="6840000" cy="6138000"/>
          </a:xfrm>
          <a:solidFill>
            <a:srgbClr val="7EC8A0">
              <a:alpha val="65000"/>
            </a:srgbClr>
          </a:solidFill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82"/>
                </a:moveTo>
                <a:cubicBezTo>
                  <a:pt x="24" y="70"/>
                  <a:pt x="46" y="90"/>
                  <a:pt x="66" y="75"/>
                </a:cubicBezTo>
                <a:cubicBezTo>
                  <a:pt x="83" y="65"/>
                  <a:pt x="93" y="82"/>
                  <a:pt x="100" y="72"/>
                </a:cubicBezTo>
                <a:lnTo>
                  <a:pt x="100" y="100"/>
                </a:lnTo>
                <a:lnTo>
                  <a:pt x="0" y="10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k-f"/>
          <p:cNvSpPr/>
          <p:nvPr/>
        </p:nvSpPr>
        <p:spPr>
          <a:xfrm>
            <a:off x="0" y="720000"/>
            <a:ext cx="6840000" cy="6138000"/>
          </a:xfrm>
          <a:solidFill>
            <a:srgbClr val="F4713A">
              <a:alpha val="68000"/>
            </a:srgbClr>
          </a:solidFill>
          <a:custGeom>
            <a:avLst/>
            <a:gdLst/>
            <a:ahLst/>
            <a:cxnLst/>
            <a:rect l="0" t="0" r="r" b="b"/>
            <a:pathLst>
              <a:path w="100" h="100">
                <a:moveTo>
                  <a:pt x="0" y="90"/>
                </a:moveTo>
                <a:cubicBezTo>
                  <a:pt x="24" y="80"/>
                  <a:pt x="46" y="96"/>
                  <a:pt x="66" y="84"/>
                </a:cubicBezTo>
                <a:cubicBezTo>
                  <a:pt x="83" y="76"/>
                  <a:pt x="93" y="90"/>
                  <a:pt x="100" y="82"/>
                </a:cubicBezTo>
                <a:lnTo>
                  <a:pt x="100" y="100"/>
                </a:lnTo>
                <a:lnTo>
                  <a:pt x="0" y="100"/>
                </a:lnTo>
                <a:close/>
              </a:path>
            </a:pathLst>
          </a:cu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2"/>
          <p:cNvSpPr/>
          <p:nvPr/>
        </p:nvSpPr>
        <p:spPr>
          <a:xfrm>
            <a:off x="11880000" y="6678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tag"/>
          <p:cNvSpPr/>
          <p:nvPr/>
        </p:nvSpPr>
        <p:spPr>
          <a:xfrm>
            <a:off x="7344000" y="144000"/>
            <a:ext cx="4320000" cy="288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300" b="1">
                <a:solidFill>
                  <a:srgbClr val="9A9080"/>
                </a:solidFill>
                <a:latin typeface="Arial"/>
                <a:ea typeface="Arial"/>
              </a:rPr>
              <a:t>THE NUMBERS</a:t>
            </a:r>
          </a:p>
        </p:txBody>
      </p:sp>
      <p:sp>
        <p:nvSpPr>
          <p:cNvPr id="11" name="!!h-title"/>
          <p:cNvSpPr/>
          <p:nvPr/>
        </p:nvSpPr>
        <p:spPr>
          <a:xfrm>
            <a:off x="7344000" y="900000"/>
            <a:ext cx="4320000" cy="180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6400" b="1">
                <a:solidFill>
                  <a:srgbClr val="162040"/>
                </a:solidFill>
                <a:latin typeface="Arial"/>
                <a:ea typeface="Arial"/>
              </a:rPr>
              <a:t>+47%</a:t>
            </a:r>
          </a:p>
        </p:txBody>
      </p:sp>
      <p:sp>
        <p:nvSpPr>
          <p:cNvPr id="12" name="!!h-sub"/>
          <p:cNvSpPr/>
          <p:nvPr/>
        </p:nvSpPr>
        <p:spPr>
          <a:xfrm>
            <a:off x="7344000" y="2880000"/>
            <a:ext cx="4320000" cy="288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400">
                <a:solidFill>
                  <a:srgbClr val="6B6355"/>
                </a:solidFill>
                <a:latin typeface="Arial"/>
                <a:ea typeface="Arial"/>
              </a:rPr>
              <a:t>Brand recognition lift</a:t>
            </a:r>
          </a:p>
          <a:p>
            <a:r>
              <a:rPr lang="en-US" sz="1400">
                <a:solidFill>
                  <a:srgbClr val="6B6355"/>
                </a:solidFill>
                <a:latin typeface="Arial"/>
                <a:ea typeface="Arial"/>
              </a:rPr>
              <a:t/>
            </a:r>
          </a:p>
          <a:p>
            <a:r>
              <a:rPr lang="en-US" sz="1400">
                <a:solidFill>
                  <a:srgbClr val="6B6355"/>
                </a:solidFill>
                <a:latin typeface="Arial"/>
                <a:ea typeface="Arial"/>
              </a:rPr>
              <a:t>2.8x  Engagement rate</a:t>
            </a:r>
          </a:p>
          <a:p>
            <a:r>
              <a:rPr lang="en-US" sz="1400">
                <a:solidFill>
                  <a:srgbClr val="6B6355"/>
                </a:solidFill>
                <a:latin typeface="Arial"/>
                <a:ea typeface="Arial"/>
              </a:rPr>
              <a:t/>
            </a:r>
          </a:p>
          <a:p>
            <a:r>
              <a:rPr lang="en-US" sz="1400">
                <a:solidFill>
                  <a:srgbClr val="6B6355"/>
                </a:solidFill>
                <a:latin typeface="Arial"/>
                <a:ea typeface="Arial"/>
              </a:rPr>
              <a:t>89    Net Promoter Score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p159="http://schemas.microsoft.com/office/powerpoint/2015/09/main" xmlns:mc="http://schemas.openxmlformats.org/markup-compatibility/2006" mc:Ignorable="p159">
  <p:cSld>
    <p:bg>
      <p:bgPr>
        <a:solidFill xmlns:a="http://schemas.openxmlformats.org/drawingml/2006/main">
          <a:srgbClr val="162040"/>
        </a:solidFill>
      </p:bgPr>
    </p:bg>
    <p:spTree>
      <p:nvGrpSpPr>
        <p:cNvPr id="1" name=""/>
        <p:cNvGrpSpPr/>
        <p:nvPr/>
      </p:nvGrpSpPr>
      <p:grpSpPr/>
      <p:sp>
        <p:nvSpPr>
          <p:cNvPr id="2" name="!!photo-2"/>
          <p:cNvSpPr/>
          <p:nvPr/>
        </p:nvSpPr>
        <p:spPr>
          <a:xfrm>
            <a:off x="7560000" y="0"/>
            <a:ext cx="3240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3" name="!!blk-a"/>
          <p:cNvSpPr/>
          <p:nvPr/>
        </p:nvSpPr>
        <p:spPr>
          <a:xfrm>
            <a:off x="7560000" y="0"/>
            <a:ext cx="1440000" cy="1980000"/>
          </a:xfrm>
          <a:prstGeom prst="rect">
            <a:avLst/>
          </a:prstGeom>
          <a:solidFill>
            <a:srgbClr val="162040">
              <a:alpha val="75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4" name="!!blk-b"/>
          <p:cNvSpPr/>
          <p:nvPr/>
        </p:nvSpPr>
        <p:spPr>
          <a:xfrm>
            <a:off x="7560000" y="1980000"/>
            <a:ext cx="864000" cy="1620000"/>
          </a:xfrm>
          <a:prstGeom prst="rect">
            <a:avLst/>
          </a:prstGeom>
          <a:solidFill>
            <a:srgbClr val="1A6BFF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5" name="!!blk-c"/>
          <p:cNvSpPr/>
          <p:nvPr/>
        </p:nvSpPr>
        <p:spPr>
          <a:xfrm>
            <a:off x="10620000" y="4860000"/>
            <a:ext cx="1573200" cy="1998000"/>
          </a:xfrm>
          <a:prstGeom prst="rect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6" name="!!blk-d"/>
          <p:cNvSpPr/>
          <p:nvPr/>
        </p:nvSpPr>
        <p:spPr>
          <a:xfrm>
            <a:off x="10620000" y="0"/>
            <a:ext cx="1573200" cy="1800000"/>
          </a:xfrm>
          <a:prstGeom prst="rect">
            <a:avLst/>
          </a:prstGeom>
          <a:solidFill>
            <a:srgbClr val="00C9D4"/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7" name="!!blk-e"/>
          <p:cNvSpPr/>
          <p:nvPr/>
        </p:nvSpPr>
        <p:spPr>
          <a:xfrm>
            <a:off x="11880000" y="6678000"/>
            <a:ext cx="180000" cy="180000"/>
          </a:xfrm>
          <a:prstGeom prst="rect">
            <a:avLst/>
          </a:prstGeom>
          <a:solidFill>
            <a:srgbClr val="7EC8A0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8" name="!!blk-f"/>
          <p:cNvSpPr/>
          <p:nvPr/>
        </p:nvSpPr>
        <p:spPr>
          <a:xfrm>
            <a:off x="11880000" y="6678000"/>
            <a:ext cx="180000" cy="180000"/>
          </a:xfrm>
          <a:prstGeom prst="rect">
            <a:avLst/>
          </a:prstGeom>
          <a:solidFill>
            <a:srgbClr val="E8749A">
              <a:alpha val="1000"/>
            </a:srgbClr>
          </a:solidFill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9" name="!!photo-1"/>
          <p:cNvSpPr/>
          <p:nvPr/>
        </p:nvSpPr>
        <p:spPr>
          <a:xfrm>
            <a:off x="11880000" y="6678000"/>
            <a:ext cx="180000" cy="180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/>
            </a:r>
          </a:p>
        </p:txBody>
      </p:sp>
      <p:sp>
        <p:nvSpPr>
          <p:cNvPr id="10" name="!!tag"/>
          <p:cNvSpPr/>
          <p:nvPr/>
        </p:nvSpPr>
        <p:spPr>
          <a:xfrm>
            <a:off x="576000" y="1980000"/>
            <a:ext cx="5040000" cy="252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100" b="1">
                <a:solidFill>
                  <a:srgbClr val="4A5A7A"/>
                </a:solidFill>
                <a:latin typeface="Arial"/>
                <a:ea typeface="Arial"/>
              </a:rPr>
              <a:t>BRAND STRATEGY</a:t>
            </a:r>
          </a:p>
        </p:txBody>
      </p:sp>
      <p:sp>
        <p:nvSpPr>
          <p:cNvPr id="11" name="!!h-title"/>
          <p:cNvSpPr/>
          <p:nvPr/>
        </p:nvSpPr>
        <p:spPr>
          <a:xfrm>
            <a:off x="576000" y="2304000"/>
            <a:ext cx="6120000" cy="216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600" b="1">
                <a:solidFill>
                  <a:srgbClr val="F5F0E8"/>
                </a:solidFill>
                <a:latin typeface="Arial"/>
                <a:ea typeface="Arial"/>
              </a:rPr>
              <a:t>Start the transformation.</a:t>
            </a:r>
          </a:p>
        </p:txBody>
      </p:sp>
      <p:sp>
        <p:nvSpPr>
          <p:cNvPr id="12" name="!!h-sub"/>
          <p:cNvSpPr/>
          <p:nvPr/>
        </p:nvSpPr>
        <p:spPr>
          <a:xfrm>
            <a:off x="576000" y="4752000"/>
            <a:ext cx="5760000" cy="720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1600">
                <a:solidFill>
                  <a:srgbClr val="7890B8"/>
                </a:solidFill>
                <a:latin typeface="Arial"/>
                <a:ea typeface="Arial"/>
              </a:rPr>
              <a:t>Let's build something that lasts.</a:t>
            </a:r>
          </a:p>
        </p:txBody>
      </p:sp>
      <p:sp>
        <p:nvSpPr>
          <p:cNvPr id="13" name="!!cta"/>
          <p:cNvSpPr/>
          <p:nvPr/>
        </p:nvSpPr>
        <p:spPr>
          <a:xfrm>
            <a:off x="576000" y="5616000"/>
            <a:ext cx="3240000" cy="648000"/>
          </a:xfrm>
          <a:prstGeom prst="rect">
            <a:avLst/>
          </a:prstGeom>
          <a:solidFill>
            <a:srgbClr val="F4713A"/>
          </a:solidFill>
        </p:spPr>
        <p:txBody>
          <a:bodyPr/>
          <a:lstStyle/>
          <a:p>
            <a:r>
              <a:rPr lang="en-US" sz="1500" b="1">
                <a:solidFill>
                  <a:srgbClr val="F5F0E8"/>
                </a:solidFill>
                <a:latin typeface="Arial"/>
                <a:ea typeface="Arial"/>
              </a:rPr>
              <a:t>Get in touch  -&gt;</a:t>
            </a:r>
          </a:p>
        </p:txBody>
      </p:sp>
    </p:spTree>
  </p:cSld>
  <mc:AlternateContent>
    <mc:Choice Requires="p159">
      <p:transition xmlns:p159="http://schemas.microsoft.com/office/powerpoint/2015/09/main">
        <p159:morph option="byObject"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