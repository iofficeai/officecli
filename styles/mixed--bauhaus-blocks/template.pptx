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70ea17abfb541d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1d48932ae974864"/>
    <p:sldId id="257" r:id="R77013f1ffaf14dfb"/>
    <p:sldId id="258" r:id="Ra1cb58a656f94233"/>
    <p:sldId id="259" r:id="Rbb8ec9c5d5d04258"/>
    <p:sldId id="260" r:id="R3224ebcd947b4047"/>
    <p:sldId id="261" r:id="R89e389dfd2404071"/>
    <p:sldId id="262" r:id="R77a57453ee6446e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1d48932ae974864" /><Relationship Type="http://schemas.openxmlformats.org/officeDocument/2006/relationships/slide" Target="/ppt/slides/slide2.xml" Id="R77013f1ffaf14dfb" /><Relationship Type="http://schemas.openxmlformats.org/officeDocument/2006/relationships/slide" Target="/ppt/slides/slide3.xml" Id="Ra1cb58a656f94233" /><Relationship Type="http://schemas.openxmlformats.org/officeDocument/2006/relationships/slide" Target="/ppt/slides/slide4.xml" Id="Rbb8ec9c5d5d04258" /><Relationship Type="http://schemas.openxmlformats.org/officeDocument/2006/relationships/slide" Target="/ppt/slides/slide5.xml" Id="R3224ebcd947b4047" /><Relationship Type="http://schemas.openxmlformats.org/officeDocument/2006/relationships/slide" Target="/ppt/slides/slide6.xml" Id="R89e389dfd2404071" /><Relationship Type="http://schemas.openxmlformats.org/officeDocument/2006/relationships/slide" Target="/ppt/slides/slide7.xml" Id="R77a57453ee6446e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f6e5ec3a94c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20579ecf344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7f4466e7047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3036626cf458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2a3b16dc48148b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f6d96a9ba4b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0812d889c41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36dc24ca344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0228fddaa44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37cb7a58e40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5c0fff66448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ad62d2ec940da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4860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anel"/>
          <p:cNvSpPr/>
          <p:nvPr/>
        </p:nvSpPr>
        <p:spPr>
          <a:xfrm>
            <a:off x="4860000" y="900000"/>
            <a:ext cx="5353200" cy="5958000"/>
          </a:xfrm>
          <a:prstGeom prst="rect">
            <a:avLst/>
          </a:prstGeom>
          <a:solidFill>
            <a:srgbClr val="1D5C3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213200" y="900000"/>
            <a:ext cx="1980000" cy="28800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213200" y="3780000"/>
            <a:ext cx="1980000" cy="3078000"/>
          </a:xfrm>
          <a:prstGeom prst="rect">
            <a:avLst/>
          </a:prstGeom>
          <a:solidFill>
            <a:srgbClr val="E0682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4860000" y="0"/>
            <a:ext cx="7333200" cy="900000"/>
          </a:xfrm>
          <a:prstGeom prst="rect">
            <a:avLst/>
          </a:prstGeom>
          <a:solidFill>
            <a:srgbClr val="1E181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5400000" y="108000"/>
            <a:ext cx="180000" cy="684000"/>
          </a:xfrm>
          <a:prstGeom prst="rect">
            <a:avLst/>
          </a:prstGeom>
          <a:solidFill>
            <a:srgbClr val="F0EBE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760000" y="108000"/>
            <a:ext cx="180000" cy="6840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6120000" y="108000"/>
            <a:ext cx="180000" cy="684000"/>
          </a:xfrm>
          <a:prstGeom prst="rect">
            <a:avLst/>
          </a:prstGeom>
          <a:solidFill>
            <a:srgbClr val="F0EBE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6480000" y="108000"/>
            <a:ext cx="180000" cy="684000"/>
          </a:xfrm>
          <a:prstGeom prst="rect">
            <a:avLst/>
          </a:prstGeom>
          <a:solidFill>
            <a:srgbClr val="E0682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220000" y="1260000"/>
            <a:ext cx="1800000" cy="1800000"/>
          </a:xfrm>
          <a:prstGeom prst="ellipse">
            <a:avLst/>
          </a:prstGeom>
          <a:solidFill>
            <a:srgbClr val="F0EBE0">
              <a:alpha val="9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6192000" y="2088000"/>
            <a:ext cx="1800000" cy="1800000"/>
          </a:xfrm>
          <a:prstGeom prst="ellipse">
            <a:avLst/>
          </a:prstGeom>
          <a:solidFill>
            <a:srgbClr val="F0EBE0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164000" y="2916000"/>
            <a:ext cx="1800000" cy="1800000"/>
          </a:xfrm>
          <a:prstGeom prst="ellipse">
            <a:avLst/>
          </a:prstGeom>
          <a:solidFill>
            <a:srgbClr val="F0EBE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36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1E1818"/>
                </a:solidFill>
                <a:latin typeface="Segoe UI"/>
                <a:ea typeface="Segoe UI"/>
              </a:rPr>
              <a:t>STUDIO</a:t>
            </a:r>
          </a:p>
        </p:txBody>
      </p:sp>
      <p:sp>
        <p:nvSpPr>
          <p:cNvPr id="15" name="TextBox 15"/>
          <p:cNvSpPr/>
          <p:nvPr/>
        </p:nvSpPr>
        <p:spPr>
          <a:xfrm>
            <a:off x="720000" y="792000"/>
            <a:ext cx="1440000" cy="50400"/>
          </a:xfrm>
          <a:prstGeom prst="rect">
            <a:avLst/>
          </a:prstGeom>
          <a:solidFill>
            <a:srgbClr val="1D5C3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1008000"/>
            <a:ext cx="360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1E1818"/>
                </a:solidFill>
                <a:latin typeface="Segoe UI Black"/>
                <a:ea typeface="Segoe UI Black"/>
              </a:rPr>
              <a:t>Design That</a:t>
            </a:r>
          </a:p>
          <a:p>
            <a:r>
              <a:rPr lang="en-US" sz="4000" b="1">
                <a:solidFill>
                  <a:srgbClr val="1E1818"/>
                </a:solidFill>
                <a:latin typeface="Segoe UI Black"/>
                <a:ea typeface="Segoe UI Black"/>
              </a:rPr>
              <a:t>Moves You.</a:t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3420000"/>
            <a:ext cx="360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1E1818"/>
                </a:solidFill>
                <a:latin typeface="Segoe UI"/>
                <a:ea typeface="Segoe UI"/>
              </a:rPr>
              <a:t>We create visual systems that communicate,</a:t>
            </a:r>
          </a:p>
          <a:p>
            <a:r>
              <a:rPr lang="en-US" sz="1300">
                <a:solidFill>
                  <a:srgbClr val="1E1818"/>
                </a:solidFill>
                <a:latin typeface="Segoe UI"/>
                <a:ea typeface="Segoe UI"/>
              </a:rPr>
              <a:t>persuade, and endure — across every medium.</a:t>
            </a:r>
          </a:p>
        </p:txBody>
      </p:sp>
      <p:sp>
        <p:nvSpPr>
          <p:cNvPr id="18" name="TextBox 18"/>
          <p:cNvSpPr/>
          <p:nvPr/>
        </p:nvSpPr>
        <p:spPr>
          <a:xfrm>
            <a:off x="720000" y="5220000"/>
            <a:ext cx="1980000" cy="720000"/>
          </a:xfrm>
          <a:prstGeom prst="roundRect">
            <a:avLst/>
          </a:prstGeom>
          <a:solidFill>
            <a:srgbClr val="1D5C3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720000" y="5220000"/>
            <a:ext cx="1980000" cy="72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 Black"/>
                <a:ea typeface="Segoe UI Black"/>
              </a:rPr>
              <a:t>+4,800 Clients</a:t>
            </a:r>
          </a:p>
        </p:txBody>
      </p:sp>
      <p:sp>
        <p:nvSpPr>
          <p:cNvPr id="20" name="TextBox 20"/>
          <p:cNvSpPr/>
          <p:nvPr/>
        </p:nvSpPr>
        <p:spPr>
          <a:xfrm>
            <a:off x="2916000" y="5220000"/>
            <a:ext cx="1440000" cy="720000"/>
          </a:xfrm>
          <a:prstGeom prst="roundRect">
            <a:avLst/>
          </a:prstGeom>
          <a:solidFill>
            <a:srgbClr val="1E181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2916000" y="5220000"/>
            <a:ext cx="1440000" cy="72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>
                <a:solidFill>
                  <a:srgbClr val="F0EBE0"/>
                </a:solidFill>
                <a:latin typeface="Segoe UI"/>
                <a:ea typeface="Segoe UI"/>
              </a:rPr>
              <a:t>Est. 2009</a:t>
            </a:r>
          </a:p>
        </p:txBody>
      </p:sp>
      <p:sp>
        <p:nvSpPr>
          <p:cNvPr id="22" name="TextBox 22"/>
          <p:cNvSpPr/>
          <p:nvPr/>
        </p:nvSpPr>
        <p:spPr>
          <a:xfrm>
            <a:off x="720000" y="6408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888878"/>
                </a:solidFill>
                <a:latin typeface="Segoe UI"/>
                <a:ea typeface="Segoe UI"/>
              </a:rPr>
              <a:t>studio-bauhaus.com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E181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44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EBE0"/>
                </a:solidFill>
                <a:latin typeface="Segoe UI"/>
                <a:ea typeface="Segoe UI"/>
              </a:rPr>
              <a:t>STUDIO  ·  IMPACT 2024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432000"/>
            <a:ext cx="72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4C040"/>
                </a:solidFill>
                <a:latin typeface="Segoe UI Black"/>
                <a:ea typeface="Segoe UI Black"/>
              </a:rPr>
              <a:t>Our Numbers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368000"/>
            <a:ext cx="5040000" cy="2340000"/>
          </a:xfrm>
          <a:prstGeom prst="rect">
            <a:avLst/>
          </a:prstGeom>
          <a:solidFill>
            <a:srgbClr val="1D5C3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00000" y="1548000"/>
            <a:ext cx="3600000" cy="11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4C040"/>
                </a:solidFill>
                <a:latin typeface="Segoe UI Black"/>
                <a:ea typeface="Segoe UI Black"/>
              </a:rPr>
              <a:t>4,800+</a:t>
            </a:r>
          </a:p>
        </p:txBody>
      </p:sp>
      <p:sp>
        <p:nvSpPr>
          <p:cNvPr id="7" name="TextBox 7"/>
          <p:cNvSpPr/>
          <p:nvPr/>
        </p:nvSpPr>
        <p:spPr>
          <a:xfrm>
            <a:off x="900000" y="270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FFFFFF"/>
                </a:solidFill>
                <a:latin typeface="Segoe UI Black"/>
                <a:ea typeface="Segoe UI Black"/>
              </a:rPr>
              <a:t>CLIENTS SERVED</a:t>
            </a:r>
          </a:p>
        </p:txBody>
      </p:sp>
      <p:sp>
        <p:nvSpPr>
          <p:cNvPr id="8" name="TextBox 8"/>
          <p:cNvSpPr/>
          <p:nvPr/>
        </p:nvSpPr>
        <p:spPr>
          <a:xfrm>
            <a:off x="900000" y="3096000"/>
            <a:ext cx="39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38 countries across 6 continents since 2009.</a:t>
            </a:r>
          </a:p>
        </p:txBody>
      </p:sp>
      <p:sp>
        <p:nvSpPr>
          <p:cNvPr id="9" name="TextBox 9"/>
          <p:cNvSpPr/>
          <p:nvPr/>
        </p:nvSpPr>
        <p:spPr>
          <a:xfrm>
            <a:off x="6120000" y="1368000"/>
            <a:ext cx="5353200" cy="23400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6300000" y="1548000"/>
            <a:ext cx="3600000" cy="11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1E1818"/>
                </a:solidFill>
                <a:latin typeface="Segoe UI Black"/>
                <a:ea typeface="Segoe UI Black"/>
              </a:rPr>
              <a:t>98%</a:t>
            </a:r>
          </a:p>
        </p:txBody>
      </p:sp>
      <p:sp>
        <p:nvSpPr>
          <p:cNvPr id="11" name="TextBox 11"/>
          <p:cNvSpPr/>
          <p:nvPr/>
        </p:nvSpPr>
        <p:spPr>
          <a:xfrm>
            <a:off x="6300000" y="270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E1818"/>
                </a:solidFill>
                <a:latin typeface="Segoe UI Black"/>
                <a:ea typeface="Segoe UI Black"/>
              </a:rPr>
              <a:t>CLIENT RETENTION</a:t>
            </a:r>
          </a:p>
        </p:txBody>
      </p:sp>
      <p:sp>
        <p:nvSpPr>
          <p:cNvPr id="12" name="TextBox 12"/>
          <p:cNvSpPr/>
          <p:nvPr/>
        </p:nvSpPr>
        <p:spPr>
          <a:xfrm>
            <a:off x="6300000" y="3096000"/>
            <a:ext cx="39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E1818"/>
                </a:solidFill>
                <a:latin typeface="Segoe UI"/>
                <a:ea typeface="Segoe UI"/>
              </a:rPr>
              <a:t>Repeat engagements and referrals drive our growth.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4068000"/>
            <a:ext cx="5040000" cy="2340000"/>
          </a:xfrm>
          <a:prstGeom prst="rect">
            <a:avLst/>
          </a:prstGeom>
          <a:solidFill>
            <a:srgbClr val="E0682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900000" y="4248000"/>
            <a:ext cx="3600000" cy="11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340+</a:t>
            </a:r>
          </a:p>
        </p:txBody>
      </p:sp>
      <p:sp>
        <p:nvSpPr>
          <p:cNvPr id="15" name="TextBox 15"/>
          <p:cNvSpPr/>
          <p:nvPr/>
        </p:nvSpPr>
        <p:spPr>
          <a:xfrm>
            <a:off x="900000" y="540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FFFFFF"/>
                </a:solidFill>
                <a:latin typeface="Segoe UI Black"/>
                <a:ea typeface="Segoe UI Black"/>
              </a:rPr>
              <a:t>AWARDS WON</a:t>
            </a:r>
          </a:p>
        </p:txBody>
      </p:sp>
      <p:sp>
        <p:nvSpPr>
          <p:cNvPr id="16" name="TextBox 16"/>
          <p:cNvSpPr/>
          <p:nvPr/>
        </p:nvSpPr>
        <p:spPr>
          <a:xfrm>
            <a:off x="900000" y="5796000"/>
            <a:ext cx="39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International recognition in brand and motion design.</a:t>
            </a:r>
          </a:p>
        </p:txBody>
      </p:sp>
      <p:sp>
        <p:nvSpPr>
          <p:cNvPr id="17" name="TextBox 17"/>
          <p:cNvSpPr/>
          <p:nvPr/>
        </p:nvSpPr>
        <p:spPr>
          <a:xfrm>
            <a:off x="6120000" y="4068000"/>
            <a:ext cx="5353200" cy="2340000"/>
          </a:xfrm>
          <a:prstGeom prst="rect">
            <a:avLst/>
          </a:prstGeom>
          <a:solidFill>
            <a:srgbClr val="1B6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300000" y="4248000"/>
            <a:ext cx="3600000" cy="11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4C040"/>
                </a:solidFill>
                <a:latin typeface="Segoe UI Black"/>
                <a:ea typeface="Segoe UI Black"/>
              </a:rPr>
              <a:t>12×</a:t>
            </a:r>
          </a:p>
        </p:txBody>
      </p:sp>
      <p:sp>
        <p:nvSpPr>
          <p:cNvPr id="19" name="TextBox 19"/>
          <p:cNvSpPr/>
          <p:nvPr/>
        </p:nvSpPr>
        <p:spPr>
          <a:xfrm>
            <a:off x="6300000" y="540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FFFFFF"/>
                </a:solidFill>
                <a:latin typeface="Segoe UI Black"/>
                <a:ea typeface="Segoe UI Black"/>
              </a:rPr>
              <a:t>YOY GROWTH</a:t>
            </a:r>
          </a:p>
        </p:txBody>
      </p:sp>
      <p:sp>
        <p:nvSpPr>
          <p:cNvPr id="20" name="TextBox 20"/>
          <p:cNvSpPr/>
          <p:nvPr/>
        </p:nvSpPr>
        <p:spPr>
          <a:xfrm>
            <a:off x="6300000" y="5796000"/>
            <a:ext cx="39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Revenue grown consistently for 12 consecutive years.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E1818"/>
        </a:solidFill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4500000" cy="6858000"/>
          </a:xfrm>
          <a:prstGeom prst="rect">
            <a:avLst/>
          </a:prstGeom>
          <a:solidFill>
            <a:srgbClr val="1D5C3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3960000"/>
            <a:ext cx="3600000" cy="3600000"/>
          </a:xfrm>
          <a:prstGeom prst="ellipse">
            <a:avLst/>
          </a:prstGeom>
          <a:solidFill>
            <a:srgbClr val="F4C040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432000" y="54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4C040"/>
                </a:solidFill>
                <a:latin typeface="Segoe UI"/>
                <a:ea typeface="Segoe UI"/>
              </a:rPr>
              <a:t>CAPABILITIES</a:t>
            </a:r>
          </a:p>
        </p:txBody>
      </p:sp>
      <p:sp>
        <p:nvSpPr>
          <p:cNvPr id="5" name="TextBox 5"/>
          <p:cNvSpPr/>
          <p:nvPr/>
        </p:nvSpPr>
        <p:spPr>
          <a:xfrm>
            <a:off x="432000" y="1008000"/>
            <a:ext cx="1440000" cy="504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432000" y="1188000"/>
            <a:ext cx="360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What We</a:t>
            </a:r>
          </a:p>
          <a:p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Build.</a:t>
            </a:r>
          </a:p>
        </p:txBody>
      </p:sp>
      <p:sp>
        <p:nvSpPr>
          <p:cNvPr id="7" name="TextBox 7"/>
          <p:cNvSpPr/>
          <p:nvPr/>
        </p:nvSpPr>
        <p:spPr>
          <a:xfrm>
            <a:off x="432000" y="5040000"/>
            <a:ext cx="36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>Full-spectrum design from strategy to production.</a:t>
            </a:r>
          </a:p>
        </p:txBody>
      </p:sp>
      <p:sp>
        <p:nvSpPr>
          <p:cNvPr id="8" name="TextBox 8"/>
          <p:cNvSpPr/>
          <p:nvPr/>
        </p:nvSpPr>
        <p:spPr>
          <a:xfrm>
            <a:off x="4860000" y="432000"/>
            <a:ext cx="648000" cy="648000"/>
          </a:xfrm>
          <a:prstGeom prst="ellipse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4860000" y="432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1E1818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10" name="TextBox 10"/>
          <p:cNvSpPr/>
          <p:nvPr/>
        </p:nvSpPr>
        <p:spPr>
          <a:xfrm>
            <a:off x="5688000" y="432000"/>
            <a:ext cx="57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 Black"/>
                <a:ea typeface="Segoe UI Black"/>
              </a:rPr>
              <a:t>Brand Identity</a:t>
            </a:r>
          </a:p>
        </p:txBody>
      </p:sp>
      <p:sp>
        <p:nvSpPr>
          <p:cNvPr id="11" name="TextBox 11"/>
          <p:cNvSpPr/>
          <p:nvPr/>
        </p:nvSpPr>
        <p:spPr>
          <a:xfrm>
            <a:off x="5688000" y="864000"/>
            <a:ext cx="612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Visual systems, logos, guidelines and brand voice for market leaders.</a:t>
            </a:r>
          </a:p>
        </p:txBody>
      </p:sp>
      <p:sp>
        <p:nvSpPr>
          <p:cNvPr id="12" name="TextBox 12"/>
          <p:cNvSpPr/>
          <p:nvPr/>
        </p:nvSpPr>
        <p:spPr>
          <a:xfrm>
            <a:off x="4860000" y="1584000"/>
            <a:ext cx="7020000" cy="18000"/>
          </a:xfrm>
          <a:prstGeom prst="rect">
            <a:avLst/>
          </a:prstGeom>
          <a:solidFill>
            <a:srgbClr val="F0EBE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4860000" y="1980000"/>
            <a:ext cx="648000" cy="648000"/>
          </a:xfrm>
          <a:prstGeom prst="ellipse">
            <a:avLst/>
          </a:prstGeom>
          <a:solidFill>
            <a:srgbClr val="E0682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4860000" y="1980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1E1818"/>
                </a:solidFill>
                <a:latin typeface="Segoe UI Black"/>
                <a:ea typeface="Segoe UI Black"/>
              </a:rPr>
              <a:t>02</a:t>
            </a:r>
          </a:p>
        </p:txBody>
      </p:sp>
      <p:sp>
        <p:nvSpPr>
          <p:cNvPr id="15" name="TextBox 15"/>
          <p:cNvSpPr/>
          <p:nvPr/>
        </p:nvSpPr>
        <p:spPr>
          <a:xfrm>
            <a:off x="5688000" y="1980000"/>
            <a:ext cx="57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 Black"/>
                <a:ea typeface="Segoe UI Black"/>
              </a:rPr>
              <a:t>Motion &amp; Campaign</a:t>
            </a:r>
          </a:p>
        </p:txBody>
      </p:sp>
      <p:sp>
        <p:nvSpPr>
          <p:cNvPr id="16" name="TextBox 16"/>
          <p:cNvSpPr/>
          <p:nvPr/>
        </p:nvSpPr>
        <p:spPr>
          <a:xfrm>
            <a:off x="5688000" y="2412000"/>
            <a:ext cx="612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Film, animation and social content that moves audiences to act.</a:t>
            </a:r>
          </a:p>
        </p:txBody>
      </p:sp>
      <p:sp>
        <p:nvSpPr>
          <p:cNvPr id="17" name="TextBox 17"/>
          <p:cNvSpPr/>
          <p:nvPr/>
        </p:nvSpPr>
        <p:spPr>
          <a:xfrm>
            <a:off x="4860000" y="3132000"/>
            <a:ext cx="7020000" cy="18000"/>
          </a:xfrm>
          <a:prstGeom prst="rect">
            <a:avLst/>
          </a:prstGeom>
          <a:solidFill>
            <a:srgbClr val="F0EBE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4860000" y="3528000"/>
            <a:ext cx="648000" cy="648000"/>
          </a:xfrm>
          <a:prstGeom prst="ellipse">
            <a:avLst/>
          </a:prstGeom>
          <a:solidFill>
            <a:srgbClr val="1B6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4860000" y="3528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1E1818"/>
                </a:solidFill>
                <a:latin typeface="Segoe UI Black"/>
                <a:ea typeface="Segoe UI Black"/>
              </a:rPr>
              <a:t>03</a:t>
            </a:r>
          </a:p>
        </p:txBody>
      </p:sp>
      <p:sp>
        <p:nvSpPr>
          <p:cNvPr id="20" name="TextBox 20"/>
          <p:cNvSpPr/>
          <p:nvPr/>
        </p:nvSpPr>
        <p:spPr>
          <a:xfrm>
            <a:off x="5688000" y="3528000"/>
            <a:ext cx="57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 Black"/>
                <a:ea typeface="Segoe UI Black"/>
              </a:rPr>
              <a:t>Product Design</a:t>
            </a:r>
          </a:p>
        </p:txBody>
      </p:sp>
      <p:sp>
        <p:nvSpPr>
          <p:cNvPr id="21" name="TextBox 21"/>
          <p:cNvSpPr/>
          <p:nvPr/>
        </p:nvSpPr>
        <p:spPr>
          <a:xfrm>
            <a:off x="5688000" y="3960000"/>
            <a:ext cx="612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End-to-end UX/UI for digital products across web and mobile.</a:t>
            </a:r>
          </a:p>
        </p:txBody>
      </p:sp>
      <p:sp>
        <p:nvSpPr>
          <p:cNvPr id="22" name="TextBox 22"/>
          <p:cNvSpPr/>
          <p:nvPr/>
        </p:nvSpPr>
        <p:spPr>
          <a:xfrm>
            <a:off x="4860000" y="4680000"/>
            <a:ext cx="7020000" cy="18000"/>
          </a:xfrm>
          <a:prstGeom prst="rect">
            <a:avLst/>
          </a:prstGeom>
          <a:solidFill>
            <a:srgbClr val="F0EBE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4860000" y="5076000"/>
            <a:ext cx="648000" cy="648000"/>
          </a:xfrm>
          <a:prstGeom prst="ellipse">
            <a:avLst/>
          </a:prstGeom>
          <a:solidFill>
            <a:srgbClr val="F0EBE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4860000" y="5076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1E1818"/>
                </a:solidFill>
                <a:latin typeface="Segoe UI Black"/>
                <a:ea typeface="Segoe UI Black"/>
              </a:rPr>
              <a:t>04</a:t>
            </a:r>
          </a:p>
        </p:txBody>
      </p:sp>
      <p:sp>
        <p:nvSpPr>
          <p:cNvPr id="25" name="TextBox 25"/>
          <p:cNvSpPr/>
          <p:nvPr/>
        </p:nvSpPr>
        <p:spPr>
          <a:xfrm>
            <a:off x="5688000" y="5076000"/>
            <a:ext cx="57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 Black"/>
                <a:ea typeface="Segoe UI Black"/>
              </a:rPr>
              <a:t>Print &amp; Space</a:t>
            </a:r>
          </a:p>
        </p:txBody>
      </p:sp>
      <p:sp>
        <p:nvSpPr>
          <p:cNvPr id="26" name="TextBox 26"/>
          <p:cNvSpPr/>
          <p:nvPr/>
        </p:nvSpPr>
        <p:spPr>
          <a:xfrm>
            <a:off x="5688000" y="5508000"/>
            <a:ext cx="612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Physical touchpoints: books, packaging and environmental design.</a:t>
            </a:r>
          </a:p>
        </p:txBody>
      </p:sp>
      <p:sp>
        <p:nvSpPr>
          <p:cNvPr id="27" name="TextBox 27"/>
          <p:cNvSpPr/>
          <p:nvPr/>
        </p:nvSpPr>
        <p:spPr>
          <a:xfrm>
            <a:off x="4860000" y="6228000"/>
            <a:ext cx="7020000" cy="18000"/>
          </a:xfrm>
          <a:prstGeom prst="rect">
            <a:avLst/>
          </a:prstGeom>
          <a:solidFill>
            <a:srgbClr val="F0EBE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3200" cy="1512000"/>
          </a:xfrm>
          <a:prstGeom prst="rect">
            <a:avLst/>
          </a:prstGeom>
          <a:solidFill>
            <a:srgbClr val="1E181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EBE0"/>
                </a:solidFill>
                <a:latin typeface="Segoe UI"/>
                <a:ea typeface="Segoe UI"/>
              </a:rPr>
              <a:t>PROCESS  ·  HOW WE WORK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648000"/>
            <a:ext cx="1440000" cy="504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792000"/>
            <a:ext cx="79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F4C040"/>
                </a:solidFill>
                <a:latin typeface="Segoe UI Black"/>
                <a:ea typeface="Segoe UI Black"/>
              </a:rPr>
              <a:t>Our Four-Step Process</a:t>
            </a:r>
          </a:p>
        </p:txBody>
      </p:sp>
      <p:sp>
        <p:nvSpPr>
          <p:cNvPr id="6" name="TextBox 6"/>
          <p:cNvSpPr/>
          <p:nvPr/>
        </p:nvSpPr>
        <p:spPr>
          <a:xfrm>
            <a:off x="1620000" y="3420000"/>
            <a:ext cx="9000000" cy="43200"/>
          </a:xfrm>
          <a:prstGeom prst="rect">
            <a:avLst/>
          </a:prstGeom>
          <a:solidFill>
            <a:srgbClr val="1E181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2880000"/>
            <a:ext cx="1080000" cy="1080000"/>
          </a:xfrm>
          <a:prstGeom prst="ellipse">
            <a:avLst/>
          </a:prstGeom>
          <a:solidFill>
            <a:srgbClr val="1D5C3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2880000"/>
            <a:ext cx="1080000" cy="10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4140000"/>
            <a:ext cx="270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E1818"/>
                </a:solidFill>
                <a:latin typeface="Segoe UI Black"/>
                <a:ea typeface="Segoe UI Black"/>
              </a:rPr>
              <a:t>DISCOVER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4680000"/>
            <a:ext cx="27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E1818"/>
                </a:solidFill>
                <a:latin typeface="Segoe UI"/>
                <a:ea typeface="Segoe UI"/>
              </a:rPr>
              <a:t>Deep research into your audience, market, and competitive landscape to find the real brief.</a:t>
            </a:r>
          </a:p>
        </p:txBody>
      </p:sp>
      <p:sp>
        <p:nvSpPr>
          <p:cNvPr id="11" name="TextBox 11"/>
          <p:cNvSpPr/>
          <p:nvPr/>
        </p:nvSpPr>
        <p:spPr>
          <a:xfrm>
            <a:off x="3600000" y="2880000"/>
            <a:ext cx="1080000" cy="1080000"/>
          </a:xfrm>
          <a:prstGeom prst="ellipse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3600000" y="2880000"/>
            <a:ext cx="1080000" cy="10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02</a:t>
            </a:r>
          </a:p>
        </p:txBody>
      </p:sp>
      <p:sp>
        <p:nvSpPr>
          <p:cNvPr id="13" name="TextBox 13"/>
          <p:cNvSpPr/>
          <p:nvPr/>
        </p:nvSpPr>
        <p:spPr>
          <a:xfrm>
            <a:off x="3600000" y="4140000"/>
            <a:ext cx="270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E1818"/>
                </a:solidFill>
                <a:latin typeface="Segoe UI Black"/>
                <a:ea typeface="Segoe UI Black"/>
              </a:rPr>
              <a:t>DEFINE</a:t>
            </a:r>
          </a:p>
        </p:txBody>
      </p:sp>
      <p:sp>
        <p:nvSpPr>
          <p:cNvPr id="14" name="TextBox 14"/>
          <p:cNvSpPr/>
          <p:nvPr/>
        </p:nvSpPr>
        <p:spPr>
          <a:xfrm>
            <a:off x="3600000" y="4680000"/>
            <a:ext cx="27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E1818"/>
                </a:solidFill>
                <a:latin typeface="Segoe UI"/>
                <a:ea typeface="Segoe UI"/>
              </a:rPr>
              <a:t>Strategy, creative direction and measurable success criteria — agreed before a pixel is made.</a:t>
            </a:r>
          </a:p>
        </p:txBody>
      </p:sp>
      <p:sp>
        <p:nvSpPr>
          <p:cNvPr id="15" name="TextBox 15"/>
          <p:cNvSpPr/>
          <p:nvPr/>
        </p:nvSpPr>
        <p:spPr>
          <a:xfrm>
            <a:off x="6480000" y="2880000"/>
            <a:ext cx="1080000" cy="1080000"/>
          </a:xfrm>
          <a:prstGeom prst="ellipse">
            <a:avLst/>
          </a:prstGeom>
          <a:solidFill>
            <a:srgbClr val="E0682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6480000" y="2880000"/>
            <a:ext cx="1080000" cy="10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03</a:t>
            </a:r>
          </a:p>
        </p:txBody>
      </p:sp>
      <p:sp>
        <p:nvSpPr>
          <p:cNvPr id="17" name="TextBox 17"/>
          <p:cNvSpPr/>
          <p:nvPr/>
        </p:nvSpPr>
        <p:spPr>
          <a:xfrm>
            <a:off x="6480000" y="4140000"/>
            <a:ext cx="270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E1818"/>
                </a:solidFill>
                <a:latin typeface="Segoe UI Black"/>
                <a:ea typeface="Segoe UI Black"/>
              </a:rPr>
              <a:t>CRAFT</a:t>
            </a:r>
          </a:p>
        </p:txBody>
      </p:sp>
      <p:sp>
        <p:nvSpPr>
          <p:cNvPr id="18" name="TextBox 18"/>
          <p:cNvSpPr/>
          <p:nvPr/>
        </p:nvSpPr>
        <p:spPr>
          <a:xfrm>
            <a:off x="6480000" y="4680000"/>
            <a:ext cx="27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E1818"/>
                </a:solidFill>
                <a:latin typeface="Segoe UI"/>
                <a:ea typeface="Segoe UI"/>
              </a:rPr>
              <a:t>Design, copy, motion and production executed at the highest level, on time.</a:t>
            </a:r>
          </a:p>
        </p:txBody>
      </p:sp>
      <p:sp>
        <p:nvSpPr>
          <p:cNvPr id="19" name="TextBox 19"/>
          <p:cNvSpPr/>
          <p:nvPr/>
        </p:nvSpPr>
        <p:spPr>
          <a:xfrm>
            <a:off x="9360000" y="2880000"/>
            <a:ext cx="1080000" cy="1080000"/>
          </a:xfrm>
          <a:prstGeom prst="ellipse">
            <a:avLst/>
          </a:prstGeom>
          <a:solidFill>
            <a:srgbClr val="1B6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9360000" y="2880000"/>
            <a:ext cx="1080000" cy="10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04</a:t>
            </a:r>
          </a:p>
        </p:txBody>
      </p:sp>
      <p:sp>
        <p:nvSpPr>
          <p:cNvPr id="21" name="TextBox 21"/>
          <p:cNvSpPr/>
          <p:nvPr/>
        </p:nvSpPr>
        <p:spPr>
          <a:xfrm>
            <a:off x="9360000" y="4140000"/>
            <a:ext cx="270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E1818"/>
                </a:solidFill>
                <a:latin typeface="Segoe UI Black"/>
                <a:ea typeface="Segoe UI Black"/>
              </a:rPr>
              <a:t>LAUNCH</a:t>
            </a:r>
          </a:p>
        </p:txBody>
      </p:sp>
      <p:sp>
        <p:nvSpPr>
          <p:cNvPr id="22" name="TextBox 22"/>
          <p:cNvSpPr/>
          <p:nvPr/>
        </p:nvSpPr>
        <p:spPr>
          <a:xfrm>
            <a:off x="9360000" y="4680000"/>
            <a:ext cx="27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E1818"/>
                </a:solidFill>
                <a:latin typeface="Segoe UI"/>
                <a:ea typeface="Segoe UI"/>
              </a:rPr>
              <a:t>Delivery, QA, rollout and post-launch optimisation with your team.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E1818"/>
        </a:solidFill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720000" y="1080000"/>
            <a:ext cx="324000" cy="43200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760000" y="720000"/>
            <a:ext cx="6480000" cy="6480000"/>
          </a:xfrm>
          <a:prstGeom prst="ellipse">
            <a:avLst/>
          </a:prstGeom>
          <a:solidFill>
            <a:srgbClr val="F0EBE0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440000" y="1080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4C040"/>
                </a:solidFill>
                <a:latin typeface="Segoe UI"/>
                <a:ea typeface="Segoe UI"/>
              </a:rPr>
              <a:t>CLIENT VOICE</a:t>
            </a:r>
          </a:p>
        </p:txBody>
      </p:sp>
      <p:sp>
        <p:nvSpPr>
          <p:cNvPr id="5" name="TextBox 5"/>
          <p:cNvSpPr/>
          <p:nvPr/>
        </p:nvSpPr>
        <p:spPr>
          <a:xfrm>
            <a:off x="1440000" y="972000"/>
            <a:ext cx="1440000" cy="504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440000" y="1440000"/>
            <a:ext cx="972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F0EBE0"/>
                </a:solidFill>
                <a:latin typeface="Segoe UI Black"/>
                <a:ea typeface="Segoe UI Black"/>
              </a:rPr>
              <a:t>“Working with Studio Bauhaus transformed not</a:t>
            </a:r>
          </a:p>
          <a:p>
            <a:r>
              <a:rPr lang="en-US" sz="3000" b="1">
                <a:solidFill>
                  <a:srgbClr val="F0EBE0"/>
                </a:solidFill>
                <a:latin typeface="Segoe UI Black"/>
                <a:ea typeface="Segoe UI Black"/>
              </a:rPr>
              <a:t>just our brand, but how we understand ourselves.”</a:t>
            </a:r>
          </a:p>
        </p:txBody>
      </p:sp>
      <p:sp>
        <p:nvSpPr>
          <p:cNvPr id="7" name="TextBox 7"/>
          <p:cNvSpPr/>
          <p:nvPr/>
        </p:nvSpPr>
        <p:spPr>
          <a:xfrm>
            <a:off x="1440000" y="4320000"/>
            <a:ext cx="648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4C040"/>
                </a:solidFill>
                <a:latin typeface="Segoe UI Black"/>
                <a:ea typeface="Segoe UI Black"/>
              </a:rPr>
              <a:t>SARA LINDQVIST</a:t>
            </a:r>
          </a:p>
        </p:txBody>
      </p:sp>
      <p:sp>
        <p:nvSpPr>
          <p:cNvPr id="8" name="TextBox 8"/>
          <p:cNvSpPr/>
          <p:nvPr/>
        </p:nvSpPr>
        <p:spPr>
          <a:xfrm>
            <a:off x="1440000" y="4788000"/>
            <a:ext cx="93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F0EBE0"/>
                </a:solidFill>
                <a:latin typeface="Segoe UI"/>
                <a:ea typeface="Segoe UI"/>
              </a:rPr>
              <a:t>Chief Marketing Officer, Nordvik Group  ·  Oslo, Norway</a:t>
            </a:r>
          </a:p>
        </p:txBody>
      </p:sp>
      <p:sp>
        <p:nvSpPr>
          <p:cNvPr id="9" name="TextBox 9"/>
          <p:cNvSpPr/>
          <p:nvPr/>
        </p:nvSpPr>
        <p:spPr>
          <a:xfrm>
            <a:off x="1440000" y="5328000"/>
            <a:ext cx="93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0EBE0"/>
                </a:solidFill>
                <a:latin typeface="Segoe UI"/>
                <a:ea typeface="Segoe UI"/>
              </a:rPr>
              <a:t>Revenue grew 340% in 18 months following the brand relaunch.</a:t>
            </a:r>
          </a:p>
        </p:txBody>
      </p:sp>
      <p:sp>
        <p:nvSpPr>
          <p:cNvPr id="10" name="TextBox 10"/>
          <p:cNvSpPr/>
          <p:nvPr/>
        </p:nvSpPr>
        <p:spPr>
          <a:xfrm>
            <a:off x="10080000" y="5040000"/>
            <a:ext cx="1440000" cy="1440000"/>
          </a:xfrm>
          <a:prstGeom prst="ellipse">
            <a:avLst/>
          </a:prstGeom>
          <a:solidFill>
            <a:srgbClr val="1D5C38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0440000" y="5400000"/>
            <a:ext cx="1440000" cy="1440000"/>
          </a:xfrm>
          <a:prstGeom prst="ellipse">
            <a:avLst/>
          </a:prstGeom>
          <a:solidFill>
            <a:srgbClr val="F4C040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3200" cy="2520000"/>
          </a:xfrm>
          <a:prstGeom prst="rect">
            <a:avLst/>
          </a:prstGeom>
          <a:solidFill>
            <a:srgbClr val="1D5C3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36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4C040"/>
                </a:solidFill>
                <a:latin typeface="Segoe UI"/>
                <a:ea typeface="Segoe UI"/>
              </a:rPr>
              <a:t>PORTFOLIO  ·  SELECTED WORK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792000"/>
            <a:ext cx="1440000" cy="504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008000"/>
            <a:ext cx="79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FFFFFF"/>
                </a:solidFill>
                <a:latin typeface="Segoe UI Black"/>
                <a:ea typeface="Segoe UI Black"/>
              </a:rPr>
              <a:t>Recent Projects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872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Segoe UI"/>
                <a:ea typeface="Segoe UI"/>
              </a:rPr>
              <a:t>A selection of identity, campaign and digital projects 2022 – 2024.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2880000"/>
            <a:ext cx="3420000" cy="34200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900000" y="3060000"/>
            <a:ext cx="30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E1818"/>
                </a:solidFill>
                <a:latin typeface="Segoe UI Black"/>
                <a:ea typeface="Segoe UI Black"/>
              </a:rPr>
              <a:t>Nordvik</a:t>
            </a:r>
          </a:p>
          <a:p>
            <a:r>
              <a:rPr lang="en-US" sz="2000" b="1">
                <a:solidFill>
                  <a:srgbClr val="1E1818"/>
                </a:solidFill>
                <a:latin typeface="Segoe UI Black"/>
                <a:ea typeface="Segoe UI Black"/>
              </a:rPr>
              <a:t>Group</a:t>
            </a:r>
          </a:p>
        </p:txBody>
      </p:sp>
      <p:sp>
        <p:nvSpPr>
          <p:cNvPr id="9" name="TextBox 9"/>
          <p:cNvSpPr/>
          <p:nvPr/>
        </p:nvSpPr>
        <p:spPr>
          <a:xfrm>
            <a:off x="900000" y="4248000"/>
            <a:ext cx="30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E1818"/>
                </a:solidFill>
                <a:latin typeface="Segoe UI"/>
                <a:ea typeface="Segoe UI"/>
              </a:rPr>
              <a:t>Brand Identity · 2024</a:t>
            </a:r>
          </a:p>
        </p:txBody>
      </p:sp>
      <p:sp>
        <p:nvSpPr>
          <p:cNvPr id="10" name="TextBox 10"/>
          <p:cNvSpPr/>
          <p:nvPr/>
        </p:nvSpPr>
        <p:spPr>
          <a:xfrm>
            <a:off x="900000" y="4716000"/>
            <a:ext cx="30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1E1818"/>
                </a:solidFill>
                <a:latin typeface="Segoe UI"/>
                <a:ea typeface="Segoe UI"/>
              </a:rPr>
              <a:t>Oslo · Stockholm · Berlin</a:t>
            </a:r>
          </a:p>
        </p:txBody>
      </p:sp>
      <p:sp>
        <p:nvSpPr>
          <p:cNvPr id="11" name="TextBox 11"/>
          <p:cNvSpPr/>
          <p:nvPr/>
        </p:nvSpPr>
        <p:spPr>
          <a:xfrm>
            <a:off x="4500000" y="2880000"/>
            <a:ext cx="3420000" cy="3420000"/>
          </a:xfrm>
          <a:prstGeom prst="rect">
            <a:avLst/>
          </a:prstGeom>
          <a:solidFill>
            <a:srgbClr val="1B6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4680000" y="3060000"/>
            <a:ext cx="30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0EBE0"/>
                </a:solidFill>
                <a:latin typeface="Segoe UI Black"/>
                <a:ea typeface="Segoe UI Black"/>
              </a:rPr>
              <a:t>Volta</a:t>
            </a:r>
          </a:p>
          <a:p>
            <a:r>
              <a:rPr lang="en-US" sz="2000" b="1">
                <a:solidFill>
                  <a:srgbClr val="F0EBE0"/>
                </a:solidFill>
                <a:latin typeface="Segoe UI Black"/>
                <a:ea typeface="Segoe UI Black"/>
              </a:rPr>
              <a:t>Mobility</a:t>
            </a:r>
          </a:p>
        </p:txBody>
      </p:sp>
      <p:sp>
        <p:nvSpPr>
          <p:cNvPr id="13" name="TextBox 13"/>
          <p:cNvSpPr/>
          <p:nvPr/>
        </p:nvSpPr>
        <p:spPr>
          <a:xfrm>
            <a:off x="4680000" y="4248000"/>
            <a:ext cx="30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0EBE0"/>
                </a:solidFill>
                <a:latin typeface="Segoe UI"/>
                <a:ea typeface="Segoe UI"/>
              </a:rPr>
              <a:t>Campaign + Motion · 2023</a:t>
            </a:r>
          </a:p>
        </p:txBody>
      </p:sp>
      <p:sp>
        <p:nvSpPr>
          <p:cNvPr id="14" name="TextBox 14"/>
          <p:cNvSpPr/>
          <p:nvPr/>
        </p:nvSpPr>
        <p:spPr>
          <a:xfrm>
            <a:off x="4680000" y="4716000"/>
            <a:ext cx="30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EBE0"/>
                </a:solidFill>
                <a:latin typeface="Segoe UI"/>
                <a:ea typeface="Segoe UI"/>
              </a:rPr>
              <a:t>Amsterdam · London</a:t>
            </a:r>
          </a:p>
        </p:txBody>
      </p:sp>
      <p:sp>
        <p:nvSpPr>
          <p:cNvPr id="15" name="TextBox 15"/>
          <p:cNvSpPr/>
          <p:nvPr/>
        </p:nvSpPr>
        <p:spPr>
          <a:xfrm>
            <a:off x="8280000" y="2880000"/>
            <a:ext cx="3240000" cy="3420000"/>
          </a:xfrm>
          <a:prstGeom prst="rect">
            <a:avLst/>
          </a:prstGeom>
          <a:solidFill>
            <a:srgbClr val="1E181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8460000" y="306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4C040"/>
                </a:solidFill>
                <a:latin typeface="Segoe UI Black"/>
                <a:ea typeface="Segoe UI Black"/>
              </a:rPr>
              <a:t>Arktis</a:t>
            </a:r>
          </a:p>
          <a:p>
            <a:r>
              <a:rPr lang="en-US" sz="2000" b="1">
                <a:solidFill>
                  <a:srgbClr val="F4C040"/>
                </a:solidFill>
                <a:latin typeface="Segoe UI Black"/>
                <a:ea typeface="Segoe UI Black"/>
              </a:rPr>
              <a:t>Capital</a:t>
            </a:r>
          </a:p>
        </p:txBody>
      </p:sp>
      <p:sp>
        <p:nvSpPr>
          <p:cNvPr id="17" name="TextBox 17"/>
          <p:cNvSpPr/>
          <p:nvPr/>
        </p:nvSpPr>
        <p:spPr>
          <a:xfrm>
            <a:off x="8460000" y="4248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4C040"/>
                </a:solidFill>
                <a:latin typeface="Segoe UI"/>
                <a:ea typeface="Segoe UI"/>
              </a:rPr>
              <a:t>Identity System · 2022</a:t>
            </a:r>
          </a:p>
        </p:txBody>
      </p:sp>
      <p:sp>
        <p:nvSpPr>
          <p:cNvPr id="18" name="TextBox 18"/>
          <p:cNvSpPr/>
          <p:nvPr/>
        </p:nvSpPr>
        <p:spPr>
          <a:xfrm>
            <a:off x="8460000" y="4716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4C040"/>
                </a:solidFill>
                <a:latin typeface="Segoe UI"/>
                <a:ea typeface="Segoe UI"/>
              </a:rPr>
              <a:t>Zurich · Singapore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D5C38"/>
        </a:solidFill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D5C3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480000" y="360000"/>
            <a:ext cx="5760000" cy="5760000"/>
          </a:xfrm>
          <a:prstGeom prst="ellipse">
            <a:avLst/>
          </a:prstGeom>
          <a:solidFill>
            <a:srgbClr val="F0EBE0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920000" y="1800000"/>
            <a:ext cx="3600000" cy="3600000"/>
          </a:xfrm>
          <a:prstGeom prst="ellipse">
            <a:avLst/>
          </a:prstGeom>
          <a:solidFill>
            <a:srgbClr val="F4C040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900000"/>
            <a:ext cx="1440000" cy="50400"/>
          </a:xfrm>
          <a:prstGeom prst="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648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4C040"/>
                </a:solidFill>
                <a:latin typeface="Segoe UI"/>
                <a:ea typeface="Segoe UI"/>
              </a:rPr>
              <a:t>START A PROJECT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1260000"/>
            <a:ext cx="8640000" cy="39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0EBE0"/>
                </a:solidFill>
                <a:latin typeface="Segoe UI Black"/>
                <a:ea typeface="Segoe UI Black"/>
              </a:rPr>
              <a:t>Let’s Build</a:t>
            </a:r>
          </a:p>
          <a:p>
            <a:r>
              <a:rPr lang="en-US" sz="5600" b="1">
                <a:solidFill>
                  <a:srgbClr val="F0EBE0"/>
                </a:solidFill>
                <a:latin typeface="Segoe UI Black"/>
                <a:ea typeface="Segoe UI Black"/>
              </a:rPr>
              <a:t>Something</a:t>
            </a:r>
          </a:p>
          <a:p>
            <a:r>
              <a:rPr lang="en-US" sz="5600" b="1">
                <a:solidFill>
                  <a:srgbClr val="F0EBE0"/>
                </a:solidFill>
                <a:latin typeface="Segoe UI Black"/>
                <a:ea typeface="Segoe UI Black"/>
              </a:rPr>
              <a:t>Great.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220000"/>
            <a:ext cx="72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F0EBE0"/>
                </a:solidFill>
                <a:latin typeface="Segoe UI"/>
                <a:ea typeface="Segoe UI"/>
              </a:rPr>
              <a:t>We take 12 new clients per year.</a:t>
            </a:r>
          </a:p>
          <a:p>
            <a:r>
              <a:rPr lang="en-US" sz="1400">
                <a:solidFill>
                  <a:srgbClr val="F0EBE0"/>
                </a:solidFill>
                <a:latin typeface="Segoe UI"/>
                <a:ea typeface="Segoe UI"/>
              </a:rPr>
              <a:t>Apply early to secure your spot.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5832000"/>
            <a:ext cx="4320000" cy="900000"/>
          </a:xfrm>
          <a:prstGeom prst="roundRect">
            <a:avLst/>
          </a:prstGeom>
          <a:solidFill>
            <a:srgbClr val="F4C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5832000"/>
            <a:ext cx="432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>
                <a:solidFill>
                  <a:srgbClr val="1E1818"/>
                </a:solidFill>
                <a:latin typeface="Segoe UI Black"/>
                <a:ea typeface="Segoe UI Black"/>
              </a:rPr>
              <a:t>hello@studio-bauhaus.com  →</a:t>
            </a:r>
          </a:p>
        </p:txBody>
      </p:sp>
      <p:sp>
        <p:nvSpPr>
          <p:cNvPr id="11" name="TextBox 11"/>
          <p:cNvSpPr/>
          <p:nvPr/>
        </p:nvSpPr>
        <p:spPr>
          <a:xfrm>
            <a:off x="9360000" y="6480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F0EBE0"/>
                </a:solidFill>
                <a:latin typeface="Segoe UI"/>
                <a:ea typeface="Segoe UI"/>
              </a:rPr>
              <a:t>studio-bauhaus.com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