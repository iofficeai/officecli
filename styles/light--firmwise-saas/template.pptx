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c4458a1fba649d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2e6472307f34dec"/>
    <p:sldId id="257" r:id="R9ba7204efc9a40e6"/>
    <p:sldId id="258" r:id="Rdea222b31d9b4c5a"/>
    <p:sldId id="259" r:id="Rb3d47e6e336a4e65"/>
    <p:sldId id="260" r:id="R95cbf669a0cb4339"/>
    <p:sldId id="261" r:id="R092a4ab141384440"/>
    <p:sldId id="262" r:id="R20b67c2b2b7145a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2e6472307f34dec" /><Relationship Type="http://schemas.openxmlformats.org/officeDocument/2006/relationships/slide" Target="/ppt/slides/slide2.xml" Id="R9ba7204efc9a40e6" /><Relationship Type="http://schemas.openxmlformats.org/officeDocument/2006/relationships/slide" Target="/ppt/slides/slide3.xml" Id="Rdea222b31d9b4c5a" /><Relationship Type="http://schemas.openxmlformats.org/officeDocument/2006/relationships/slide" Target="/ppt/slides/slide4.xml" Id="Rb3d47e6e336a4e65" /><Relationship Type="http://schemas.openxmlformats.org/officeDocument/2006/relationships/slide" Target="/ppt/slides/slide5.xml" Id="R95cbf669a0cb4339" /><Relationship Type="http://schemas.openxmlformats.org/officeDocument/2006/relationships/slide" Target="/ppt/slides/slide6.xml" Id="R092a4ab141384440" /><Relationship Type="http://schemas.openxmlformats.org/officeDocument/2006/relationships/slide" Target="/ppt/slides/slide7.xml" Id="R20b67c2b2b7145a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cbecb7c0449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9d39cbb6c45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67a8175074e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18b2ef3714aa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743976295f4405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68cf56722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bccd6afe2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7c93962ed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48662970b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bfff73795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2004296b849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67d8dcf94498f" /></Relationships>
</file>

<file path=ppt/slides/slide1.xml><?xml version="1.0" encoding="utf-8"?>
<p:sld xmlns:a="http://schemas.openxmlformats.org/drawingml/2006/main" xmlns:p="http://schemas.openxmlformats.org/presentationml/2006/main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Automation Suite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900000"/>
            <a:ext cx="64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1A1A2E"/>
                </a:solidFill>
                <a:latin typeface="Segoe UI Black"/>
                <a:ea typeface="Segoe UI Black"/>
              </a:rPr>
              <a:t>Work Smarter,</a:t>
            </a:r>
          </a:p>
          <a:p>
            <a:r>
              <a:rPr lang="en-US" sz="5400" b="1">
                <a:solidFill>
                  <a:srgbClr val="1A1A2E"/>
                </a:solidFill>
                <a:latin typeface="Segoe UI Black"/>
                <a:ea typeface="Segoe UI Black"/>
              </a:rPr>
              <a:t>Not Harder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0" y="1260000"/>
            <a:ext cx="46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6B6B8A"/>
                </a:solidFill>
                <a:latin typeface="Segoe UI"/>
                <a:ea typeface="Segoe UI"/>
              </a:rPr>
              <a:t>Automate repetitive tasks and free your team</a:t>
            </a:r>
          </a:p>
          <a:p>
            <a:r>
              <a:rPr lang="en-US" sz="1700">
                <a:solidFill>
                  <a:srgbClr val="6B6B8A"/>
                </a:solidFill>
                <a:latin typeface="Segoe UI"/>
                <a:ea typeface="Segoe UI"/>
              </a:rPr>
              <a:t>to focus on what actually matters.</a:t>
            </a:r>
          </a:p>
        </p:txBody>
      </p:sp>
      <p:sp>
        <p:nvSpPr>
          <p:cNvPr id="7" name="!!card-a"/>
          <p:cNvSpPr/>
          <p:nvPr/>
        </p:nvSpPr>
        <p:spPr>
          <a:xfrm>
            <a:off x="540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ard-b"/>
          <p:cNvSpPr/>
          <p:nvPr/>
        </p:nvSpPr>
        <p:spPr>
          <a:xfrm>
            <a:off x="4392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c"/>
          <p:cNvSpPr/>
          <p:nvPr/>
        </p:nvSpPr>
        <p:spPr>
          <a:xfrm>
            <a:off x="8244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gradFill>
            <a:gsLst>
              <a:gs pos="0">
                <a:srgbClr val="5B4FFF"/>
              </a:gs>
              <a:gs pos="100000">
                <a:srgbClr val="9B8BFF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5B4FFF"/>
                </a:solidFill>
                <a:latin typeface="Segoe UI Black"/>
                <a:ea typeface="Segoe UI Black"/>
              </a:rPr>
              <a:t>99%</a:t>
            </a:r>
          </a:p>
        </p:txBody>
      </p:sp>
      <p:sp>
        <p:nvSpPr>
          <p:cNvPr id="11" name="TextBox 11"/>
          <p:cNvSpPr/>
          <p:nvPr/>
        </p:nvSpPr>
        <p:spPr>
          <a:xfrm>
            <a:off x="4572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5B4FFF"/>
                </a:solidFill>
                <a:latin typeface="Segoe UI Black"/>
                <a:ea typeface="Segoe UI Black"/>
              </a:rPr>
              <a:t>40%</a:t>
            </a:r>
          </a:p>
        </p:txBody>
      </p:sp>
      <p:sp>
        <p:nvSpPr>
          <p:cNvPr id="12" name="TextBox 12"/>
          <p:cNvSpPr/>
          <p:nvPr/>
        </p:nvSpPr>
        <p:spPr>
          <a:xfrm>
            <a:off x="8424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80%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5B4FFF"/>
                </a:solidFill>
                <a:latin typeface="Segoe UI Black"/>
                <a:ea typeface="Segoe UI Black"/>
              </a:rPr>
              <a:t>Data Accuracy</a:t>
            </a:r>
          </a:p>
        </p:txBody>
      </p:sp>
      <p:sp>
        <p:nvSpPr>
          <p:cNvPr id="14" name="TextBox 14"/>
          <p:cNvSpPr/>
          <p:nvPr/>
        </p:nvSpPr>
        <p:spPr>
          <a:xfrm>
            <a:off x="4572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5B4FFF"/>
                </a:solidFill>
                <a:latin typeface="Segoe UI Black"/>
                <a:ea typeface="Segoe UI Black"/>
              </a:rPr>
              <a:t>Less Manual Work</a:t>
            </a:r>
          </a:p>
        </p:txBody>
      </p:sp>
      <p:sp>
        <p:nvSpPr>
          <p:cNvPr id="15" name="TextBox 15"/>
          <p:cNvSpPr/>
          <p:nvPr/>
        </p:nvSpPr>
        <p:spPr>
          <a:xfrm>
            <a:off x="8424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Faster Reporting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The Problem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900000"/>
            <a:ext cx="64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1A1A2E"/>
                </a:solidFill>
                <a:latin typeface="Segoe UI Black"/>
                <a:ea typeface="Segoe UI Black"/>
              </a:rPr>
              <a:t>Time Is Your</a:t>
            </a:r>
          </a:p>
          <a:p>
            <a:r>
              <a:rPr lang="en-US" sz="5400" b="1">
                <a:solidFill>
                  <a:srgbClr val="1A1A2E"/>
                </a:solidFill>
                <a:latin typeface="Segoe UI Black"/>
                <a:ea typeface="Segoe UI Black"/>
              </a:rPr>
              <a:t>Scarcest Resource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0" y="1260000"/>
            <a:ext cx="46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6B6B8A"/>
                </a:solidFill>
                <a:latin typeface="Segoe UI"/>
                <a:ea typeface="Segoe UI"/>
              </a:rPr>
              <a:t>Teams spend 60% of their day on repetitive,</a:t>
            </a:r>
          </a:p>
          <a:p>
            <a:r>
              <a:rPr lang="en-US" sz="1700">
                <a:solidFill>
                  <a:srgbClr val="6B6B8A"/>
                </a:solidFill>
                <a:latin typeface="Segoe UI"/>
                <a:ea typeface="Segoe UI"/>
              </a:rPr>
              <a:t>low-value administrative tasks.</a:t>
            </a:r>
          </a:p>
        </p:txBody>
      </p:sp>
      <p:sp>
        <p:nvSpPr>
          <p:cNvPr id="7" name="!!card-a"/>
          <p:cNvSpPr/>
          <p:nvPr/>
        </p:nvSpPr>
        <p:spPr>
          <a:xfrm>
            <a:off x="540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ard-b"/>
          <p:cNvSpPr/>
          <p:nvPr/>
        </p:nvSpPr>
        <p:spPr>
          <a:xfrm>
            <a:off x="4392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c"/>
          <p:cNvSpPr/>
          <p:nvPr/>
        </p:nvSpPr>
        <p:spPr>
          <a:xfrm>
            <a:off x="8244000" y="4320000"/>
            <a:ext cx="3420000" cy="1980000"/>
          </a:xfrm>
          <a:custGeom>
            <a:avLst/>
            <a:gdLst/>
            <a:ahLst/>
            <a:cxnLst/>
            <a:rect l="0" t="0" r="r" b="b"/>
            <a:pathLst>
              <a:path w="3420000" h="19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1980000"/>
                </a:lnTo>
                <a:lnTo>
                  <a:pt x="0" y="1980000"/>
                </a:lnTo>
                <a:close/>
              </a:path>
            </a:pathLst>
          </a:custGeom>
          <a:gradFill>
            <a:gsLst>
              <a:gs pos="0">
                <a:srgbClr val="5B4FFF"/>
              </a:gs>
              <a:gs pos="100000">
                <a:srgbClr val="9B8BFF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5B4FFF"/>
                </a:solidFill>
                <a:latin typeface="Segoe UI Black"/>
                <a:ea typeface="Segoe UI Black"/>
              </a:rPr>
              <a:t>60%</a:t>
            </a:r>
          </a:p>
        </p:txBody>
      </p:sp>
      <p:sp>
        <p:nvSpPr>
          <p:cNvPr id="11" name="TextBox 11"/>
          <p:cNvSpPr/>
          <p:nvPr/>
        </p:nvSpPr>
        <p:spPr>
          <a:xfrm>
            <a:off x="4572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5B4FFF"/>
                </a:solidFill>
                <a:latin typeface="Segoe UI Black"/>
                <a:ea typeface="Segoe UI Black"/>
              </a:rPr>
              <a:t>3hr</a:t>
            </a:r>
          </a:p>
        </p:txBody>
      </p:sp>
      <p:sp>
        <p:nvSpPr>
          <p:cNvPr id="12" name="TextBox 12"/>
          <p:cNvSpPr/>
          <p:nvPr/>
        </p:nvSpPr>
        <p:spPr>
          <a:xfrm>
            <a:off x="8424000" y="4500000"/>
            <a:ext cx="21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$2k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5B4FFF"/>
                </a:solidFill>
                <a:latin typeface="Segoe UI Black"/>
                <a:ea typeface="Segoe UI Black"/>
              </a:rPr>
              <a:t>On Low-Value Work</a:t>
            </a:r>
          </a:p>
        </p:txBody>
      </p:sp>
      <p:sp>
        <p:nvSpPr>
          <p:cNvPr id="14" name="TextBox 14"/>
          <p:cNvSpPr/>
          <p:nvPr/>
        </p:nvSpPr>
        <p:spPr>
          <a:xfrm>
            <a:off x="4572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5B4FFF"/>
                </a:solidFill>
                <a:latin typeface="Segoe UI Black"/>
                <a:ea typeface="Segoe UI Black"/>
              </a:rPr>
              <a:t>Daily on Reports</a:t>
            </a:r>
          </a:p>
        </p:txBody>
      </p:sp>
      <p:sp>
        <p:nvSpPr>
          <p:cNvPr id="15" name="TextBox 15"/>
          <p:cNvSpPr/>
          <p:nvPr/>
        </p:nvSpPr>
        <p:spPr>
          <a:xfrm>
            <a:off x="8424000" y="558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Wasted Per Employee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Time Efficiency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720000"/>
            <a:ext cx="54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A1A2E"/>
                </a:solidFill>
                <a:latin typeface="Segoe UI Black"/>
                <a:ea typeface="Segoe UI Black"/>
              </a:rPr>
              <a:t>Boost Efficiency by</a:t>
            </a:r>
          </a:p>
          <a:p>
            <a:r>
              <a:rPr lang="en-US" sz="3600" b="1">
                <a:solidFill>
                  <a:srgbClr val="1A1A2E"/>
                </a:solidFill>
                <a:latin typeface="Segoe UI Black"/>
                <a:ea typeface="Segoe UI Black"/>
              </a:rPr>
              <a:t>Automating Work</a:t>
            </a:r>
          </a:p>
        </p:txBody>
      </p:sp>
      <p:sp>
        <p:nvSpPr>
          <p:cNvPr id="6" name="TextBox 6"/>
          <p:cNvSpPr/>
          <p:nvPr/>
        </p:nvSpPr>
        <p:spPr>
          <a:xfrm>
            <a:off x="6120000" y="900000"/>
            <a:ext cx="54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Save time by eliminating repetitive tasks,</a:t>
            </a:r>
          </a:p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allowing teams to focus on high-value work.</a:t>
            </a:r>
          </a:p>
        </p:txBody>
      </p:sp>
      <p:sp>
        <p:nvSpPr>
          <p:cNvPr id="7" name="!!card-a"/>
          <p:cNvSpPr/>
          <p:nvPr/>
        </p:nvSpPr>
        <p:spPr>
          <a:xfrm>
            <a:off x="540000" y="2520000"/>
            <a:ext cx="3420000" cy="3780000"/>
          </a:xfrm>
          <a:custGeom>
            <a:avLst/>
            <a:gdLst/>
            <a:ahLst/>
            <a:cxnLst/>
            <a:rect l="0" t="0" r="r" b="b"/>
            <a:pathLst>
              <a:path w="3420000" h="37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3780000"/>
                </a:lnTo>
                <a:lnTo>
                  <a:pt x="0" y="37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ard-b"/>
          <p:cNvSpPr/>
          <p:nvPr/>
        </p:nvSpPr>
        <p:spPr>
          <a:xfrm>
            <a:off x="4392000" y="2520000"/>
            <a:ext cx="3420000" cy="3780000"/>
          </a:xfrm>
          <a:custGeom>
            <a:avLst/>
            <a:gdLst/>
            <a:ahLst/>
            <a:cxnLst/>
            <a:rect l="0" t="0" r="r" b="b"/>
            <a:pathLst>
              <a:path w="3420000" h="37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3780000"/>
                </a:lnTo>
                <a:lnTo>
                  <a:pt x="0" y="37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c"/>
          <p:cNvSpPr/>
          <p:nvPr/>
        </p:nvSpPr>
        <p:spPr>
          <a:xfrm>
            <a:off x="8244000" y="2520000"/>
            <a:ext cx="3420000" cy="3780000"/>
          </a:xfrm>
          <a:custGeom>
            <a:avLst/>
            <a:gdLst/>
            <a:ahLst/>
            <a:cxnLst/>
            <a:rect l="0" t="0" r="r" b="b"/>
            <a:pathLst>
              <a:path w="3420000" h="3780000">
                <a:moveTo>
                  <a:pt x="0" y="0"/>
                </a:moveTo>
                <a:lnTo>
                  <a:pt x="3168000" y="0"/>
                </a:lnTo>
                <a:lnTo>
                  <a:pt x="3420000" y="252000"/>
                </a:lnTo>
                <a:lnTo>
                  <a:pt x="3420000" y="3780000"/>
                </a:lnTo>
                <a:lnTo>
                  <a:pt x="0" y="3780000"/>
                </a:lnTo>
                <a:close/>
              </a:path>
            </a:pathLst>
          </a:custGeom>
          <a:gradFill>
            <a:gsLst>
              <a:gs pos="0">
                <a:srgbClr val="5B4FFF"/>
              </a:gs>
              <a:gs pos="100000">
                <a:srgbClr val="9B8BFF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2736000"/>
            <a:ext cx="648000" cy="648000"/>
          </a:xfrm>
          <a:prstGeom prst="roundRect">
            <a:avLst/>
          </a:prstGeom>
          <a:solidFill>
            <a:srgbClr val="9B8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572000" y="2736000"/>
            <a:ext cx="648000" cy="648000"/>
          </a:xfrm>
          <a:prstGeom prst="roundRect">
            <a:avLst/>
          </a:prstGeom>
          <a:solidFill>
            <a:srgbClr val="9B8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8424000" y="2736000"/>
            <a:ext cx="648000" cy="648000"/>
          </a:xfrm>
          <a:prstGeom prst="roundRect">
            <a:avLst/>
          </a:prstGeom>
          <a:solidFill>
            <a:srgbClr val="FFFF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3528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5B4FFF"/>
                </a:solidFill>
                <a:latin typeface="Segoe UI Black"/>
                <a:ea typeface="Segoe UI Black"/>
              </a:rPr>
              <a:t>99%</a:t>
            </a:r>
          </a:p>
        </p:txBody>
      </p:sp>
      <p:sp>
        <p:nvSpPr>
          <p:cNvPr id="14" name="TextBox 14"/>
          <p:cNvSpPr/>
          <p:nvPr/>
        </p:nvSpPr>
        <p:spPr>
          <a:xfrm>
            <a:off x="4572000" y="3528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5B4FFF"/>
                </a:solidFill>
                <a:latin typeface="Segoe UI Black"/>
                <a:ea typeface="Segoe UI Black"/>
              </a:rPr>
              <a:t>40%</a:t>
            </a:r>
          </a:p>
        </p:txBody>
      </p:sp>
      <p:sp>
        <p:nvSpPr>
          <p:cNvPr id="15" name="TextBox 15"/>
          <p:cNvSpPr/>
          <p:nvPr/>
        </p:nvSpPr>
        <p:spPr>
          <a:xfrm>
            <a:off x="8424000" y="3528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80%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486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5B4FFF"/>
                </a:solidFill>
                <a:latin typeface="Segoe UI Black"/>
                <a:ea typeface="Segoe UI Black"/>
              </a:rPr>
              <a:t>Data Accuracy</a:t>
            </a:r>
          </a:p>
        </p:txBody>
      </p:sp>
      <p:sp>
        <p:nvSpPr>
          <p:cNvPr id="17" name="TextBox 17"/>
          <p:cNvSpPr/>
          <p:nvPr/>
        </p:nvSpPr>
        <p:spPr>
          <a:xfrm>
            <a:off x="4572000" y="486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5B4FFF"/>
                </a:solidFill>
                <a:latin typeface="Segoe UI Black"/>
                <a:ea typeface="Segoe UI Black"/>
              </a:rPr>
              <a:t>Less Manual Work</a:t>
            </a:r>
          </a:p>
        </p:txBody>
      </p:sp>
      <p:sp>
        <p:nvSpPr>
          <p:cNvPr id="18" name="TextBox 18"/>
          <p:cNvSpPr/>
          <p:nvPr/>
        </p:nvSpPr>
        <p:spPr>
          <a:xfrm>
            <a:off x="8424000" y="486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Faster Reporting</a:t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5472000"/>
            <a:ext cx="324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Minimize errors,</a:t>
            </a:r>
          </a:p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maximize precision</a:t>
            </a:r>
          </a:p>
        </p:txBody>
      </p:sp>
      <p:sp>
        <p:nvSpPr>
          <p:cNvPr id="20" name="TextBox 20"/>
          <p:cNvSpPr/>
          <p:nvPr/>
        </p:nvSpPr>
        <p:spPr>
          <a:xfrm>
            <a:off x="4572000" y="5472000"/>
            <a:ext cx="324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Automate tasks and</a:t>
            </a:r>
          </a:p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focus on growth</a:t>
            </a:r>
          </a:p>
        </p:txBody>
      </p:sp>
      <p:sp>
        <p:nvSpPr>
          <p:cNvPr id="21" name="TextBox 21"/>
          <p:cNvSpPr/>
          <p:nvPr/>
        </p:nvSpPr>
        <p:spPr>
          <a:xfrm>
            <a:off x="8424000" y="5472000"/>
            <a:ext cx="324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Generate reports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instantly with AI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How It Works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720000"/>
            <a:ext cx="108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A1A2E"/>
                </a:solidFill>
                <a:latin typeface="Segoe UI Black"/>
                <a:ea typeface="Segoe UI Black"/>
              </a:rPr>
              <a:t>Simple Setup.</a:t>
            </a:r>
          </a:p>
          <a:p>
            <a:r>
              <a:rPr lang="en-US" sz="4400" b="1">
                <a:solidFill>
                  <a:srgbClr val="1A1A2E"/>
                </a:solidFill>
                <a:latin typeface="Segoe UI Black"/>
                <a:ea typeface="Segoe UI Black"/>
              </a:rPr>
              <a:t>Powerful Results.</a:t>
            </a:r>
          </a:p>
        </p:txBody>
      </p:sp>
      <p:sp>
        <p:nvSpPr>
          <p:cNvPr id="6" name="TextBox 6"/>
          <p:cNvSpPr/>
          <p:nvPr/>
        </p:nvSpPr>
        <p:spPr>
          <a:xfrm>
            <a:off x="540000" y="3060000"/>
            <a:ext cx="900000" cy="900000"/>
          </a:xfrm>
          <a:prstGeom prst="ellipse">
            <a:avLst/>
          </a:prstGeom>
          <a:solidFill>
            <a:srgbClr val="5B4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4572000" y="3060000"/>
            <a:ext cx="900000" cy="900000"/>
          </a:xfrm>
          <a:prstGeom prst="ellipse">
            <a:avLst/>
          </a:prstGeom>
          <a:solidFill>
            <a:srgbClr val="5B4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8604000" y="3060000"/>
            <a:ext cx="900000" cy="900000"/>
          </a:xfrm>
          <a:prstGeom prst="ellipse">
            <a:avLst/>
          </a:prstGeom>
          <a:solidFill>
            <a:srgbClr val="5B4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306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1</a:t>
            </a:r>
          </a:p>
        </p:txBody>
      </p:sp>
      <p:sp>
        <p:nvSpPr>
          <p:cNvPr id="10" name="TextBox 10"/>
          <p:cNvSpPr/>
          <p:nvPr/>
        </p:nvSpPr>
        <p:spPr>
          <a:xfrm>
            <a:off x="4572000" y="306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2</a:t>
            </a:r>
          </a:p>
        </p:txBody>
      </p:sp>
      <p:sp>
        <p:nvSpPr>
          <p:cNvPr id="11" name="TextBox 11"/>
          <p:cNvSpPr/>
          <p:nvPr/>
        </p:nvSpPr>
        <p:spPr>
          <a:xfrm>
            <a:off x="8604000" y="306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3</a:t>
            </a:r>
          </a:p>
        </p:txBody>
      </p:sp>
      <p:sp>
        <p:nvSpPr>
          <p:cNvPr id="12" name="TextBox 12"/>
          <p:cNvSpPr/>
          <p:nvPr/>
        </p:nvSpPr>
        <p:spPr>
          <a:xfrm>
            <a:off x="1512000" y="3456000"/>
            <a:ext cx="2988000" cy="108000"/>
          </a:xfrm>
          <a:prstGeom prst="rect">
            <a:avLst/>
          </a:prstGeom>
          <a:solidFill>
            <a:srgbClr val="9B8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544000" y="3456000"/>
            <a:ext cx="2988000" cy="108000"/>
          </a:xfrm>
          <a:prstGeom prst="rect">
            <a:avLst/>
          </a:prstGeom>
          <a:solidFill>
            <a:srgbClr val="9B8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4140000"/>
            <a:ext cx="34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1A1A2E"/>
                </a:solidFill>
                <a:latin typeface="Segoe UI Black"/>
                <a:ea typeface="Segoe UI Black"/>
              </a:rPr>
              <a:t>Connect Your Tools</a:t>
            </a:r>
          </a:p>
        </p:txBody>
      </p:sp>
      <p:sp>
        <p:nvSpPr>
          <p:cNvPr id="15" name="TextBox 15"/>
          <p:cNvSpPr/>
          <p:nvPr/>
        </p:nvSpPr>
        <p:spPr>
          <a:xfrm>
            <a:off x="4572000" y="4140000"/>
            <a:ext cx="34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1A1A2E"/>
                </a:solidFill>
                <a:latin typeface="Segoe UI Black"/>
                <a:ea typeface="Segoe UI Black"/>
              </a:rPr>
              <a:t>Set Your Workflows</a:t>
            </a:r>
          </a:p>
        </p:txBody>
      </p:sp>
      <p:sp>
        <p:nvSpPr>
          <p:cNvPr id="16" name="TextBox 16"/>
          <p:cNvSpPr/>
          <p:nvPr/>
        </p:nvSpPr>
        <p:spPr>
          <a:xfrm>
            <a:off x="8604000" y="4140000"/>
            <a:ext cx="34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1A1A2E"/>
                </a:solidFill>
                <a:latin typeface="Segoe UI Black"/>
                <a:ea typeface="Segoe UI Black"/>
              </a:rPr>
              <a:t>Watch It Run</a:t>
            </a:r>
          </a:p>
        </p:txBody>
      </p:sp>
      <p:sp>
        <p:nvSpPr>
          <p:cNvPr id="17" name="TextBox 17"/>
          <p:cNvSpPr/>
          <p:nvPr/>
        </p:nvSpPr>
        <p:spPr>
          <a:xfrm>
            <a:off x="540000" y="4860000"/>
            <a:ext cx="34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6B6B8A"/>
                </a:solidFill>
                <a:latin typeface="Segoe UI"/>
                <a:ea typeface="Segoe UI"/>
              </a:rPr>
              <a:t>Integrate in minutes with 200+ tools including Slack, Salesforce, and QuickBooks.</a:t>
            </a:r>
          </a:p>
        </p:txBody>
      </p:sp>
      <p:sp>
        <p:nvSpPr>
          <p:cNvPr id="18" name="TextBox 18"/>
          <p:cNvSpPr/>
          <p:nvPr/>
        </p:nvSpPr>
        <p:spPr>
          <a:xfrm>
            <a:off x="4572000" y="4860000"/>
            <a:ext cx="34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6B6B8A"/>
                </a:solidFill>
                <a:latin typeface="Segoe UI"/>
                <a:ea typeface="Segoe UI"/>
              </a:rPr>
              <a:t>Define rules once. Firmwise handles exceptions, approvals, and edge cases automatically.</a:t>
            </a:r>
          </a:p>
        </p:txBody>
      </p:sp>
      <p:sp>
        <p:nvSpPr>
          <p:cNvPr id="19" name="TextBox 19"/>
          <p:cNvSpPr/>
          <p:nvPr/>
        </p:nvSpPr>
        <p:spPr>
          <a:xfrm>
            <a:off x="8604000" y="4860000"/>
            <a:ext cx="34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6B6B8A"/>
                </a:solidFill>
                <a:latin typeface="Segoe UI"/>
                <a:ea typeface="Segoe UI"/>
              </a:rPr>
              <a:t>Monitor in real-time. Get alerts, reports, and insights without lifting a finger.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Results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5" name="!!card-c"/>
          <p:cNvSpPr/>
          <p:nvPr/>
        </p:nvSpPr>
        <p:spPr>
          <a:xfrm>
            <a:off x="5760000" y="720000"/>
            <a:ext cx="6120000" cy="6120000"/>
          </a:xfrm>
          <a:prstGeom prst="ellipse">
            <a:avLst/>
          </a:prstGeom>
          <a:solidFill>
            <a:srgbClr val="5B4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720000"/>
            <a:ext cx="9000000" cy="46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0" b="1">
                <a:solidFill>
                  <a:srgbClr val="5B4FFF"/>
                </a:solidFill>
                <a:latin typeface="Segoe UI Black"/>
                <a:ea typeface="Segoe UI Black"/>
              </a:rPr>
              <a:t>10x</a:t>
            </a:r>
          </a:p>
        </p:txBody>
      </p:sp>
      <p:sp>
        <p:nvSpPr>
          <p:cNvPr id="7" name="TextBox 7"/>
          <p:cNvSpPr/>
          <p:nvPr/>
        </p:nvSpPr>
        <p:spPr>
          <a:xfrm>
            <a:off x="540000" y="5220000"/>
            <a:ext cx="64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 b="1">
                <a:solidFill>
                  <a:srgbClr val="1A1A2E"/>
                </a:solidFill>
                <a:latin typeface="Segoe UI Black"/>
                <a:ea typeface="Segoe UI Black"/>
              </a:rPr>
              <a:t>Return on investment</a:t>
            </a:r>
          </a:p>
          <a:p>
            <a:r>
              <a:rPr lang="en-US" sz="2600" b="1">
                <a:solidFill>
                  <a:srgbClr val="1A1A2E"/>
                </a:solidFill>
                <a:latin typeface="Segoe UI Black"/>
                <a:ea typeface="Segoe UI Black"/>
              </a:rPr>
              <a:t>within 90 days</a:t>
            </a:r>
          </a:p>
        </p:txBody>
      </p:sp>
      <p:sp>
        <p:nvSpPr>
          <p:cNvPr id="8" name="TextBox 8"/>
          <p:cNvSpPr/>
          <p:nvPr/>
        </p:nvSpPr>
        <p:spPr>
          <a:xfrm>
            <a:off x="6840000" y="2160000"/>
            <a:ext cx="504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B6B8A"/>
                </a:solidFill>
                <a:latin typeface="Segoe UI"/>
                <a:ea typeface="Segoe UI"/>
              </a:rPr>
              <a:t>"Firmwise cut our monthly close from 5 days to half a day.</a:t>
            </a:r>
          </a:p>
          <a:p>
            <a:r>
              <a:rPr lang="en-US" sz="1600">
                <a:solidFill>
                  <a:srgbClr val="6B6B8A"/>
                </a:solidFill>
                <a:latin typeface="Segoe UI"/>
                <a:ea typeface="Segoe UI"/>
              </a:rPr>
              <a:t>I don't know how we managed without it."</a:t>
            </a:r>
          </a:p>
        </p:txBody>
      </p:sp>
      <p:sp>
        <p:nvSpPr>
          <p:cNvPr id="9" name="TextBox 9"/>
          <p:cNvSpPr/>
          <p:nvPr/>
        </p:nvSpPr>
        <p:spPr>
          <a:xfrm>
            <a:off x="6840000" y="4320000"/>
            <a:ext cx="50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5B4FFF"/>
                </a:solidFill>
                <a:latin typeface="Segoe UI"/>
                <a:ea typeface="Segoe UI"/>
              </a:rPr>
              <a:t>— Sarah K., CFO at Meridian Group</a:t>
            </a:r>
          </a:p>
        </p:txBody>
      </p:sp>
      <p:sp>
        <p:nvSpPr>
          <p:cNvPr id="10" name="TextBox 10"/>
          <p:cNvSpPr/>
          <p:nvPr/>
        </p:nvSpPr>
        <p:spPr>
          <a:xfrm>
            <a:off x="0" y="6408000"/>
            <a:ext cx="6480000" cy="450000"/>
          </a:xfrm>
          <a:prstGeom prst="rect">
            <a:avLst/>
          </a:prstGeom>
          <a:solidFill>
            <a:srgbClr val="5B4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0F2F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" y="21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216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vs. Status Quo</a:t>
            </a:r>
          </a:p>
        </p:txBody>
      </p:sp>
      <p:sp>
        <p:nvSpPr>
          <p:cNvPr id="4" name="TextBox 4"/>
          <p:cNvSpPr/>
          <p:nvPr/>
        </p:nvSpPr>
        <p:spPr>
          <a:xfrm>
            <a:off x="11160000" y="216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6B6B8A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720000"/>
            <a:ext cx="108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A1A2E"/>
                </a:solidFill>
                <a:latin typeface="Segoe UI Black"/>
                <a:ea typeface="Segoe UI Black"/>
              </a:rPr>
              <a:t>Before vs. After Firmwise</a:t>
            </a:r>
          </a:p>
        </p:txBody>
      </p:sp>
      <p:sp>
        <p:nvSpPr>
          <p:cNvPr id="6" name="!!card-a"/>
          <p:cNvSpPr/>
          <p:nvPr/>
        </p:nvSpPr>
        <p:spPr>
          <a:xfrm>
            <a:off x="540000" y="2520000"/>
            <a:ext cx="5220000" cy="3780000"/>
          </a:xfrm>
          <a:custGeom>
            <a:avLst/>
            <a:gdLst/>
            <a:ahLst/>
            <a:cxnLst/>
            <a:rect l="0" t="0" r="r" b="b"/>
            <a:pathLst>
              <a:path w="5220000" h="3780000">
                <a:moveTo>
                  <a:pt x="0" y="0"/>
                </a:moveTo>
                <a:lnTo>
                  <a:pt x="4968000" y="0"/>
                </a:lnTo>
                <a:lnTo>
                  <a:pt x="5220000" y="252000"/>
                </a:lnTo>
                <a:lnTo>
                  <a:pt x="5220000" y="3780000"/>
                </a:lnTo>
                <a:lnTo>
                  <a:pt x="0" y="3780000"/>
                </a:lnTo>
                <a:close/>
              </a:path>
            </a:pathLst>
          </a:cu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card-b"/>
          <p:cNvSpPr/>
          <p:nvPr/>
        </p:nvSpPr>
        <p:spPr>
          <a:xfrm>
            <a:off x="6192000" y="2520000"/>
            <a:ext cx="5220000" cy="3780000"/>
          </a:xfrm>
          <a:custGeom>
            <a:avLst/>
            <a:gdLst/>
            <a:ahLst/>
            <a:cxnLst/>
            <a:rect l="0" t="0" r="r" b="b"/>
            <a:pathLst>
              <a:path w="5220000" h="3780000">
                <a:moveTo>
                  <a:pt x="0" y="0"/>
                </a:moveTo>
                <a:lnTo>
                  <a:pt x="4968000" y="0"/>
                </a:lnTo>
                <a:lnTo>
                  <a:pt x="5220000" y="252000"/>
                </a:lnTo>
                <a:lnTo>
                  <a:pt x="5220000" y="3780000"/>
                </a:lnTo>
                <a:lnTo>
                  <a:pt x="0" y="3780000"/>
                </a:lnTo>
                <a:close/>
              </a:path>
            </a:pathLst>
          </a:custGeom>
          <a:solidFill>
            <a:srgbClr val="E8E5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00000" y="2808000"/>
            <a:ext cx="43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6B6B8A"/>
                </a:solidFill>
                <a:latin typeface="Segoe UI Black"/>
                <a:ea typeface="Segoe UI Black"/>
              </a:rPr>
              <a:t>Before</a:t>
            </a:r>
          </a:p>
        </p:txBody>
      </p:sp>
      <p:sp>
        <p:nvSpPr>
          <p:cNvPr id="9" name="TextBox 9"/>
          <p:cNvSpPr/>
          <p:nvPr/>
        </p:nvSpPr>
        <p:spPr>
          <a:xfrm>
            <a:off x="6552000" y="2808000"/>
            <a:ext cx="43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5B4FFF"/>
                </a:solidFill>
                <a:latin typeface="Segoe UI Black"/>
                <a:ea typeface="Segoe UI Black"/>
              </a:rPr>
              <a:t>After</a:t>
            </a:r>
          </a:p>
        </p:txBody>
      </p:sp>
      <p:sp>
        <p:nvSpPr>
          <p:cNvPr id="10" name="TextBox 10"/>
          <p:cNvSpPr/>
          <p:nvPr/>
        </p:nvSpPr>
        <p:spPr>
          <a:xfrm>
            <a:off x="900000" y="3600000"/>
            <a:ext cx="4320000" cy="23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• Manual data entry</a:t>
            </a:r>
          </a:p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• Weekly report takes 3 hours</a:t>
            </a:r>
          </a:p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• Errors caught after the fact</a:t>
            </a:r>
          </a:p>
          <a:p>
            <a:r>
              <a:rPr lang="en-US" sz="1500">
                <a:solidFill>
                  <a:srgbClr val="6B6B8A"/>
                </a:solidFill>
                <a:latin typeface="Segoe UI"/>
                <a:ea typeface="Segoe UI"/>
              </a:rPr>
              <a:t>• Team overwhelmed with admin</a:t>
            </a:r>
          </a:p>
        </p:txBody>
      </p:sp>
      <p:sp>
        <p:nvSpPr>
          <p:cNvPr id="11" name="TextBox 11"/>
          <p:cNvSpPr/>
          <p:nvPr/>
        </p:nvSpPr>
        <p:spPr>
          <a:xfrm>
            <a:off x="6552000" y="3600000"/>
            <a:ext cx="4320000" cy="23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5B4FFF"/>
                </a:solidFill>
                <a:latin typeface="Segoe UI"/>
                <a:ea typeface="Segoe UI"/>
              </a:rPr>
              <a:t>• Automated data sync</a:t>
            </a:r>
          </a:p>
          <a:p>
            <a:r>
              <a:rPr lang="en-US" sz="1500">
                <a:solidFill>
                  <a:srgbClr val="5B4FFF"/>
                </a:solidFill>
                <a:latin typeface="Segoe UI"/>
                <a:ea typeface="Segoe UI"/>
              </a:rPr>
              <a:t>• Real-time dashboards</a:t>
            </a:r>
          </a:p>
          <a:p>
            <a:r>
              <a:rPr lang="en-US" sz="1500">
                <a:solidFill>
                  <a:srgbClr val="5B4FFF"/>
                </a:solidFill>
                <a:latin typeface="Segoe UI"/>
                <a:ea typeface="Segoe UI"/>
              </a:rPr>
              <a:t>• AI flags anomalies instantly</a:t>
            </a:r>
          </a:p>
          <a:p>
            <a:r>
              <a:rPr lang="en-US" sz="1500">
                <a:solidFill>
                  <a:srgbClr val="5B4FFF"/>
                </a:solidFill>
                <a:latin typeface="Segoe UI"/>
                <a:ea typeface="Segoe UI"/>
              </a:rPr>
              <a:t>• Team focused on strategy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5B4FFF"/>
        </a:solidFill>
      </p:bgPr>
    </p:bg>
    <p:spTree>
      <p:nvGrpSpPr>
        <p:cNvPr id="1" name=""/>
        <p:cNvGrpSpPr/>
        <p:nvPr/>
      </p:nvGrpSpPr>
      <p:grpSpPr/>
      <p:sp>
        <p:nvSpPr>
          <p:cNvPr id="2" name="!!card-c"/>
          <p:cNvSpPr/>
          <p:nvPr/>
        </p:nvSpPr>
        <p:spPr>
          <a:xfrm>
            <a:off x="7200000" y="0"/>
            <a:ext cx="6480000" cy="6480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4320000"/>
            <a:ext cx="4320000" cy="4320000"/>
          </a:xfrm>
          <a:prstGeom prst="ellipse">
            <a:avLst/>
          </a:prstGeom>
          <a:solidFill>
            <a:srgbClr val="9B8B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936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Ready to Reclaim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Your Team's Time?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3960000"/>
            <a:ext cx="79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E8E5FF"/>
                </a:solidFill>
                <a:latin typeface="Segoe UI"/>
                <a:ea typeface="Segoe UI"/>
              </a:rPr>
              <a:t>Start your free trial — no credit card required.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220000"/>
            <a:ext cx="3600000" cy="90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220000"/>
            <a:ext cx="36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5B4FFF"/>
                </a:solidFill>
                <a:latin typeface="Segoe UI Black"/>
                <a:ea typeface="Segoe UI Black"/>
              </a:rPr>
              <a:t>Start Free Trial →</a:t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8E5FF"/>
                </a:solidFill>
                <a:latin typeface="Segoe UI"/>
                <a:ea typeface="Segoe UI"/>
              </a:rPr>
              <a:t>Firmwise</a:t>
            </a:r>
          </a:p>
        </p:txBody>
      </p:sp>
      <p:sp>
        <p:nvSpPr>
          <p:cNvPr id="9" name="TextBox 9"/>
          <p:cNvSpPr/>
          <p:nvPr/>
        </p:nvSpPr>
        <p:spPr>
          <a:xfrm>
            <a:off x="11160000" y="6408000"/>
            <a:ext cx="7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E8E5FF"/>
                </a:solidFill>
                <a:latin typeface="Segoe UI"/>
                <a:ea typeface="Segoe UI"/>
              </a:rPr>
              <a:t>07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