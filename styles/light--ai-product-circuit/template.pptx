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5bed322e846486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43f31a1b9e6438d"/>
    <p:sldId id="257" r:id="Rf4570783b17c4e1b"/>
    <p:sldId id="258" r:id="R4c63a190533244bb"/>
    <p:sldId id="259" r:id="R1881c3b9c4e54b2f"/>
    <p:sldId id="260" r:id="Rfbab62b58c2c451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43f31a1b9e6438d" /><Relationship Type="http://schemas.openxmlformats.org/officeDocument/2006/relationships/slide" Target="/ppt/slides/slide2.xml" Id="Rf4570783b17c4e1b" /><Relationship Type="http://schemas.openxmlformats.org/officeDocument/2006/relationships/slide" Target="/ppt/slides/slide3.xml" Id="R4c63a190533244bb" /><Relationship Type="http://schemas.openxmlformats.org/officeDocument/2006/relationships/slide" Target="/ppt/slides/slide4.xml" Id="R1881c3b9c4e54b2f" /><Relationship Type="http://schemas.openxmlformats.org/officeDocument/2006/relationships/slide" Target="/ppt/slides/slide5.xml" Id="Rfbab62b58c2c451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e5466a9474a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1c060e19ae45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61734f083f437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80a3bda2894092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9384ef7dc80f403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8b1afeb8d46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2ec63489841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52b38cfdf41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1a29168ed47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caf70d5d44f9f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0D1B4B"/>
        </a:solidFill>
      </p:bgPr>
    </p:bg>
    <p:spTree>
      <p:nvGrpSpPr>
        <p:cNvPr id="1" name=""/>
        <p:cNvGrpSpPr/>
        <p:nvPr/>
      </p:nvGrpSpPr>
      <p:grpSpPr/>
      <p:sp>
        <p:nvSpPr>
          <p:cNvPr id="2" name="!!orb-a"/>
          <p:cNvSpPr/>
          <p:nvPr/>
        </p:nvSpPr>
        <p:spPr>
          <a:xfrm>
            <a:off x="4320000" y="0"/>
            <a:ext cx="7920000" cy="6120000"/>
          </a:xfrm>
          <a:prstGeom prst="ellipse">
            <a:avLst/>
          </a:prstGeom>
          <a:solidFill>
            <a:srgbClr val="0066FF">
              <a:alpha val="3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orb-b"/>
          <p:cNvSpPr/>
          <p:nvPr/>
        </p:nvSpPr>
        <p:spPr>
          <a:xfrm>
            <a:off x="6120000" y="1440000"/>
            <a:ext cx="5040000" cy="4680000"/>
          </a:xfrm>
          <a:prstGeom prst="ellipse">
            <a:avLst/>
          </a:prstGeom>
          <a:solidFill>
            <a:srgbClr val="00D4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orb-c"/>
          <p:cNvSpPr/>
          <p:nvPr/>
        </p:nvSpPr>
        <p:spPr>
          <a:xfrm>
            <a:off x="0" y="3600000"/>
            <a:ext cx="4320000" cy="3600000"/>
          </a:xfrm>
          <a:prstGeom prst="ellipse">
            <a:avLst/>
          </a:prstGeom>
          <a:solidFill>
            <a:srgbClr val="FF69B4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orb-d"/>
          <p:cNvSpPr/>
          <p:nvPr/>
        </p:nvSpPr>
        <p:spPr>
          <a:xfrm>
            <a:off x="8640000" y="0"/>
            <a:ext cx="3600000" cy="3240000"/>
          </a:xfrm>
          <a:prstGeom prst="ellipse">
            <a:avLst/>
          </a:prstGeom>
          <a:solidFill>
            <a:srgbClr val="00FFC8">
              <a:alpha val="1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e"/>
          <p:cNvSpPr/>
          <p:nvPr/>
        </p:nvSpPr>
        <p:spPr>
          <a:xfrm>
            <a:off x="0" y="0"/>
            <a:ext cx="2880000" cy="2520000"/>
          </a:xfrm>
          <a:prstGeom prst="ellipse">
            <a:avLst/>
          </a:prstGeom>
          <a:solidFill>
            <a:srgbClr val="7B2F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orb-f"/>
          <p:cNvSpPr/>
          <p:nvPr/>
        </p:nvSpPr>
        <p:spPr>
          <a:xfrm>
            <a:off x="5760000" y="1800000"/>
            <a:ext cx="5040000" cy="4320000"/>
          </a:xfrm>
          <a:prstGeom prst="ellipse">
            <a:avLst/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1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card-2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ard-3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tag"/>
          <p:cNvSpPr/>
          <p:nvPr/>
        </p:nvSpPr>
        <p:spPr>
          <a:xfrm>
            <a:off x="576000" y="2340000"/>
            <a:ext cx="432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00D4FF"/>
                </a:solidFill>
                <a:latin typeface="Segoe UI"/>
                <a:ea typeface="Segoe UI"/>
              </a:rPr>
              <a:t>AI PRODUCT</a:t>
            </a:r>
          </a:p>
        </p:txBody>
      </p:sp>
      <p:sp>
        <p:nvSpPr>
          <p:cNvPr id="13" name="!!h-title"/>
          <p:cNvSpPr/>
          <p:nvPr/>
        </p:nvSpPr>
        <p:spPr>
          <a:xfrm>
            <a:off x="576000" y="2664000"/>
            <a:ext cx="648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FFFFFF"/>
                </a:solidFill>
                <a:latin typeface="Segoe UI"/>
                <a:ea typeface="Segoe UI"/>
              </a:rPr>
              <a:t>Intelligence, Redefined</a:t>
            </a:r>
          </a:p>
        </p:txBody>
      </p:sp>
      <p:sp>
        <p:nvSpPr>
          <p:cNvPr id="14" name="!!h-sub"/>
          <p:cNvSpPr/>
          <p:nvPr/>
        </p:nvSpPr>
        <p:spPr>
          <a:xfrm>
            <a:off x="576000" y="4860000"/>
            <a:ext cx="57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7AB8FF"/>
                </a:solidFill>
                <a:latin typeface="Segoe UI"/>
                <a:ea typeface="Segoe UI"/>
              </a:rPr>
              <a:t>The AI platform built for the way humans actually work.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60D24"/>
        </a:solidFill>
      </p:bgPr>
    </p:bg>
    <p:spTree>
      <p:nvGrpSpPr>
        <p:cNvPr id="1" name=""/>
        <p:cNvGrpSpPr/>
        <p:nvPr/>
      </p:nvGrpSpPr>
      <p:grpSpPr/>
      <p:sp>
        <p:nvSpPr>
          <p:cNvPr id="2" name="!!orb-a"/>
          <p:cNvSpPr/>
          <p:nvPr/>
        </p:nvSpPr>
        <p:spPr>
          <a:xfrm>
            <a:off x="0" y="720000"/>
            <a:ext cx="6480000" cy="6120000"/>
          </a:xfrm>
          <a:prstGeom prst="ellipse">
            <a:avLst/>
          </a:prstGeom>
          <a:solidFill>
            <a:srgbClr val="FF69B4">
              <a:alpha val="2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orb-b"/>
          <p:cNvSpPr/>
          <p:nvPr/>
        </p:nvSpPr>
        <p:spPr>
          <a:xfrm>
            <a:off x="720000" y="1800000"/>
            <a:ext cx="4680000" cy="4320000"/>
          </a:xfrm>
          <a:prstGeom prst="ellipse">
            <a:avLst/>
          </a:prstGeom>
          <a:solidFill>
            <a:srgbClr val="00D4FF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orb-c"/>
          <p:cNvSpPr/>
          <p:nvPr/>
        </p:nvSpPr>
        <p:spPr>
          <a:xfrm>
            <a:off x="1080000" y="0"/>
            <a:ext cx="5400000" cy="3600000"/>
          </a:xfrm>
          <a:prstGeom prst="ellipse">
            <a:avLst/>
          </a:prstGeom>
          <a:solidFill>
            <a:srgbClr val="0066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orb-d"/>
          <p:cNvSpPr/>
          <p:nvPr/>
        </p:nvSpPr>
        <p:spPr>
          <a:xfrm>
            <a:off x="9360000" y="3600000"/>
            <a:ext cx="3600000" cy="3240000"/>
          </a:xfrm>
          <a:prstGeom prst="ellipse">
            <a:avLst/>
          </a:prstGeom>
          <a:solidFill>
            <a:srgbClr val="00FFC8">
              <a:alpha val="1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e"/>
          <p:cNvSpPr/>
          <p:nvPr/>
        </p:nvSpPr>
        <p:spPr>
          <a:xfrm>
            <a:off x="7920000" y="5040000"/>
            <a:ext cx="4320000" cy="2160000"/>
          </a:xfrm>
          <a:prstGeom prst="ellipse">
            <a:avLst/>
          </a:prstGeom>
          <a:solidFill>
            <a:srgbClr val="7B2FFF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orb-f"/>
          <p:cNvSpPr/>
          <p:nvPr/>
        </p:nvSpPr>
        <p:spPr>
          <a:xfrm>
            <a:off x="1440000" y="2160000"/>
            <a:ext cx="3600000" cy="3240000"/>
          </a:xfrm>
          <a:prstGeom prst="ellipse">
            <a:avLst/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1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card-2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ard-3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tag"/>
          <p:cNvSpPr/>
          <p:nvPr/>
        </p:nvSpPr>
        <p:spPr>
          <a:xfrm>
            <a:off x="5580000" y="1800000"/>
            <a:ext cx="1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00D4FF"/>
                </a:solidFill>
                <a:latin typeface="Segoe UI"/>
                <a:ea typeface="Segoe UI"/>
              </a:rPr>
              <a:t/>
            </a:r>
          </a:p>
        </p:txBody>
      </p:sp>
      <p:sp>
        <p:nvSpPr>
          <p:cNvPr id="13" name="!!h-title"/>
          <p:cNvSpPr/>
          <p:nvPr/>
        </p:nvSpPr>
        <p:spPr>
          <a:xfrm>
            <a:off x="5580000" y="2160000"/>
            <a:ext cx="612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>
                <a:solidFill>
                  <a:srgbClr val="FFFFFF"/>
                </a:solidFill>
                <a:latin typeface="Segoe UI"/>
                <a:ea typeface="Segoe UI"/>
              </a:rPr>
              <a:t>Every decision, enhanced by AI.</a:t>
            </a:r>
          </a:p>
        </p:txBody>
      </p:sp>
      <p:sp>
        <p:nvSpPr>
          <p:cNvPr id="14" name="!!h-sub"/>
          <p:cNvSpPr/>
          <p:nvPr/>
        </p:nvSpPr>
        <p:spPr>
          <a:xfrm>
            <a:off x="5580000" y="4500000"/>
            <a:ext cx="576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7AB8FF"/>
                </a:solidFill>
                <a:latin typeface="Segoe UI"/>
                <a:ea typeface="Segoe UI"/>
              </a:rPr>
              <a:t>Not a tool. A thinking partner that scales with your ambition.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1B4B"/>
        </a:solidFill>
      </p:bgPr>
    </p:bg>
    <p:spTree>
      <p:nvGrpSpPr>
        <p:cNvPr id="1" name=""/>
        <p:cNvGrpSpPr/>
        <p:nvPr/>
      </p:nvGrpSpPr>
      <p:grpSpPr/>
      <p:sp>
        <p:nvSpPr>
          <p:cNvPr id="2" name="!!orb-a"/>
          <p:cNvSpPr/>
          <p:nvPr/>
        </p:nvSpPr>
        <p:spPr>
          <a:xfrm>
            <a:off x="6480000" y="2520000"/>
            <a:ext cx="5760000" cy="5040000"/>
          </a:xfrm>
          <a:prstGeom prst="ellipse">
            <a:avLst/>
          </a:prstGeom>
          <a:solidFill>
            <a:srgbClr val="0066FF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orb-b"/>
          <p:cNvSpPr/>
          <p:nvPr/>
        </p:nvSpPr>
        <p:spPr>
          <a:xfrm>
            <a:off x="8640000" y="0"/>
            <a:ext cx="4320000" cy="3600000"/>
          </a:xfrm>
          <a:prstGeom prst="ellipse">
            <a:avLst/>
          </a:prstGeom>
          <a:solidFill>
            <a:srgbClr val="00D4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orb-c"/>
          <p:cNvSpPr/>
          <p:nvPr/>
        </p:nvSpPr>
        <p:spPr>
          <a:xfrm>
            <a:off x="9360000" y="4320000"/>
            <a:ext cx="3600000" cy="2880000"/>
          </a:xfrm>
          <a:prstGeom prst="ellipse">
            <a:avLst/>
          </a:prstGeom>
          <a:solidFill>
            <a:srgbClr val="FF69B4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orb-d"/>
          <p:cNvSpPr/>
          <p:nvPr/>
        </p:nvSpPr>
        <p:spPr>
          <a:xfrm>
            <a:off x="0" y="5040000"/>
            <a:ext cx="3600000" cy="2160000"/>
          </a:xfrm>
          <a:prstGeom prst="ellipse">
            <a:avLst/>
          </a:prstGeom>
          <a:solidFill>
            <a:srgbClr val="00FFC8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e"/>
          <p:cNvSpPr/>
          <p:nvPr/>
        </p:nvSpPr>
        <p:spPr>
          <a:xfrm>
            <a:off x="0" y="0"/>
            <a:ext cx="2160000" cy="1800000"/>
          </a:xfrm>
          <a:prstGeom prst="ellipse">
            <a:avLst/>
          </a:prstGeom>
          <a:solidFill>
            <a:srgbClr val="7B2FFF">
              <a:alpha val="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orb-f"/>
          <p:cNvSpPr/>
          <p:nvPr/>
        </p:nvSpPr>
        <p:spPr>
          <a:xfrm>
            <a:off x="4320000" y="2160000"/>
            <a:ext cx="7200000" cy="504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1"/>
          <p:cNvSpPr/>
          <p:nvPr/>
        </p:nvSpPr>
        <p:spPr>
          <a:xfrm>
            <a:off x="576000" y="1584000"/>
            <a:ext cx="3456000" cy="3960000"/>
          </a:xfrm>
          <a:prstGeom prst="roundRect">
            <a:avLst/>
          </a:prstGeom>
          <a:solidFill>
            <a:srgbClr val="FFFFFF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card-2"/>
          <p:cNvSpPr/>
          <p:nvPr/>
        </p:nvSpPr>
        <p:spPr>
          <a:xfrm>
            <a:off x="4464000" y="1584000"/>
            <a:ext cx="3456000" cy="3960000"/>
          </a:xfrm>
          <a:prstGeom prst="roundRect">
            <a:avLst/>
          </a:prstGeom>
          <a:solidFill>
            <a:srgbClr val="FFFFFF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ard-3"/>
          <p:cNvSpPr/>
          <p:nvPr/>
        </p:nvSpPr>
        <p:spPr>
          <a:xfrm>
            <a:off x="8352000" y="1584000"/>
            <a:ext cx="3456000" cy="3960000"/>
          </a:xfrm>
          <a:prstGeom prst="roundRect">
            <a:avLst/>
          </a:prstGeom>
          <a:solidFill>
            <a:srgbClr val="FFFFFF">
              <a:alpha val="7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tag"/>
          <p:cNvSpPr/>
          <p:nvPr/>
        </p:nvSpPr>
        <p:spPr>
          <a:xfrm>
            <a:off x="576000" y="360000"/>
            <a:ext cx="7200000" cy="576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"/>
                <a:ea typeface="Segoe UI"/>
              </a:rPr>
              <a:t>THREE CAPABILITIES</a:t>
            </a:r>
          </a:p>
        </p:txBody>
      </p:sp>
      <p:sp>
        <p:nvSpPr>
          <p:cNvPr id="13" name="!!h-title"/>
          <p:cNvSpPr/>
          <p:nvPr/>
        </p:nvSpPr>
        <p:spPr>
          <a:xfrm>
            <a:off x="576000" y="2700000"/>
            <a:ext cx="1080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 b="1">
                <a:solidFill>
                  <a:srgbClr val="FFFFFF"/>
                </a:solidFill>
                <a:latin typeface="Segoe UI"/>
                <a:ea typeface="Segoe UI"/>
              </a:rPr>
              <a:t>Predict          Automate          Adapt</a:t>
            </a:r>
          </a:p>
        </p:txBody>
      </p:sp>
      <p:sp>
        <p:nvSpPr>
          <p:cNvPr id="14" name="!!h-sub"/>
          <p:cNvSpPr/>
          <p:nvPr/>
        </p:nvSpPr>
        <p:spPr>
          <a:xfrm>
            <a:off x="576000" y="3600000"/>
            <a:ext cx="10800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7AB8FF"/>
                </a:solidFill>
                <a:latin typeface="Segoe UI"/>
                <a:ea typeface="Segoe UI"/>
              </a:rPr>
              <a:t>Anticipate outcomes. Eliminate routine. Refine continuously — all without switching context.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60D24"/>
        </a:solidFill>
      </p:bgPr>
    </p:bg>
    <p:spTree>
      <p:nvGrpSpPr>
        <p:cNvPr id="1" name=""/>
        <p:cNvGrpSpPr/>
        <p:nvPr/>
      </p:nvGrpSpPr>
      <p:grpSpPr/>
      <p:sp>
        <p:nvSpPr>
          <p:cNvPr id="2" name="!!orb-a"/>
          <p:cNvSpPr/>
          <p:nvPr/>
        </p:nvSpPr>
        <p:spPr>
          <a:xfrm>
            <a:off x="720000" y="720000"/>
            <a:ext cx="5760000" cy="5040000"/>
          </a:xfrm>
          <a:prstGeom prst="ellipse">
            <a:avLst/>
          </a:prstGeom>
          <a:solidFill>
            <a:srgbClr val="00D4FF">
              <a:alpha val="2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orb-b"/>
          <p:cNvSpPr/>
          <p:nvPr/>
        </p:nvSpPr>
        <p:spPr>
          <a:xfrm>
            <a:off x="0" y="2160000"/>
            <a:ext cx="4680000" cy="4680000"/>
          </a:xfrm>
          <a:prstGeom prst="ellipse">
            <a:avLst/>
          </a:prstGeom>
          <a:solidFill>
            <a:srgbClr val="FF69B4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orb-c"/>
          <p:cNvSpPr/>
          <p:nvPr/>
        </p:nvSpPr>
        <p:spPr>
          <a:xfrm>
            <a:off x="1440000" y="0"/>
            <a:ext cx="4320000" cy="3600000"/>
          </a:xfrm>
          <a:prstGeom prst="ellipse">
            <a:avLst/>
          </a:prstGeom>
          <a:solidFill>
            <a:srgbClr val="0066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orb-d"/>
          <p:cNvSpPr/>
          <p:nvPr/>
        </p:nvSpPr>
        <p:spPr>
          <a:xfrm>
            <a:off x="7920000" y="3600000"/>
            <a:ext cx="4320000" cy="3600000"/>
          </a:xfrm>
          <a:prstGeom prst="ellipse">
            <a:avLst/>
          </a:prstGeom>
          <a:solidFill>
            <a:srgbClr val="00FFC8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e"/>
          <p:cNvSpPr/>
          <p:nvPr/>
        </p:nvSpPr>
        <p:spPr>
          <a:xfrm>
            <a:off x="8640000" y="1440000"/>
            <a:ext cx="3600000" cy="2520000"/>
          </a:xfrm>
          <a:prstGeom prst="ellipse">
            <a:avLst/>
          </a:prstGeom>
          <a:solidFill>
            <a:srgbClr val="7B2FFF">
              <a:alpha val="1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orb-f"/>
          <p:cNvSpPr/>
          <p:nvPr/>
        </p:nvSpPr>
        <p:spPr>
          <a:xfrm>
            <a:off x="2880000" y="1440000"/>
            <a:ext cx="5760000" cy="4680000"/>
          </a:xfrm>
          <a:prstGeom prst="ellipse">
            <a:avLst/>
          </a:prstGeom>
          <a:solidFill>
            <a:srgbClr val="FFFFFF">
              <a:alpha val="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0" y="0"/>
            <a:ext cx="5760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1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card-2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ard-3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tag"/>
          <p:cNvSpPr/>
          <p:nvPr/>
        </p:nvSpPr>
        <p:spPr>
          <a:xfrm>
            <a:off x="6336000" y="288000"/>
            <a:ext cx="5040000" cy="3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FFFFF"/>
                </a:solidFill>
                <a:latin typeface="Segoe UI"/>
                <a:ea typeface="Segoe UI"/>
              </a:rPr>
              <a:t>RESULTS</a:t>
            </a:r>
          </a:p>
        </p:txBody>
      </p:sp>
      <p:sp>
        <p:nvSpPr>
          <p:cNvPr id="13" name="!!h-title"/>
          <p:cNvSpPr/>
          <p:nvPr/>
        </p:nvSpPr>
        <p:spPr>
          <a:xfrm>
            <a:off x="6336000" y="864000"/>
            <a:ext cx="504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7200" b="1">
                <a:solidFill>
                  <a:srgbClr val="FFFFFF"/>
                </a:solidFill>
                <a:latin typeface="Segoe UI"/>
                <a:ea typeface="Segoe UI"/>
              </a:rPr>
              <a:t>10x</a:t>
            </a:r>
          </a:p>
        </p:txBody>
      </p:sp>
      <p:sp>
        <p:nvSpPr>
          <p:cNvPr id="14" name="!!h-sub"/>
          <p:cNvSpPr/>
          <p:nvPr/>
        </p:nvSpPr>
        <p:spPr>
          <a:xfrm>
            <a:off x="6336000" y="3060000"/>
            <a:ext cx="504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7AB8FF"/>
                </a:solidFill>
                <a:latin typeface="Segoe UI"/>
                <a:ea typeface="Segoe UI"/>
              </a:rPr>
              <a:t>Faster decisions</a:t>
            </a:r>
          </a:p>
          <a:p>
            <a:r>
              <a:rPr lang="en-US" sz="1500">
                <a:solidFill>
                  <a:srgbClr val="7AB8FF"/>
                </a:solidFill>
                <a:latin typeface="Segoe UI"/>
                <a:ea typeface="Segoe UI"/>
              </a:rPr>
              <a:t/>
            </a:r>
          </a:p>
          <a:p>
            <a:r>
              <a:rPr lang="en-US" sz="1500">
                <a:solidFill>
                  <a:srgbClr val="7AB8FF"/>
                </a:solidFill>
                <a:latin typeface="Segoe UI"/>
                <a:ea typeface="Segoe UI"/>
              </a:rPr>
              <a:t>$4.2M  Annual savings per client</a:t>
            </a:r>
          </a:p>
          <a:p>
            <a:r>
              <a:rPr lang="en-US" sz="1500">
                <a:solidFill>
                  <a:srgbClr val="7AB8FF"/>
                </a:solidFill>
                <a:latin typeface="Segoe UI"/>
                <a:ea typeface="Segoe UI"/>
              </a:rPr>
              <a:t/>
            </a:r>
          </a:p>
          <a:p>
            <a:r>
              <a:rPr lang="en-US" sz="1500">
                <a:solidFill>
                  <a:srgbClr val="7AB8FF"/>
                </a:solidFill>
                <a:latin typeface="Segoe UI"/>
                <a:ea typeface="Segoe UI"/>
              </a:rPr>
              <a:t>99.97%  Uptime SLA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0D1B4B"/>
        </a:solidFill>
      </p:bgPr>
    </p:bg>
    <p:spTree>
      <p:nvGrpSpPr>
        <p:cNvPr id="1" name=""/>
        <p:cNvGrpSpPr/>
        <p:nvPr/>
      </p:nvGrpSpPr>
      <p:grpSpPr/>
      <p:sp>
        <p:nvSpPr>
          <p:cNvPr id="2" name="!!orb-a"/>
          <p:cNvSpPr/>
          <p:nvPr/>
        </p:nvSpPr>
        <p:spPr>
          <a:xfrm>
            <a:off x="6480000" y="360000"/>
            <a:ext cx="6480000" cy="6120000"/>
          </a:xfrm>
          <a:prstGeom prst="ellipse">
            <a:avLst/>
          </a:prstGeom>
          <a:solidFill>
            <a:srgbClr val="0066F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orb-b"/>
          <p:cNvSpPr/>
          <p:nvPr/>
        </p:nvSpPr>
        <p:spPr>
          <a:xfrm>
            <a:off x="7920000" y="1440000"/>
            <a:ext cx="4680000" cy="4680000"/>
          </a:xfrm>
          <a:prstGeom prst="ellipse">
            <a:avLst/>
          </a:prstGeom>
          <a:solidFill>
            <a:srgbClr val="00D4FF">
              <a:alpha val="2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orb-c"/>
          <p:cNvSpPr/>
          <p:nvPr/>
        </p:nvSpPr>
        <p:spPr>
          <a:xfrm>
            <a:off x="10080000" y="3600000"/>
            <a:ext cx="2880000" cy="2880000"/>
          </a:xfrm>
          <a:prstGeom prst="ellipse">
            <a:avLst/>
          </a:prstGeom>
          <a:solidFill>
            <a:srgbClr val="FF69B4">
              <a:alpha val="16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orb-d"/>
          <p:cNvSpPr/>
          <p:nvPr/>
        </p:nvSpPr>
        <p:spPr>
          <a:xfrm>
            <a:off x="7920000" y="0"/>
            <a:ext cx="3600000" cy="2880000"/>
          </a:xfrm>
          <a:prstGeom prst="ellipse">
            <a:avLst/>
          </a:prstGeom>
          <a:solidFill>
            <a:srgbClr val="00FFC8">
              <a:alpha val="14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orb-e"/>
          <p:cNvSpPr/>
          <p:nvPr/>
        </p:nvSpPr>
        <p:spPr>
          <a:xfrm>
            <a:off x="0" y="5040000"/>
            <a:ext cx="2880000" cy="2160000"/>
          </a:xfrm>
          <a:prstGeom prst="ellipse">
            <a:avLst/>
          </a:prstGeom>
          <a:solidFill>
            <a:srgbClr val="7B2FFF">
              <a:alpha val="1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orb-f"/>
          <p:cNvSpPr/>
          <p:nvPr/>
        </p:nvSpPr>
        <p:spPr>
          <a:xfrm>
            <a:off x="7200000" y="2160000"/>
            <a:ext cx="5040000" cy="4320000"/>
          </a:xfrm>
          <a:prstGeom prst="ellipse">
            <a:avLst/>
          </a:prstGeom>
          <a:solidFill>
            <a:srgbClr val="FFFFF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7200000" y="0"/>
            <a:ext cx="3600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card-1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card-2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!!card-3"/>
          <p:cNvSpPr/>
          <p:nvPr/>
        </p:nvSpPr>
        <p:spPr>
          <a:xfrm>
            <a:off x="11880000" y="6660000"/>
            <a:ext cx="180000" cy="180000"/>
          </a:xfrm>
          <a:prstGeom prst="roundRect">
            <a:avLst/>
          </a:prstGeom>
          <a:solidFill>
            <a:srgbClr val="FFFFFF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2" name="!!tag"/>
          <p:cNvSpPr/>
          <p:nvPr/>
        </p:nvSpPr>
        <p:spPr>
          <a:xfrm>
            <a:off x="576000" y="198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00D4FF"/>
                </a:solidFill>
                <a:latin typeface="Segoe UI"/>
                <a:ea typeface="Segoe UI"/>
              </a:rPr>
              <a:t>GET STARTED</a:t>
            </a:r>
          </a:p>
        </p:txBody>
      </p:sp>
      <p:sp>
        <p:nvSpPr>
          <p:cNvPr id="13" name="!!h-title"/>
          <p:cNvSpPr/>
          <p:nvPr/>
        </p:nvSpPr>
        <p:spPr>
          <a:xfrm>
            <a:off x="576000" y="2304000"/>
            <a:ext cx="612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600" b="1">
                <a:solidFill>
                  <a:srgbClr val="FFFFFF"/>
                </a:solidFill>
                <a:latin typeface="Segoe UI"/>
                <a:ea typeface="Segoe UI"/>
              </a:rPr>
              <a:t>Request Early Access</a:t>
            </a:r>
          </a:p>
        </p:txBody>
      </p:sp>
      <p:sp>
        <p:nvSpPr>
          <p:cNvPr id="14" name="!!h-sub"/>
          <p:cNvSpPr/>
          <p:nvPr/>
        </p:nvSpPr>
        <p:spPr>
          <a:xfrm>
            <a:off x="576000" y="4500000"/>
            <a:ext cx="57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700">
                <a:solidFill>
                  <a:srgbClr val="7AB8FF"/>
                </a:solidFill>
                <a:latin typeface="Segoe UI"/>
                <a:ea typeface="Segoe UI"/>
              </a:rPr>
              <a:t>Join 200+ enterprises already building with us.</a:t>
            </a:r>
          </a:p>
        </p:txBody>
      </p:sp>
      <p:sp>
        <p:nvSpPr>
          <p:cNvPr id="15" name="!!cta"/>
          <p:cNvSpPr/>
          <p:nvPr/>
        </p:nvSpPr>
        <p:spPr>
          <a:xfrm>
            <a:off x="576000" y="5544000"/>
            <a:ext cx="3240000" cy="648000"/>
          </a:xfrm>
          <a:prstGeom prst="rect">
            <a:avLst/>
          </a:prstGeom>
          <a:solidFill>
            <a:srgbClr val="0066FF"/>
          </a:solidFill>
        </p:spPr>
        <p:txBody>
          <a:bodyPr/>
          <a:lstStyle/>
          <a:p>
            <a:r>
              <a:rPr lang="en-US" sz="1500" b="1">
                <a:solidFill>
                  <a:srgbClr val="FFFFFF"/>
                </a:solidFill>
                <a:latin typeface="Segoe UI"/>
                <a:ea typeface="Segoe UI"/>
              </a:rPr>
              <a:t>Get started -&gt;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