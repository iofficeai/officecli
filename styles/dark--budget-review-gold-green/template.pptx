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54209aea28446a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cea9caa05ec4d3f"/>
    <p:sldId id="257" r:id="R88ccb844ed6b44f6"/>
    <p:sldId id="258" r:id="Rfd2b59ecae874c29"/>
    <p:sldId id="259" r:id="Rff1e261bd4894680"/>
    <p:sldId id="260" r:id="Rbaeec5b776924a79"/>
    <p:sldId id="261" r:id="R466dc6fecb9246e7"/>
    <p:sldId id="262" r:id="R1ade6f70432d436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cea9caa05ec4d3f" /><Relationship Type="http://schemas.openxmlformats.org/officeDocument/2006/relationships/slide" Target="/ppt/slides/slide2.xml" Id="R88ccb844ed6b44f6" /><Relationship Type="http://schemas.openxmlformats.org/officeDocument/2006/relationships/slide" Target="/ppt/slides/slide3.xml" Id="Rfd2b59ecae874c29" /><Relationship Type="http://schemas.openxmlformats.org/officeDocument/2006/relationships/slide" Target="/ppt/slides/slide4.xml" Id="Rff1e261bd4894680" /><Relationship Type="http://schemas.openxmlformats.org/officeDocument/2006/relationships/slide" Target="/ppt/slides/slide5.xml" Id="Rbaeec5b776924a79" /><Relationship Type="http://schemas.openxmlformats.org/officeDocument/2006/relationships/slide" Target="/ppt/slides/slide6.xml" Id="R466dc6fecb9246e7" /><Relationship Type="http://schemas.openxmlformats.org/officeDocument/2006/relationships/slide" Target="/ppt/slides/slide7.xml" Id="R1ade6f70432d436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3a06281c944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b6a689c3543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1262ae4d544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e2ce41a64439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17a0a6fbb2543a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89e1bd5f049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ca05db70c43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d9a1f2ad9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754cd891b4b4f" /><Relationship Type="http://schemas.openxmlformats.org/officeDocument/2006/relationships/chart" Target="/ppt/slides/charts/chart1.xml" Id="R49d9928adffb45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ab28463a6479c" /><Relationship Type="http://schemas.openxmlformats.org/officeDocument/2006/relationships/chart" Target="/ppt/slides/charts/chart2.xml" Id="R44a311b90c6f4b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122e9b6244b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eaeccdfbe40aa" /></Relationships>
</file>

<file path=ppt/slides/charts/chart1.xml><?xml version="1.0" encoding="utf-8"?>
<c:chartSpace xmlns:c="http://schemas.openxmlformats.org/drawingml/2006/chart">
  <c:chart>
    <c:plotArea>
      <c:layout/>
      <c:pieChart>
        <c:varyColors val="1"/>
        <c:ser>
          <c:idx val="0"/>
          <c:order val="0"/>
          <c:tx>
            <c:v>Series 1</c:v>
          </c:tx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28</c:v>
              </c:pt>
              <c:pt idx="2">
                <c:v>22</c:v>
              </c:pt>
              <c:pt idx="3">
                <c:v>15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overlay val="0"/>
    </c:legend>
    <c:plotVisOnly val="1"/>
    <c:dispBlanksAs val="gap"/>
  </c:chart>
</c:chartSpace>
</file>

<file path=ppt/slides/charts/chart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Department Budget vs Actual ($)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C9A84C"/>
            </a:solidFill>
          </c:spPr>
          <c:cat>
            <c:strLit>
              <c:ptCount val="5"/>
              <c:pt idx="0">
                <c:v>Operations</c:v>
              </c:pt>
              <c:pt idx="1">
                <c:v>Marketing</c:v>
              </c:pt>
              <c:pt idx="2">
                <c:v>R&amp;D</c:v>
              </c:pt>
              <c:pt idx="3">
                <c:v>HR</c:v>
              </c:pt>
              <c:pt idx="4">
                <c:v>IT</c:v>
              </c:pt>
            </c:strLit>
          </c:cat>
          <c:val>
            <c:numLit>
              <c:formatCode>General</c:formatCode>
              <c:ptCount val="5"/>
              <c:pt idx="0">
                <c:v>1200000</c:v>
              </c:pt>
              <c:pt idx="1">
                <c:v>800000</c:v>
              </c:pt>
              <c:pt idx="2">
                <c:v>600000</c:v>
              </c:pt>
              <c:pt idx="3">
                <c:v>400000</c:v>
              </c:pt>
              <c:pt idx="4">
                <c:v>500000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A6A25"/>
            </a:solidFill>
          </c:spPr>
          <c:cat>
            <c:strLit>
              <c:ptCount val="5"/>
              <c:pt idx="0">
                <c:v>Operations</c:v>
              </c:pt>
              <c:pt idx="1">
                <c:v>Marketing</c:v>
              </c:pt>
              <c:pt idx="2">
                <c:v>R&amp;D</c:v>
              </c:pt>
              <c:pt idx="3">
                <c:v>HR</c:v>
              </c:pt>
              <c:pt idx="4">
                <c:v>IT</c:v>
              </c:pt>
            </c:strLit>
          </c:cat>
          <c:val>
            <c:numLit>
              <c:formatCode>General</c:formatCode>
              <c:ptCount val="5"/>
              <c:pt idx="0">
                <c:v>1050000</c:v>
              </c:pt>
              <c:pt idx="1">
                <c:v>920000</c:v>
              </c:pt>
              <c:pt idx="2">
                <c:v>580000</c:v>
              </c:pt>
              <c:pt idx="3">
                <c:v>390000</c:v>
              </c:pt>
              <c:pt idx="4">
                <c:v>460000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/>
      <p:sp>
        <p:nvSpPr>
          <p:cNvPr id="2" name="!!panel_left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_divider"/>
          <p:cNvSpPr/>
          <p:nvPr/>
        </p:nvSpPr>
        <p:spPr>
          <a:xfrm>
            <a:off x="5486400" y="0"/>
            <a:ext cx="144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anel_right"/>
          <p:cNvSpPr/>
          <p:nvPr/>
        </p:nvSpPr>
        <p:spPr>
          <a:xfrm>
            <a:off x="5500800" y="0"/>
            <a:ext cx="6691200" cy="6858000"/>
          </a:xfrm>
          <a:prstGeom prst="rect">
            <a:avLst/>
          </a:prstGeom>
          <a:solidFill>
            <a:srgbClr val="111E0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img_placeholder_cover"/>
          <p:cNvSpPr/>
          <p:nvPr/>
        </p:nvSpPr>
        <p:spPr>
          <a:xfrm>
            <a:off x="5620800" y="120000"/>
            <a:ext cx="6451200" cy="6618000"/>
          </a:xfrm>
          <a:prstGeom prst="rect">
            <a:avLst/>
          </a:prstGeom>
          <a:solidFill>
            <a:srgbClr val="162810"/>
          </a:solidFill>
          <a:ln w="3">
            <a:solidFill>
              <a:srgbClr val="243D1C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img_ph_label"/>
          <p:cNvSpPr/>
          <p:nvPr/>
        </p:nvSpPr>
        <p:spPr>
          <a:xfrm>
            <a:off x="7300800" y="3249000"/>
            <a:ext cx="30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2E5A22"/>
                </a:solidFill>
                <a:latin typeface="Calibri"/>
                <a:ea typeface="Calibri"/>
              </a:rPr>
              <a:t>📷 绿色流光背景图片</a:t>
            </a:r>
          </a:p>
        </p:txBody>
      </p:sp>
      <p:sp>
        <p:nvSpPr>
          <p:cNvPr id="7" name="!!cover_tag"/>
          <p:cNvSpPr/>
          <p:nvPr/>
        </p:nvSpPr>
        <p:spPr>
          <a:xfrm>
            <a:off x="457200" y="700000"/>
            <a:ext cx="800000" cy="11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cover_tag_txt"/>
          <p:cNvSpPr/>
          <p:nvPr/>
        </p:nvSpPr>
        <p:spPr>
          <a:xfrm>
            <a:off x="457200" y="700000"/>
            <a:ext cx="80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80808"/>
                </a:solidFill>
                <a:latin typeface="Calibri"/>
                <a:ea typeface="Calibri"/>
              </a:rPr>
              <a:t>BUDGET REVIEW</a:t>
            </a:r>
          </a:p>
        </p:txBody>
      </p:sp>
      <p:sp>
        <p:nvSpPr>
          <p:cNvPr id="9" name="!!headline"/>
          <p:cNvSpPr/>
          <p:nvPr/>
        </p:nvSpPr>
        <p:spPr>
          <a:xfrm>
            <a:off x="457200" y="2200000"/>
            <a:ext cx="46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400" b="0">
                <a:solidFill>
                  <a:srgbClr val="C9A84C"/>
                </a:solidFill>
                <a:latin typeface="Georgia"/>
                <a:ea typeface="Georgia"/>
              </a:rPr>
              <a:t>Budget Review</a:t>
            </a:r>
          </a:p>
        </p:txBody>
      </p:sp>
      <p:sp>
        <p:nvSpPr>
          <p:cNvPr id="10" name="!!subline"/>
          <p:cNvSpPr/>
          <p:nvPr/>
        </p:nvSpPr>
        <p:spPr>
          <a:xfrm>
            <a:off x="457200" y="3220000"/>
            <a:ext cx="46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777777"/>
                </a:solidFill>
                <a:latin typeface="Calibri"/>
                <a:ea typeface="Calibri"/>
              </a:rPr>
              <a:t>Strategic Financial Analysis &amp; Planning</a:t>
            </a:r>
          </a:p>
        </p:txBody>
      </p:sp>
      <p:sp>
        <p:nvSpPr>
          <p:cNvPr id="11" name="!!year_badge"/>
          <p:cNvSpPr/>
          <p:nvPr/>
        </p:nvSpPr>
        <p:spPr>
          <a:xfrm>
            <a:off x="457200" y="6100000"/>
            <a:ext cx="520000" cy="23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080808"/>
                </a:solidFill>
                <a:latin typeface="Calibri"/>
                <a:ea typeface="Calibri"/>
              </a:rPr>
              <a:t>FY 2024</a:t>
            </a:r>
          </a:p>
        </p:txBody>
      </p:sp>
      <p:sp>
        <p:nvSpPr>
          <p:cNvPr id="12" name="test_icon"/>
          <p:cNvSpPr/>
          <p:nvPr/>
        </p:nvSpPr>
        <p:spPr>
          <a:xfrm>
            <a:off x="500000" y="500000"/>
            <a:ext cx="300000" cy="300000"/>
          </a:xfrm>
          <a:solidFill>
            <a:srgbClr val="C9A84C"/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st_check"/>
          <p:cNvSpPr/>
          <p:nvPr/>
        </p:nvSpPr>
        <p:spPr>
          <a:xfrm>
            <a:off x="900000" y="500000"/>
            <a:ext cx="300000" cy="300000"/>
          </a:xfrm>
          <a:noFill/>
          <a:ln w="8">
            <a:solidFill>
              <a:srgbClr val="7AB648"/>
            </a:solidFill>
          </a:ln>
          <a:custGeom>
            <a:avLst/>
            <a:gdLst/>
            <a:ahLst/>
            <a:cxnLst/>
            <a:rect l="0" t="0" r="r" b="b"/>
            <a:pathLst>
              <a:path w="85" h="75">
                <a:moveTo>
                  <a:pt x="15" y="50"/>
                </a:moveTo>
                <a:lnTo>
                  <a:pt x="40" y="75"/>
                </a:lnTo>
                <a:lnTo>
                  <a:pt x="85" y="20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/>
      <p:sp>
        <p:nvSpPr>
          <p:cNvPr id="2" name="!!panel_left"/>
          <p:cNvSpPr/>
          <p:nvPr/>
        </p:nvSpPr>
        <p:spPr>
          <a:xfrm>
            <a:off x="0" y="0"/>
            <a:ext cx="103632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_divider"/>
          <p:cNvSpPr/>
          <p:nvPr/>
        </p:nvSpPr>
        <p:spPr>
          <a:xfrm>
            <a:off x="10363200" y="0"/>
            <a:ext cx="144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anel_right"/>
          <p:cNvSpPr/>
          <p:nvPr/>
        </p:nvSpPr>
        <p:spPr>
          <a:xfrm>
            <a:off x="10377600" y="0"/>
            <a:ext cx="1814400" cy="6858000"/>
          </a:xfrm>
          <a:prstGeom prst="rect">
            <a:avLst/>
          </a:prstGeom>
          <a:solidFill>
            <a:srgbClr val="111E0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2_tag_bg"/>
          <p:cNvSpPr/>
          <p:nvPr/>
        </p:nvSpPr>
        <p:spPr>
          <a:xfrm>
            <a:off x="457200" y="480000"/>
            <a:ext cx="700000" cy="11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2_tag_txt"/>
          <p:cNvSpPr/>
          <p:nvPr/>
        </p:nvSpPr>
        <p:spPr>
          <a:xfrm>
            <a:off x="457200" y="480000"/>
            <a:ext cx="70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80808"/>
                </a:solidFill>
                <a:latin typeface="Calibri"/>
                <a:ea typeface="Calibri"/>
              </a:rPr>
              <a:t>OVERVIEW</a:t>
            </a:r>
          </a:p>
        </p:txBody>
      </p:sp>
      <p:sp>
        <p:nvSpPr>
          <p:cNvPr id="7" name="!!headline"/>
          <p:cNvSpPr/>
          <p:nvPr/>
        </p:nvSpPr>
        <p:spPr>
          <a:xfrm>
            <a:off x="457200" y="660000"/>
            <a:ext cx="96000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0F0F0"/>
                </a:solidFill>
                <a:latin typeface="Georgia"/>
                <a:ea typeface="Georgia"/>
              </a:rPr>
              <a:t>Previous Budget Period Overview</a:t>
            </a:r>
          </a:p>
        </p:txBody>
      </p:sp>
      <p:sp>
        <p:nvSpPr>
          <p:cNvPr id="8" name="!!card1_bg"/>
          <p:cNvSpPr/>
          <p:nvPr/>
        </p:nvSpPr>
        <p:spPr>
          <a:xfrm>
            <a:off x="457200" y="1600000"/>
            <a:ext cx="4900000" cy="1560000"/>
          </a:xfrm>
          <a:prstGeom prst="rect">
            <a:avLst/>
          </a:prstGeom>
          <a:solidFill>
            <a:srgbClr val="111111"/>
          </a:solidFill>
          <a:ln w="1">
            <a:solidFill>
              <a:srgbClr val="1C3A1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1_num"/>
          <p:cNvSpPr/>
          <p:nvPr/>
        </p:nvSpPr>
        <p:spPr>
          <a:xfrm>
            <a:off x="597200" y="1800000"/>
            <a:ext cx="480000" cy="480000"/>
          </a:xfrm>
          <a:prstGeom prst="rect">
            <a:avLst/>
          </a:prstGeom>
          <a:solidFill>
            <a:srgbClr val="1C3A14"/>
          </a:solidFill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" name="!!card1_title"/>
          <p:cNvSpPr/>
          <p:nvPr/>
        </p:nvSpPr>
        <p:spPr>
          <a:xfrm>
            <a:off x="1177200" y="1800000"/>
            <a:ext cx="406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100" b="0">
                <a:solidFill>
                  <a:srgbClr val="EEEEEE"/>
                </a:solidFill>
                <a:latin typeface="Georgia"/>
                <a:ea typeface="Georgia"/>
              </a:rPr>
              <a:t>Budget Allocated</a:t>
            </a:r>
          </a:p>
        </p:txBody>
      </p:sp>
      <p:sp>
        <p:nvSpPr>
          <p:cNvPr id="11" name="!!card1_sub"/>
          <p:cNvSpPr/>
          <p:nvPr/>
        </p:nvSpPr>
        <p:spPr>
          <a:xfrm>
            <a:off x="1177200" y="2240000"/>
            <a:ext cx="406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777777"/>
                </a:solidFill>
                <a:latin typeface="Calibri"/>
                <a:ea typeface="Calibri"/>
              </a:rPr>
              <a:t>Total funding approved for the period</a:t>
            </a:r>
          </a:p>
        </p:txBody>
      </p:sp>
      <p:sp>
        <p:nvSpPr>
          <p:cNvPr id="12" name="!!card2_bg"/>
          <p:cNvSpPr/>
          <p:nvPr/>
        </p:nvSpPr>
        <p:spPr>
          <a:xfrm>
            <a:off x="5557200" y="1600000"/>
            <a:ext cx="4900000" cy="1560000"/>
          </a:xfrm>
          <a:prstGeom prst="rect">
            <a:avLst/>
          </a:prstGeom>
          <a:solidFill>
            <a:srgbClr val="111111"/>
          </a:solidFill>
          <a:ln w="1">
            <a:solidFill>
              <a:srgbClr val="1C3A1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ard2_num"/>
          <p:cNvSpPr/>
          <p:nvPr/>
        </p:nvSpPr>
        <p:spPr>
          <a:xfrm>
            <a:off x="5697200" y="1800000"/>
            <a:ext cx="480000" cy="480000"/>
          </a:xfrm>
          <a:prstGeom prst="rect">
            <a:avLst/>
          </a:prstGeom>
          <a:solidFill>
            <a:srgbClr val="1C3A14"/>
          </a:solidFill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4" name="!!card2_title"/>
          <p:cNvSpPr/>
          <p:nvPr/>
        </p:nvSpPr>
        <p:spPr>
          <a:xfrm>
            <a:off x="6277200" y="1800000"/>
            <a:ext cx="406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100" b="0">
                <a:solidFill>
                  <a:srgbClr val="EEEEEE"/>
                </a:solidFill>
                <a:latin typeface="Georgia"/>
                <a:ea typeface="Georgia"/>
              </a:rPr>
              <a:t>Period Covered</a:t>
            </a:r>
          </a:p>
        </p:txBody>
      </p:sp>
      <p:sp>
        <p:nvSpPr>
          <p:cNvPr id="15" name="!!card2_sub"/>
          <p:cNvSpPr/>
          <p:nvPr/>
        </p:nvSpPr>
        <p:spPr>
          <a:xfrm>
            <a:off x="6277200" y="2240000"/>
            <a:ext cx="406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777777"/>
                </a:solidFill>
                <a:latin typeface="Calibri"/>
                <a:ea typeface="Calibri"/>
              </a:rPr>
              <a:t>Timeframe under review</a:t>
            </a:r>
          </a:p>
        </p:txBody>
      </p:sp>
      <p:sp>
        <p:nvSpPr>
          <p:cNvPr id="16" name="!!card3_bg"/>
          <p:cNvSpPr/>
          <p:nvPr/>
        </p:nvSpPr>
        <p:spPr>
          <a:xfrm>
            <a:off x="457200" y="3280000"/>
            <a:ext cx="4900000" cy="1560000"/>
          </a:xfrm>
          <a:prstGeom prst="rect">
            <a:avLst/>
          </a:prstGeom>
          <a:solidFill>
            <a:srgbClr val="111111"/>
          </a:solidFill>
          <a:ln w="1">
            <a:solidFill>
              <a:srgbClr val="1C3A1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card3_num"/>
          <p:cNvSpPr/>
          <p:nvPr/>
        </p:nvSpPr>
        <p:spPr>
          <a:xfrm>
            <a:off x="597200" y="3480000"/>
            <a:ext cx="480000" cy="480000"/>
          </a:xfrm>
          <a:prstGeom prst="rect">
            <a:avLst/>
          </a:prstGeom>
          <a:solidFill>
            <a:srgbClr val="1C3A14"/>
          </a:solidFill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8" name="!!card3_title"/>
          <p:cNvSpPr/>
          <p:nvPr/>
        </p:nvSpPr>
        <p:spPr>
          <a:xfrm>
            <a:off x="1177200" y="3480000"/>
            <a:ext cx="406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100" b="0">
                <a:solidFill>
                  <a:srgbClr val="EEEEEE"/>
                </a:solidFill>
                <a:latin typeface="Georgia"/>
                <a:ea typeface="Georgia"/>
              </a:rPr>
              <a:t>Primary Objectives</a:t>
            </a:r>
          </a:p>
        </p:txBody>
      </p:sp>
      <p:sp>
        <p:nvSpPr>
          <p:cNvPr id="19" name="!!card3_sub"/>
          <p:cNvSpPr/>
          <p:nvPr/>
        </p:nvSpPr>
        <p:spPr>
          <a:xfrm>
            <a:off x="1177200" y="3920000"/>
            <a:ext cx="406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777777"/>
                </a:solidFill>
                <a:latin typeface="Calibri"/>
                <a:ea typeface="Calibri"/>
              </a:rPr>
              <a:t>Key goals and strategic priorities</a:t>
            </a:r>
          </a:p>
        </p:txBody>
      </p:sp>
      <p:sp>
        <p:nvSpPr>
          <p:cNvPr id="20" name="!!card4_bg"/>
          <p:cNvSpPr/>
          <p:nvPr/>
        </p:nvSpPr>
        <p:spPr>
          <a:xfrm>
            <a:off x="5557200" y="3280000"/>
            <a:ext cx="4900000" cy="1560000"/>
          </a:xfrm>
          <a:prstGeom prst="rect">
            <a:avLst/>
          </a:prstGeom>
          <a:solidFill>
            <a:srgbClr val="111111"/>
          </a:solidFill>
          <a:ln w="1">
            <a:solidFill>
              <a:srgbClr val="1C3A1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ard4_num"/>
          <p:cNvSpPr/>
          <p:nvPr/>
        </p:nvSpPr>
        <p:spPr>
          <a:xfrm>
            <a:off x="5697200" y="3480000"/>
            <a:ext cx="480000" cy="480000"/>
          </a:xfrm>
          <a:prstGeom prst="rect">
            <a:avLst/>
          </a:prstGeom>
          <a:solidFill>
            <a:srgbClr val="1C3A14"/>
          </a:solidFill>
          <a:ln>
            <a:noFill/>
          </a:ln>
        </p:spPr>
        <p:txBody>
          <a:bodyPr/>
          <a:lstStyle/>
          <a:p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2" name="!!card4_title"/>
          <p:cNvSpPr/>
          <p:nvPr/>
        </p:nvSpPr>
        <p:spPr>
          <a:xfrm>
            <a:off x="6277200" y="3480000"/>
            <a:ext cx="406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100" b="0">
                <a:solidFill>
                  <a:srgbClr val="EEEEEE"/>
                </a:solidFill>
                <a:latin typeface="Georgia"/>
                <a:ea typeface="Georgia"/>
              </a:rPr>
              <a:t>Major Initiatives</a:t>
            </a:r>
          </a:p>
        </p:txBody>
      </p:sp>
      <p:sp>
        <p:nvSpPr>
          <p:cNvPr id="23" name="!!card4_sub"/>
          <p:cNvSpPr/>
          <p:nvPr/>
        </p:nvSpPr>
        <p:spPr>
          <a:xfrm>
            <a:off x="6277200" y="3920000"/>
            <a:ext cx="40600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777777"/>
                </a:solidFill>
                <a:latin typeface="Calibri"/>
                <a:ea typeface="Calibri"/>
              </a:rPr>
              <a:t>Significant projects funded</a:t>
            </a:r>
          </a:p>
        </p:txBody>
      </p:sp>
      <p:sp>
        <p:nvSpPr>
          <p:cNvPr id="24" name="!!s2_footer"/>
          <p:cNvSpPr/>
          <p:nvPr/>
        </p:nvSpPr>
        <p:spPr>
          <a:xfrm>
            <a:off x="457200" y="5900000"/>
            <a:ext cx="96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444444"/>
                </a:solidFill>
                <a:latin typeface="Calibri"/>
                <a:ea typeface="Calibri"/>
              </a:rPr>
              <a:t>This section provides context for the financial period being reviewed, establishing the baseline for our analysis and highlighting the strategic framework that guided budget allocation decisions.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/>
      <p:sp>
        <p:nvSpPr>
          <p:cNvPr id="2" name="!!panel_lef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_divider"/>
          <p:cNvSpPr/>
          <p:nvPr/>
        </p:nvSpPr>
        <p:spPr>
          <a:xfrm>
            <a:off x="12177600" y="0"/>
            <a:ext cx="144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anel_right"/>
          <p:cNvSpPr/>
          <p:nvPr/>
        </p:nvSpPr>
        <p:spPr>
          <a:xfrm>
            <a:off x="12192000" y="0"/>
            <a:ext cx="1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3_tag_bg"/>
          <p:cNvSpPr/>
          <p:nvPr/>
        </p:nvSpPr>
        <p:spPr>
          <a:xfrm>
            <a:off x="457200" y="480000"/>
            <a:ext cx="1050000" cy="11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3_tag_txt"/>
          <p:cNvSpPr/>
          <p:nvPr/>
        </p:nvSpPr>
        <p:spPr>
          <a:xfrm>
            <a:off x="457200" y="480000"/>
            <a:ext cx="105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80808"/>
                </a:solidFill>
                <a:latin typeface="Calibri"/>
                <a:ea typeface="Calibri"/>
              </a:rPr>
              <a:t>BUDGET OVERVIEW</a:t>
            </a:r>
          </a:p>
        </p:txBody>
      </p:sp>
      <p:sp>
        <p:nvSpPr>
          <p:cNvPr id="7" name="!!headline"/>
          <p:cNvSpPr/>
          <p:nvPr/>
        </p:nvSpPr>
        <p:spPr>
          <a:xfrm>
            <a:off x="457200" y="660000"/>
            <a:ext cx="112776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0F0F0"/>
                </a:solidFill>
                <a:latin typeface="Georgia"/>
                <a:ea typeface="Georgia"/>
              </a:rPr>
              <a:t>Budget Allocation Summary</a:t>
            </a:r>
          </a:p>
        </p:txBody>
      </p:sp>
      <p:sp>
        <p:nvSpPr>
          <p:cNvPr id="8" name="!!subline"/>
          <p:cNvSpPr/>
          <p:nvPr/>
        </p:nvSpPr>
        <p:spPr>
          <a:xfrm>
            <a:off x="457200" y="1380000"/>
            <a:ext cx="112776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777777"/>
                </a:solidFill>
                <a:latin typeface="Calibri"/>
                <a:ea typeface="Calibri"/>
              </a:rPr>
              <a:t>Comprehensive breakdown of how funds were distributed across organizational units and strategic initiatives during the review period.</a:t>
            </a:r>
          </a:p>
        </p:txBody>
      </p:sp>
      <p:sp>
        <p:nvSpPr>
          <p:cNvPr id="9" name="!!kpi1_bg"/>
          <p:cNvSpPr/>
          <p:nvPr/>
        </p:nvSpPr>
        <p:spPr>
          <a:xfrm>
            <a:off x="457200" y="2000000"/>
            <a:ext cx="3520000" cy="260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kpi1_top"/>
          <p:cNvSpPr/>
          <p:nvPr/>
        </p:nvSpPr>
        <p:spPr>
          <a:xfrm>
            <a:off x="457200" y="2000000"/>
            <a:ext cx="3520000" cy="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kpi1_val"/>
          <p:cNvSpPr/>
          <p:nvPr/>
        </p:nvSpPr>
        <p:spPr>
          <a:xfrm>
            <a:off x="697200" y="2300000"/>
            <a:ext cx="304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600" b="0">
                <a:solidFill>
                  <a:srgbClr val="C9A84C"/>
                </a:solidFill>
                <a:latin typeface="Georgia"/>
                <a:ea typeface="Georgia"/>
              </a:rPr>
              <a:t>$4.2M</a:t>
            </a:r>
          </a:p>
        </p:txBody>
      </p:sp>
      <p:sp>
        <p:nvSpPr>
          <p:cNvPr id="12" name="!!kpi1_label"/>
          <p:cNvSpPr/>
          <p:nvPr/>
        </p:nvSpPr>
        <p:spPr>
          <a:xfrm>
            <a:off x="697200" y="3300000"/>
            <a:ext cx="304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b="0">
                <a:solidFill>
                  <a:srgbClr val="AAAAAA"/>
                </a:solidFill>
                <a:latin typeface="Calibri"/>
                <a:ea typeface="Calibri"/>
              </a:rPr>
              <a:t>Total Budget Allocated</a:t>
            </a:r>
          </a:p>
        </p:txBody>
      </p:sp>
      <p:sp>
        <p:nvSpPr>
          <p:cNvPr id="13" name="!!kpi2_bg"/>
          <p:cNvSpPr/>
          <p:nvPr/>
        </p:nvSpPr>
        <p:spPr>
          <a:xfrm>
            <a:off x="4225200" y="2000000"/>
            <a:ext cx="3520000" cy="260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kpi2_top"/>
          <p:cNvSpPr/>
          <p:nvPr/>
        </p:nvSpPr>
        <p:spPr>
          <a:xfrm>
            <a:off x="4225200" y="2000000"/>
            <a:ext cx="3520000" cy="16000"/>
          </a:xfrm>
          <a:prstGeom prst="rect">
            <a:avLst/>
          </a:prstGeom>
          <a:solidFill>
            <a:srgbClr val="3A6A25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kpi2_val"/>
          <p:cNvSpPr/>
          <p:nvPr/>
        </p:nvSpPr>
        <p:spPr>
          <a:xfrm>
            <a:off x="4465200" y="2300000"/>
            <a:ext cx="304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600" b="0">
                <a:solidFill>
                  <a:srgbClr val="7AB648"/>
                </a:solidFill>
                <a:latin typeface="Georgia"/>
                <a:ea typeface="Georgia"/>
              </a:rPr>
              <a:t>$3.8M</a:t>
            </a:r>
          </a:p>
        </p:txBody>
      </p:sp>
      <p:sp>
        <p:nvSpPr>
          <p:cNvPr id="16" name="!!kpi2_label"/>
          <p:cNvSpPr/>
          <p:nvPr/>
        </p:nvSpPr>
        <p:spPr>
          <a:xfrm>
            <a:off x="4465200" y="3300000"/>
            <a:ext cx="304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b="0">
                <a:solidFill>
                  <a:srgbClr val="AAAAAA"/>
                </a:solidFill>
                <a:latin typeface="Calibri"/>
                <a:ea typeface="Calibri"/>
              </a:rPr>
              <a:t>Total Budget Spent</a:t>
            </a:r>
          </a:p>
        </p:txBody>
      </p:sp>
      <p:sp>
        <p:nvSpPr>
          <p:cNvPr id="17" name="!!kpi3_bg"/>
          <p:cNvSpPr/>
          <p:nvPr/>
        </p:nvSpPr>
        <p:spPr>
          <a:xfrm>
            <a:off x="7993200" y="2000000"/>
            <a:ext cx="3520000" cy="260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kpi3_top"/>
          <p:cNvSpPr/>
          <p:nvPr/>
        </p:nvSpPr>
        <p:spPr>
          <a:xfrm>
            <a:off x="7993200" y="2000000"/>
            <a:ext cx="3520000" cy="16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kpi3_val"/>
          <p:cNvSpPr/>
          <p:nvPr/>
        </p:nvSpPr>
        <p:spPr>
          <a:xfrm>
            <a:off x="8233200" y="2300000"/>
            <a:ext cx="304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5600" b="0">
                <a:solidFill>
                  <a:srgbClr val="EEEEEE"/>
                </a:solidFill>
                <a:latin typeface="Georgia"/>
                <a:ea typeface="Georgia"/>
              </a:rPr>
              <a:t>90.5%</a:t>
            </a:r>
          </a:p>
        </p:txBody>
      </p:sp>
      <p:sp>
        <p:nvSpPr>
          <p:cNvPr id="20" name="!!kpi3_label"/>
          <p:cNvSpPr/>
          <p:nvPr/>
        </p:nvSpPr>
        <p:spPr>
          <a:xfrm>
            <a:off x="8233200" y="3300000"/>
            <a:ext cx="304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 b="0">
                <a:solidFill>
                  <a:srgbClr val="AAAAAA"/>
                </a:solidFill>
                <a:latin typeface="Calibri"/>
                <a:ea typeface="Calibri"/>
              </a:rPr>
              <a:t>Utilization Rate</a:t>
            </a:r>
          </a:p>
        </p:txBody>
      </p:sp>
      <p:sp>
        <p:nvSpPr>
          <p:cNvPr id="21" name="!!insight"/>
          <p:cNvSpPr/>
          <p:nvPr/>
        </p:nvSpPr>
        <p:spPr>
          <a:xfrm>
            <a:off x="457200" y="6300000"/>
            <a:ext cx="112776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▸  Key Insight: Utilization exceeded 85% target threshold across all departments, with strategic reserve maintained.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/>
      <p:sp>
        <p:nvSpPr>
          <p:cNvPr id="2" name="!!panel_left"/>
          <p:cNvSpPr/>
          <p:nvPr/>
        </p:nvSpPr>
        <p:spPr>
          <a:xfrm>
            <a:off x="0" y="0"/>
            <a:ext cx="64000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_divider"/>
          <p:cNvSpPr/>
          <p:nvPr/>
        </p:nvSpPr>
        <p:spPr>
          <a:xfrm>
            <a:off x="6400000" y="0"/>
            <a:ext cx="144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anel_right"/>
          <p:cNvSpPr/>
          <p:nvPr/>
        </p:nvSpPr>
        <p:spPr>
          <a:xfrm>
            <a:off x="6414400" y="0"/>
            <a:ext cx="5777600" cy="6858000"/>
          </a:xfrm>
          <a:prstGeom prst="rect">
            <a:avLst/>
          </a:prstGeom>
          <a:solidFill>
            <a:srgbClr val="0E1E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4_tag_bg"/>
          <p:cNvSpPr/>
          <p:nvPr/>
        </p:nvSpPr>
        <p:spPr>
          <a:xfrm>
            <a:off x="457200" y="480000"/>
            <a:ext cx="1150000" cy="11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4_tag_txt"/>
          <p:cNvSpPr/>
          <p:nvPr/>
        </p:nvSpPr>
        <p:spPr>
          <a:xfrm>
            <a:off x="457200" y="480000"/>
            <a:ext cx="115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80808"/>
                </a:solidFill>
                <a:latin typeface="Calibri"/>
                <a:ea typeface="Calibri"/>
              </a:rPr>
              <a:t>SPENDING ANALYSIS</a:t>
            </a:r>
          </a:p>
        </p:txBody>
      </p:sp>
      <p:sp>
        <p:nvSpPr>
          <p:cNvPr id="7" name="!!headline"/>
          <p:cNvSpPr/>
          <p:nvPr/>
        </p:nvSpPr>
        <p:spPr>
          <a:xfrm>
            <a:off x="457200" y="660000"/>
            <a:ext cx="56000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0F0F0"/>
                </a:solidFill>
                <a:latin typeface="Georgia"/>
                <a:ea typeface="Georgia"/>
              </a:rPr>
              <a:t>Expense Breakdown</a:t>
            </a:r>
          </a:p>
        </p:txBody>
      </p:sp>
      <p:sp>
        <p:nvSpPr>
          <p:cNvPr id="8" name="!!subline"/>
          <p:cNvSpPr/>
          <p:nvPr/>
        </p:nvSpPr>
        <p:spPr>
          <a:xfrm>
            <a:off x="457200" y="1420000"/>
            <a:ext cx="5600000" cy="4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777777"/>
                </a:solidFill>
                <a:latin typeface="Calibri"/>
                <a:ea typeface="Calibri"/>
              </a:rPr>
              <a:t>Understanding how resources were allocated across different categories provides insight into organizational priorities and spending patterns.</a:t>
            </a:r>
          </a:p>
        </p:txBody>
      </p:sp>
      <p:sp>
        <p:nvSpPr>
          <p:cNvPr id="9" name="!!cat_heading"/>
          <p:cNvSpPr/>
          <p:nvPr/>
        </p:nvSpPr>
        <p:spPr>
          <a:xfrm>
            <a:off x="457200" y="2000000"/>
            <a:ext cx="56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DDDDDD"/>
                </a:solidFill>
                <a:latin typeface="Georgia"/>
                <a:ea typeface="Georgia"/>
              </a:rPr>
              <a:t>Major Spending Categories</a:t>
            </a:r>
          </a:p>
        </p:txBody>
      </p:sp>
      <p:sp>
        <p:nvSpPr>
          <p:cNvPr id="10" name="!!cat_sub"/>
          <p:cNvSpPr/>
          <p:nvPr/>
        </p:nvSpPr>
        <p:spPr>
          <a:xfrm>
            <a:off x="457200" y="2430000"/>
            <a:ext cx="5600000" cy="3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555555"/>
                </a:solidFill>
                <a:latin typeface="Calibri"/>
                <a:ea typeface="Calibri"/>
              </a:rPr>
              <a:t>This distribution reflects strategic priorities and operational requirements for the review period.</a:t>
            </a:r>
          </a:p>
        </p:txBody>
      </p:sp>
      <p:sp>
        <p:nvSpPr>
          <p:cNvPr id="11" name="!!catbox1"/>
          <p:cNvSpPr/>
          <p:nvPr/>
        </p:nvSpPr>
        <p:spPr>
          <a:xfrm>
            <a:off x="457200" y="2860000"/>
            <a:ext cx="5600000" cy="640000"/>
          </a:xfrm>
          <a:prstGeom prst="rect">
            <a:avLst/>
          </a:prstGeom>
          <a:noFill/>
          <a:ln w="1">
            <a:solidFill>
              <a:srgbClr val="252525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cattext1"/>
          <p:cNvSpPr/>
          <p:nvPr/>
        </p:nvSpPr>
        <p:spPr>
          <a:xfrm>
            <a:off x="657200" y="3060000"/>
            <a:ext cx="5200000" cy="2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BBBBBB"/>
                </a:solidFill>
                <a:latin typeface="Calibri"/>
                <a:ea typeface="Calibri"/>
              </a:rPr>
              <a:t>Category 1 represents the largest portion of expenses</a:t>
            </a:r>
          </a:p>
        </p:txBody>
      </p:sp>
      <p:sp>
        <p:nvSpPr>
          <p:cNvPr id="13" name="!!catbox2"/>
          <p:cNvSpPr/>
          <p:nvPr/>
        </p:nvSpPr>
        <p:spPr>
          <a:xfrm>
            <a:off x="457200" y="3680000"/>
            <a:ext cx="5600000" cy="640000"/>
          </a:xfrm>
          <a:prstGeom prst="rect">
            <a:avLst/>
          </a:prstGeom>
          <a:noFill/>
          <a:ln w="1">
            <a:solidFill>
              <a:srgbClr val="252525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cattext2"/>
          <p:cNvSpPr/>
          <p:nvPr/>
        </p:nvSpPr>
        <p:spPr>
          <a:xfrm>
            <a:off x="657200" y="3880000"/>
            <a:ext cx="5200000" cy="2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BBBBBB"/>
                </a:solidFill>
                <a:latin typeface="Calibri"/>
                <a:ea typeface="Calibri"/>
              </a:rPr>
              <a:t>Category 2 accounts for significant operational costs</a:t>
            </a:r>
          </a:p>
        </p:txBody>
      </p:sp>
      <p:sp>
        <p:nvSpPr>
          <p:cNvPr id="15" name="!!catbox3"/>
          <p:cNvSpPr/>
          <p:nvPr/>
        </p:nvSpPr>
        <p:spPr>
          <a:xfrm>
            <a:off x="457200" y="4500000"/>
            <a:ext cx="5600000" cy="640000"/>
          </a:xfrm>
          <a:prstGeom prst="rect">
            <a:avLst/>
          </a:prstGeom>
          <a:noFill/>
          <a:ln w="1">
            <a:solidFill>
              <a:srgbClr val="252525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attext3"/>
          <p:cNvSpPr/>
          <p:nvPr/>
        </p:nvSpPr>
        <p:spPr>
          <a:xfrm>
            <a:off x="657200" y="4700000"/>
            <a:ext cx="5200000" cy="2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BBBBBB"/>
                </a:solidFill>
                <a:latin typeface="Calibri"/>
                <a:ea typeface="Calibri"/>
              </a:rPr>
              <a:t>Category 3 includes essential support functions</a:t>
            </a:r>
          </a:p>
        </p:txBody>
      </p:sp>
      <p:sp>
        <p:nvSpPr>
          <p:cNvPr id="17" name="!!catbox4"/>
          <p:cNvSpPr/>
          <p:nvPr/>
        </p:nvSpPr>
        <p:spPr>
          <a:xfrm>
            <a:off x="457200" y="5320000"/>
            <a:ext cx="5600000" cy="640000"/>
          </a:xfrm>
          <a:prstGeom prst="rect">
            <a:avLst/>
          </a:prstGeom>
          <a:noFill/>
          <a:ln w="1">
            <a:solidFill>
              <a:srgbClr val="252525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cattext4"/>
          <p:cNvSpPr/>
          <p:nvPr/>
        </p:nvSpPr>
        <p:spPr>
          <a:xfrm>
            <a:off x="657200" y="5520000"/>
            <a:ext cx="5200000" cy="2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BBBBBB"/>
                </a:solidFill>
                <a:latin typeface="Calibri"/>
                <a:ea typeface="Calibri"/>
              </a:rPr>
              <a:t>Category 4 covers additional strategic investments</a:t>
            </a:r>
          </a:p>
        </p:txBody>
      </p:sp>
      <p:graphicFrame>
        <p:nvGraphicFramePr>
          <p:cNvPr id="21" name="Chart 21"/>
          <p:cNvGraphicFramePr/>
          <p:nvPr/>
        </p:nvGraphicFramePr>
        <p:xfrm>
          <a:off x="6614400" y="700000"/>
          <a:ext cx="5377600" cy="54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49d9928adffb457d"/>
          </a:graphicData>
        </a:graphic>
      </p:graphicFrame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/>
      <p:sp>
        <p:nvSpPr>
          <p:cNvPr id="2" name="!!panel_lef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_divider"/>
          <p:cNvSpPr/>
          <p:nvPr/>
        </p:nvSpPr>
        <p:spPr>
          <a:xfrm>
            <a:off x="12177600" y="0"/>
            <a:ext cx="144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anel_right"/>
          <p:cNvSpPr/>
          <p:nvPr/>
        </p:nvSpPr>
        <p:spPr>
          <a:xfrm>
            <a:off x="12192000" y="0"/>
            <a:ext cx="1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5_tag_bg"/>
          <p:cNvSpPr/>
          <p:nvPr/>
        </p:nvSpPr>
        <p:spPr>
          <a:xfrm>
            <a:off x="457200" y="480000"/>
            <a:ext cx="1150000" cy="11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5_tag_txt"/>
          <p:cNvSpPr/>
          <p:nvPr/>
        </p:nvSpPr>
        <p:spPr>
          <a:xfrm>
            <a:off x="457200" y="480000"/>
            <a:ext cx="115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80808"/>
                </a:solidFill>
                <a:latin typeface="Calibri"/>
                <a:ea typeface="Calibri"/>
              </a:rPr>
              <a:t>VARIANCE ANALYSIS</a:t>
            </a:r>
          </a:p>
        </p:txBody>
      </p:sp>
      <p:sp>
        <p:nvSpPr>
          <p:cNvPr id="7" name="!!headline"/>
          <p:cNvSpPr/>
          <p:nvPr/>
        </p:nvSpPr>
        <p:spPr>
          <a:xfrm>
            <a:off x="457200" y="660000"/>
            <a:ext cx="112776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0F0F0"/>
                </a:solidFill>
                <a:latin typeface="Georgia"/>
                <a:ea typeface="Georgia"/>
              </a:rPr>
              <a:t>Budget vs. Actual Variance</a:t>
            </a:r>
          </a:p>
        </p:txBody>
      </p:sp>
      <p:sp>
        <p:nvSpPr>
          <p:cNvPr id="8" name="!!subline"/>
          <p:cNvSpPr/>
          <p:nvPr/>
        </p:nvSpPr>
        <p:spPr>
          <a:xfrm>
            <a:off x="457200" y="1360000"/>
            <a:ext cx="112776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777777"/>
                </a:solidFill>
                <a:latin typeface="Calibri"/>
                <a:ea typeface="Calibri"/>
              </a:rPr>
              <a:t>Detailed comparison of planned versus actual expenditures, highlighting areas of significant deviation and their underlying causes.</a:t>
            </a:r>
          </a:p>
        </p:txBody>
      </p:sp>
      <p:graphicFrame>
        <p:nvGraphicFramePr>
          <p:cNvPr id="11" name="Department Budget vs Actual ($)"/>
          <p:cNvGraphicFramePr/>
          <p:nvPr/>
        </p:nvGraphicFramePr>
        <p:xfrm>
          <a:off x="457200" y="1900000"/>
          <a:ext cx="11277600" cy="44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44a311b90c6f4b77"/>
          </a:graphicData>
        </a:graphic>
      </p:graphicFrame>
      <p:sp>
        <p:nvSpPr>
          <p:cNvPr id="12" name="!!chart_note"/>
          <p:cNvSpPr/>
          <p:nvPr/>
        </p:nvSpPr>
        <p:spPr>
          <a:xfrm>
            <a:off x="457200" y="6400000"/>
            <a:ext cx="11277600" cy="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444444"/>
                </a:solidFill>
                <a:latin typeface="Calibri"/>
                <a:ea typeface="Calibri"/>
              </a:rPr>
              <a:t>Note: Positive variance in Marketing reflects accelerated Q3 campaign spend. R&amp;D and IT remained within approved parameters.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/>
      <p:sp>
        <p:nvSpPr>
          <p:cNvPr id="2" name="!!panel_left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_divider"/>
          <p:cNvSpPr/>
          <p:nvPr/>
        </p:nvSpPr>
        <p:spPr>
          <a:xfrm>
            <a:off x="6096000" y="0"/>
            <a:ext cx="144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anel_right"/>
          <p:cNvSpPr/>
          <p:nvPr/>
        </p:nvSpPr>
        <p:spPr>
          <a:xfrm>
            <a:off x="6110400" y="0"/>
            <a:ext cx="6081600" cy="6858000"/>
          </a:xfrm>
          <a:prstGeom prst="rect">
            <a:avLst/>
          </a:prstGeom>
          <a:solidFill>
            <a:srgbClr val="0C1A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img_ph_outlook"/>
          <p:cNvSpPr/>
          <p:nvPr/>
        </p:nvSpPr>
        <p:spPr>
          <a:xfrm>
            <a:off x="6210400" y="100000"/>
            <a:ext cx="5881600" cy="6658000"/>
          </a:xfrm>
          <a:prstGeom prst="rect">
            <a:avLst/>
          </a:prstGeom>
          <a:solidFill>
            <a:srgbClr val="131F0F"/>
          </a:solidFill>
          <a:ln w="2">
            <a:solidFill>
              <a:srgbClr val="1E3218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img_ph_outlook_txt"/>
          <p:cNvSpPr/>
          <p:nvPr/>
        </p:nvSpPr>
        <p:spPr>
          <a:xfrm>
            <a:off x="7110400" y="3249000"/>
            <a:ext cx="40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253D1A"/>
                </a:solidFill>
                <a:latin typeface="Calibri"/>
                <a:ea typeface="Calibri"/>
              </a:rPr>
              <a:t>📷 流光图片占位</a:t>
            </a:r>
          </a:p>
        </p:txBody>
      </p:sp>
      <p:sp>
        <p:nvSpPr>
          <p:cNvPr id="7" name="!!s6_tag_bg"/>
          <p:cNvSpPr/>
          <p:nvPr/>
        </p:nvSpPr>
        <p:spPr>
          <a:xfrm>
            <a:off x="457200" y="480000"/>
            <a:ext cx="1050000" cy="11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s6_tag_txt"/>
          <p:cNvSpPr/>
          <p:nvPr/>
        </p:nvSpPr>
        <p:spPr>
          <a:xfrm>
            <a:off x="457200" y="480000"/>
            <a:ext cx="105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80808"/>
                </a:solidFill>
                <a:latin typeface="Calibri"/>
                <a:ea typeface="Calibri"/>
              </a:rPr>
              <a:t>FORWARD OUTLOOK</a:t>
            </a:r>
          </a:p>
        </p:txBody>
      </p:sp>
      <p:sp>
        <p:nvSpPr>
          <p:cNvPr id="9" name="!!headline"/>
          <p:cNvSpPr/>
          <p:nvPr/>
        </p:nvSpPr>
        <p:spPr>
          <a:xfrm>
            <a:off x="457200" y="700000"/>
            <a:ext cx="5200000" cy="7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0">
                <a:solidFill>
                  <a:srgbClr val="F0F0F0"/>
                </a:solidFill>
                <a:latin typeface="Georgia"/>
                <a:ea typeface="Georgia"/>
              </a:rPr>
              <a:t>Strategic Priorities for Next Period</a:t>
            </a:r>
          </a:p>
        </p:txBody>
      </p:sp>
      <p:sp>
        <p:nvSpPr>
          <p:cNvPr id="10" name="!!subline"/>
          <p:cNvSpPr/>
          <p:nvPr/>
        </p:nvSpPr>
        <p:spPr>
          <a:xfrm>
            <a:off x="457200" y="1520000"/>
            <a:ext cx="52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777777"/>
                </a:solidFill>
                <a:latin typeface="Calibri"/>
                <a:ea typeface="Calibri"/>
              </a:rPr>
              <a:t>Building on this period's learnings to drive more efficient and impactful resource allocation.</a:t>
            </a:r>
          </a:p>
        </p:txBody>
      </p:sp>
      <p:sp>
        <p:nvSpPr>
          <p:cNvPr id="11" name="!!p1_bar"/>
          <p:cNvSpPr/>
          <p:nvPr/>
        </p:nvSpPr>
        <p:spPr>
          <a:xfrm>
            <a:off x="457200" y="2100000"/>
            <a:ext cx="110000" cy="120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p1_title"/>
          <p:cNvSpPr/>
          <p:nvPr/>
        </p:nvSpPr>
        <p:spPr>
          <a:xfrm>
            <a:off x="727200" y="21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C9A84C"/>
                </a:solidFill>
                <a:latin typeface="Georgia"/>
                <a:ea typeface="Georgia"/>
              </a:rPr>
              <a:t>Operational Excellence</a:t>
            </a:r>
          </a:p>
        </p:txBody>
      </p:sp>
      <p:sp>
        <p:nvSpPr>
          <p:cNvPr id="13" name="!!p1_text"/>
          <p:cNvSpPr/>
          <p:nvPr/>
        </p:nvSpPr>
        <p:spPr>
          <a:xfrm>
            <a:off x="727200" y="2560000"/>
            <a:ext cx="5000000" cy="4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0">
                <a:solidFill>
                  <a:srgbClr val="999999"/>
                </a:solidFill>
                <a:latin typeface="Calibri"/>
                <a:ea typeface="Calibri"/>
              </a:rPr>
              <a:t>Streamline core processes and reduce overhead by 12% through targeted efficiency programs.</a:t>
            </a:r>
          </a:p>
        </p:txBody>
      </p:sp>
      <p:sp>
        <p:nvSpPr>
          <p:cNvPr id="14" name="!!p2_bar"/>
          <p:cNvSpPr/>
          <p:nvPr/>
        </p:nvSpPr>
        <p:spPr>
          <a:xfrm>
            <a:off x="457200" y="3600000"/>
            <a:ext cx="110000" cy="12000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p2_title"/>
          <p:cNvSpPr/>
          <p:nvPr/>
        </p:nvSpPr>
        <p:spPr>
          <a:xfrm>
            <a:off x="727200" y="36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7AB648"/>
                </a:solidFill>
                <a:latin typeface="Georgia"/>
                <a:ea typeface="Georgia"/>
              </a:rPr>
              <a:t>Strategic Investment</a:t>
            </a:r>
          </a:p>
        </p:txBody>
      </p:sp>
      <p:sp>
        <p:nvSpPr>
          <p:cNvPr id="16" name="!!p2_text"/>
          <p:cNvSpPr/>
          <p:nvPr/>
        </p:nvSpPr>
        <p:spPr>
          <a:xfrm>
            <a:off x="727200" y="4060000"/>
            <a:ext cx="5000000" cy="4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0">
                <a:solidFill>
                  <a:srgbClr val="999999"/>
                </a:solidFill>
                <a:latin typeface="Calibri"/>
                <a:ea typeface="Calibri"/>
              </a:rPr>
              <a:t>Increase R&amp;D allocation by 15% to accelerate innovation pipeline and competitive positioning.</a:t>
            </a:r>
          </a:p>
        </p:txBody>
      </p:sp>
      <p:sp>
        <p:nvSpPr>
          <p:cNvPr id="17" name="!!p3_bar"/>
          <p:cNvSpPr/>
          <p:nvPr/>
        </p:nvSpPr>
        <p:spPr>
          <a:xfrm>
            <a:off x="457200" y="5100000"/>
            <a:ext cx="110000" cy="12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p3_title"/>
          <p:cNvSpPr/>
          <p:nvPr/>
        </p:nvSpPr>
        <p:spPr>
          <a:xfrm>
            <a:off x="727200" y="51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888888"/>
                </a:solidFill>
                <a:latin typeface="Georgia"/>
                <a:ea typeface="Georgia"/>
              </a:rPr>
              <a:t>Risk Management</a:t>
            </a:r>
          </a:p>
        </p:txBody>
      </p:sp>
      <p:sp>
        <p:nvSpPr>
          <p:cNvPr id="19" name="!!p3_text"/>
          <p:cNvSpPr/>
          <p:nvPr/>
        </p:nvSpPr>
        <p:spPr>
          <a:xfrm>
            <a:off x="727200" y="5560000"/>
            <a:ext cx="5000000" cy="4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0">
                <a:solidFill>
                  <a:srgbClr val="999999"/>
                </a:solidFill>
                <a:latin typeface="Calibri"/>
                <a:ea typeface="Calibri"/>
              </a:rPr>
              <a:t>Maintain 10% strategic reserve and implement quarterly variance review cadence.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/>
      <p:sp>
        <p:nvSpPr>
          <p:cNvPr id="2" name="!!panel_lef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anel_divider"/>
          <p:cNvSpPr/>
          <p:nvPr/>
        </p:nvSpPr>
        <p:spPr>
          <a:xfrm>
            <a:off x="12177600" y="0"/>
            <a:ext cx="1440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anel_right"/>
          <p:cNvSpPr/>
          <p:nvPr/>
        </p:nvSpPr>
        <p:spPr>
          <a:xfrm>
            <a:off x="12192000" y="0"/>
            <a:ext cx="100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s7_tag_bg"/>
          <p:cNvSpPr/>
          <p:nvPr/>
        </p:nvSpPr>
        <p:spPr>
          <a:xfrm>
            <a:off x="457200" y="480000"/>
            <a:ext cx="700000" cy="11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7_tag_txt"/>
          <p:cNvSpPr/>
          <p:nvPr/>
        </p:nvSpPr>
        <p:spPr>
          <a:xfrm>
            <a:off x="457200" y="480000"/>
            <a:ext cx="700000" cy="11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 b="1">
                <a:solidFill>
                  <a:srgbClr val="080808"/>
                </a:solidFill>
                <a:latin typeface="Calibri"/>
                <a:ea typeface="Calibri"/>
              </a:rPr>
              <a:t>NEXT STEPS</a:t>
            </a:r>
          </a:p>
        </p:txBody>
      </p:sp>
      <p:sp>
        <p:nvSpPr>
          <p:cNvPr id="7" name="!!headline"/>
          <p:cNvSpPr/>
          <p:nvPr/>
        </p:nvSpPr>
        <p:spPr>
          <a:xfrm>
            <a:off x="457200" y="660000"/>
            <a:ext cx="11277600" cy="6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 b="0">
                <a:solidFill>
                  <a:srgbClr val="F0F0F0"/>
                </a:solidFill>
                <a:latin typeface="Georgia"/>
                <a:ea typeface="Georgia"/>
              </a:rPr>
              <a:t>Action Items &amp; Decision Points</a:t>
            </a:r>
          </a:p>
        </p:txBody>
      </p:sp>
      <p:sp>
        <p:nvSpPr>
          <p:cNvPr id="8" name="!!subline"/>
          <p:cNvSpPr/>
          <p:nvPr/>
        </p:nvSpPr>
        <p:spPr>
          <a:xfrm>
            <a:off x="457200" y="1360000"/>
            <a:ext cx="11277600" cy="3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>
                <a:solidFill>
                  <a:srgbClr val="777777"/>
                </a:solidFill>
                <a:latin typeface="Calibri"/>
                <a:ea typeface="Calibri"/>
              </a:rPr>
              <a:t>Clear ownership and timelines for each priority item emerging from this budget review.</a:t>
            </a:r>
          </a:p>
        </p:txBody>
      </p:sp>
      <p:sp>
        <p:nvSpPr>
          <p:cNvPr id="9" name="a1_bg"/>
          <p:cNvSpPr/>
          <p:nvPr/>
        </p:nvSpPr>
        <p:spPr>
          <a:xfrm>
            <a:off x="457200" y="1980000"/>
            <a:ext cx="11277600" cy="13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a1_dot"/>
          <p:cNvSpPr/>
          <p:nvPr/>
        </p:nvSpPr>
        <p:spPr>
          <a:xfrm>
            <a:off x="657200" y="2420000"/>
            <a:ext cx="440000" cy="440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a1_title"/>
          <p:cNvSpPr/>
          <p:nvPr/>
        </p:nvSpPr>
        <p:spPr>
          <a:xfrm>
            <a:off x="1297200" y="2260000"/>
            <a:ext cx="90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100" b="0">
                <a:solidFill>
                  <a:srgbClr val="EEEEEE"/>
                </a:solidFill>
                <a:latin typeface="Georgia"/>
                <a:ea typeface="Georgia"/>
              </a:rPr>
              <a:t>Approve Q1 budget reallocation proposals</a:t>
            </a:r>
          </a:p>
        </p:txBody>
      </p:sp>
      <p:sp>
        <p:nvSpPr>
          <p:cNvPr id="12" name="a1_owner"/>
          <p:cNvSpPr/>
          <p:nvPr/>
        </p:nvSpPr>
        <p:spPr>
          <a:xfrm>
            <a:off x="1297200" y="2700000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0">
                <a:solidFill>
                  <a:srgbClr val="666666"/>
                </a:solidFill>
                <a:latin typeface="Calibri"/>
                <a:ea typeface="Calibri"/>
              </a:rPr>
              <a:t>CFO / Finance Committee</a:t>
            </a:r>
          </a:p>
        </p:txBody>
      </p:sp>
      <p:sp>
        <p:nvSpPr>
          <p:cNvPr id="13" name="a1_date"/>
          <p:cNvSpPr/>
          <p:nvPr/>
        </p:nvSpPr>
        <p:spPr>
          <a:xfrm>
            <a:off x="10834800" y="250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C9A84C"/>
                </a:solidFill>
                <a:latin typeface="Calibri"/>
                <a:ea typeface="Calibri"/>
              </a:rPr>
              <a:t>Q1 2025</a:t>
            </a:r>
          </a:p>
        </p:txBody>
      </p:sp>
      <p:sp>
        <p:nvSpPr>
          <p:cNvPr id="14" name="a2_bg"/>
          <p:cNvSpPr/>
          <p:nvPr/>
        </p:nvSpPr>
        <p:spPr>
          <a:xfrm>
            <a:off x="457200" y="3540000"/>
            <a:ext cx="11277600" cy="13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a2_dot"/>
          <p:cNvSpPr/>
          <p:nvPr/>
        </p:nvSpPr>
        <p:spPr>
          <a:xfrm>
            <a:off x="657200" y="3980000"/>
            <a:ext cx="440000" cy="440000"/>
          </a:xfrm>
          <a:prstGeom prst="ellipse">
            <a:avLst/>
          </a:prstGeom>
          <a:solidFill>
            <a:srgbClr val="3A6A25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a2_title"/>
          <p:cNvSpPr/>
          <p:nvPr/>
        </p:nvSpPr>
        <p:spPr>
          <a:xfrm>
            <a:off x="1297200" y="3820000"/>
            <a:ext cx="90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100" b="0">
                <a:solidFill>
                  <a:srgbClr val="EEEEEE"/>
                </a:solidFill>
                <a:latin typeface="Georgia"/>
                <a:ea typeface="Georgia"/>
              </a:rPr>
              <a:t>Implement variance tracking dashboard</a:t>
            </a:r>
          </a:p>
        </p:txBody>
      </p:sp>
      <p:sp>
        <p:nvSpPr>
          <p:cNvPr id="17" name="a2_owner"/>
          <p:cNvSpPr/>
          <p:nvPr/>
        </p:nvSpPr>
        <p:spPr>
          <a:xfrm>
            <a:off x="1297200" y="4260000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0">
                <a:solidFill>
                  <a:srgbClr val="666666"/>
                </a:solidFill>
                <a:latin typeface="Calibri"/>
                <a:ea typeface="Calibri"/>
              </a:rPr>
              <a:t>FP&amp;A Team / IT</a:t>
            </a:r>
          </a:p>
        </p:txBody>
      </p:sp>
      <p:sp>
        <p:nvSpPr>
          <p:cNvPr id="18" name="a2_date"/>
          <p:cNvSpPr/>
          <p:nvPr/>
        </p:nvSpPr>
        <p:spPr>
          <a:xfrm>
            <a:off x="10834800" y="406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3A6A25"/>
                </a:solidFill>
                <a:latin typeface="Calibri"/>
                <a:ea typeface="Calibri"/>
              </a:rPr>
              <a:t>Q2 2025</a:t>
            </a:r>
          </a:p>
        </p:txBody>
      </p:sp>
      <p:sp>
        <p:nvSpPr>
          <p:cNvPr id="19" name="a3_bg"/>
          <p:cNvSpPr/>
          <p:nvPr/>
        </p:nvSpPr>
        <p:spPr>
          <a:xfrm>
            <a:off x="457200" y="5100000"/>
            <a:ext cx="11277600" cy="13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a3_dot"/>
          <p:cNvSpPr/>
          <p:nvPr/>
        </p:nvSpPr>
        <p:spPr>
          <a:xfrm>
            <a:off x="657200" y="5540000"/>
            <a:ext cx="440000" cy="4400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a3_title"/>
          <p:cNvSpPr/>
          <p:nvPr/>
        </p:nvSpPr>
        <p:spPr>
          <a:xfrm>
            <a:off x="1297200" y="5380000"/>
            <a:ext cx="90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100" b="0">
                <a:solidFill>
                  <a:srgbClr val="EEEEEE"/>
                </a:solidFill>
                <a:latin typeface="Georgia"/>
                <a:ea typeface="Georgia"/>
              </a:rPr>
              <a:t>Conduct departmental budget alignment workshops</a:t>
            </a:r>
          </a:p>
        </p:txBody>
      </p:sp>
      <p:sp>
        <p:nvSpPr>
          <p:cNvPr id="22" name="a3_owner"/>
          <p:cNvSpPr/>
          <p:nvPr/>
        </p:nvSpPr>
        <p:spPr>
          <a:xfrm>
            <a:off x="1297200" y="5820000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0">
                <a:solidFill>
                  <a:srgbClr val="666666"/>
                </a:solidFill>
                <a:latin typeface="Calibri"/>
                <a:ea typeface="Calibri"/>
              </a:rPr>
              <a:t>Department Heads / HR</a:t>
            </a:r>
          </a:p>
        </p:txBody>
      </p:sp>
      <p:sp>
        <p:nvSpPr>
          <p:cNvPr id="23" name="a3_date"/>
          <p:cNvSpPr/>
          <p:nvPr/>
        </p:nvSpPr>
        <p:spPr>
          <a:xfrm>
            <a:off x="10834800" y="562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1">
                <a:solidFill>
                  <a:srgbClr val="666666"/>
                </a:solidFill>
                <a:latin typeface="Calibri"/>
                <a:ea typeface="Calibri"/>
              </a:rPr>
              <a:t>Q2 2025</a:t>
            </a:r>
          </a:p>
        </p:txBody>
      </p:sp>
      <p:sp>
        <p:nvSpPr>
          <p:cNvPr id="24" name="closing_line"/>
          <p:cNvSpPr/>
          <p:nvPr/>
        </p:nvSpPr>
        <p:spPr>
          <a:xfrm>
            <a:off x="457200" y="6600000"/>
            <a:ext cx="11277600" cy="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closing"/>
          <p:cNvSpPr/>
          <p:nvPr/>
        </p:nvSpPr>
        <p:spPr>
          <a:xfrm>
            <a:off x="457200" y="6640000"/>
            <a:ext cx="11277600" cy="1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555555"/>
                </a:solidFill>
                <a:latin typeface="Georgia"/>
                <a:ea typeface="Georgia"/>
              </a:rPr>
              <a:t>Together, data-driven decisions create accountability and drive sustainable financial performance across the organization.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