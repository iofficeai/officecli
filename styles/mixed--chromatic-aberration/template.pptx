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0c7906e3f5c467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acf23147cc847e7"/>
    <p:sldId id="257" r:id="Rd7275f53a8f74c42"/>
    <p:sldId id="258" r:id="Re00cf759263c4def"/>
    <p:sldId id="259" r:id="R0e3be4f375b54b4e"/>
    <p:sldId id="260" r:id="R0099f53d91d14b6f"/>
    <p:sldId id="261" r:id="R7a4de4a184a14ad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acf23147cc847e7" /><Relationship Type="http://schemas.openxmlformats.org/officeDocument/2006/relationships/slide" Target="/ppt/slides/slide2.xml" Id="Rd7275f53a8f74c42" /><Relationship Type="http://schemas.openxmlformats.org/officeDocument/2006/relationships/slide" Target="/ppt/slides/slide3.xml" Id="Re00cf759263c4def" /><Relationship Type="http://schemas.openxmlformats.org/officeDocument/2006/relationships/slide" Target="/ppt/slides/slide4.xml" Id="R0e3be4f375b54b4e" /><Relationship Type="http://schemas.openxmlformats.org/officeDocument/2006/relationships/slide" Target="/ppt/slides/slide5.xml" Id="R0099f53d91d14b6f" /><Relationship Type="http://schemas.openxmlformats.org/officeDocument/2006/relationships/slide" Target="/ppt/slides/slide6.xml" Id="R7a4de4a184a14a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acafdbab444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f3369f16047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ac83f0a4242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73a6287634c1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509790eca3f43b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e8fac8ecc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a969f1d4545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7cad284de4a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e1953c1b742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7b2d624f04e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04260ab234f82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50814"/>
        </a:solidFill>
      </p:bgPr>
    </p:bg>
    <p:spTree>
      <p:nvGrpSpPr>
        <p:cNvPr id="1" name=""/>
        <p:cNvGrpSpPr/>
        <p:nvPr/>
      </p:nvGrpSpPr>
      <p:grpSpPr/>
      <p:sp>
        <p:nvSpPr>
          <p:cNvPr id="2" name="!!pink-layer"/>
          <p:cNvSpPr/>
          <p:nvPr/>
        </p:nvSpPr>
        <p:spPr>
          <a:xfrm>
            <a:off x="612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NOVA</a:t>
            </a:r>
          </a:p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SYSTEMS.</a:t>
            </a:r>
          </a:p>
        </p:txBody>
      </p:sp>
      <p:sp>
        <p:nvSpPr>
          <p:cNvPr id="3" name="!!cyan-layer"/>
          <p:cNvSpPr/>
          <p:nvPr/>
        </p:nvSpPr>
        <p:spPr>
          <a:xfrm>
            <a:off x="828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NOVA</a:t>
            </a:r>
          </a:p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SYSTEMS.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NOVA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SYSTEMS.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648000"/>
            <a:ext cx="792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NEXT-GEN AI INFRASTRUCTURE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008000"/>
            <a:ext cx="1080000" cy="36000"/>
          </a:xfrm>
          <a:prstGeom prst="rect">
            <a:avLst/>
          </a:prstGeom>
          <a:solidFill>
            <a:srgbClr val="00F5E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580000"/>
            <a:ext cx="64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899CC"/>
                </a:solidFill>
                <a:latin typeface="Segoe UI"/>
                <a:ea typeface="Segoe UI"/>
              </a:rPr>
              <a:t>Fast  ·  Reliable  ·  Yours</a:t>
            </a:r>
          </a:p>
        </p:txBody>
      </p:sp>
      <p:sp>
        <p:nvSpPr>
          <p:cNvPr id="8" name="TextBox 8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novasystems.ai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814"/>
        </a:solidFill>
      </p:bgPr>
    </p:bg>
    <p:spTree>
      <p:nvGrpSpPr>
        <p:cNvPr id="1" name=""/>
        <p:cNvGrpSpPr/>
        <p:nvPr/>
      </p:nvGrpSpPr>
      <p:grpSpPr/>
      <p:sp>
        <p:nvSpPr>
          <p:cNvPr id="2" name="!!pink-layer"/>
          <p:cNvSpPr/>
          <p:nvPr/>
        </p:nvSpPr>
        <p:spPr>
          <a:xfrm>
            <a:off x="18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PLATFORM.</a:t>
            </a:r>
          </a:p>
        </p:txBody>
      </p:sp>
      <p:sp>
        <p:nvSpPr>
          <p:cNvPr id="3" name="!!cyan-layer"/>
          <p:cNvSpPr/>
          <p:nvPr/>
        </p:nvSpPr>
        <p:spPr>
          <a:xfrm>
            <a:off x="126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PLATFORM.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PLATFORM.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648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PRODUCT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008000"/>
            <a:ext cx="1080000" cy="36000"/>
          </a:xfrm>
          <a:prstGeom prst="rect">
            <a:avLst/>
          </a:prstGeom>
          <a:solidFill>
            <a:srgbClr val="FF006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580000"/>
            <a:ext cx="10753200" cy="18000"/>
          </a:xfrm>
          <a:prstGeom prst="rect">
            <a:avLst/>
          </a:prstGeom>
          <a:solidFill>
            <a:srgbClr val="33446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7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00F5E4"/>
                </a:solidFill>
                <a:latin typeface="Segoe UI Black"/>
                <a:ea typeface="Segoe UI Black"/>
              </a:rPr>
              <a:t>Inference</a:t>
            </a:r>
          </a:p>
        </p:txBody>
      </p:sp>
      <p:sp>
        <p:nvSpPr>
          <p:cNvPr id="9" name="TextBox 9"/>
          <p:cNvSpPr/>
          <p:nvPr/>
        </p:nvSpPr>
        <p:spPr>
          <a:xfrm>
            <a:off x="3960000" y="57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Fine-tuning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0" y="57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0066"/>
                </a:solidFill>
                <a:latin typeface="Segoe UI Black"/>
                <a:ea typeface="Segoe UI Black"/>
              </a:rPr>
              <a:t>Vector DB</a:t>
            </a:r>
          </a:p>
        </p:txBody>
      </p:sp>
      <p:sp>
        <p:nvSpPr>
          <p:cNvPr id="11" name="TextBox 11"/>
          <p:cNvSpPr/>
          <p:nvPr/>
        </p:nvSpPr>
        <p:spPr>
          <a:xfrm>
            <a:off x="10080000" y="5760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Observability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814"/>
        </a:solidFill>
      </p:bgPr>
    </p:bg>
    <p:spTree>
      <p:nvGrpSpPr>
        <p:cNvPr id="1" name=""/>
        <p:cNvGrpSpPr/>
        <p:nvPr/>
      </p:nvGrpSpPr>
      <p:grpSpPr/>
      <p:sp>
        <p:nvSpPr>
          <p:cNvPr id="2" name="!!pink-layer"/>
          <p:cNvSpPr/>
          <p:nvPr/>
        </p:nvSpPr>
        <p:spPr>
          <a:xfrm>
            <a:off x="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SCIENCE.</a:t>
            </a:r>
          </a:p>
        </p:txBody>
      </p:sp>
      <p:sp>
        <p:nvSpPr>
          <p:cNvPr id="3" name="!!cyan-layer"/>
          <p:cNvSpPr/>
          <p:nvPr/>
        </p:nvSpPr>
        <p:spPr>
          <a:xfrm>
            <a:off x="216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SCIENCE.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SCIENCE.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648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TECHNOLOGY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008000"/>
            <a:ext cx="1080000" cy="36000"/>
          </a:xfrm>
          <a:prstGeom prst="rect">
            <a:avLst/>
          </a:prstGeom>
          <a:solidFill>
            <a:srgbClr val="00F5E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400000"/>
            <a:ext cx="936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99CC"/>
                </a:solidFill>
                <a:latin typeface="Segoe UI"/>
                <a:ea typeface="Segoe UI"/>
              </a:rPr>
              <a:t>Transformer architecture optimised for edge deployment.</a:t>
            </a:r>
          </a:p>
          <a:p>
            <a:r>
              <a:rPr lang="en-US" sz="1400">
                <a:solidFill>
                  <a:srgbClr val="8899CC"/>
                </a:solidFill>
                <a:latin typeface="Segoe UI"/>
                <a:ea typeface="Segoe UI"/>
              </a:rPr>
              <a:t>Sub-10ms P99 on commodity hardware.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814"/>
        </a:solidFill>
      </p:bgPr>
    </p:bg>
    <p:spTree>
      <p:nvGrpSpPr>
        <p:cNvPr id="1" name=""/>
        <p:cNvGrpSpPr/>
        <p:nvPr/>
      </p:nvGrpSpPr>
      <p:grpSpPr/>
      <p:sp>
        <p:nvSpPr>
          <p:cNvPr id="2" name="!!pink-layer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NUMBERS.</a:t>
            </a:r>
          </a:p>
        </p:txBody>
      </p:sp>
      <p:sp>
        <p:nvSpPr>
          <p:cNvPr id="3" name="!!cyan-layer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NUMBERS.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NUMBERS.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648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METRICS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008000"/>
            <a:ext cx="1080000" cy="36000"/>
          </a:xfrm>
          <a:prstGeom prst="rect">
            <a:avLst/>
          </a:prstGeom>
          <a:solidFill>
            <a:srgbClr val="FF006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580000"/>
            <a:ext cx="10753200" cy="18000"/>
          </a:xfrm>
          <a:prstGeom prst="rect">
            <a:avLst/>
          </a:prstGeom>
          <a:solidFill>
            <a:srgbClr val="33446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7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F5E4"/>
                </a:solidFill>
                <a:latin typeface="Segoe UI Black"/>
                <a:ea typeface="Segoe UI Black"/>
              </a:rPr>
              <a:t>8ms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6228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P99 latency</a:t>
            </a:r>
          </a:p>
        </p:txBody>
      </p:sp>
      <p:sp>
        <p:nvSpPr>
          <p:cNvPr id="10" name="TextBox 10"/>
          <p:cNvSpPr/>
          <p:nvPr/>
        </p:nvSpPr>
        <p:spPr>
          <a:xfrm>
            <a:off x="3960000" y="57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99.99%</a:t>
            </a:r>
          </a:p>
        </p:txBody>
      </p:sp>
      <p:sp>
        <p:nvSpPr>
          <p:cNvPr id="11" name="TextBox 11"/>
          <p:cNvSpPr/>
          <p:nvPr/>
        </p:nvSpPr>
        <p:spPr>
          <a:xfrm>
            <a:off x="3960000" y="6228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Uptime SLA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0" y="57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0066"/>
                </a:solidFill>
                <a:latin typeface="Segoe UI Black"/>
                <a:ea typeface="Segoe UI Black"/>
              </a:rPr>
              <a:t>500+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0" y="6228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Models ready</a:t>
            </a:r>
          </a:p>
        </p:txBody>
      </p:sp>
      <p:sp>
        <p:nvSpPr>
          <p:cNvPr id="14" name="TextBox 14"/>
          <p:cNvSpPr/>
          <p:nvPr/>
        </p:nvSpPr>
        <p:spPr>
          <a:xfrm>
            <a:off x="10080000" y="5760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F5E4"/>
                </a:solidFill>
                <a:latin typeface="Segoe UI Black"/>
                <a:ea typeface="Segoe UI Black"/>
              </a:rPr>
              <a:t>10×</a:t>
            </a:r>
          </a:p>
        </p:txBody>
      </p:sp>
      <p:sp>
        <p:nvSpPr>
          <p:cNvPr id="15" name="TextBox 15"/>
          <p:cNvSpPr/>
          <p:nvPr/>
        </p:nvSpPr>
        <p:spPr>
          <a:xfrm>
            <a:off x="10080000" y="6228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Faster deploy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814"/>
        </a:solidFill>
      </p:bgPr>
    </p:bg>
    <p:spTree>
      <p:nvGrpSpPr>
        <p:cNvPr id="1" name=""/>
        <p:cNvGrpSpPr/>
        <p:nvPr/>
      </p:nvGrpSpPr>
      <p:grpSpPr/>
      <p:sp>
        <p:nvSpPr>
          <p:cNvPr id="2" name="!!pink-layer"/>
          <p:cNvSpPr/>
          <p:nvPr/>
        </p:nvSpPr>
        <p:spPr>
          <a:xfrm>
            <a:off x="720000" y="54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TEAM.</a:t>
            </a:r>
          </a:p>
        </p:txBody>
      </p:sp>
      <p:sp>
        <p:nvSpPr>
          <p:cNvPr id="3" name="!!cyan-layer"/>
          <p:cNvSpPr/>
          <p:nvPr/>
        </p:nvSpPr>
        <p:spPr>
          <a:xfrm>
            <a:off x="720000" y="162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TEAM.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TEAM.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80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TEAM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40000"/>
            <a:ext cx="1080000" cy="36000"/>
          </a:xfrm>
          <a:prstGeom prst="rect">
            <a:avLst/>
          </a:prstGeom>
          <a:solidFill>
            <a:srgbClr val="00F5E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400000"/>
            <a:ext cx="100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99CC"/>
                </a:solidFill>
                <a:latin typeface="Segoe UI"/>
                <a:ea typeface="Segoe UI"/>
              </a:rPr>
              <a:t>12 researchers. 8 engineers. 3 designers.</a:t>
            </a:r>
          </a:p>
          <a:p>
            <a:r>
              <a:rPr lang="en-US" sz="1400">
                <a:solidFill>
                  <a:srgbClr val="8899CC"/>
                </a:solidFill>
                <a:latin typeface="Segoe UI"/>
                <a:ea typeface="Segoe UI"/>
              </a:rPr>
              <a:t>All obsessed with the same problem.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A1030"/>
            </a:gs>
            <a:gs pos="100000">
              <a:srgbClr val="050814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pink-layer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BUILD THE</a:t>
            </a:r>
          </a:p>
          <a:p>
            <a:r>
              <a:rPr lang="en-US" sz="6800" b="1">
                <a:solidFill>
                  <a:srgbClr val="FF0066"/>
                </a:solidFill>
                <a:latin typeface="Segoe UI Black"/>
                <a:ea typeface="Segoe UI Black"/>
              </a:rPr>
              <a:t>FUTURE.</a:t>
            </a:r>
          </a:p>
        </p:txBody>
      </p:sp>
      <p:sp>
        <p:nvSpPr>
          <p:cNvPr id="3" name="!!cyan-layer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BUILD THE</a:t>
            </a:r>
          </a:p>
          <a:p>
            <a:r>
              <a:rPr lang="en-US" sz="6800" b="1">
                <a:solidFill>
                  <a:srgbClr val="00F5E4"/>
                </a:solidFill>
                <a:latin typeface="Segoe UI Black"/>
                <a:ea typeface="Segoe UI Black"/>
              </a:rPr>
              <a:t>FUTURE.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80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BUILD THE</a:t>
            </a:r>
          </a:p>
          <a:p>
            <a:r>
              <a:rPr lang="en-US" sz="6800" b="1">
                <a:solidFill>
                  <a:srgbClr val="FFFFFF"/>
                </a:solidFill>
                <a:latin typeface="Segoe UI Black"/>
                <a:ea typeface="Segoe UI Black"/>
              </a:rPr>
              <a:t>FUTURE.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008000"/>
            <a:ext cx="1080000" cy="36000"/>
          </a:xfrm>
          <a:prstGeom prst="rect">
            <a:avLst/>
          </a:prstGeom>
          <a:solidFill>
            <a:srgbClr val="00F5E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80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START FOR FREE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5508000"/>
            <a:ext cx="4680000" cy="936000"/>
          </a:xfrm>
          <a:prstGeom prst="roundRect">
            <a:avLst/>
          </a:prstGeom>
          <a:solidFill>
            <a:srgbClr val="00F5E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508000"/>
            <a:ext cx="4680000" cy="93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50814"/>
                </a:solidFill>
                <a:latin typeface="Segoe UI Black"/>
                <a:ea typeface="Segoe UI Black"/>
              </a:rPr>
              <a:t>Get API Access  →</a:t>
            </a:r>
          </a:p>
        </p:txBody>
      </p:sp>
      <p:sp>
        <p:nvSpPr>
          <p:cNvPr id="9" name="TextBox 9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8899CC"/>
                </a:solidFill>
                <a:latin typeface="Segoe UI"/>
                <a:ea typeface="Segoe UI"/>
              </a:rPr>
              <a:t>novasystems.ai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