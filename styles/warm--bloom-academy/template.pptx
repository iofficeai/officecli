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49b41e0777d4de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cc6e987a9874ede"/>
    <p:sldId id="257" r:id="R80eaa035d11c46c5"/>
    <p:sldId id="258" r:id="Rfbb23fc6407642fa"/>
    <p:sldId id="259" r:id="R2fe0ed2041f64d8b"/>
    <p:sldId id="260" r:id="R2548bc49ac424a6f"/>
    <p:sldId id="261" r:id="R287bbb5b05b9428b"/>
    <p:sldId id="262" r:id="R6ae47ebbba6b45b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cc6e987a9874ede" /><Relationship Type="http://schemas.openxmlformats.org/officeDocument/2006/relationships/slide" Target="/ppt/slides/slide2.xml" Id="R80eaa035d11c46c5" /><Relationship Type="http://schemas.openxmlformats.org/officeDocument/2006/relationships/slide" Target="/ppt/slides/slide3.xml" Id="Rfbb23fc6407642fa" /><Relationship Type="http://schemas.openxmlformats.org/officeDocument/2006/relationships/slide" Target="/ppt/slides/slide4.xml" Id="R2fe0ed2041f64d8b" /><Relationship Type="http://schemas.openxmlformats.org/officeDocument/2006/relationships/slide" Target="/ppt/slides/slide5.xml" Id="R2548bc49ac424a6f" /><Relationship Type="http://schemas.openxmlformats.org/officeDocument/2006/relationships/slide" Target="/ppt/slides/slide6.xml" Id="R287bbb5b05b9428b" /><Relationship Type="http://schemas.openxmlformats.org/officeDocument/2006/relationships/slide" Target="/ppt/slides/slide7.xml" Id="R6ae47ebbba6b45b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25de52d064c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94df2417e47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cc181beab41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9a38fb9b14d1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025666a80aa45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940c5cd7e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f6396c9ee46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0ab84e10d4a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45c57fa0d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2a5d8914b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5ed32be7c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e5ad3e063427a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0" y="0"/>
            <a:ext cx="6480000" cy="5040000"/>
          </a:xfrm>
          <a:prstGeom prst="ellipse">
            <a:avLst/>
          </a:prstGeom>
          <a:solidFill>
            <a:srgbClr val="4DAADD">
              <a:alpha val="85000"/>
            </a:srgbClr>
          </a:solidFill>
          <a:effectLst>
            <a:softEdge rad="508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4536000" cy="3528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8953200" y="0"/>
            <a:ext cx="3240000" cy="5040000"/>
          </a:xfrm>
          <a:prstGeom prst="ellipse">
            <a:avLst/>
          </a:prstGeom>
          <a:solidFill>
            <a:srgbClr val="E84444">
              <a:alpha val="85000"/>
            </a:srgbClr>
          </a:solidFill>
          <a:effectLst>
            <a:softEdge rad="508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925200" y="0"/>
            <a:ext cx="4536000" cy="3528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0" y="4698000"/>
            <a:ext cx="5760000" cy="2160000"/>
          </a:xfrm>
          <a:prstGeom prst="ellipse">
            <a:avLst/>
          </a:prstGeom>
          <a:solidFill>
            <a:srgbClr val="44BB55">
              <a:alpha val="80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9313200" y="4698000"/>
            <a:ext cx="2880000" cy="2160000"/>
          </a:xfrm>
          <a:prstGeom prst="ellipse">
            <a:avLst/>
          </a:prstGeom>
          <a:solidFill>
            <a:srgbClr val="F5C840">
              <a:alpha val="80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17720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540000"/>
            <a:ext cx="1080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BLOOM ACADEMY</a:t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1980000"/>
            <a:ext cx="10080000" cy="25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800" b="1">
                <a:solidFill>
                  <a:srgbClr val="1A1A2A"/>
                </a:solidFill>
                <a:latin typeface="Segoe UI Black"/>
                <a:ea typeface="Segoe UI Black"/>
              </a:rPr>
              <a:t>Special Needs</a:t>
            </a:r>
          </a:p>
          <a:p>
            <a:pPr algn="ctr"/>
            <a:r>
              <a:rPr lang="en-US" sz="4800" b="1">
                <a:solidFill>
                  <a:srgbClr val="1A1A2A"/>
                </a:solidFill>
                <a:latin typeface="Segoe UI Black"/>
                <a:ea typeface="Segoe UI Black"/>
              </a:rPr>
              <a:t>Education Center</a:t>
            </a:r>
          </a:p>
        </p:txBody>
      </p:sp>
      <p:sp>
        <p:nvSpPr>
          <p:cNvPr id="12" name="TextBox 12"/>
          <p:cNvSpPr/>
          <p:nvPr/>
        </p:nvSpPr>
        <p:spPr>
          <a:xfrm>
            <a:off x="1080000" y="486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>
                <a:solidFill>
                  <a:srgbClr val="6677AA"/>
                </a:solidFill>
                <a:latin typeface="Segoe UI"/>
                <a:ea typeface="Segoe UI"/>
              </a:rPr>
              <a:t>Here is where your learning journey begins.</a:t>
            </a:r>
          </a:p>
        </p:txBody>
      </p:sp>
      <p:sp>
        <p:nvSpPr>
          <p:cNvPr id="13" name="TextBox 13"/>
          <p:cNvSpPr/>
          <p:nvPr/>
        </p:nvSpPr>
        <p:spPr>
          <a:xfrm>
            <a:off x="4680000" y="5508000"/>
            <a:ext cx="2880000" cy="18000"/>
          </a:xfrm>
          <a:prstGeom prst="rect">
            <a:avLst/>
          </a:prstGeom>
          <a:solidFill>
            <a:srgbClr val="6677AA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080000" y="5688000"/>
            <a:ext cx="1008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677AA"/>
                </a:solidFill>
                <a:latin typeface="Segoe UI"/>
                <a:ea typeface="Segoe UI"/>
              </a:rPr>
              <a:t>27 modules  ·  Online &amp; In-person  ·  All ages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0" y="0"/>
            <a:ext cx="7200000" cy="5760000"/>
          </a:xfrm>
          <a:prstGeom prst="ellipse">
            <a:avLst/>
          </a:prstGeom>
          <a:solidFill>
            <a:srgbClr val="4DAADD">
              <a:alpha val="80000"/>
            </a:srgbClr>
          </a:solidFill>
          <a:effectLst>
            <a:softEdge rad="571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5040000" cy="403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9673200" y="4698000"/>
            <a:ext cx="2520000" cy="2160000"/>
          </a:xfrm>
          <a:prstGeom prst="ellipse">
            <a:avLst/>
          </a:prstGeom>
          <a:solidFill>
            <a:srgbClr val="F5C840">
              <a:alpha val="75000"/>
            </a:srgbClr>
          </a:solidFill>
          <a:effectLst>
            <a:softEdge rad="406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429200" y="5346000"/>
            <a:ext cx="3528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10033200" y="0"/>
            <a:ext cx="2160000" cy="3600000"/>
          </a:xfrm>
          <a:prstGeom prst="ellipse">
            <a:avLst/>
          </a:prstGeom>
          <a:solidFill>
            <a:srgbClr val="44BB55">
              <a:alpha val="70000"/>
            </a:srgbClr>
          </a:solidFill>
          <a:effectLst>
            <a:softEdge rad="3556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0681200" y="0"/>
            <a:ext cx="3024000" cy="2520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0" y="5058000"/>
            <a:ext cx="4320000" cy="1800000"/>
          </a:xfrm>
          <a:prstGeom prst="ellipse">
            <a:avLst/>
          </a:prstGeom>
          <a:solidFill>
            <a:srgbClr val="E84444">
              <a:alpha val="75000"/>
            </a:srgbClr>
          </a:solidFill>
          <a:effectLst>
            <a:softEdge rad="3556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0" y="5598000"/>
            <a:ext cx="3024000" cy="2520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1872000"/>
            <a:ext cx="5760000" cy="396000"/>
          </a:xfrm>
          <a:prstGeom prst="rect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1908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FFFFFF"/>
                </a:solidFill>
                <a:latin typeface="Segoe UI Black"/>
                <a:ea typeface="Segoe UI Black"/>
              </a:rPr>
              <a:t>SUBJECT</a:t>
            </a:r>
          </a:p>
        </p:txBody>
      </p:sp>
      <p:sp>
        <p:nvSpPr>
          <p:cNvPr id="12" name="TextBox 12"/>
          <p:cNvSpPr/>
          <p:nvPr/>
        </p:nvSpPr>
        <p:spPr>
          <a:xfrm>
            <a:off x="3060000" y="1908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FFFFF"/>
                </a:solidFill>
                <a:latin typeface="Segoe UI"/>
                <a:ea typeface="Segoe UI"/>
              </a:rPr>
              <a:t>DESCRIPTION</a:t>
            </a:r>
          </a:p>
        </p:txBody>
      </p:sp>
      <p:sp>
        <p:nvSpPr>
          <p:cNvPr id="13" name="TextBox 13"/>
          <p:cNvSpPr/>
          <p:nvPr/>
        </p:nvSpPr>
        <p:spPr>
          <a:xfrm>
            <a:off x="540000" y="2448000"/>
            <a:ext cx="5760000" cy="360000"/>
          </a:xfrm>
          <a:prstGeom prst="rect">
            <a:avLst/>
          </a:prstGeom>
          <a:solidFill>
            <a:srgbClr val="FAF5E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2484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Neptune</a:t>
            </a:r>
          </a:p>
        </p:txBody>
      </p:sp>
      <p:sp>
        <p:nvSpPr>
          <p:cNvPr id="15" name="TextBox 15"/>
          <p:cNvSpPr/>
          <p:nvPr/>
        </p:nvSpPr>
        <p:spPr>
          <a:xfrm>
            <a:off x="3060000" y="2484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Neptune is the farthest planet from the Sun.</a:t>
            </a:r>
          </a:p>
        </p:txBody>
      </p:sp>
      <p:sp>
        <p:nvSpPr>
          <p:cNvPr id="16" name="TextBox 16"/>
          <p:cNvSpPr/>
          <p:nvPr/>
        </p:nvSpPr>
        <p:spPr>
          <a:xfrm>
            <a:off x="540000" y="3060000"/>
            <a:ext cx="5760000" cy="360000"/>
          </a:xfrm>
          <a:prstGeom prst="rect">
            <a:avLst/>
          </a:prstGeom>
          <a:solidFill>
            <a:srgbClr val="FAF5E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720000" y="3096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Jupiter</a:t>
            </a:r>
          </a:p>
        </p:txBody>
      </p:sp>
      <p:sp>
        <p:nvSpPr>
          <p:cNvPr id="18" name="TextBox 18"/>
          <p:cNvSpPr/>
          <p:nvPr/>
        </p:nvSpPr>
        <p:spPr>
          <a:xfrm>
            <a:off x="3060000" y="3096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Jupiter is the biggest planet in the Solar System.</a:t>
            </a:r>
          </a:p>
        </p:txBody>
      </p:sp>
      <p:sp>
        <p:nvSpPr>
          <p:cNvPr id="19" name="TextBox 19"/>
          <p:cNvSpPr/>
          <p:nvPr/>
        </p:nvSpPr>
        <p:spPr>
          <a:xfrm>
            <a:off x="540000" y="3672000"/>
            <a:ext cx="5760000" cy="360000"/>
          </a:xfrm>
          <a:prstGeom prst="rect">
            <a:avLst/>
          </a:prstGeom>
          <a:solidFill>
            <a:srgbClr val="FAF5E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720000" y="3708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Mars</a:t>
            </a:r>
          </a:p>
        </p:txBody>
      </p:sp>
      <p:sp>
        <p:nvSpPr>
          <p:cNvPr id="21" name="TextBox 21"/>
          <p:cNvSpPr/>
          <p:nvPr/>
        </p:nvSpPr>
        <p:spPr>
          <a:xfrm>
            <a:off x="3060000" y="3708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Mars is actually a cold place full of iron-oxide dust.</a:t>
            </a:r>
          </a:p>
        </p:txBody>
      </p:sp>
      <p:sp>
        <p:nvSpPr>
          <p:cNvPr id="22" name="TextBox 22"/>
          <p:cNvSpPr/>
          <p:nvPr/>
        </p:nvSpPr>
        <p:spPr>
          <a:xfrm>
            <a:off x="540000" y="4284000"/>
            <a:ext cx="5760000" cy="360000"/>
          </a:xfrm>
          <a:prstGeom prst="rect">
            <a:avLst/>
          </a:prstGeom>
          <a:solidFill>
            <a:srgbClr val="FAF5E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720000" y="4320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Venus</a:t>
            </a:r>
          </a:p>
        </p:txBody>
      </p:sp>
      <p:sp>
        <p:nvSpPr>
          <p:cNvPr id="24" name="TextBox 24"/>
          <p:cNvSpPr/>
          <p:nvPr/>
        </p:nvSpPr>
        <p:spPr>
          <a:xfrm>
            <a:off x="3060000" y="4320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Venus has a dense atmosphere and is the hottest planet.</a:t>
            </a:r>
          </a:p>
        </p:txBody>
      </p:sp>
      <p:sp>
        <p:nvSpPr>
          <p:cNvPr id="25" name="TextBox 25"/>
          <p:cNvSpPr/>
          <p:nvPr/>
        </p:nvSpPr>
        <p:spPr>
          <a:xfrm>
            <a:off x="540000" y="4896000"/>
            <a:ext cx="5760000" cy="360000"/>
          </a:xfrm>
          <a:prstGeom prst="rect">
            <a:avLst/>
          </a:prstGeom>
          <a:solidFill>
            <a:srgbClr val="FAF5E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20000" y="4932000"/>
            <a:ext cx="21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Saturn</a:t>
            </a:r>
          </a:p>
        </p:txBody>
      </p:sp>
      <p:sp>
        <p:nvSpPr>
          <p:cNvPr id="27" name="TextBox 27"/>
          <p:cNvSpPr/>
          <p:nvPr/>
        </p:nvSpPr>
        <p:spPr>
          <a:xfrm>
            <a:off x="3060000" y="4932000"/>
            <a:ext cx="32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Saturn is the ringed one and a gas giant.</a:t>
            </a:r>
          </a:p>
        </p:txBody>
      </p:sp>
      <p:sp>
        <p:nvSpPr>
          <p:cNvPr id="28" name="TextBox 28"/>
          <p:cNvSpPr/>
          <p:nvPr/>
        </p:nvSpPr>
        <p:spPr>
          <a:xfrm>
            <a:off x="540000" y="2844000"/>
            <a:ext cx="5760000" cy="144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540000" y="3456000"/>
            <a:ext cx="5760000" cy="144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540000" y="4068000"/>
            <a:ext cx="5760000" cy="144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540000" y="4680000"/>
            <a:ext cx="5760000" cy="144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540000" y="5292000"/>
            <a:ext cx="5760000" cy="144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540000" y="540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A1A2A"/>
                </a:solidFill>
                <a:latin typeface="Segoe UI Black"/>
                <a:ea typeface="Segoe UI Black"/>
              </a:rPr>
              <a:t>THE CURRICULUM</a:t>
            </a:r>
          </a:p>
        </p:txBody>
      </p:sp>
      <p:sp>
        <p:nvSpPr>
          <p:cNvPr id="34" name="TextBox 34"/>
          <p:cNvSpPr/>
          <p:nvPr/>
        </p:nvSpPr>
        <p:spPr>
          <a:xfrm>
            <a:off x="7020000" y="54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A1A2A"/>
                </a:solidFill>
                <a:latin typeface="Segoe UI Black"/>
                <a:ea typeface="Segoe UI Black"/>
              </a:rPr>
              <a:t>Our Numbers</a:t>
            </a:r>
          </a:p>
        </p:txBody>
      </p:sp>
      <p:sp>
        <p:nvSpPr>
          <p:cNvPr id="35" name="TextBox 35"/>
          <p:cNvSpPr/>
          <p:nvPr/>
        </p:nvSpPr>
        <p:spPr>
          <a:xfrm>
            <a:off x="7020000" y="1080000"/>
            <a:ext cx="1980000" cy="1980000"/>
          </a:xfrm>
          <a:prstGeom prst="roundRect">
            <a:avLst/>
          </a:prstGeom>
          <a:solidFill>
            <a:srgbClr val="D0EEF8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7020000" y="1260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200" b="1">
                <a:solidFill>
                  <a:srgbClr val="1A1A2A"/>
                </a:solidFill>
                <a:latin typeface="Segoe UI Black"/>
                <a:ea typeface="Segoe UI Black"/>
              </a:rPr>
              <a:t>35%</a:t>
            </a:r>
          </a:p>
        </p:txBody>
      </p:sp>
      <p:sp>
        <p:nvSpPr>
          <p:cNvPr id="37" name="TextBox 37"/>
          <p:cNvSpPr/>
          <p:nvPr/>
        </p:nvSpPr>
        <p:spPr>
          <a:xfrm>
            <a:off x="7020000" y="2340000"/>
            <a:ext cx="19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Mercury</a:t>
            </a:r>
          </a:p>
        </p:txBody>
      </p:sp>
      <p:sp>
        <p:nvSpPr>
          <p:cNvPr id="38" name="TextBox 38"/>
          <p:cNvSpPr/>
          <p:nvPr/>
        </p:nvSpPr>
        <p:spPr>
          <a:xfrm>
            <a:off x="9180000" y="1080000"/>
            <a:ext cx="1980000" cy="1980000"/>
          </a:xfrm>
          <a:prstGeom prst="roundRect">
            <a:avLst/>
          </a:prstGeom>
          <a:solidFill>
            <a:srgbClr val="CCEE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9180000" y="1260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200" b="1">
                <a:solidFill>
                  <a:srgbClr val="1A1A2A"/>
                </a:solidFill>
                <a:latin typeface="Segoe UI Black"/>
                <a:ea typeface="Segoe UI Black"/>
              </a:rPr>
              <a:t>15%</a:t>
            </a:r>
          </a:p>
        </p:txBody>
      </p:sp>
      <p:sp>
        <p:nvSpPr>
          <p:cNvPr id="40" name="TextBox 40"/>
          <p:cNvSpPr/>
          <p:nvPr/>
        </p:nvSpPr>
        <p:spPr>
          <a:xfrm>
            <a:off x="9180000" y="2340000"/>
            <a:ext cx="19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Venus</a:t>
            </a:r>
          </a:p>
        </p:txBody>
      </p:sp>
      <p:sp>
        <p:nvSpPr>
          <p:cNvPr id="41" name="TextBox 41"/>
          <p:cNvSpPr/>
          <p:nvPr/>
        </p:nvSpPr>
        <p:spPr>
          <a:xfrm>
            <a:off x="7020000" y="3240000"/>
            <a:ext cx="1980000" cy="1980000"/>
          </a:xfrm>
          <a:prstGeom prst="roundRect">
            <a:avLst/>
          </a:prstGeom>
          <a:solidFill>
            <a:srgbClr val="FEF5C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7020000" y="3420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200" b="1">
                <a:solidFill>
                  <a:srgbClr val="1A1A2A"/>
                </a:solidFill>
                <a:latin typeface="Segoe UI Black"/>
                <a:ea typeface="Segoe UI Black"/>
              </a:rPr>
              <a:t>30%</a:t>
            </a:r>
          </a:p>
        </p:txBody>
      </p:sp>
      <p:sp>
        <p:nvSpPr>
          <p:cNvPr id="43" name="TextBox 43"/>
          <p:cNvSpPr/>
          <p:nvPr/>
        </p:nvSpPr>
        <p:spPr>
          <a:xfrm>
            <a:off x="7020000" y="4500000"/>
            <a:ext cx="19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Mars</a:t>
            </a:r>
          </a:p>
        </p:txBody>
      </p:sp>
      <p:sp>
        <p:nvSpPr>
          <p:cNvPr id="44" name="TextBox 44"/>
          <p:cNvSpPr/>
          <p:nvPr/>
        </p:nvSpPr>
        <p:spPr>
          <a:xfrm>
            <a:off x="9180000" y="3240000"/>
            <a:ext cx="1980000" cy="1980000"/>
          </a:xfrm>
          <a:prstGeom prst="roundRect">
            <a:avLst/>
          </a:prstGeom>
          <a:solidFill>
            <a:srgbClr val="FAD4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9180000" y="3420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200" b="1">
                <a:solidFill>
                  <a:srgbClr val="1A1A2A"/>
                </a:solidFill>
                <a:latin typeface="Segoe UI Black"/>
                <a:ea typeface="Segoe UI Black"/>
              </a:rPr>
              <a:t>20%</a:t>
            </a:r>
          </a:p>
        </p:txBody>
      </p:sp>
      <p:sp>
        <p:nvSpPr>
          <p:cNvPr id="46" name="TextBox 46"/>
          <p:cNvSpPr/>
          <p:nvPr/>
        </p:nvSpPr>
        <p:spPr>
          <a:xfrm>
            <a:off x="9180000" y="4500000"/>
            <a:ext cx="19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Jupiter</a:t>
            </a:r>
          </a:p>
        </p:txBody>
      </p:sp>
      <p:sp>
        <p:nvSpPr>
          <p:cNvPr id="47" name="TextBox 47"/>
          <p:cNvSpPr/>
          <p:nvPr/>
        </p:nvSpPr>
        <p:spPr>
          <a:xfrm>
            <a:off x="7020000" y="5400000"/>
            <a:ext cx="540000" cy="540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8" name="TextBox 48"/>
          <p:cNvSpPr/>
          <p:nvPr/>
        </p:nvSpPr>
        <p:spPr>
          <a:xfrm>
            <a:off x="7812000" y="5400000"/>
            <a:ext cx="540000" cy="540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8604000" y="5400000"/>
            <a:ext cx="540000" cy="540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0" name="TextBox 50"/>
          <p:cNvSpPr/>
          <p:nvPr/>
        </p:nvSpPr>
        <p:spPr>
          <a:xfrm>
            <a:off x="9396000" y="5400000"/>
            <a:ext cx="540000" cy="540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1" name="TextBox 51"/>
          <p:cNvSpPr/>
          <p:nvPr/>
        </p:nvSpPr>
        <p:spPr>
          <a:xfrm>
            <a:off x="10188000" y="5400000"/>
            <a:ext cx="540000" cy="540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2" name="TextBox 52"/>
          <p:cNvSpPr/>
          <p:nvPr/>
        </p:nvSpPr>
        <p:spPr>
          <a:xfrm>
            <a:off x="10980000" y="5400000"/>
            <a:ext cx="540000" cy="540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8953200" y="3978000"/>
            <a:ext cx="3240000" cy="2880000"/>
          </a:xfrm>
          <a:prstGeom prst="ellipse">
            <a:avLst/>
          </a:prstGeom>
          <a:solidFill>
            <a:srgbClr val="E84444">
              <a:alpha val="80000"/>
            </a:srgbClr>
          </a:solidFill>
          <a:effectLst>
            <a:softEdge rad="533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925200" y="4842000"/>
            <a:ext cx="4536000" cy="403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0" y="0"/>
            <a:ext cx="6480000" cy="5040000"/>
          </a:xfrm>
          <a:prstGeom prst="ellipse">
            <a:avLst/>
          </a:prstGeom>
          <a:solidFill>
            <a:srgbClr val="44BB55">
              <a:alpha val="78000"/>
            </a:srgbClr>
          </a:solidFill>
          <a:effectLst>
            <a:softEdge rad="508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0" y="0"/>
            <a:ext cx="4536000" cy="3528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0" y="4698000"/>
            <a:ext cx="5040000" cy="2160000"/>
          </a:xfrm>
          <a:prstGeom prst="ellipse">
            <a:avLst/>
          </a:prstGeom>
          <a:solidFill>
            <a:srgbClr val="4DAADD">
              <a:alpha val="70000"/>
            </a:srgbClr>
          </a:solidFill>
          <a:effectLst>
            <a:softEdge rad="406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0" y="5346000"/>
            <a:ext cx="3528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9673200" y="0"/>
            <a:ext cx="2520000" cy="4320000"/>
          </a:xfrm>
          <a:prstGeom prst="ellipse">
            <a:avLst/>
          </a:prstGeom>
          <a:solidFill>
            <a:srgbClr val="F5C840">
              <a:alpha val="72000"/>
            </a:srgbClr>
          </a:solidFill>
          <a:effectLst>
            <a:softEdge rad="406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429200" y="0"/>
            <a:ext cx="3528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2520000" y="2340000"/>
            <a:ext cx="1620000" cy="3240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2520000" y="2340000"/>
            <a:ext cx="1620000" cy="1620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3960000"/>
            <a:ext cx="1620000" cy="1620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2340000"/>
            <a:ext cx="3240000" cy="3240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728000" y="3168000"/>
            <a:ext cx="1620000" cy="1620000"/>
          </a:xfrm>
          <a:prstGeom prst="ellipse">
            <a:avLst/>
          </a:prstGeom>
          <a:solidFill>
            <a:srgbClr val="FAF5E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40000" y="540000"/>
            <a:ext cx="57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A1A2A"/>
                </a:solidFill>
                <a:latin typeface="Segoe UI Black"/>
                <a:ea typeface="Segoe UI Black"/>
              </a:rPr>
              <a:t>Statistics</a:t>
            </a:r>
          </a:p>
        </p:txBody>
      </p:sp>
      <p:sp>
        <p:nvSpPr>
          <p:cNvPr id="16" name="TextBox 16"/>
          <p:cNvSpPr/>
          <p:nvPr/>
        </p:nvSpPr>
        <p:spPr>
          <a:xfrm>
            <a:off x="5040000" y="1980000"/>
            <a:ext cx="288000" cy="288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472000" y="1944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A2A"/>
                </a:solidFill>
                <a:latin typeface="Segoe UI"/>
                <a:ea typeface="Segoe UI"/>
              </a:rPr>
              <a:t>●  25%  Mars</a:t>
            </a:r>
          </a:p>
        </p:txBody>
      </p:sp>
      <p:sp>
        <p:nvSpPr>
          <p:cNvPr id="18" name="TextBox 18"/>
          <p:cNvSpPr/>
          <p:nvPr/>
        </p:nvSpPr>
        <p:spPr>
          <a:xfrm>
            <a:off x="5040000" y="2628000"/>
            <a:ext cx="288000" cy="288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472000" y="2592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A2A"/>
                </a:solidFill>
                <a:latin typeface="Segoe UI"/>
                <a:ea typeface="Segoe UI"/>
              </a:rPr>
              <a:t>●  26%  Venus</a:t>
            </a:r>
          </a:p>
        </p:txBody>
      </p:sp>
      <p:sp>
        <p:nvSpPr>
          <p:cNvPr id="20" name="TextBox 20"/>
          <p:cNvSpPr/>
          <p:nvPr/>
        </p:nvSpPr>
        <p:spPr>
          <a:xfrm>
            <a:off x="5040000" y="3276000"/>
            <a:ext cx="288000" cy="288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472000" y="3240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A2A"/>
                </a:solidFill>
                <a:latin typeface="Segoe UI"/>
                <a:ea typeface="Segoe UI"/>
              </a:rPr>
              <a:t>●  16%  Neptune</a:t>
            </a:r>
          </a:p>
        </p:txBody>
      </p:sp>
      <p:sp>
        <p:nvSpPr>
          <p:cNvPr id="22" name="TextBox 22"/>
          <p:cNvSpPr/>
          <p:nvPr/>
        </p:nvSpPr>
        <p:spPr>
          <a:xfrm>
            <a:off x="5040000" y="3924000"/>
            <a:ext cx="288000" cy="288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5472000" y="3888000"/>
            <a:ext cx="288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1A1A2A"/>
                </a:solidFill>
                <a:latin typeface="Segoe UI"/>
                <a:ea typeface="Segoe UI"/>
              </a:rPr>
              <a:t>●  35%  Saturn</a:t>
            </a:r>
          </a:p>
        </p:txBody>
      </p:sp>
      <p:sp>
        <p:nvSpPr>
          <p:cNvPr id="24" name="TextBox 24"/>
          <p:cNvSpPr/>
          <p:nvPr/>
        </p:nvSpPr>
        <p:spPr>
          <a:xfrm>
            <a:off x="540000" y="5760000"/>
            <a:ext cx="64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To modify this graph, follow the link and</a:t>
            </a:r>
          </a:p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change the data and paste the new graph here.</a:t>
            </a:r>
          </a:p>
        </p:txBody>
      </p:sp>
      <p:sp>
        <p:nvSpPr>
          <p:cNvPr id="25" name="TextBox 25"/>
          <p:cNvSpPr/>
          <p:nvPr/>
        </p:nvSpPr>
        <p:spPr>
          <a:xfrm>
            <a:off x="7020000" y="540000"/>
            <a:ext cx="50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1A1A2A"/>
                </a:solidFill>
                <a:latin typeface="Segoe UI Black"/>
                <a:ea typeface="Segoe UI Black"/>
              </a:rPr>
              <a:t>Our Academic Areas</a:t>
            </a:r>
          </a:p>
        </p:txBody>
      </p:sp>
      <p:sp>
        <p:nvSpPr>
          <p:cNvPr id="26" name="TextBox 26"/>
          <p:cNvSpPr/>
          <p:nvPr/>
        </p:nvSpPr>
        <p:spPr>
          <a:xfrm>
            <a:off x="7020000" y="1260000"/>
            <a:ext cx="540000" cy="540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7020000" y="19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Mercury</a:t>
            </a:r>
          </a:p>
        </p:txBody>
      </p:sp>
      <p:sp>
        <p:nvSpPr>
          <p:cNvPr id="28" name="TextBox 28"/>
          <p:cNvSpPr/>
          <p:nvPr/>
        </p:nvSpPr>
        <p:spPr>
          <a:xfrm>
            <a:off x="7020000" y="22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Mercury is the closest planet to the Sun</a:t>
            </a:r>
          </a:p>
        </p:txBody>
      </p:sp>
      <p:sp>
        <p:nvSpPr>
          <p:cNvPr id="29" name="TextBox 29"/>
          <p:cNvSpPr/>
          <p:nvPr/>
        </p:nvSpPr>
        <p:spPr>
          <a:xfrm>
            <a:off x="8748000" y="1260000"/>
            <a:ext cx="540000" cy="540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8748000" y="19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Venus</a:t>
            </a:r>
          </a:p>
        </p:txBody>
      </p:sp>
      <p:sp>
        <p:nvSpPr>
          <p:cNvPr id="31" name="TextBox 31"/>
          <p:cNvSpPr/>
          <p:nvPr/>
        </p:nvSpPr>
        <p:spPr>
          <a:xfrm>
            <a:off x="8748000" y="22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Venus has a beautiful name, but it's terribly hot</a:t>
            </a:r>
          </a:p>
        </p:txBody>
      </p:sp>
      <p:sp>
        <p:nvSpPr>
          <p:cNvPr id="32" name="TextBox 32"/>
          <p:cNvSpPr/>
          <p:nvPr/>
        </p:nvSpPr>
        <p:spPr>
          <a:xfrm>
            <a:off x="10476000" y="1260000"/>
            <a:ext cx="540000" cy="540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10476000" y="19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Mars</a:t>
            </a:r>
          </a:p>
        </p:txBody>
      </p:sp>
      <p:sp>
        <p:nvSpPr>
          <p:cNvPr id="34" name="TextBox 34"/>
          <p:cNvSpPr/>
          <p:nvPr/>
        </p:nvSpPr>
        <p:spPr>
          <a:xfrm>
            <a:off x="10476000" y="22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Despite being red, Mars is actually a cold place</a:t>
            </a:r>
          </a:p>
        </p:txBody>
      </p:sp>
      <p:sp>
        <p:nvSpPr>
          <p:cNvPr id="35" name="TextBox 35"/>
          <p:cNvSpPr/>
          <p:nvPr/>
        </p:nvSpPr>
        <p:spPr>
          <a:xfrm>
            <a:off x="7020000" y="3060000"/>
            <a:ext cx="540000" cy="540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7020000" y="37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Jupiter</a:t>
            </a:r>
          </a:p>
        </p:txBody>
      </p:sp>
      <p:sp>
        <p:nvSpPr>
          <p:cNvPr id="37" name="TextBox 37"/>
          <p:cNvSpPr/>
          <p:nvPr/>
        </p:nvSpPr>
        <p:spPr>
          <a:xfrm>
            <a:off x="7020000" y="40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Jupiter is the biggest planet in the Solar System</a:t>
            </a:r>
          </a:p>
        </p:txBody>
      </p:sp>
      <p:sp>
        <p:nvSpPr>
          <p:cNvPr id="38" name="TextBox 38"/>
          <p:cNvSpPr/>
          <p:nvPr/>
        </p:nvSpPr>
        <p:spPr>
          <a:xfrm>
            <a:off x="8748000" y="3060000"/>
            <a:ext cx="540000" cy="540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8748000" y="37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Saturn</a:t>
            </a:r>
          </a:p>
        </p:txBody>
      </p:sp>
      <p:sp>
        <p:nvSpPr>
          <p:cNvPr id="40" name="TextBox 40"/>
          <p:cNvSpPr/>
          <p:nvPr/>
        </p:nvSpPr>
        <p:spPr>
          <a:xfrm>
            <a:off x="8748000" y="40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Saturn is the ringed one and a gas giant</a:t>
            </a:r>
          </a:p>
        </p:txBody>
      </p:sp>
      <p:sp>
        <p:nvSpPr>
          <p:cNvPr id="41" name="TextBox 41"/>
          <p:cNvSpPr/>
          <p:nvPr/>
        </p:nvSpPr>
        <p:spPr>
          <a:xfrm>
            <a:off x="10476000" y="3060000"/>
            <a:ext cx="540000" cy="540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10476000" y="3708000"/>
            <a:ext cx="16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Neptune</a:t>
            </a:r>
          </a:p>
        </p:txBody>
      </p:sp>
      <p:sp>
        <p:nvSpPr>
          <p:cNvPr id="43" name="TextBox 43"/>
          <p:cNvSpPr/>
          <p:nvPr/>
        </p:nvSpPr>
        <p:spPr>
          <a:xfrm>
            <a:off x="10476000" y="4032000"/>
            <a:ext cx="16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Neptune is the farthest planet from the Sun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0" y="0"/>
            <a:ext cx="7920000" cy="6480000"/>
          </a:xfrm>
          <a:prstGeom prst="ellipse">
            <a:avLst/>
          </a:prstGeom>
          <a:solidFill>
            <a:srgbClr val="44BB55">
              <a:alpha val="75000"/>
            </a:srgbClr>
          </a:solidFill>
          <a:effectLst>
            <a:softEdge rad="635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5544000" cy="4536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8593200" y="0"/>
            <a:ext cx="3600000" cy="5760000"/>
          </a:xfrm>
          <a:prstGeom prst="ellipse">
            <a:avLst/>
          </a:prstGeom>
          <a:solidFill>
            <a:srgbClr val="4DAADD">
              <a:alpha val="78000"/>
            </a:srgbClr>
          </a:solidFill>
          <a:effectLst>
            <a:softEdge rad="571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673200" y="0"/>
            <a:ext cx="5040000" cy="403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9313200" y="4698000"/>
            <a:ext cx="2880000" cy="2160000"/>
          </a:xfrm>
          <a:prstGeom prst="ellipse">
            <a:avLst/>
          </a:prstGeom>
          <a:solidFill>
            <a:srgbClr val="E84444">
              <a:alpha val="70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017720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0" y="4698000"/>
            <a:ext cx="5760000" cy="2160000"/>
          </a:xfrm>
          <a:prstGeom prst="ellipse">
            <a:avLst/>
          </a:prstGeom>
          <a:solidFill>
            <a:srgbClr val="F5C840">
              <a:alpha val="72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332000" y="2772000"/>
            <a:ext cx="1296000" cy="1296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332000" y="27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☿</a:t>
            </a:r>
          </a:p>
        </p:txBody>
      </p:sp>
      <p:sp>
        <p:nvSpPr>
          <p:cNvPr id="12" name="TextBox 12"/>
          <p:cNvSpPr/>
          <p:nvPr/>
        </p:nvSpPr>
        <p:spPr>
          <a:xfrm>
            <a:off x="1224000" y="41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Mercury</a:t>
            </a:r>
          </a:p>
        </p:txBody>
      </p:sp>
      <p:sp>
        <p:nvSpPr>
          <p:cNvPr id="13" name="TextBox 13"/>
          <p:cNvSpPr/>
          <p:nvPr/>
        </p:nvSpPr>
        <p:spPr>
          <a:xfrm>
            <a:off x="1224000" y="45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Closest to Sun</a:t>
            </a:r>
          </a:p>
        </p:txBody>
      </p:sp>
      <p:sp>
        <p:nvSpPr>
          <p:cNvPr id="14" name="TextBox 14"/>
          <p:cNvSpPr/>
          <p:nvPr/>
        </p:nvSpPr>
        <p:spPr>
          <a:xfrm>
            <a:off x="5292000" y="2772000"/>
            <a:ext cx="1296000" cy="1296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5292000" y="27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♀</a:t>
            </a:r>
          </a:p>
        </p:txBody>
      </p:sp>
      <p:sp>
        <p:nvSpPr>
          <p:cNvPr id="16" name="TextBox 16"/>
          <p:cNvSpPr/>
          <p:nvPr/>
        </p:nvSpPr>
        <p:spPr>
          <a:xfrm>
            <a:off x="5184000" y="41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Venus</a:t>
            </a:r>
          </a:p>
        </p:txBody>
      </p:sp>
      <p:sp>
        <p:nvSpPr>
          <p:cNvPr id="17" name="TextBox 17"/>
          <p:cNvSpPr/>
          <p:nvPr/>
        </p:nvSpPr>
        <p:spPr>
          <a:xfrm>
            <a:off x="5184000" y="45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Hot &amp; bright</a:t>
            </a:r>
          </a:p>
        </p:txBody>
      </p:sp>
      <p:sp>
        <p:nvSpPr>
          <p:cNvPr id="18" name="TextBox 18"/>
          <p:cNvSpPr/>
          <p:nvPr/>
        </p:nvSpPr>
        <p:spPr>
          <a:xfrm>
            <a:off x="9252000" y="2772000"/>
            <a:ext cx="1296000" cy="1296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9252000" y="27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♂</a:t>
            </a:r>
          </a:p>
        </p:txBody>
      </p:sp>
      <p:sp>
        <p:nvSpPr>
          <p:cNvPr id="20" name="TextBox 20"/>
          <p:cNvSpPr/>
          <p:nvPr/>
        </p:nvSpPr>
        <p:spPr>
          <a:xfrm>
            <a:off x="9144000" y="41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Mars</a:t>
            </a:r>
          </a:p>
        </p:txBody>
      </p:sp>
      <p:sp>
        <p:nvSpPr>
          <p:cNvPr id="21" name="TextBox 21"/>
          <p:cNvSpPr/>
          <p:nvPr/>
        </p:nvSpPr>
        <p:spPr>
          <a:xfrm>
            <a:off x="9144000" y="45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The red planet</a:t>
            </a:r>
          </a:p>
        </p:txBody>
      </p:sp>
      <p:sp>
        <p:nvSpPr>
          <p:cNvPr id="22" name="TextBox 22"/>
          <p:cNvSpPr/>
          <p:nvPr/>
        </p:nvSpPr>
        <p:spPr>
          <a:xfrm>
            <a:off x="1332000" y="4572000"/>
            <a:ext cx="1296000" cy="1296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332000" y="45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♃</a:t>
            </a:r>
          </a:p>
        </p:txBody>
      </p:sp>
      <p:sp>
        <p:nvSpPr>
          <p:cNvPr id="24" name="TextBox 24"/>
          <p:cNvSpPr/>
          <p:nvPr/>
        </p:nvSpPr>
        <p:spPr>
          <a:xfrm>
            <a:off x="1224000" y="59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Jupiter</a:t>
            </a:r>
          </a:p>
        </p:txBody>
      </p:sp>
      <p:sp>
        <p:nvSpPr>
          <p:cNvPr id="25" name="TextBox 25"/>
          <p:cNvSpPr/>
          <p:nvPr/>
        </p:nvSpPr>
        <p:spPr>
          <a:xfrm>
            <a:off x="1224000" y="63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Giant of planets</a:t>
            </a:r>
          </a:p>
        </p:txBody>
      </p:sp>
      <p:sp>
        <p:nvSpPr>
          <p:cNvPr id="26" name="TextBox 26"/>
          <p:cNvSpPr/>
          <p:nvPr/>
        </p:nvSpPr>
        <p:spPr>
          <a:xfrm>
            <a:off x="5292000" y="4572000"/>
            <a:ext cx="1296000" cy="1296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292000" y="45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♄</a:t>
            </a:r>
          </a:p>
        </p:txBody>
      </p:sp>
      <p:sp>
        <p:nvSpPr>
          <p:cNvPr id="28" name="TextBox 28"/>
          <p:cNvSpPr/>
          <p:nvPr/>
        </p:nvSpPr>
        <p:spPr>
          <a:xfrm>
            <a:off x="5184000" y="59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Saturn</a:t>
            </a:r>
          </a:p>
        </p:txBody>
      </p:sp>
      <p:sp>
        <p:nvSpPr>
          <p:cNvPr id="29" name="TextBox 29"/>
          <p:cNvSpPr/>
          <p:nvPr/>
        </p:nvSpPr>
        <p:spPr>
          <a:xfrm>
            <a:off x="5184000" y="63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Ring bearer</a:t>
            </a:r>
          </a:p>
        </p:txBody>
      </p:sp>
      <p:sp>
        <p:nvSpPr>
          <p:cNvPr id="30" name="TextBox 30"/>
          <p:cNvSpPr/>
          <p:nvPr/>
        </p:nvSpPr>
        <p:spPr>
          <a:xfrm>
            <a:off x="9252000" y="4572000"/>
            <a:ext cx="1296000" cy="1296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9252000" y="4572000"/>
            <a:ext cx="1296000" cy="1296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 Black"/>
                <a:ea typeface="Segoe UI Black"/>
              </a:rPr>
              <a:t>♆</a:t>
            </a:r>
          </a:p>
        </p:txBody>
      </p:sp>
      <p:sp>
        <p:nvSpPr>
          <p:cNvPr id="32" name="TextBox 32"/>
          <p:cNvSpPr/>
          <p:nvPr/>
        </p:nvSpPr>
        <p:spPr>
          <a:xfrm>
            <a:off x="9144000" y="594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 b="1">
                <a:solidFill>
                  <a:srgbClr val="1A1A2A"/>
                </a:solidFill>
                <a:latin typeface="Segoe UI Black"/>
                <a:ea typeface="Segoe UI Black"/>
              </a:rPr>
              <a:t>Neptune</a:t>
            </a:r>
          </a:p>
        </p:txBody>
      </p:sp>
      <p:sp>
        <p:nvSpPr>
          <p:cNvPr id="33" name="TextBox 33"/>
          <p:cNvSpPr/>
          <p:nvPr/>
        </p:nvSpPr>
        <p:spPr>
          <a:xfrm>
            <a:off x="9144000" y="6300000"/>
            <a:ext cx="1512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Farthest out</a:t>
            </a:r>
          </a:p>
        </p:txBody>
      </p:sp>
      <p:sp>
        <p:nvSpPr>
          <p:cNvPr id="34" name="TextBox 34"/>
          <p:cNvSpPr/>
          <p:nvPr/>
        </p:nvSpPr>
        <p:spPr>
          <a:xfrm>
            <a:off x="540000" y="540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1A1A2A"/>
                </a:solidFill>
                <a:latin typeface="Segoe UI Black"/>
                <a:ea typeface="Segoe UI Black"/>
              </a:rPr>
              <a:t>Our Topics</a:t>
            </a:r>
          </a:p>
        </p:txBody>
      </p:sp>
      <p:sp>
        <p:nvSpPr>
          <p:cNvPr id="35" name="TextBox 35"/>
          <p:cNvSpPr/>
          <p:nvPr/>
        </p:nvSpPr>
        <p:spPr>
          <a:xfrm>
            <a:off x="1080000" y="1440000"/>
            <a:ext cx="1008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>
                <a:solidFill>
                  <a:srgbClr val="6677AA"/>
                </a:solidFill>
                <a:latin typeface="Segoe UI"/>
                <a:ea typeface="Segoe UI"/>
              </a:rPr>
              <a:t>Explore our full curriculum — something for every curious mind.</a:t>
            </a:r>
          </a:p>
        </p:txBody>
      </p:sp>
      <p:sp>
        <p:nvSpPr>
          <p:cNvPr id="36" name="TextBox 36"/>
          <p:cNvSpPr/>
          <p:nvPr/>
        </p:nvSpPr>
        <p:spPr>
          <a:xfrm>
            <a:off x="2880000" y="1980000"/>
            <a:ext cx="6480000" cy="18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0" y="0"/>
            <a:ext cx="9360000" cy="6858000"/>
          </a:xfrm>
          <a:prstGeom prst="ellipse">
            <a:avLst/>
          </a:prstGeom>
          <a:solidFill>
            <a:srgbClr val="F5C840">
              <a:alpha val="82000"/>
            </a:srgbClr>
          </a:solidFill>
          <a:effectLst>
            <a:softEdge rad="7620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6552000" cy="554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7873200" y="3258000"/>
            <a:ext cx="4320000" cy="3600000"/>
          </a:xfrm>
          <a:prstGeom prst="ellipse">
            <a:avLst/>
          </a:prstGeom>
          <a:solidFill>
            <a:srgbClr val="E84444">
              <a:alpha val="80000"/>
            </a:srgbClr>
          </a:solidFill>
          <a:effectLst>
            <a:softEdge rad="698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9169200" y="4338000"/>
            <a:ext cx="6048000" cy="5040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0" y="4698000"/>
            <a:ext cx="5760000" cy="2160000"/>
          </a:xfrm>
          <a:prstGeom prst="ellipse">
            <a:avLst/>
          </a:prstGeom>
          <a:solidFill>
            <a:srgbClr val="4DAADD">
              <a:alpha val="65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9313200" y="0"/>
            <a:ext cx="2880000" cy="4320000"/>
          </a:xfrm>
          <a:prstGeom prst="ellipse">
            <a:avLst/>
          </a:prstGeom>
          <a:solidFill>
            <a:srgbClr val="44BB55">
              <a:alpha val="65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177200" y="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540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1A1A2A"/>
                </a:solidFill>
                <a:latin typeface="Segoe UI Black"/>
                <a:ea typeface="Segoe UI Black"/>
              </a:rPr>
              <a:t>Our Numbers</a:t>
            </a:r>
          </a:p>
        </p:txBody>
      </p:sp>
      <p:sp>
        <p:nvSpPr>
          <p:cNvPr id="11" name="TextBox 11"/>
          <p:cNvSpPr/>
          <p:nvPr/>
        </p:nvSpPr>
        <p:spPr>
          <a:xfrm>
            <a:off x="1440000" y="1440000"/>
            <a:ext cx="4140000" cy="2340000"/>
          </a:xfrm>
          <a:prstGeom prst="roundRect">
            <a:avLst/>
          </a:prstGeom>
          <a:solidFill>
            <a:srgbClr val="FFFFFF">
              <a:alpha val="8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440000" y="1620000"/>
            <a:ext cx="4140000" cy="14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4DAADD"/>
                </a:solidFill>
                <a:latin typeface="Segoe UI Black"/>
                <a:ea typeface="Segoe UI Black"/>
              </a:rPr>
              <a:t>35%</a:t>
            </a:r>
          </a:p>
        </p:txBody>
      </p:sp>
      <p:sp>
        <p:nvSpPr>
          <p:cNvPr id="13" name="TextBox 13"/>
          <p:cNvSpPr/>
          <p:nvPr/>
        </p:nvSpPr>
        <p:spPr>
          <a:xfrm>
            <a:off x="1440000" y="3060000"/>
            <a:ext cx="414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677AA"/>
                </a:solidFill>
                <a:latin typeface="Segoe UI"/>
                <a:ea typeface="Segoe UI"/>
              </a:rPr>
              <a:t>Mercury  ·  It's close to the Sun</a:t>
            </a:r>
          </a:p>
        </p:txBody>
      </p:sp>
      <p:sp>
        <p:nvSpPr>
          <p:cNvPr id="14" name="TextBox 14"/>
          <p:cNvSpPr/>
          <p:nvPr/>
        </p:nvSpPr>
        <p:spPr>
          <a:xfrm>
            <a:off x="6120000" y="1440000"/>
            <a:ext cx="4140000" cy="2340000"/>
          </a:xfrm>
          <a:prstGeom prst="roundRect">
            <a:avLst/>
          </a:prstGeom>
          <a:solidFill>
            <a:srgbClr val="FFFFFF">
              <a:alpha val="8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120000" y="1620000"/>
            <a:ext cx="4140000" cy="14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44BB55"/>
                </a:solidFill>
                <a:latin typeface="Segoe UI Black"/>
                <a:ea typeface="Segoe UI Black"/>
              </a:rPr>
              <a:t>15%</a:t>
            </a:r>
          </a:p>
        </p:txBody>
      </p:sp>
      <p:sp>
        <p:nvSpPr>
          <p:cNvPr id="16" name="TextBox 16"/>
          <p:cNvSpPr/>
          <p:nvPr/>
        </p:nvSpPr>
        <p:spPr>
          <a:xfrm>
            <a:off x="6120000" y="3060000"/>
            <a:ext cx="414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677AA"/>
                </a:solidFill>
                <a:latin typeface="Segoe UI"/>
                <a:ea typeface="Segoe UI"/>
              </a:rPr>
              <a:t>Venus  ·  It's terribly hot</a:t>
            </a:r>
          </a:p>
        </p:txBody>
      </p:sp>
      <p:sp>
        <p:nvSpPr>
          <p:cNvPr id="17" name="TextBox 17"/>
          <p:cNvSpPr/>
          <p:nvPr/>
        </p:nvSpPr>
        <p:spPr>
          <a:xfrm>
            <a:off x="1440000" y="4140000"/>
            <a:ext cx="4140000" cy="2340000"/>
          </a:xfrm>
          <a:prstGeom prst="roundRect">
            <a:avLst/>
          </a:prstGeom>
          <a:solidFill>
            <a:srgbClr val="FFFFFF">
              <a:alpha val="8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1440000" y="4320000"/>
            <a:ext cx="4140000" cy="14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E84444"/>
                </a:solidFill>
                <a:latin typeface="Segoe UI Black"/>
                <a:ea typeface="Segoe UI Black"/>
              </a:rPr>
              <a:t>30%</a:t>
            </a:r>
          </a:p>
        </p:txBody>
      </p:sp>
      <p:sp>
        <p:nvSpPr>
          <p:cNvPr id="19" name="TextBox 19"/>
          <p:cNvSpPr/>
          <p:nvPr/>
        </p:nvSpPr>
        <p:spPr>
          <a:xfrm>
            <a:off x="1440000" y="5760000"/>
            <a:ext cx="414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677AA"/>
                </a:solidFill>
                <a:latin typeface="Segoe UI"/>
                <a:ea typeface="Segoe UI"/>
              </a:rPr>
              <a:t>Mars  ·  The cold place</a:t>
            </a:r>
          </a:p>
        </p:txBody>
      </p:sp>
      <p:sp>
        <p:nvSpPr>
          <p:cNvPr id="20" name="TextBox 20"/>
          <p:cNvSpPr/>
          <p:nvPr/>
        </p:nvSpPr>
        <p:spPr>
          <a:xfrm>
            <a:off x="6120000" y="4140000"/>
            <a:ext cx="4140000" cy="2340000"/>
          </a:xfrm>
          <a:prstGeom prst="roundRect">
            <a:avLst/>
          </a:prstGeom>
          <a:solidFill>
            <a:srgbClr val="FFFFFF">
              <a:alpha val="8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120000" y="4320000"/>
            <a:ext cx="4140000" cy="14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F5C840"/>
                </a:solidFill>
                <a:latin typeface="Segoe UI Black"/>
                <a:ea typeface="Segoe UI Black"/>
              </a:rPr>
              <a:t>20%</a:t>
            </a:r>
          </a:p>
        </p:txBody>
      </p:sp>
      <p:sp>
        <p:nvSpPr>
          <p:cNvPr id="22" name="TextBox 22"/>
          <p:cNvSpPr/>
          <p:nvPr/>
        </p:nvSpPr>
        <p:spPr>
          <a:xfrm>
            <a:off x="6120000" y="5760000"/>
            <a:ext cx="414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100">
                <a:solidFill>
                  <a:srgbClr val="6677AA"/>
                </a:solidFill>
                <a:latin typeface="Segoe UI"/>
                <a:ea typeface="Segoe UI"/>
              </a:rPr>
              <a:t>Jupiter  ·  The biggest of all</a:t>
            </a:r>
          </a:p>
        </p:txBody>
      </p:sp>
      <p:sp>
        <p:nvSpPr>
          <p:cNvPr id="23" name="TextBox 23"/>
          <p:cNvSpPr/>
          <p:nvPr/>
        </p:nvSpPr>
        <p:spPr>
          <a:xfrm>
            <a:off x="540000" y="6480000"/>
            <a:ext cx="324000" cy="324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080000" y="6480000"/>
            <a:ext cx="324000" cy="324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1620000" y="6480000"/>
            <a:ext cx="324000" cy="324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2160000" y="6480000"/>
            <a:ext cx="324000" cy="324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2700000" y="6480000"/>
            <a:ext cx="324000" cy="324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3240000" y="6480000"/>
            <a:ext cx="324000" cy="324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3780000" y="6480000"/>
            <a:ext cx="324000" cy="324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4320000" y="6480000"/>
            <a:ext cx="324000" cy="324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4860000" y="6480000"/>
            <a:ext cx="324000" cy="324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5400000" y="6480000"/>
            <a:ext cx="324000" cy="324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5940000" y="6480000"/>
            <a:ext cx="324000" cy="324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480000" y="6480000"/>
            <a:ext cx="324000" cy="324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7020000" y="6480000"/>
            <a:ext cx="324000" cy="324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7560000" y="6480000"/>
            <a:ext cx="324000" cy="324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8593200" y="0"/>
            <a:ext cx="3600000" cy="5760000"/>
          </a:xfrm>
          <a:prstGeom prst="ellipse">
            <a:avLst/>
          </a:prstGeom>
          <a:solidFill>
            <a:srgbClr val="E84444">
              <a:alpha val="78000"/>
            </a:srgbClr>
          </a:solidFill>
          <a:effectLst>
            <a:softEdge rad="571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673200" y="0"/>
            <a:ext cx="5040000" cy="403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0" y="3978000"/>
            <a:ext cx="7200000" cy="2880000"/>
          </a:xfrm>
          <a:prstGeom prst="ellipse">
            <a:avLst/>
          </a:prstGeom>
          <a:solidFill>
            <a:srgbClr val="44BB55">
              <a:alpha val="78000"/>
            </a:srgbClr>
          </a:solidFill>
          <a:effectLst>
            <a:softEdge rad="571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0" y="4842000"/>
            <a:ext cx="5040000" cy="4032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0" y="0"/>
            <a:ext cx="5760000" cy="4320000"/>
          </a:xfrm>
          <a:prstGeom prst="ellipse">
            <a:avLst/>
          </a:prstGeom>
          <a:solidFill>
            <a:srgbClr val="F5C840">
              <a:alpha val="72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0" y="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9313200" y="4698000"/>
            <a:ext cx="2880000" cy="2160000"/>
          </a:xfrm>
          <a:prstGeom prst="ellipse">
            <a:avLst/>
          </a:prstGeom>
          <a:solidFill>
            <a:srgbClr val="4DAADD">
              <a:alpha val="72000"/>
            </a:srgbClr>
          </a:solidFill>
          <a:effectLst>
            <a:softEdge rad="444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177200" y="5346000"/>
            <a:ext cx="4032000" cy="3024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80000" y="540000"/>
            <a:ext cx="1008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1A1A2A"/>
                </a:solidFill>
                <a:latin typeface="Segoe UI Black"/>
                <a:ea typeface="Segoe UI Black"/>
              </a:rPr>
              <a:t>Academic Areas</a:t>
            </a:r>
          </a:p>
        </p:txBody>
      </p:sp>
      <p:sp>
        <p:nvSpPr>
          <p:cNvPr id="11" name="TextBox 11"/>
          <p:cNvSpPr/>
          <p:nvPr/>
        </p:nvSpPr>
        <p:spPr>
          <a:xfrm>
            <a:off x="1800000" y="1440000"/>
            <a:ext cx="648000" cy="648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800000" y="1440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☿</a:t>
            </a:r>
          </a:p>
        </p:txBody>
      </p:sp>
      <p:sp>
        <p:nvSpPr>
          <p:cNvPr id="13" name="TextBox 13"/>
          <p:cNvSpPr/>
          <p:nvPr/>
        </p:nvSpPr>
        <p:spPr>
          <a:xfrm>
            <a:off x="2628000" y="144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Mercury</a:t>
            </a:r>
          </a:p>
        </p:txBody>
      </p:sp>
      <p:sp>
        <p:nvSpPr>
          <p:cNvPr id="14" name="TextBox 14"/>
          <p:cNvSpPr/>
          <p:nvPr/>
        </p:nvSpPr>
        <p:spPr>
          <a:xfrm>
            <a:off x="2628000" y="1836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Mercury is the closest planet to the Sun</a:t>
            </a:r>
          </a:p>
        </p:txBody>
      </p:sp>
      <p:sp>
        <p:nvSpPr>
          <p:cNvPr id="15" name="TextBox 15"/>
          <p:cNvSpPr/>
          <p:nvPr/>
        </p:nvSpPr>
        <p:spPr>
          <a:xfrm>
            <a:off x="6840000" y="1440000"/>
            <a:ext cx="648000" cy="648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6840000" y="1440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♀</a:t>
            </a:r>
          </a:p>
        </p:txBody>
      </p:sp>
      <p:sp>
        <p:nvSpPr>
          <p:cNvPr id="17" name="TextBox 17"/>
          <p:cNvSpPr/>
          <p:nvPr/>
        </p:nvSpPr>
        <p:spPr>
          <a:xfrm>
            <a:off x="7668000" y="1440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Venus</a:t>
            </a:r>
          </a:p>
        </p:txBody>
      </p:sp>
      <p:sp>
        <p:nvSpPr>
          <p:cNvPr id="18" name="TextBox 18"/>
          <p:cNvSpPr/>
          <p:nvPr/>
        </p:nvSpPr>
        <p:spPr>
          <a:xfrm>
            <a:off x="7668000" y="1836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Venus has a beautiful name, but terribly hot</a:t>
            </a:r>
          </a:p>
        </p:txBody>
      </p:sp>
      <p:sp>
        <p:nvSpPr>
          <p:cNvPr id="19" name="TextBox 19"/>
          <p:cNvSpPr/>
          <p:nvPr/>
        </p:nvSpPr>
        <p:spPr>
          <a:xfrm>
            <a:off x="1800000" y="2808000"/>
            <a:ext cx="648000" cy="648000"/>
          </a:xfrm>
          <a:prstGeom prst="ellipse">
            <a:avLst/>
          </a:prstGeom>
          <a:solidFill>
            <a:srgbClr val="E8444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1800000" y="2808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♂</a:t>
            </a:r>
          </a:p>
        </p:txBody>
      </p:sp>
      <p:sp>
        <p:nvSpPr>
          <p:cNvPr id="21" name="TextBox 21"/>
          <p:cNvSpPr/>
          <p:nvPr/>
        </p:nvSpPr>
        <p:spPr>
          <a:xfrm>
            <a:off x="2628000" y="2808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Mars</a:t>
            </a:r>
          </a:p>
        </p:txBody>
      </p:sp>
      <p:sp>
        <p:nvSpPr>
          <p:cNvPr id="22" name="TextBox 22"/>
          <p:cNvSpPr/>
          <p:nvPr/>
        </p:nvSpPr>
        <p:spPr>
          <a:xfrm>
            <a:off x="2628000" y="3204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Despite being red, Mars is actually cold</a:t>
            </a:r>
          </a:p>
        </p:txBody>
      </p:sp>
      <p:sp>
        <p:nvSpPr>
          <p:cNvPr id="23" name="TextBox 23"/>
          <p:cNvSpPr/>
          <p:nvPr/>
        </p:nvSpPr>
        <p:spPr>
          <a:xfrm>
            <a:off x="6840000" y="2808000"/>
            <a:ext cx="648000" cy="648000"/>
          </a:xfrm>
          <a:prstGeom prst="ellipse">
            <a:avLst/>
          </a:prstGeom>
          <a:solidFill>
            <a:srgbClr val="F5C8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6840000" y="2808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♃</a:t>
            </a:r>
          </a:p>
        </p:txBody>
      </p:sp>
      <p:sp>
        <p:nvSpPr>
          <p:cNvPr id="25" name="TextBox 25"/>
          <p:cNvSpPr/>
          <p:nvPr/>
        </p:nvSpPr>
        <p:spPr>
          <a:xfrm>
            <a:off x="7668000" y="2808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Jupiter</a:t>
            </a:r>
          </a:p>
        </p:txBody>
      </p:sp>
      <p:sp>
        <p:nvSpPr>
          <p:cNvPr id="26" name="TextBox 26"/>
          <p:cNvSpPr/>
          <p:nvPr/>
        </p:nvSpPr>
        <p:spPr>
          <a:xfrm>
            <a:off x="7668000" y="3204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Jupiter is the biggest planet in the System</a:t>
            </a:r>
          </a:p>
        </p:txBody>
      </p:sp>
      <p:sp>
        <p:nvSpPr>
          <p:cNvPr id="27" name="TextBox 27"/>
          <p:cNvSpPr/>
          <p:nvPr/>
        </p:nvSpPr>
        <p:spPr>
          <a:xfrm>
            <a:off x="1800000" y="4176000"/>
            <a:ext cx="648000" cy="648000"/>
          </a:xfrm>
          <a:prstGeom prst="ellipse">
            <a:avLst/>
          </a:prstGeom>
          <a:solidFill>
            <a:srgbClr val="44BB5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1800000" y="4176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♄</a:t>
            </a:r>
          </a:p>
        </p:txBody>
      </p:sp>
      <p:sp>
        <p:nvSpPr>
          <p:cNvPr id="29" name="TextBox 29"/>
          <p:cNvSpPr/>
          <p:nvPr/>
        </p:nvSpPr>
        <p:spPr>
          <a:xfrm>
            <a:off x="2628000" y="4176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Saturn</a:t>
            </a:r>
          </a:p>
        </p:txBody>
      </p:sp>
      <p:sp>
        <p:nvSpPr>
          <p:cNvPr id="30" name="TextBox 30"/>
          <p:cNvSpPr/>
          <p:nvPr/>
        </p:nvSpPr>
        <p:spPr>
          <a:xfrm>
            <a:off x="2628000" y="4572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Saturn is the ringed one and a gas giant</a:t>
            </a:r>
          </a:p>
        </p:txBody>
      </p:sp>
      <p:sp>
        <p:nvSpPr>
          <p:cNvPr id="31" name="TextBox 31"/>
          <p:cNvSpPr/>
          <p:nvPr/>
        </p:nvSpPr>
        <p:spPr>
          <a:xfrm>
            <a:off x="6840000" y="4176000"/>
            <a:ext cx="648000" cy="648000"/>
          </a:xfrm>
          <a:prstGeom prst="ellipse">
            <a:avLst/>
          </a:prstGeom>
          <a:solidFill>
            <a:srgbClr val="4DAAD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840000" y="4176000"/>
            <a:ext cx="648000" cy="64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>♆</a:t>
            </a:r>
          </a:p>
        </p:txBody>
      </p:sp>
      <p:sp>
        <p:nvSpPr>
          <p:cNvPr id="33" name="TextBox 33"/>
          <p:cNvSpPr/>
          <p:nvPr/>
        </p:nvSpPr>
        <p:spPr>
          <a:xfrm>
            <a:off x="7668000" y="4176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1A1A2A"/>
                </a:solidFill>
                <a:latin typeface="Segoe UI Black"/>
                <a:ea typeface="Segoe UI Black"/>
              </a:rPr>
              <a:t>Neptune</a:t>
            </a:r>
          </a:p>
        </p:txBody>
      </p:sp>
      <p:sp>
        <p:nvSpPr>
          <p:cNvPr id="34" name="TextBox 34"/>
          <p:cNvSpPr/>
          <p:nvPr/>
        </p:nvSpPr>
        <p:spPr>
          <a:xfrm>
            <a:off x="7668000" y="4572000"/>
            <a:ext cx="36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Neptune is the farthest planet from the Sun</a:t>
            </a:r>
          </a:p>
        </p:txBody>
      </p:sp>
      <p:sp>
        <p:nvSpPr>
          <p:cNvPr id="35" name="TextBox 35"/>
          <p:cNvSpPr/>
          <p:nvPr/>
        </p:nvSpPr>
        <p:spPr>
          <a:xfrm>
            <a:off x="1080000" y="6300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bloom-academy.edu  ·  27 free modules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AF5EC"/>
        </a:solidFill>
      </p:bgPr>
    </p:bg>
    <p:spTree>
      <p:nvGrpSpPr>
        <p:cNvPr id="1" name=""/>
        <p:cNvGrpSpPr/>
        <p:nvPr/>
      </p:nvGrpSpPr>
      <p:grpSpPr/>
      <p:sp>
        <p:nvSpPr>
          <p:cNvPr id="2" name="!!blob-tl"/>
          <p:cNvSpPr/>
          <p:nvPr/>
        </p:nvSpPr>
        <p:spPr>
          <a:xfrm>
            <a:off x="0" y="0"/>
            <a:ext cx="11520000" cy="6858000"/>
          </a:xfrm>
          <a:prstGeom prst="ellipse">
            <a:avLst/>
          </a:prstGeom>
          <a:solidFill>
            <a:srgbClr val="4DAADD">
              <a:alpha val="90000"/>
            </a:srgbClr>
          </a:solidFill>
          <a:effectLst>
            <a:softEdge rad="952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8064000" cy="7056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ob-tr"/>
          <p:cNvSpPr/>
          <p:nvPr/>
        </p:nvSpPr>
        <p:spPr>
          <a:xfrm>
            <a:off x="6433200" y="1818000"/>
            <a:ext cx="5760000" cy="5040000"/>
          </a:xfrm>
          <a:prstGeom prst="ellipse">
            <a:avLst/>
          </a:prstGeom>
          <a:solidFill>
            <a:srgbClr val="E84444">
              <a:alpha val="90000"/>
            </a:srgbClr>
          </a:solidFill>
          <a:effectLst>
            <a:softEdge rad="9525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8161200" y="3330000"/>
            <a:ext cx="8064000" cy="7056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ob-bl"/>
          <p:cNvSpPr/>
          <p:nvPr/>
        </p:nvSpPr>
        <p:spPr>
          <a:xfrm>
            <a:off x="0" y="5418000"/>
            <a:ext cx="3600000" cy="1440000"/>
          </a:xfrm>
          <a:prstGeom prst="ellipse">
            <a:avLst/>
          </a:prstGeom>
          <a:solidFill>
            <a:srgbClr val="44BB55">
              <a:alpha val="50000"/>
            </a:srgbClr>
          </a:solidFill>
          <a:effectLst>
            <a:softEdge rad="279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0" y="5850000"/>
            <a:ext cx="2520000" cy="2016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ob-br"/>
          <p:cNvSpPr/>
          <p:nvPr/>
        </p:nvSpPr>
        <p:spPr>
          <a:xfrm>
            <a:off x="10393200" y="0"/>
            <a:ext cx="1800000" cy="2880000"/>
          </a:xfrm>
          <a:prstGeom prst="ellipse">
            <a:avLst/>
          </a:prstGeom>
          <a:solidFill>
            <a:srgbClr val="F5C840">
              <a:alpha val="50000"/>
            </a:srgbClr>
          </a:solidFill>
          <a:effectLst>
            <a:softEdge rad="279400"/>
          </a:effectLst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933200" y="0"/>
            <a:ext cx="2520000" cy="2016000"/>
          </a:xfrm>
          <a:prstGeom prst="ellipse">
            <a:avLst/>
          </a:prstGeom>
          <a:solidFill>
            <a:srgbClr val="FFF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540000" y="540000"/>
            <a:ext cx="1080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900">
                <a:solidFill>
                  <a:srgbClr val="6677AA"/>
                </a:solidFill>
                <a:latin typeface="Segoe UI"/>
                <a:ea typeface="Segoe UI"/>
              </a:rPr>
              <a:t>ENROLL TODAY</a:t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1440000"/>
            <a:ext cx="10080000" cy="25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600" b="1">
                <a:solidFill>
                  <a:srgbClr val="1A1A2A"/>
                </a:solidFill>
                <a:latin typeface="Segoe UI Black"/>
                <a:ea typeface="Segoe UI Black"/>
              </a:rPr>
              <a:t>Bloom</a:t>
            </a:r>
          </a:p>
          <a:p>
            <a:pPr algn="ctr"/>
            <a:r>
              <a:rPr lang="en-US" sz="5600" b="1">
                <a:solidFill>
                  <a:srgbClr val="1A1A2A"/>
                </a:solidFill>
                <a:latin typeface="Segoe UI Black"/>
                <a:ea typeface="Segoe UI Black"/>
              </a:rPr>
              <a:t>Academy</a:t>
            </a:r>
          </a:p>
        </p:txBody>
      </p:sp>
      <p:sp>
        <p:nvSpPr>
          <p:cNvPr id="12" name="TextBox 12"/>
          <p:cNvSpPr/>
          <p:nvPr/>
        </p:nvSpPr>
        <p:spPr>
          <a:xfrm>
            <a:off x="1080000" y="4320000"/>
            <a:ext cx="1008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500">
                <a:solidFill>
                  <a:srgbClr val="6677AA"/>
                </a:solidFill>
                <a:latin typeface="Segoe UI"/>
                <a:ea typeface="Segoe UI"/>
              </a:rPr>
              <a:t>Here is where your learning journey begins.</a:t>
            </a:r>
          </a:p>
        </p:txBody>
      </p:sp>
      <p:sp>
        <p:nvSpPr>
          <p:cNvPr id="13" name="TextBox 13"/>
          <p:cNvSpPr/>
          <p:nvPr/>
        </p:nvSpPr>
        <p:spPr>
          <a:xfrm>
            <a:off x="3420000" y="5040000"/>
            <a:ext cx="5400000" cy="1008000"/>
          </a:xfrm>
          <a:prstGeom prst="roundRect">
            <a:avLst/>
          </a:prstGeom>
          <a:solidFill>
            <a:srgbClr val="1A1A2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3420000" y="5040000"/>
            <a:ext cx="5400000" cy="1008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400" b="1">
                <a:solidFill>
                  <a:srgbClr val="FAF5EC"/>
                </a:solidFill>
                <a:latin typeface="Segoe UI Black"/>
                <a:ea typeface="Segoe UI Black"/>
              </a:rPr>
              <a:t>Start Learning  →</a:t>
            </a:r>
          </a:p>
        </p:txBody>
      </p:sp>
      <p:sp>
        <p:nvSpPr>
          <p:cNvPr id="15" name="TextBox 15"/>
          <p:cNvSpPr/>
          <p:nvPr/>
        </p:nvSpPr>
        <p:spPr>
          <a:xfrm>
            <a:off x="1080000" y="6300000"/>
            <a:ext cx="10080000" cy="32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000">
                <a:solidFill>
                  <a:srgbClr val="6677AA"/>
                </a:solidFill>
                <a:latin typeface="Segoe UI"/>
                <a:ea typeface="Segoe UI"/>
              </a:rPr>
              <a:t>bloom-academy.edu  ·  @bloomacademy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