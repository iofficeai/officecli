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be411b2c98f447d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d36c033fc26d468d"/>
    <p:sldId id="257" r:id="Rff5690eb7307458a"/>
    <p:sldId id="258" r:id="Rbb6a47ba84bf4d73"/>
    <p:sldId id="259" r:id="R8dc99be5886641c1"/>
    <p:sldId id="260" r:id="R59980f308cb44377"/>
    <p:sldId id="261" r:id="R2f1fa6a3f8f14a48"/>
    <p:sldId id="262" r:id="R7c8a6f825a5e401b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36c033fc26d468d" /><Relationship Type="http://schemas.openxmlformats.org/officeDocument/2006/relationships/slide" Target="/ppt/slides/slide2.xml" Id="Rff5690eb7307458a" /><Relationship Type="http://schemas.openxmlformats.org/officeDocument/2006/relationships/slide" Target="/ppt/slides/slide3.xml" Id="Rbb6a47ba84bf4d73" /><Relationship Type="http://schemas.openxmlformats.org/officeDocument/2006/relationships/slide" Target="/ppt/slides/slide4.xml" Id="R8dc99be5886641c1" /><Relationship Type="http://schemas.openxmlformats.org/officeDocument/2006/relationships/slide" Target="/ppt/slides/slide5.xml" Id="R59980f308cb44377" /><Relationship Type="http://schemas.openxmlformats.org/officeDocument/2006/relationships/slide" Target="/ppt/slides/slide6.xml" Id="R2f1fa6a3f8f14a48" /><Relationship Type="http://schemas.openxmlformats.org/officeDocument/2006/relationships/slide" Target="/ppt/slides/slide7.xml" Id="R7c8a6f825a5e401b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0cbf6b2e8a49e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52f8d4b3a6490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ee989a34c745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0e45d3909f4fe9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15246e22ae4a4b0a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30f531c0142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467e4d5734e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78e1b3e054d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462b94d1449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350173a474a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6e451fadf4b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3267c67f8439e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gradFill xmlns:a="http://schemas.openxmlformats.org/drawingml/2006/main">
          <a:gsLst>
            <a:gs pos="0">
              <a:srgbClr val="080B2A"/>
            </a:gs>
            <a:gs pos="100000">
              <a:srgbClr val="181B55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!!glow-a"/>
          <p:cNvSpPr/>
          <p:nvPr/>
        </p:nvSpPr>
        <p:spPr>
          <a:xfrm>
            <a:off x="7200000" y="0"/>
            <a:ext cx="5040000" cy="4320000"/>
          </a:xfrm>
          <a:prstGeom prst="ellipse">
            <a:avLst/>
          </a:prstGeom>
          <a:solidFill>
            <a:srgbClr val="4B7FFF">
              <a:alpha val="13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glow-b"/>
          <p:cNvSpPr/>
          <p:nvPr/>
        </p:nvSpPr>
        <p:spPr>
          <a:xfrm>
            <a:off x="0" y="4320000"/>
            <a:ext cx="3600000" cy="3600000"/>
          </a:xfrm>
          <a:prstGeom prst="ellipse">
            <a:avLst/>
          </a:prstGeom>
          <a:solidFill>
            <a:srgbClr val="5B2BCC">
              <a:alpha val="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6120000" y="360000"/>
            <a:ext cx="5760000" cy="57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0" b="1">
                <a:solidFill>
                  <a:srgbClr val="131650"/>
                </a:solidFill>
                <a:latin typeface="Segoe UI Black"/>
                <a:ea typeface="Segoe UI Black"/>
              </a:rPr>
              <a:t>01</a:t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900000"/>
            <a:ext cx="576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7A80BB"/>
                </a:solidFill>
                <a:latin typeface="Segoe UI"/>
                <a:ea typeface="Segoe UI"/>
              </a:rPr>
              <a:t>STUDIO BLUEPRINT</a:t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1440000"/>
            <a:ext cx="7200000" cy="28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600" b="1">
                <a:gradFill>
                  <a:gsLst>
                    <a:gs pos="0">
                      <a:srgbClr val="FFFFFF"/>
                    </a:gs>
                    <a:gs pos="100000">
                      <a:srgbClr val="080B2A"/>
                    </a:gs>
                  </a:gsLst>
                  <a:lin ang="0" scaled="1"/>
                </a:gradFill>
                <a:latin typeface="Segoe UI Black"/>
                <a:ea typeface="Segoe UI Black"/>
              </a:rPr>
              <a:t>Defining</a:t>
            </a:r>
          </a:p>
          <a:p>
            <a:r>
              <a:rPr lang="en-US" sz="5600" b="1">
                <a:gradFill>
                  <a:gsLst>
                    <a:gs pos="0">
                      <a:srgbClr val="FFFFFF"/>
                    </a:gs>
                    <a:gs pos="100000">
                      <a:srgbClr val="080B2A"/>
                    </a:gs>
                  </a:gsLst>
                  <a:lin ang="0" scaled="1"/>
                </a:gradFill>
                <a:latin typeface="Segoe UI Black"/>
                <a:ea typeface="Segoe UI Black"/>
              </a:rPr>
              <a:t>Spaces.</a:t>
            </a:r>
          </a:p>
        </p:txBody>
      </p:sp>
      <p:sp>
        <p:nvSpPr>
          <p:cNvPr id="7" name="!!accent"/>
          <p:cNvSpPr/>
          <p:nvPr/>
        </p:nvSpPr>
        <p:spPr>
          <a:xfrm>
            <a:off x="720000" y="4608000"/>
            <a:ext cx="2880000" cy="50400"/>
          </a:xfrm>
          <a:prstGeom prst="rect">
            <a:avLst/>
          </a:prstGeom>
          <a:solidFill>
            <a:srgbClr val="4B7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720000" y="4788000"/>
            <a:ext cx="576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7A80BB"/>
                </a:solidFill>
                <a:latin typeface="Segoe UI"/>
                <a:ea typeface="Segoe UI"/>
              </a:rPr>
              <a:t>Architecture that transforms vision into reality.</a:t>
            </a:r>
          </a:p>
          <a:p>
            <a:r>
              <a:rPr lang="en-US" sz="1400">
                <a:solidFill>
                  <a:srgbClr val="7A80BB"/>
                </a:solidFill>
                <a:latin typeface="Segoe UI"/>
                <a:ea typeface="Segoe UI"/>
              </a:rPr>
              <a:t>Building the future, one structure at a time.</a:t>
            </a:r>
          </a:p>
        </p:txBody>
      </p:sp>
      <p:sp>
        <p:nvSpPr>
          <p:cNvPr id="9" name="TextBox 9"/>
          <p:cNvSpPr/>
          <p:nvPr/>
        </p:nvSpPr>
        <p:spPr>
          <a:xfrm>
            <a:off x="720000" y="6336000"/>
            <a:ext cx="864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7A80BB"/>
                </a:solidFill>
                <a:latin typeface="Segoe UI"/>
                <a:ea typeface="Segoe UI"/>
              </a:rPr>
              <a:t>Founded 2008  ·  New York  ·  London  ·  Tokyo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gradFill xmlns:a="http://schemas.openxmlformats.org/drawingml/2006/main">
          <a:gsLst>
            <a:gs pos="0">
              <a:srgbClr val="080B2A"/>
            </a:gs>
            <a:gs pos="100000">
              <a:srgbClr val="181B55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!!glow-a"/>
          <p:cNvSpPr/>
          <p:nvPr/>
        </p:nvSpPr>
        <p:spPr>
          <a:xfrm>
            <a:off x="0" y="3240000"/>
            <a:ext cx="3960000" cy="3960000"/>
          </a:xfrm>
          <a:prstGeom prst="ellipse">
            <a:avLst/>
          </a:prstGeom>
          <a:solidFill>
            <a:srgbClr val="4B7FFF">
              <a:alpha val="6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glow-b"/>
          <p:cNvSpPr/>
          <p:nvPr/>
        </p:nvSpPr>
        <p:spPr>
          <a:xfrm>
            <a:off x="8640000" y="360000"/>
            <a:ext cx="3600000" cy="3600000"/>
          </a:xfrm>
          <a:prstGeom prst="ellipse">
            <a:avLst/>
          </a:prstGeom>
          <a:solidFill>
            <a:srgbClr val="5B2BCC">
              <a:alpha val="6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720000"/>
            <a:ext cx="720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FFFFFF"/>
                </a:solidFill>
                <a:latin typeface="Segoe UI Black"/>
                <a:ea typeface="Segoe UI Black"/>
              </a:rPr>
              <a:t>By the Numbers</a:t>
            </a:r>
          </a:p>
        </p:txBody>
      </p:sp>
      <p:sp>
        <p:nvSpPr>
          <p:cNvPr id="5" name="!!accent"/>
          <p:cNvSpPr/>
          <p:nvPr/>
        </p:nvSpPr>
        <p:spPr>
          <a:xfrm>
            <a:off x="720000" y="612000"/>
            <a:ext cx="1080000" cy="50400"/>
          </a:xfrm>
          <a:prstGeom prst="rect">
            <a:avLst/>
          </a:prstGeom>
          <a:solidFill>
            <a:srgbClr val="4B7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4500000" y="1800000"/>
            <a:ext cx="28800" cy="4320000"/>
          </a:xfrm>
          <a:prstGeom prst="rect">
            <a:avLst/>
          </a:prstGeom>
          <a:solidFill>
            <a:srgbClr val="0F1242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8280000" y="1800000"/>
            <a:ext cx="28800" cy="4320000"/>
          </a:xfrm>
          <a:prstGeom prst="rect">
            <a:avLst/>
          </a:prstGeom>
          <a:solidFill>
            <a:srgbClr val="0F1242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720000" y="1980000"/>
            <a:ext cx="720000" cy="50400"/>
          </a:xfrm>
          <a:prstGeom prst="rect">
            <a:avLst/>
          </a:prstGeom>
          <a:solidFill>
            <a:srgbClr val="4B7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720000" y="2340000"/>
            <a:ext cx="324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>
                <a:solidFill>
                  <a:srgbClr val="FFFFFF"/>
                </a:solidFill>
                <a:latin typeface="Segoe UI Black"/>
                <a:ea typeface="Segoe UI Black"/>
              </a:rPr>
              <a:t>$2.4B</a:t>
            </a:r>
          </a:p>
        </p:txBody>
      </p:sp>
      <p:sp>
        <p:nvSpPr>
          <p:cNvPr id="10" name="TextBox 10"/>
          <p:cNvSpPr/>
          <p:nvPr/>
        </p:nvSpPr>
        <p:spPr>
          <a:xfrm>
            <a:off x="720000" y="3960000"/>
            <a:ext cx="324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7A80BB"/>
                </a:solidFill>
                <a:latin typeface="Segoe UI"/>
                <a:ea typeface="Segoe UI"/>
              </a:rPr>
              <a:t>Total project</a:t>
            </a:r>
          </a:p>
          <a:p>
            <a:r>
              <a:rPr lang="en-US" sz="1300">
                <a:solidFill>
                  <a:srgbClr val="7A80BB"/>
                </a:solidFill>
                <a:latin typeface="Segoe UI"/>
                <a:ea typeface="Segoe UI"/>
              </a:rPr>
              <a:t>value delivered</a:t>
            </a:r>
          </a:p>
        </p:txBody>
      </p:sp>
      <p:sp>
        <p:nvSpPr>
          <p:cNvPr id="11" name="TextBox 11"/>
          <p:cNvSpPr/>
          <p:nvPr/>
        </p:nvSpPr>
        <p:spPr>
          <a:xfrm>
            <a:off x="4860000" y="1980000"/>
            <a:ext cx="720000" cy="50400"/>
          </a:xfrm>
          <a:prstGeom prst="rect">
            <a:avLst/>
          </a:prstGeom>
          <a:solidFill>
            <a:srgbClr val="F5B942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4860000" y="2340000"/>
            <a:ext cx="288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>
                <a:solidFill>
                  <a:srgbClr val="FFFFFF"/>
                </a:solidFill>
                <a:latin typeface="Segoe UI Black"/>
                <a:ea typeface="Segoe UI Black"/>
              </a:rPr>
              <a:t>1,200+</a:t>
            </a:r>
          </a:p>
        </p:txBody>
      </p:sp>
      <p:sp>
        <p:nvSpPr>
          <p:cNvPr id="13" name="TextBox 13"/>
          <p:cNvSpPr/>
          <p:nvPr/>
        </p:nvSpPr>
        <p:spPr>
          <a:xfrm>
            <a:off x="4860000" y="396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7A80BB"/>
                </a:solidFill>
                <a:latin typeface="Segoe UI"/>
                <a:ea typeface="Segoe UI"/>
              </a:rPr>
              <a:t>Structures</a:t>
            </a:r>
          </a:p>
          <a:p>
            <a:r>
              <a:rPr lang="en-US" sz="1300">
                <a:solidFill>
                  <a:srgbClr val="7A80BB"/>
                </a:solidFill>
                <a:latin typeface="Segoe UI"/>
                <a:ea typeface="Segoe UI"/>
              </a:rPr>
              <a:t>completed globally</a:t>
            </a:r>
          </a:p>
        </p:txBody>
      </p:sp>
      <p:sp>
        <p:nvSpPr>
          <p:cNvPr id="14" name="TextBox 14"/>
          <p:cNvSpPr/>
          <p:nvPr/>
        </p:nvSpPr>
        <p:spPr>
          <a:xfrm>
            <a:off x="8640000" y="1980000"/>
            <a:ext cx="720000" cy="50400"/>
          </a:xfrm>
          <a:prstGeom prst="rect">
            <a:avLst/>
          </a:prstGeom>
          <a:solidFill>
            <a:srgbClr val="B8C0F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8640000" y="2340000"/>
            <a:ext cx="288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>
                <a:solidFill>
                  <a:srgbClr val="FFFFFF"/>
                </a:solidFill>
                <a:latin typeface="Segoe UI Black"/>
                <a:ea typeface="Segoe UI Black"/>
              </a:rPr>
              <a:t>98%</a:t>
            </a:r>
          </a:p>
        </p:txBody>
      </p:sp>
      <p:sp>
        <p:nvSpPr>
          <p:cNvPr id="16" name="TextBox 16"/>
          <p:cNvSpPr/>
          <p:nvPr/>
        </p:nvSpPr>
        <p:spPr>
          <a:xfrm>
            <a:off x="8640000" y="396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7A80BB"/>
                </a:solidFill>
                <a:latin typeface="Segoe UI"/>
                <a:ea typeface="Segoe UI"/>
              </a:rPr>
              <a:t>Client</a:t>
            </a:r>
          </a:p>
          <a:p>
            <a:r>
              <a:rPr lang="en-US" sz="1300">
                <a:solidFill>
                  <a:srgbClr val="7A80BB"/>
                </a:solidFill>
                <a:latin typeface="Segoe UI"/>
                <a:ea typeface="Segoe UI"/>
              </a:rPr>
              <a:t>satisfaction rate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gradFill xmlns:a="http://schemas.openxmlformats.org/drawingml/2006/main">
          <a:gsLst>
            <a:gs pos="0">
              <a:srgbClr val="080B2A"/>
            </a:gs>
            <a:gs pos="100000">
              <a:srgbClr val="181B55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!!glow-a"/>
          <p:cNvSpPr/>
          <p:nvPr/>
        </p:nvSpPr>
        <p:spPr>
          <a:xfrm>
            <a:off x="0" y="0"/>
            <a:ext cx="648000" cy="6858000"/>
          </a:xfrm>
          <a:prstGeom prst="rect">
            <a:avLst/>
          </a:prstGeom>
          <a:gradFill>
            <a:gsLst>
              <a:gs pos="0">
                <a:srgbClr val="4B7FFF"/>
              </a:gs>
              <a:gs pos="100000">
                <a:srgbClr val="181B55"/>
              </a:gs>
            </a:gsLst>
            <a:lin ang="54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glow-b"/>
          <p:cNvSpPr/>
          <p:nvPr/>
        </p:nvSpPr>
        <p:spPr>
          <a:xfrm>
            <a:off x="8640000" y="2880000"/>
            <a:ext cx="3600000" cy="3600000"/>
          </a:xfrm>
          <a:prstGeom prst="ellipse">
            <a:avLst/>
          </a:prstGeom>
          <a:solidFill>
            <a:srgbClr val="F5B942">
              <a:alpha val="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1080000" y="720000"/>
            <a:ext cx="432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Segoe UI Black"/>
                <a:ea typeface="Segoe UI Black"/>
              </a:rPr>
              <a:t>Key</a:t>
            </a:r>
          </a:p>
          <a:p>
            <a:r>
              <a:rPr lang="en-US" sz="3600" b="1">
                <a:solidFill>
                  <a:srgbClr val="FFFFFF"/>
                </a:solidFill>
                <a:latin typeface="Segoe UI Black"/>
                <a:ea typeface="Segoe UI Black"/>
              </a:rPr>
              <a:t>Advantages</a:t>
            </a:r>
          </a:p>
        </p:txBody>
      </p:sp>
      <p:sp>
        <p:nvSpPr>
          <p:cNvPr id="5" name="TextBox 5"/>
          <p:cNvSpPr/>
          <p:nvPr/>
        </p:nvSpPr>
        <p:spPr>
          <a:xfrm>
            <a:off x="1080000" y="2340000"/>
            <a:ext cx="432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7A80BB"/>
                </a:solidFill>
                <a:latin typeface="Segoe UI"/>
                <a:ea typeface="Segoe UI"/>
              </a:rPr>
              <a:t>What sets us apart from the rest.</a:t>
            </a:r>
          </a:p>
        </p:txBody>
      </p:sp>
      <p:sp>
        <p:nvSpPr>
          <p:cNvPr id="6" name="TextBox 6"/>
          <p:cNvSpPr/>
          <p:nvPr/>
        </p:nvSpPr>
        <p:spPr>
          <a:xfrm>
            <a:off x="1080000" y="3060000"/>
            <a:ext cx="10440000" cy="792000"/>
          </a:xfrm>
          <a:prstGeom prst="roundRect">
            <a:avLst/>
          </a:prstGeom>
          <a:solidFill>
            <a:srgbClr val="0F1242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1224000" y="3168000"/>
            <a:ext cx="576000" cy="576000"/>
          </a:xfrm>
          <a:prstGeom prst="ellipse">
            <a:avLst/>
          </a:prstGeom>
          <a:gradFill>
            <a:gsLst>
              <a:gs pos="0">
                <a:srgbClr val="4B7FFF"/>
              </a:gs>
              <a:gs pos="100000">
                <a:srgbClr val="181B55"/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2016000" y="324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  <a:latin typeface="Segoe UI Black"/>
                <a:ea typeface="Segoe UI Black"/>
              </a:rPr>
              <a:t>Parametric Design</a:t>
            </a:r>
          </a:p>
        </p:txBody>
      </p:sp>
      <p:sp>
        <p:nvSpPr>
          <p:cNvPr id="9" name="TextBox 9"/>
          <p:cNvSpPr/>
          <p:nvPr/>
        </p:nvSpPr>
        <p:spPr>
          <a:xfrm>
            <a:off x="6480000" y="3240000"/>
            <a:ext cx="46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7A80BB"/>
                </a:solidFill>
                <a:latin typeface="Segoe UI"/>
                <a:ea typeface="Segoe UI"/>
              </a:rPr>
              <a:t>AI-driven form generation from first principles.</a:t>
            </a:r>
          </a:p>
        </p:txBody>
      </p:sp>
      <p:sp>
        <p:nvSpPr>
          <p:cNvPr id="10" name="TextBox 10"/>
          <p:cNvSpPr/>
          <p:nvPr/>
        </p:nvSpPr>
        <p:spPr>
          <a:xfrm>
            <a:off x="1080000" y="4140000"/>
            <a:ext cx="10440000" cy="792000"/>
          </a:xfrm>
          <a:prstGeom prst="roundRect">
            <a:avLst/>
          </a:prstGeom>
          <a:solidFill>
            <a:srgbClr val="0F1242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1224000" y="4248000"/>
            <a:ext cx="576000" cy="576000"/>
          </a:xfrm>
          <a:prstGeom prst="ellipse">
            <a:avLst/>
          </a:prstGeom>
          <a:gradFill>
            <a:gsLst>
              <a:gs pos="0">
                <a:srgbClr val="F5B942"/>
              </a:gs>
              <a:gs pos="100000">
                <a:srgbClr val="181B55"/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2016000" y="432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  <a:latin typeface="Segoe UI Black"/>
                <a:ea typeface="Segoe UI Black"/>
              </a:rPr>
              <a:t>Sustainable Materials</a:t>
            </a:r>
          </a:p>
        </p:txBody>
      </p:sp>
      <p:sp>
        <p:nvSpPr>
          <p:cNvPr id="13" name="TextBox 13"/>
          <p:cNvSpPr/>
          <p:nvPr/>
        </p:nvSpPr>
        <p:spPr>
          <a:xfrm>
            <a:off x="6480000" y="4320000"/>
            <a:ext cx="46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7A80BB"/>
                </a:solidFill>
                <a:latin typeface="Segoe UI"/>
                <a:ea typeface="Segoe UI"/>
              </a:rPr>
              <a:t>Net-zero certified supply chain across all projects.</a:t>
            </a:r>
          </a:p>
        </p:txBody>
      </p:sp>
      <p:sp>
        <p:nvSpPr>
          <p:cNvPr id="14" name="TextBox 14"/>
          <p:cNvSpPr/>
          <p:nvPr/>
        </p:nvSpPr>
        <p:spPr>
          <a:xfrm>
            <a:off x="1080000" y="5220000"/>
            <a:ext cx="10440000" cy="792000"/>
          </a:xfrm>
          <a:prstGeom prst="roundRect">
            <a:avLst/>
          </a:prstGeom>
          <a:solidFill>
            <a:srgbClr val="0F1242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1224000" y="5328000"/>
            <a:ext cx="576000" cy="576000"/>
          </a:xfrm>
          <a:prstGeom prst="ellipse">
            <a:avLst/>
          </a:prstGeom>
          <a:gradFill>
            <a:gsLst>
              <a:gs pos="0">
                <a:srgbClr val="B8C0F0"/>
              </a:gs>
              <a:gs pos="100000">
                <a:srgbClr val="181B55"/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2016000" y="540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  <a:latin typeface="Segoe UI Black"/>
                <a:ea typeface="Segoe UI Black"/>
              </a:rPr>
              <a:t>Digital Twin Integration</a:t>
            </a:r>
          </a:p>
        </p:txBody>
      </p:sp>
      <p:sp>
        <p:nvSpPr>
          <p:cNvPr id="17" name="TextBox 17"/>
          <p:cNvSpPr/>
          <p:nvPr/>
        </p:nvSpPr>
        <p:spPr>
          <a:xfrm>
            <a:off x="6480000" y="5400000"/>
            <a:ext cx="46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7A80BB"/>
                </a:solidFill>
                <a:latin typeface="Segoe UI"/>
                <a:ea typeface="Segoe UI"/>
              </a:rPr>
              <a:t>Full BIM + real-time simulation before breaking ground.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gradFill xmlns:a="http://schemas.openxmlformats.org/drawingml/2006/main">
          <a:gsLst>
            <a:gs pos="0">
              <a:srgbClr val="080B2A"/>
            </a:gs>
            <a:gs pos="100000">
              <a:srgbClr val="181B55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!!glow-a"/>
          <p:cNvSpPr/>
          <p:nvPr/>
        </p:nvSpPr>
        <p:spPr>
          <a:xfrm>
            <a:off x="5760000" y="1440000"/>
            <a:ext cx="6480000" cy="5040000"/>
          </a:xfrm>
          <a:prstGeom prst="ellipse">
            <a:avLst/>
          </a:prstGeom>
          <a:solidFill>
            <a:srgbClr val="4B7FFF">
              <a:alpha val="7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glow-b"/>
          <p:cNvSpPr/>
          <p:nvPr/>
        </p:nvSpPr>
        <p:spPr>
          <a:xfrm>
            <a:off x="0" y="0"/>
            <a:ext cx="2880000" cy="2880000"/>
          </a:xfrm>
          <a:prstGeom prst="ellipse">
            <a:avLst/>
          </a:prstGeom>
          <a:solidFill>
            <a:srgbClr val="5B2BCC">
              <a:alpha val="6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accent"/>
          <p:cNvSpPr/>
          <p:nvPr/>
        </p:nvSpPr>
        <p:spPr>
          <a:xfrm>
            <a:off x="720000" y="3060000"/>
            <a:ext cx="10800000" cy="21600"/>
          </a:xfrm>
          <a:prstGeom prst="rect">
            <a:avLst/>
          </a:prstGeom>
          <a:solidFill>
            <a:srgbClr val="7A80BB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1800000"/>
            <a:ext cx="10800000" cy="21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FFFFFF"/>
                </a:solidFill>
                <a:latin typeface="Segoe UI"/>
                <a:ea typeface="Segoe UI"/>
              </a:rPr>
              <a:t>“Space is not simply a container.</a:t>
            </a:r>
          </a:p>
          <a:p>
            <a:r>
              <a:rPr lang="en-US" sz="2800">
                <a:solidFill>
                  <a:srgbClr val="FFFFFF"/>
                </a:solidFill>
                <a:latin typeface="Segoe UI"/>
                <a:ea typeface="Segoe UI"/>
              </a:rPr>
              <a:t>It is the first medium of human experience.”</a:t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3960000"/>
            <a:ext cx="72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7A80BB"/>
                </a:solidFill>
                <a:latin typeface="Segoe UI"/>
                <a:ea typeface="Segoe UI"/>
              </a:rPr>
              <a:t>— Sir Norman Foster, Architect</a:t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6336000"/>
            <a:ext cx="432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7A80BB"/>
                </a:solidFill>
                <a:latin typeface="Segoe UI"/>
                <a:ea typeface="Segoe UI"/>
              </a:rPr>
              <a:t>STUDIO BLUEPRINT</a:t>
            </a:r>
          </a:p>
        </p:txBody>
      </p:sp>
      <p:sp>
        <p:nvSpPr>
          <p:cNvPr id="8" name="TextBox 8"/>
          <p:cNvSpPr/>
          <p:nvPr/>
        </p:nvSpPr>
        <p:spPr>
          <a:xfrm>
            <a:off x="9000000" y="6336000"/>
            <a:ext cx="2520000" cy="324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000">
                <a:solidFill>
                  <a:srgbClr val="7A80BB"/>
                </a:solidFill>
                <a:latin typeface="Segoe UI"/>
                <a:ea typeface="Segoe UI"/>
              </a:rPr>
              <a:t>nexorastudio.com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gradFill xmlns:a="http://schemas.openxmlformats.org/drawingml/2006/main">
          <a:gsLst>
            <a:gs pos="0">
              <a:srgbClr val="080B2A"/>
            </a:gs>
            <a:gs pos="100000">
              <a:srgbClr val="181B55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!!bar-a"/>
          <p:cNvSpPr/>
          <p:nvPr/>
        </p:nvSpPr>
        <p:spPr>
          <a:xfrm>
            <a:off x="6660000" y="2898000"/>
            <a:ext cx="720000" cy="3960000"/>
          </a:xfrm>
          <a:prstGeom prst="roundRect">
            <a:avLst/>
          </a:prstGeom>
          <a:gradFill>
            <a:gsLst>
              <a:gs pos="0">
                <a:srgbClr val="4B7FFF">
                  <a:alpha val="55000"/>
                </a:srgbClr>
              </a:gs>
              <a:gs pos="100000">
                <a:srgbClr val="181B55">
                  <a:alpha val="55000"/>
                </a:srgbClr>
              </a:gs>
            </a:gsLst>
            <a:lin ang="54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7560000" y="1458000"/>
            <a:ext cx="720000" cy="5400000"/>
          </a:xfrm>
          <a:prstGeom prst="roundRect">
            <a:avLst/>
          </a:prstGeom>
          <a:gradFill>
            <a:gsLst>
              <a:gs pos="0">
                <a:srgbClr val="181B55">
                  <a:alpha val="62000"/>
                </a:srgbClr>
              </a:gs>
              <a:gs pos="100000">
                <a:srgbClr val="4B7FFF">
                  <a:alpha val="62000"/>
                </a:srgbClr>
              </a:gs>
            </a:gsLst>
            <a:lin ang="54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8460000" y="3618000"/>
            <a:ext cx="720000" cy="3240000"/>
          </a:xfrm>
          <a:prstGeom prst="roundRect">
            <a:avLst/>
          </a:prstGeom>
          <a:gradFill>
            <a:gsLst>
              <a:gs pos="0">
                <a:srgbClr val="F5B942">
                  <a:alpha val="69000"/>
                </a:srgbClr>
              </a:gs>
              <a:gs pos="100000">
                <a:srgbClr val="181B55">
                  <a:alpha val="69000"/>
                </a:srgbClr>
              </a:gs>
            </a:gsLst>
            <a:lin ang="54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9360000" y="2178000"/>
            <a:ext cx="720000" cy="4680000"/>
          </a:xfrm>
          <a:prstGeom prst="roundRect">
            <a:avLst/>
          </a:prstGeom>
          <a:gradFill>
            <a:gsLst>
              <a:gs pos="0">
                <a:srgbClr val="4B7FFF">
                  <a:alpha val="76000"/>
                </a:srgbClr>
              </a:gs>
              <a:gs pos="100000">
                <a:srgbClr val="B8C0F0">
                  <a:alpha val="76000"/>
                </a:srgbClr>
              </a:gs>
            </a:gsLst>
            <a:lin ang="54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10260000" y="4338000"/>
            <a:ext cx="720000" cy="2520000"/>
          </a:xfrm>
          <a:prstGeom prst="roundRect">
            <a:avLst/>
          </a:prstGeom>
          <a:gradFill>
            <a:gsLst>
              <a:gs pos="0">
                <a:srgbClr val="B8C0F0">
                  <a:alpha val="83000"/>
                </a:srgbClr>
              </a:gs>
              <a:gs pos="100000">
                <a:srgbClr val="4B7FFF">
                  <a:alpha val="83000"/>
                </a:srgbClr>
              </a:gs>
            </a:gsLst>
            <a:lin ang="54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11160000" y="2718000"/>
            <a:ext cx="720000" cy="4140000"/>
          </a:xfrm>
          <a:prstGeom prst="roundRect">
            <a:avLst/>
          </a:prstGeom>
          <a:gradFill>
            <a:gsLst>
              <a:gs pos="0">
                <a:srgbClr val="4B7FFF">
                  <a:alpha val="90000"/>
                </a:srgbClr>
              </a:gs>
              <a:gs pos="100000">
                <a:srgbClr val="181B55">
                  <a:alpha val="90000"/>
                </a:srgbClr>
              </a:gs>
            </a:gsLst>
            <a:lin ang="54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glow-a"/>
          <p:cNvSpPr/>
          <p:nvPr/>
        </p:nvSpPr>
        <p:spPr>
          <a:xfrm>
            <a:off x="5760000" y="0"/>
            <a:ext cx="6480000" cy="6480000"/>
          </a:xfrm>
          <a:prstGeom prst="ellipse">
            <a:avLst/>
          </a:prstGeom>
          <a:solidFill>
            <a:srgbClr val="4B7FFF">
              <a:alpha val="7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glow-b"/>
          <p:cNvSpPr/>
          <p:nvPr/>
        </p:nvSpPr>
        <p:spPr>
          <a:xfrm>
            <a:off x="0" y="3600000"/>
            <a:ext cx="3240000" cy="3240000"/>
          </a:xfrm>
          <a:prstGeom prst="ellipse">
            <a:avLst/>
          </a:prstGeom>
          <a:solidFill>
            <a:srgbClr val="5B2BCC">
              <a:alpha val="7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4320000" y="720000"/>
            <a:ext cx="5040000" cy="50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0" b="1">
                <a:solidFill>
                  <a:srgbClr val="131650"/>
                </a:solidFill>
                <a:latin typeface="Segoe UI Black"/>
                <a:ea typeface="Segoe UI Black"/>
              </a:rPr>
              <a:t>05</a:t>
            </a:r>
          </a:p>
        </p:txBody>
      </p:sp>
      <p:sp>
        <p:nvSpPr>
          <p:cNvPr id="11" name="TextBox 11"/>
          <p:cNvSpPr/>
          <p:nvPr/>
        </p:nvSpPr>
        <p:spPr>
          <a:xfrm>
            <a:off x="720000" y="900000"/>
            <a:ext cx="504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7A80BB"/>
                </a:solidFill>
                <a:latin typeface="Segoe UI"/>
                <a:ea typeface="Segoe UI"/>
              </a:rPr>
              <a:t>PORTFOLIO</a:t>
            </a:r>
          </a:p>
        </p:txBody>
      </p:sp>
      <p:sp>
        <p:nvSpPr>
          <p:cNvPr id="12" name="TextBox 12"/>
          <p:cNvSpPr/>
          <p:nvPr/>
        </p:nvSpPr>
        <p:spPr>
          <a:xfrm>
            <a:off x="720000" y="1440000"/>
            <a:ext cx="540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gradFill>
                  <a:gsLst>
                    <a:gs pos="0">
                      <a:srgbClr val="FFFFFF"/>
                    </a:gs>
                    <a:gs pos="100000">
                      <a:srgbClr val="080B2A"/>
                    </a:gs>
                  </a:gsLst>
                  <a:lin ang="0" scaled="1"/>
                </a:gradFill>
                <a:latin typeface="Segoe UI Black"/>
                <a:ea typeface="Segoe UI Black"/>
              </a:rPr>
              <a:t>Our</a:t>
            </a:r>
          </a:p>
          <a:p>
            <a:r>
              <a:rPr lang="en-US" sz="4800" b="1">
                <a:gradFill>
                  <a:gsLst>
                    <a:gs pos="0">
                      <a:srgbClr val="FFFFFF"/>
                    </a:gs>
                    <a:gs pos="100000">
                      <a:srgbClr val="080B2A"/>
                    </a:gs>
                  </a:gsLst>
                  <a:lin ang="0" scaled="1"/>
                </a:gradFill>
                <a:latin typeface="Segoe UI Black"/>
                <a:ea typeface="Segoe UI Black"/>
              </a:rPr>
              <a:t>Projects</a:t>
            </a:r>
          </a:p>
        </p:txBody>
      </p:sp>
      <p:sp>
        <p:nvSpPr>
          <p:cNvPr id="13" name="!!accent"/>
          <p:cNvSpPr/>
          <p:nvPr/>
        </p:nvSpPr>
        <p:spPr>
          <a:xfrm>
            <a:off x="720000" y="3420000"/>
            <a:ext cx="1800000" cy="50400"/>
          </a:xfrm>
          <a:prstGeom prst="rect">
            <a:avLst/>
          </a:prstGeom>
          <a:solidFill>
            <a:srgbClr val="F5B942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720000" y="3600000"/>
            <a:ext cx="5040000" cy="21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7A80BB"/>
                </a:solidFill>
                <a:latin typeface="Segoe UI"/>
                <a:ea typeface="Segoe UI"/>
              </a:rPr>
              <a:t>From cultural landmarks to urban</a:t>
            </a:r>
          </a:p>
          <a:p>
            <a:r>
              <a:rPr lang="en-US" sz="1400">
                <a:solidFill>
                  <a:srgbClr val="7A80BB"/>
                </a:solidFill>
                <a:latin typeface="Segoe UI"/>
                <a:ea typeface="Segoe UI"/>
              </a:rPr>
              <a:t>residential towers — each project</a:t>
            </a:r>
          </a:p>
          <a:p>
            <a:r>
              <a:rPr lang="en-US" sz="1400">
                <a:solidFill>
                  <a:srgbClr val="7A80BB"/>
                </a:solidFill>
                <a:latin typeface="Segoe UI"/>
                <a:ea typeface="Segoe UI"/>
              </a:rPr>
              <a:t>is a statement in built form.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gradFill xmlns:a="http://schemas.openxmlformats.org/drawingml/2006/main">
          <a:gsLst>
            <a:gs pos="0">
              <a:srgbClr val="080B2A"/>
            </a:gs>
            <a:gs pos="100000">
              <a:srgbClr val="181B55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!!glow-a"/>
          <p:cNvSpPr/>
          <p:nvPr/>
        </p:nvSpPr>
        <p:spPr>
          <a:xfrm>
            <a:off x="9360000" y="2880000"/>
            <a:ext cx="3600000" cy="3600000"/>
          </a:xfrm>
          <a:prstGeom prst="ellipse">
            <a:avLst/>
          </a:prstGeom>
          <a:solidFill>
            <a:srgbClr val="F5B942">
              <a:alpha val="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glow-b"/>
          <p:cNvSpPr/>
          <p:nvPr/>
        </p:nvSpPr>
        <p:spPr>
          <a:xfrm>
            <a:off x="0" y="0"/>
            <a:ext cx="2880000" cy="2880000"/>
          </a:xfrm>
          <a:prstGeom prst="ellipse">
            <a:avLst/>
          </a:prstGeom>
          <a:solidFill>
            <a:srgbClr val="4B7FFF">
              <a:alpha val="6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6480000" y="1080000"/>
            <a:ext cx="5760000" cy="50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0" b="1">
                <a:solidFill>
                  <a:srgbClr val="131650"/>
                </a:solidFill>
                <a:latin typeface="Segoe UI Black"/>
                <a:ea typeface="Segoe UI Black"/>
              </a:rPr>
              <a:t>06</a:t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900000"/>
            <a:ext cx="576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7A80BB"/>
                </a:solidFill>
                <a:latin typeface="Segoe UI"/>
                <a:ea typeface="Segoe UI"/>
              </a:rPr>
              <a:t>LEADERSHIP</a:t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1260000"/>
            <a:ext cx="576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Segoe UI Black"/>
                <a:ea typeface="Segoe UI Black"/>
              </a:rPr>
              <a:t>The Team</a:t>
            </a:r>
          </a:p>
        </p:txBody>
      </p:sp>
      <p:sp>
        <p:nvSpPr>
          <p:cNvPr id="7" name="!!accent"/>
          <p:cNvSpPr/>
          <p:nvPr/>
        </p:nvSpPr>
        <p:spPr>
          <a:xfrm>
            <a:off x="720000" y="1152000"/>
            <a:ext cx="1080000" cy="50400"/>
          </a:xfrm>
          <a:prstGeom prst="rect">
            <a:avLst/>
          </a:prstGeom>
          <a:solidFill>
            <a:srgbClr val="4B7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720000" y="2880000"/>
            <a:ext cx="2160000" cy="2160000"/>
          </a:xfrm>
          <a:prstGeom prst="ellipse">
            <a:avLst/>
          </a:prstGeom>
          <a:gradFill>
            <a:gsLst>
              <a:gs pos="0">
                <a:srgbClr val="4B7FFF"/>
              </a:gs>
              <a:gs pos="100000">
                <a:srgbClr val="181B55"/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4860000" y="2880000"/>
            <a:ext cx="2160000" cy="2160000"/>
          </a:xfrm>
          <a:prstGeom prst="ellipse">
            <a:avLst/>
          </a:prstGeom>
          <a:gradFill>
            <a:gsLst>
              <a:gs pos="0">
                <a:srgbClr val="F5B942"/>
              </a:gs>
              <a:gs pos="100000">
                <a:srgbClr val="181B55"/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9000000" y="2880000"/>
            <a:ext cx="2160000" cy="2160000"/>
          </a:xfrm>
          <a:prstGeom prst="ellipse">
            <a:avLst/>
          </a:prstGeom>
          <a:gradFill>
            <a:gsLst>
              <a:gs pos="0">
                <a:srgbClr val="B8C0F0"/>
              </a:gs>
              <a:gs pos="100000">
                <a:srgbClr val="181B55"/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720000" y="5220000"/>
            <a:ext cx="216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  <a:latin typeface="Segoe UI Black"/>
                <a:ea typeface="Segoe UI Black"/>
              </a:rPr>
              <a:t>Marcus Chen</a:t>
            </a:r>
          </a:p>
        </p:txBody>
      </p:sp>
      <p:sp>
        <p:nvSpPr>
          <p:cNvPr id="12" name="TextBox 12"/>
          <p:cNvSpPr/>
          <p:nvPr/>
        </p:nvSpPr>
        <p:spPr>
          <a:xfrm>
            <a:off x="720000" y="5724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7A80BB"/>
                </a:solidFill>
                <a:latin typeface="Segoe UI"/>
                <a:ea typeface="Segoe UI"/>
              </a:rPr>
              <a:t>Principal Architect</a:t>
            </a:r>
          </a:p>
        </p:txBody>
      </p:sp>
      <p:sp>
        <p:nvSpPr>
          <p:cNvPr id="13" name="TextBox 13"/>
          <p:cNvSpPr/>
          <p:nvPr/>
        </p:nvSpPr>
        <p:spPr>
          <a:xfrm>
            <a:off x="4860000" y="5220000"/>
            <a:ext cx="216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  <a:latin typeface="Segoe UI Black"/>
                <a:ea typeface="Segoe UI Black"/>
              </a:rPr>
              <a:t>Sarah Voss</a:t>
            </a:r>
          </a:p>
        </p:txBody>
      </p:sp>
      <p:sp>
        <p:nvSpPr>
          <p:cNvPr id="14" name="TextBox 14"/>
          <p:cNvSpPr/>
          <p:nvPr/>
        </p:nvSpPr>
        <p:spPr>
          <a:xfrm>
            <a:off x="4860000" y="5724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7A80BB"/>
                </a:solidFill>
                <a:latin typeface="Segoe UI"/>
                <a:ea typeface="Segoe UI"/>
              </a:rPr>
              <a:t>Design Director</a:t>
            </a:r>
          </a:p>
        </p:txBody>
      </p:sp>
      <p:sp>
        <p:nvSpPr>
          <p:cNvPr id="15" name="TextBox 15"/>
          <p:cNvSpPr/>
          <p:nvPr/>
        </p:nvSpPr>
        <p:spPr>
          <a:xfrm>
            <a:off x="9000000" y="5220000"/>
            <a:ext cx="216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  <a:latin typeface="Segoe UI Black"/>
                <a:ea typeface="Segoe UI Black"/>
              </a:rPr>
              <a:t>Kenji Mori</a:t>
            </a:r>
          </a:p>
        </p:txBody>
      </p:sp>
      <p:sp>
        <p:nvSpPr>
          <p:cNvPr id="16" name="TextBox 16"/>
          <p:cNvSpPr/>
          <p:nvPr/>
        </p:nvSpPr>
        <p:spPr>
          <a:xfrm>
            <a:off x="9000000" y="5724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7A80BB"/>
                </a:solidFill>
                <a:latin typeface="Segoe UI"/>
                <a:ea typeface="Segoe UI"/>
              </a:rPr>
              <a:t>Technical Lead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gradFill xmlns:a="http://schemas.openxmlformats.org/drawingml/2006/main">
          <a:gsLst>
            <a:gs pos="0">
              <a:srgbClr val="4B7FFF"/>
            </a:gs>
            <a:gs pos="100000">
              <a:srgbClr val="080B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!!glow-a"/>
          <p:cNvSpPr/>
          <p:nvPr/>
        </p:nvSpPr>
        <p:spPr>
          <a:xfrm>
            <a:off x="7200000" y="0"/>
            <a:ext cx="5760000" cy="5760000"/>
          </a:xfrm>
          <a:prstGeom prst="ellipse">
            <a:avLst/>
          </a:prstGeom>
          <a:solidFill>
            <a:srgbClr val="FFFFFF">
              <a:alpha val="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glow-b"/>
          <p:cNvSpPr/>
          <p:nvPr/>
        </p:nvSpPr>
        <p:spPr>
          <a:xfrm>
            <a:off x="0" y="2880000"/>
            <a:ext cx="5040000" cy="5040000"/>
          </a:xfrm>
          <a:prstGeom prst="ellipse">
            <a:avLst/>
          </a:prstGeom>
          <a:solidFill>
            <a:srgbClr val="080B2A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720000"/>
            <a:ext cx="9360000" cy="39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>
                <a:solidFill>
                  <a:srgbClr val="FFFFFF"/>
                </a:solidFill>
                <a:latin typeface="Segoe UI Black"/>
                <a:ea typeface="Segoe UI Black"/>
              </a:rPr>
              <a:t>Let’s Build</a:t>
            </a:r>
          </a:p>
          <a:p>
            <a:r>
              <a:rPr lang="en-US" sz="5200" b="1">
                <a:solidFill>
                  <a:srgbClr val="FFFFFF"/>
                </a:solidFill>
                <a:latin typeface="Segoe UI Black"/>
                <a:ea typeface="Segoe UI Black"/>
              </a:rPr>
              <a:t>Something</a:t>
            </a:r>
          </a:p>
          <a:p>
            <a:r>
              <a:rPr lang="en-US" sz="5200" b="1">
                <a:solidFill>
                  <a:srgbClr val="FFFFFF"/>
                </a:solidFill>
                <a:latin typeface="Segoe UI Black"/>
                <a:ea typeface="Segoe UI Black"/>
              </a:rPr>
              <a:t>Extraordinary.</a:t>
            </a:r>
          </a:p>
        </p:txBody>
      </p:sp>
      <p:sp>
        <p:nvSpPr>
          <p:cNvPr id="5" name="!!accent"/>
          <p:cNvSpPr/>
          <p:nvPr/>
        </p:nvSpPr>
        <p:spPr>
          <a:xfrm>
            <a:off x="720000" y="648000"/>
            <a:ext cx="1440000" cy="50400"/>
          </a:xfrm>
          <a:prstGeom prst="rect">
            <a:avLst/>
          </a:prstGeom>
          <a:solidFill>
            <a:srgbClr val="F5B942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5040000"/>
            <a:ext cx="792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B8C0F0"/>
                </a:solidFill>
                <a:latin typeface="Segoe UI"/>
                <a:ea typeface="Segoe UI"/>
              </a:rPr>
              <a:t>Ready to transform your vision into architecture?</a:t>
            </a:r>
          </a:p>
          <a:p>
            <a:r>
              <a:rPr lang="en-US" sz="1600">
                <a:solidFill>
                  <a:srgbClr val="B8C0F0"/>
                </a:solidFill>
                <a:latin typeface="Segoe UI"/>
                <a:ea typeface="Segoe UI"/>
              </a:rPr>
              <a:t>Our team is waiting to hear from you.</a:t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5760000"/>
            <a:ext cx="3600000" cy="900000"/>
          </a:xfrm>
          <a:prstGeom prst="roundRect">
            <a:avLst/>
          </a:prstGeom>
          <a:solidFill>
            <a:srgbClr val="F5B942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720000" y="5760000"/>
            <a:ext cx="3600000" cy="9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1">
                <a:solidFill>
                  <a:srgbClr val="080B2A"/>
                </a:solidFill>
                <a:latin typeface="Segoe UI Black"/>
                <a:ea typeface="Segoe UI Black"/>
              </a:rPr>
              <a:t>Start a Project →</a:t>
            </a:r>
          </a:p>
        </p:txBody>
      </p:sp>
      <p:sp>
        <p:nvSpPr>
          <p:cNvPr id="9" name="TextBox 9"/>
          <p:cNvSpPr/>
          <p:nvPr/>
        </p:nvSpPr>
        <p:spPr>
          <a:xfrm>
            <a:off x="9360000" y="6300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100">
                <a:solidFill>
                  <a:srgbClr val="B8C0F0"/>
                </a:solidFill>
                <a:latin typeface="Segoe UI"/>
                <a:ea typeface="Segoe UI"/>
              </a:rPr>
              <a:t>nexorastudio.com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