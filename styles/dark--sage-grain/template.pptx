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259878e2b38464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7af9e30acb54a95"/>
    <p:sldId id="257" r:id="Ra9d206450ded4e59"/>
    <p:sldId id="258" r:id="Rcbc81533253847f0"/>
    <p:sldId id="259" r:id="R598afd19b6cd408f"/>
    <p:sldId id="260" r:id="R717ac8501a1d4c20"/>
    <p:sldId id="261" r:id="R91829cd46de74b2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7af9e30acb54a95" /><Relationship Type="http://schemas.openxmlformats.org/officeDocument/2006/relationships/slide" Target="/ppt/slides/slide2.xml" Id="Ra9d206450ded4e59" /><Relationship Type="http://schemas.openxmlformats.org/officeDocument/2006/relationships/slide" Target="/ppt/slides/slide3.xml" Id="Rcbc81533253847f0" /><Relationship Type="http://schemas.openxmlformats.org/officeDocument/2006/relationships/slide" Target="/ppt/slides/slide4.xml" Id="R598afd19b6cd408f" /><Relationship Type="http://schemas.openxmlformats.org/officeDocument/2006/relationships/slide" Target="/ppt/slides/slide5.xml" Id="R717ac8501a1d4c20" /><Relationship Type="http://schemas.openxmlformats.org/officeDocument/2006/relationships/slide" Target="/ppt/slides/slide6.xml" Id="R91829cd46de74b2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f8be4bfd24c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11d75e9864b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4e72b927a4e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afcdf1a3940d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709452acbd84e1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f08f100234f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b9b74f45d45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e6ae655fa4e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22de0429643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611e2c5fe43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cff8b311149bb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0F1A12"/>
            </a:gs>
            <a:gs pos="100000">
              <a:srgbClr val="1E2E1A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620000" y="90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032000" y="20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984000" y="648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00000" y="2592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592000" y="486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000000" y="4752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220000" y="38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08000" y="324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72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32000" y="198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920000" y="5832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3420000" y="612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spark"/>
          <p:cNvSpPr/>
          <p:nvPr/>
        </p:nvSpPr>
        <p:spPr>
          <a:xfrm>
            <a:off x="10584000" y="1245600"/>
            <a:ext cx="792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10962000" y="864000"/>
            <a:ext cx="32400" cy="792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90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программа тренинга  /  CREATIVE STUDIO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1368000"/>
            <a:ext cx="1440000" cy="36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720000" y="1620000"/>
            <a:ext cx="1008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gradFill>
                  <a:gsLst>
                    <a:gs pos="0">
                      <a:srgbClr val="FFFFFF"/>
                    </a:gs>
                    <a:gs pos="100000">
                      <a:srgbClr val="0F1A12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LESS IS MORE.</a:t>
            </a:r>
          </a:p>
          <a:p>
            <a:r>
              <a:rPr lang="en-US" sz="5600" b="1">
                <a:gradFill>
                  <a:gsLst>
                    <a:gs pos="0">
                      <a:srgbClr val="FFFFFF"/>
                    </a:gs>
                    <a:gs pos="100000">
                      <a:srgbClr val="0F1A12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MORE IS US.</a:t>
            </a:r>
          </a:p>
        </p:txBody>
      </p:sp>
      <p:sp>
        <p:nvSpPr>
          <p:cNvPr id="19" name="TextBox 19"/>
          <p:cNvSpPr/>
          <p:nvPr/>
        </p:nvSpPr>
        <p:spPr>
          <a:xfrm>
            <a:off x="720000" y="5040000"/>
            <a:ext cx="64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E8D5A0"/>
                </a:solidFill>
                <a:latin typeface="Segoe UI"/>
                <a:ea typeface="Segoe UI"/>
              </a:rPr>
              <a:t>We make ideas look inevitable.</a:t>
            </a:r>
          </a:p>
        </p:txBody>
      </p:sp>
      <p:sp>
        <p:nvSpPr>
          <p:cNvPr id="20" name="TextBox 20"/>
          <p:cNvSpPr/>
          <p:nvPr/>
        </p:nvSpPr>
        <p:spPr>
          <a:xfrm>
            <a:off x="720000" y="6336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studio@weareform.co</a:t>
            </a:r>
          </a:p>
        </p:txBody>
      </p:sp>
      <p:sp>
        <p:nvSpPr>
          <p:cNvPr id="21" name="TextBox 21"/>
          <p:cNvSpPr/>
          <p:nvPr/>
        </p:nvSpPr>
        <p:spPr>
          <a:xfrm>
            <a:off x="8640000" y="6336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@prusakova.design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F1A12"/>
            </a:gs>
            <a:gs pos="100000">
              <a:srgbClr val="1E2E1A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620000" y="90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032000" y="20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984000" y="648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00000" y="2592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592000" y="486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000000" y="4752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220000" y="38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08000" y="324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spark"/>
          <p:cNvSpPr/>
          <p:nvPr/>
        </p:nvSpPr>
        <p:spPr>
          <a:xfrm>
            <a:off x="9936000" y="2685600"/>
            <a:ext cx="648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0242000" y="2376000"/>
            <a:ext cx="32400" cy="648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54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ОСНОВНЫЕ БЛОКИ  /  CORE MODULES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1008000"/>
            <a:ext cx="10440000" cy="21600"/>
          </a:xfrm>
          <a:prstGeom prst="rect">
            <a:avLst/>
          </a:prstGeom>
          <a:solidFill>
            <a:srgbClr val="6A8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1440000"/>
            <a:ext cx="5220000" cy="4860000"/>
          </a:xfrm>
          <a:prstGeom prst="rect">
            <a:avLst/>
          </a:prstGeom>
          <a:solidFill>
            <a:srgbClr val="F2F0E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900000" y="162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41E10"/>
                </a:solidFill>
                <a:latin typeface="Segoe UI Black"/>
                <a:ea typeface="Segoe UI Black"/>
              </a:rPr>
              <a:t>БЛОК 1</a:t>
            </a:r>
          </a:p>
        </p:txBody>
      </p:sp>
      <p:sp>
        <p:nvSpPr>
          <p:cNvPr id="16" name="TextBox 16"/>
          <p:cNvSpPr/>
          <p:nvPr/>
        </p:nvSpPr>
        <p:spPr>
          <a:xfrm>
            <a:off x="900000" y="2088000"/>
            <a:ext cx="46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141E10"/>
                </a:solidFill>
                <a:latin typeface="Segoe UI Black"/>
                <a:ea typeface="Segoe UI Black"/>
              </a:rPr>
              <a:t>ключевые определения</a:t>
            </a:r>
          </a:p>
          <a:p>
            <a:r>
              <a:rPr lang="en-US" sz="1600" b="1">
                <a:solidFill>
                  <a:srgbClr val="141E10"/>
                </a:solidFill>
                <a:latin typeface="Segoe UI Black"/>
                <a:ea typeface="Segoe UI Black"/>
              </a:rPr>
              <a:t>рамки обучения</a:t>
            </a:r>
          </a:p>
        </p:txBody>
      </p:sp>
      <p:sp>
        <p:nvSpPr>
          <p:cNvPr id="17" name="TextBox 17"/>
          <p:cNvSpPr/>
          <p:nvPr/>
        </p:nvSpPr>
        <p:spPr>
          <a:xfrm>
            <a:off x="900000" y="3060000"/>
            <a:ext cx="468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Определение переговоров</a:t>
            </a:r>
          </a:p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2 ключевых стиля переговоров</a:t>
            </a:r>
          </a:p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Алгоритм подготовки</a:t>
            </a:r>
          </a:p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Консультанты рекламного рынка</a:t>
            </a:r>
          </a:p>
        </p:txBody>
      </p:sp>
      <p:sp>
        <p:nvSpPr>
          <p:cNvPr id="18" name="TextBox 18"/>
          <p:cNvSpPr/>
          <p:nvPr/>
        </p:nvSpPr>
        <p:spPr>
          <a:xfrm>
            <a:off x="6300000" y="1440000"/>
            <a:ext cx="5220000" cy="4860000"/>
          </a:xfrm>
          <a:prstGeom prst="rect">
            <a:avLst/>
          </a:prstGeom>
          <a:solidFill>
            <a:srgbClr val="F2F0E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6480000" y="162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41E10"/>
                </a:solidFill>
                <a:latin typeface="Segoe UI Black"/>
                <a:ea typeface="Segoe UI Black"/>
              </a:rPr>
              <a:t>БЛОК 2</a:t>
            </a:r>
          </a:p>
        </p:txBody>
      </p:sp>
      <p:sp>
        <p:nvSpPr>
          <p:cNvPr id="20" name="TextBox 20"/>
          <p:cNvSpPr/>
          <p:nvPr/>
        </p:nvSpPr>
        <p:spPr>
          <a:xfrm>
            <a:off x="6480000" y="2088000"/>
            <a:ext cx="46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141E10"/>
                </a:solidFill>
                <a:latin typeface="Segoe UI Black"/>
                <a:ea typeface="Segoe UI Black"/>
              </a:rPr>
              <a:t>процесс переговоров</a:t>
            </a:r>
          </a:p>
          <a:p>
            <a:r>
              <a:rPr lang="en-US" sz="1600" b="1">
                <a:solidFill>
                  <a:srgbClr val="141E10"/>
                </a:solidFill>
                <a:latin typeface="Segoe UI Black"/>
                <a:ea typeface="Segoe UI Black"/>
              </a:rPr>
              <a:t>с монополистами</a:t>
            </a:r>
          </a:p>
        </p:txBody>
      </p:sp>
      <p:sp>
        <p:nvSpPr>
          <p:cNvPr id="21" name="TextBox 21"/>
          <p:cNvSpPr/>
          <p:nvPr/>
        </p:nvSpPr>
        <p:spPr>
          <a:xfrm>
            <a:off x="6480000" y="3060000"/>
            <a:ext cx="468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Анализ понятия «силы» в переговорах</a:t>
            </a:r>
          </a:p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Особенности сделок без альтернатив</a:t>
            </a:r>
          </a:p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Инструменты активного слушания</a:t>
            </a:r>
          </a:p>
          <a:p>
            <a:r>
              <a:rPr lang="en-US" sz="1200">
                <a:solidFill>
                  <a:srgbClr val="141E10"/>
                </a:solidFill>
                <a:latin typeface="Segoe UI"/>
                <a:ea typeface="Segoe UI"/>
              </a:rPr>
              <a:t>· Рефрейминг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F1A12"/>
            </a:gs>
            <a:gs pos="100000">
              <a:srgbClr val="1E2E1A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620000" y="90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032000" y="20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984000" y="648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00000" y="2592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592000" y="486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000000" y="4752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220000" y="38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08000" y="324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72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32000" y="198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spark"/>
          <p:cNvSpPr/>
          <p:nvPr/>
        </p:nvSpPr>
        <p:spPr>
          <a:xfrm>
            <a:off x="972000" y="1425600"/>
            <a:ext cx="576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1245600" y="1152000"/>
            <a:ext cx="32400" cy="576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1008000"/>
            <a:ext cx="10440000" cy="21600"/>
          </a:xfrm>
          <a:prstGeom prst="rect">
            <a:avLst/>
          </a:prstGeom>
          <a:solidFill>
            <a:srgbClr val="6A8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720000" y="648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РЕЗУЛЬТАТ  /  IMPACT</a:t>
            </a:r>
          </a:p>
        </p:txBody>
      </p:sp>
      <p:sp>
        <p:nvSpPr>
          <p:cNvPr id="16" name="TextBox 16"/>
          <p:cNvSpPr/>
          <p:nvPr/>
        </p:nvSpPr>
        <p:spPr>
          <a:xfrm>
            <a:off x="360000" y="1260000"/>
            <a:ext cx="11520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0" b="1">
                <a:gradFill>
                  <a:gsLst>
                    <a:gs pos="0">
                      <a:srgbClr val="B8FF43"/>
                    </a:gs>
                    <a:gs pos="100000">
                      <a:srgbClr val="0F1A12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6×</a:t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540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E8D5A0"/>
                </a:solidFill>
                <a:latin typeface="Segoe UI Black"/>
                <a:ea typeface="Segoe UI Black"/>
              </a:rPr>
              <a:t>faster deal closing for</a:t>
            </a:r>
          </a:p>
          <a:p>
            <a:r>
              <a:rPr lang="en-US" sz="2000" b="1">
                <a:solidFill>
                  <a:srgbClr val="E8D5A0"/>
                </a:solidFill>
                <a:latin typeface="Segoe UI Black"/>
                <a:ea typeface="Segoe UI Black"/>
              </a:rPr>
              <a:t>agencies using our frameworks</a:t>
            </a:r>
          </a:p>
        </p:txBody>
      </p:sp>
      <p:sp>
        <p:nvSpPr>
          <p:cNvPr id="18" name="TextBox 18"/>
          <p:cNvSpPr/>
          <p:nvPr/>
        </p:nvSpPr>
        <p:spPr>
          <a:xfrm>
            <a:off x="720000" y="6300000"/>
            <a:ext cx="57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Across 340+ studios tracked in 2024.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F1A12"/>
            </a:gs>
            <a:gs pos="100000">
              <a:srgbClr val="1E2E1A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620000" y="90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032000" y="20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984000" y="648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00000" y="2592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592000" y="486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000000" y="4752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220000" y="38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08000" y="324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spark"/>
          <p:cNvSpPr/>
          <p:nvPr/>
        </p:nvSpPr>
        <p:spPr>
          <a:xfrm>
            <a:off x="10800000" y="360000"/>
            <a:ext cx="36000" cy="36000"/>
          </a:xfrm>
          <a:prstGeom prst="rect">
            <a:avLst/>
          </a:prstGeom>
          <a:solidFill>
            <a:srgbClr val="0F1A1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1800000"/>
            <a:ext cx="3600000" cy="208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846000" y="2070000"/>
            <a:ext cx="32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990000" y="1926000"/>
            <a:ext cx="32400" cy="32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864000" y="252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Brand</a:t>
            </a:r>
          </a:p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Strategy</a:t>
            </a:r>
          </a:p>
        </p:txBody>
      </p:sp>
      <p:sp>
        <p:nvSpPr>
          <p:cNvPr id="15" name="TextBox 15"/>
          <p:cNvSpPr/>
          <p:nvPr/>
        </p:nvSpPr>
        <p:spPr>
          <a:xfrm>
            <a:off x="4608000" y="1800000"/>
            <a:ext cx="3600000" cy="208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4734000" y="2070000"/>
            <a:ext cx="32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4881600" y="1926000"/>
            <a:ext cx="32400" cy="32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4752000" y="252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Visual</a:t>
            </a:r>
          </a:p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Identity</a:t>
            </a:r>
          </a:p>
        </p:txBody>
      </p:sp>
      <p:sp>
        <p:nvSpPr>
          <p:cNvPr id="19" name="TextBox 19"/>
          <p:cNvSpPr/>
          <p:nvPr/>
        </p:nvSpPr>
        <p:spPr>
          <a:xfrm>
            <a:off x="8496000" y="1800000"/>
            <a:ext cx="3600000" cy="208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8622000" y="2070000"/>
            <a:ext cx="32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8769600" y="1926000"/>
            <a:ext cx="32400" cy="32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8640000" y="252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Motion</a:t>
            </a:r>
          </a:p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23" name="TextBox 23"/>
          <p:cNvSpPr/>
          <p:nvPr/>
        </p:nvSpPr>
        <p:spPr>
          <a:xfrm>
            <a:off x="720000" y="4140000"/>
            <a:ext cx="3600000" cy="208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846000" y="4413600"/>
            <a:ext cx="32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990000" y="4266000"/>
            <a:ext cx="32400" cy="32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864000" y="486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Pitch</a:t>
            </a:r>
          </a:p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Decks</a:t>
            </a:r>
          </a:p>
        </p:txBody>
      </p:sp>
      <p:sp>
        <p:nvSpPr>
          <p:cNvPr id="27" name="TextBox 27"/>
          <p:cNvSpPr/>
          <p:nvPr/>
        </p:nvSpPr>
        <p:spPr>
          <a:xfrm>
            <a:off x="4608000" y="4140000"/>
            <a:ext cx="3600000" cy="208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4734000" y="4413600"/>
            <a:ext cx="32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4881600" y="4266000"/>
            <a:ext cx="32400" cy="32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4752000" y="486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Campaign</a:t>
            </a:r>
          </a:p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Systems</a:t>
            </a:r>
          </a:p>
        </p:txBody>
      </p:sp>
      <p:sp>
        <p:nvSpPr>
          <p:cNvPr id="31" name="TextBox 31"/>
          <p:cNvSpPr/>
          <p:nvPr/>
        </p:nvSpPr>
        <p:spPr>
          <a:xfrm>
            <a:off x="8496000" y="4140000"/>
            <a:ext cx="3600000" cy="208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8622000" y="4413600"/>
            <a:ext cx="32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8769600" y="4266000"/>
            <a:ext cx="32400" cy="32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8640000" y="486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Editorial</a:t>
            </a:r>
          </a:p>
          <a:p>
            <a:r>
              <a:rPr lang="en-US" sz="1600" b="1">
                <a:solidFill>
                  <a:srgbClr val="FFFFFF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35" name="TextBox 35"/>
          <p:cNvSpPr/>
          <p:nvPr/>
        </p:nvSpPr>
        <p:spPr>
          <a:xfrm>
            <a:off x="720000" y="648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SERVICES</a:t>
            </a:r>
          </a:p>
        </p:txBody>
      </p:sp>
      <p:sp>
        <p:nvSpPr>
          <p:cNvPr id="36" name="TextBox 36"/>
          <p:cNvSpPr/>
          <p:nvPr/>
        </p:nvSpPr>
        <p:spPr>
          <a:xfrm>
            <a:off x="720000" y="1008000"/>
            <a:ext cx="10440000" cy="21600"/>
          </a:xfrm>
          <a:prstGeom prst="rect">
            <a:avLst/>
          </a:prstGeom>
          <a:solidFill>
            <a:srgbClr val="6A8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720000" y="1152000"/>
            <a:ext cx="576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Segoe UI Black"/>
                <a:ea typeface="Segoe UI Black"/>
              </a:rPr>
              <a:t>What We Do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F1A12"/>
            </a:gs>
            <a:gs pos="100000">
              <a:srgbClr val="1E2E1A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620000" y="90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032000" y="20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984000" y="648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00000" y="2592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592000" y="486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000000" y="4752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220000" y="38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08000" y="324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spark"/>
          <p:cNvSpPr/>
          <p:nvPr/>
        </p:nvSpPr>
        <p:spPr>
          <a:xfrm>
            <a:off x="684000" y="3405600"/>
            <a:ext cx="50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21600" y="3168000"/>
            <a:ext cx="32400" cy="50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3960000"/>
            <a:ext cx="3600000" cy="244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900000" y="4140000"/>
            <a:ext cx="32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B8FF43"/>
                </a:solidFill>
                <a:latin typeface="Segoe UI Black"/>
                <a:ea typeface="Segoe UI Black"/>
              </a:rPr>
              <a:t>01</a:t>
            </a:r>
          </a:p>
          <a:p>
            <a:r>
              <a:rPr lang="en-US" sz="1400" b="1">
                <a:solidFill>
                  <a:srgbClr val="B8FF43"/>
                </a:solidFill>
                <a:latin typeface="Segoe UI Black"/>
                <a:ea typeface="Segoe UI Black"/>
              </a:rPr>
              <a:t>DISCOVER</a:t>
            </a:r>
          </a:p>
        </p:txBody>
      </p:sp>
      <p:sp>
        <p:nvSpPr>
          <p:cNvPr id="14" name="TextBox 14"/>
          <p:cNvSpPr/>
          <p:nvPr/>
        </p:nvSpPr>
        <p:spPr>
          <a:xfrm>
            <a:off x="900000" y="4968000"/>
            <a:ext cx="32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Brand audit,</a:t>
            </a:r>
          </a:p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stakeholder mapping,</a:t>
            </a:r>
          </a:p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market positioning.</a:t>
            </a:r>
          </a:p>
        </p:txBody>
      </p:sp>
      <p:sp>
        <p:nvSpPr>
          <p:cNvPr id="15" name="TextBox 15"/>
          <p:cNvSpPr/>
          <p:nvPr/>
        </p:nvSpPr>
        <p:spPr>
          <a:xfrm>
            <a:off x="4572000" y="3405600"/>
            <a:ext cx="504000" cy="32400"/>
          </a:xfrm>
          <a:prstGeom prst="rect">
            <a:avLst/>
          </a:prstGeom>
          <a:solidFill>
            <a:srgbClr val="E8D5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4809600" y="3168000"/>
            <a:ext cx="32400" cy="504000"/>
          </a:xfrm>
          <a:prstGeom prst="rect">
            <a:avLst/>
          </a:prstGeom>
          <a:solidFill>
            <a:srgbClr val="E8D5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4608000" y="3960000"/>
            <a:ext cx="3600000" cy="244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4788000" y="4140000"/>
            <a:ext cx="32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E8D5A0"/>
                </a:solidFill>
                <a:latin typeface="Segoe UI Black"/>
                <a:ea typeface="Segoe UI Black"/>
              </a:rPr>
              <a:t>02</a:t>
            </a:r>
          </a:p>
          <a:p>
            <a:r>
              <a:rPr lang="en-US" sz="1400" b="1">
                <a:solidFill>
                  <a:srgbClr val="E8D5A0"/>
                </a:solidFill>
                <a:latin typeface="Segoe UI Black"/>
                <a:ea typeface="Segoe UI Black"/>
              </a:rPr>
              <a:t>CREATE</a:t>
            </a:r>
          </a:p>
        </p:txBody>
      </p:sp>
      <p:sp>
        <p:nvSpPr>
          <p:cNvPr id="19" name="TextBox 19"/>
          <p:cNvSpPr/>
          <p:nvPr/>
        </p:nvSpPr>
        <p:spPr>
          <a:xfrm>
            <a:off x="4788000" y="4968000"/>
            <a:ext cx="32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Visual concept,</a:t>
            </a:r>
          </a:p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prototype decks,</a:t>
            </a:r>
          </a:p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client reviews.</a:t>
            </a:r>
          </a:p>
        </p:txBody>
      </p:sp>
      <p:sp>
        <p:nvSpPr>
          <p:cNvPr id="20" name="TextBox 20"/>
          <p:cNvSpPr/>
          <p:nvPr/>
        </p:nvSpPr>
        <p:spPr>
          <a:xfrm>
            <a:off x="8460000" y="3405600"/>
            <a:ext cx="504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8697600" y="3168000"/>
            <a:ext cx="32400" cy="504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8496000" y="3960000"/>
            <a:ext cx="3600000" cy="2448000"/>
          </a:xfrm>
          <a:prstGeom prst="roundRect">
            <a:avLst/>
          </a:prstGeom>
          <a:solidFill>
            <a:srgbClr val="2530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8676000" y="4140000"/>
            <a:ext cx="32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B8FF43"/>
                </a:solidFill>
                <a:latin typeface="Segoe UI Black"/>
                <a:ea typeface="Segoe UI Black"/>
              </a:rPr>
              <a:t>03</a:t>
            </a:r>
          </a:p>
          <a:p>
            <a:r>
              <a:rPr lang="en-US" sz="1400" b="1">
                <a:solidFill>
                  <a:srgbClr val="B8FF43"/>
                </a:solidFill>
                <a:latin typeface="Segoe UI Black"/>
                <a:ea typeface="Segoe UI Black"/>
              </a:rPr>
              <a:t>DELIVER</a:t>
            </a:r>
          </a:p>
        </p:txBody>
      </p:sp>
      <p:sp>
        <p:nvSpPr>
          <p:cNvPr id="24" name="TextBox 24"/>
          <p:cNvSpPr/>
          <p:nvPr/>
        </p:nvSpPr>
        <p:spPr>
          <a:xfrm>
            <a:off x="8676000" y="4968000"/>
            <a:ext cx="32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Final system,</a:t>
            </a:r>
          </a:p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asset library,</a:t>
            </a:r>
          </a:p>
          <a:p>
            <a:r>
              <a:rPr lang="en-US" sz="1100">
                <a:solidFill>
                  <a:srgbClr val="6A8060"/>
                </a:solidFill>
                <a:latin typeface="Segoe UI"/>
                <a:ea typeface="Segoe UI"/>
              </a:rPr>
              <a:t>launch support.</a:t>
            </a:r>
          </a:p>
        </p:txBody>
      </p:sp>
      <p:sp>
        <p:nvSpPr>
          <p:cNvPr id="25" name="TextBox 25"/>
          <p:cNvSpPr/>
          <p:nvPr/>
        </p:nvSpPr>
        <p:spPr>
          <a:xfrm>
            <a:off x="720000" y="3448800"/>
            <a:ext cx="10440000" cy="21600"/>
          </a:xfrm>
          <a:prstGeom prst="rect">
            <a:avLst/>
          </a:prstGeom>
          <a:solidFill>
            <a:srgbClr val="6A8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720000" y="648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PROCESS</a:t>
            </a:r>
          </a:p>
        </p:txBody>
      </p:sp>
      <p:sp>
        <p:nvSpPr>
          <p:cNvPr id="27" name="TextBox 27"/>
          <p:cNvSpPr/>
          <p:nvPr/>
        </p:nvSpPr>
        <p:spPr>
          <a:xfrm>
            <a:off x="720000" y="1008000"/>
            <a:ext cx="10440000" cy="21600"/>
          </a:xfrm>
          <a:prstGeom prst="rect">
            <a:avLst/>
          </a:prstGeom>
          <a:solidFill>
            <a:srgbClr val="6A8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720000" y="1152000"/>
            <a:ext cx="79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gradFill>
                  <a:gsLst>
                    <a:gs pos="0">
                      <a:srgbClr val="FFFFFF"/>
                    </a:gs>
                    <a:gs pos="100000">
                      <a:srgbClr val="0F1A12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How We Work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F1A12"/>
            </a:gs>
            <a:gs pos="100000">
              <a:srgbClr val="1E2E1A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620000" y="900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032000" y="20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984000" y="648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00000" y="2592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2592000" y="4860000"/>
            <a:ext cx="144000" cy="144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000000" y="4752000"/>
            <a:ext cx="288000" cy="288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220000" y="3888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08000" y="3240000"/>
            <a:ext cx="216000" cy="21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72000" y="1260000"/>
            <a:ext cx="180000" cy="1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32000" y="1980000"/>
            <a:ext cx="252000" cy="252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spark"/>
          <p:cNvSpPr/>
          <p:nvPr/>
        </p:nvSpPr>
        <p:spPr>
          <a:xfrm>
            <a:off x="10620000" y="5205600"/>
            <a:ext cx="720000" cy="324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10962000" y="4860000"/>
            <a:ext cx="32400" cy="720000"/>
          </a:xfrm>
          <a:prstGeom prst="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gradFill>
            <a:gsLst>
              <a:gs pos="0">
                <a:srgbClr val="B8FF43"/>
              </a:gs>
              <a:gs pos="100000">
                <a:srgbClr val="1E2E1A"/>
              </a:gs>
            </a:gsLst>
            <a:lin ang="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720000" y="360000"/>
            <a:ext cx="86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0F1A12"/>
                </a:solidFill>
                <a:latin typeface="Segoe UI Black"/>
                <a:ea typeface="Segoe UI Black"/>
              </a:rPr>
              <a:t>WE ARE FORM / CREATIVE STUDIO</a:t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1980000"/>
            <a:ext cx="10440000" cy="21600"/>
          </a:xfrm>
          <a:prstGeom prst="rect">
            <a:avLst/>
          </a:prstGeom>
          <a:solidFill>
            <a:srgbClr val="6A806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1440000"/>
            <a:ext cx="936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Ready to make</a:t>
            </a:r>
          </a:p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your idea inevitable?</a:t>
            </a:r>
          </a:p>
        </p:txBody>
      </p:sp>
      <p:sp>
        <p:nvSpPr>
          <p:cNvPr id="18" name="TextBox 18"/>
          <p:cNvSpPr/>
          <p:nvPr/>
        </p:nvSpPr>
        <p:spPr>
          <a:xfrm>
            <a:off x="720000" y="4680000"/>
            <a:ext cx="720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E8D5A0"/>
                </a:solidFill>
                <a:latin typeface="Segoe UI"/>
                <a:ea typeface="Segoe UI"/>
              </a:rPr>
              <a:t>We take 4 projects per quarter.</a:t>
            </a:r>
          </a:p>
          <a:p>
            <a:r>
              <a:rPr lang="en-US" sz="1600">
                <a:solidFill>
                  <a:srgbClr val="E8D5A0"/>
                </a:solidFill>
                <a:latin typeface="Segoe UI"/>
                <a:ea typeface="Segoe UI"/>
              </a:rPr>
              <a:t>Spots for Q3 2024 are open.</a:t>
            </a:r>
          </a:p>
        </p:txBody>
      </p:sp>
      <p:sp>
        <p:nvSpPr>
          <p:cNvPr id="19" name="TextBox 19"/>
          <p:cNvSpPr/>
          <p:nvPr/>
        </p:nvSpPr>
        <p:spPr>
          <a:xfrm>
            <a:off x="720000" y="5760000"/>
            <a:ext cx="3600000" cy="900000"/>
          </a:xfrm>
          <a:prstGeom prst="roundRect">
            <a:avLst/>
          </a:prstGeom>
          <a:solidFill>
            <a:srgbClr val="B8FF4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720000" y="5760000"/>
            <a:ext cx="36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F1A12"/>
                </a:solidFill>
                <a:latin typeface="Segoe UI Black"/>
                <a:ea typeface="Segoe UI Black"/>
              </a:rPr>
              <a:t>Let’s Talk →</a:t>
            </a:r>
          </a:p>
        </p:txBody>
      </p:sp>
      <p:sp>
        <p:nvSpPr>
          <p:cNvPr id="21" name="TextBox 21"/>
          <p:cNvSpPr/>
          <p:nvPr/>
        </p:nvSpPr>
        <p:spPr>
          <a:xfrm>
            <a:off x="9360000" y="63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6A8060"/>
                </a:solidFill>
                <a:latin typeface="Segoe UI"/>
                <a:ea typeface="Segoe UI"/>
              </a:rPr>
              <a:t>@prusakova.design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