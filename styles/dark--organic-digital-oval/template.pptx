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4079edf6e644f47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1e68043296564ddf"/>
    <p:sldId id="257" r:id="Rcc4d153513d7401f"/>
    <p:sldId id="258" r:id="R6ff47b4cad4149cf"/>
    <p:sldId id="259" r:id="R0d6737518faa4f50"/>
    <p:sldId id="260" r:id="Rda2b0bfcd2b24ea2"/>
    <p:sldId id="261" r:id="R7523ec214af14574"/>
    <p:sldId id="262" r:id="R6a290c32c8f6469d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1e68043296564ddf" /><Relationship Type="http://schemas.openxmlformats.org/officeDocument/2006/relationships/slide" Target="/ppt/slides/slide2.xml" Id="Rcc4d153513d7401f" /><Relationship Type="http://schemas.openxmlformats.org/officeDocument/2006/relationships/slide" Target="/ppt/slides/slide3.xml" Id="R6ff47b4cad4149cf" /><Relationship Type="http://schemas.openxmlformats.org/officeDocument/2006/relationships/slide" Target="/ppt/slides/slide4.xml" Id="R0d6737518faa4f50" /><Relationship Type="http://schemas.openxmlformats.org/officeDocument/2006/relationships/slide" Target="/ppt/slides/slide5.xml" Id="Rda2b0bfcd2b24ea2" /><Relationship Type="http://schemas.openxmlformats.org/officeDocument/2006/relationships/slide" Target="/ppt/slides/slide6.xml" Id="R7523ec214af14574" /><Relationship Type="http://schemas.openxmlformats.org/officeDocument/2006/relationships/slide" Target="/ppt/slides/slide7.xml" Id="R6a290c32c8f6469d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a26e740a2e436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87126df6754dc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73cd8de894432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4bcc3b94e1417f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2fb21b0028b34a5e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c831aa25864f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f5cdd8e2374e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ab781e399f4b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9a56f774894f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d6d22ee4d14c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c4f09bfc9648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28c70706ee4f0b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D0E11"/>
        </a:solidFill>
      </p:bgPr>
    </p:bg>
    <p:spTree>
      <p:nvGrpSpPr>
        <p:cNvPr id="1" name=""/>
        <p:cNvGrpSpPr/>
        <p:nvPr/>
      </p:nvGrpSpPr>
      <p:grpSpPr/>
      <p:sp>
        <p:nvSpPr>
          <p:cNvPr id="16" name="!!circ-a"/>
          <p:cNvSpPr/>
          <p:nvPr/>
        </p:nvSpPr>
        <p:spPr>
          <a:xfrm>
            <a:off x="6300000" y="0"/>
            <a:ext cx="6480000" cy="6876000"/>
          </a:xfrm>
          <a:prstGeom prst="ellipse">
            <a:avLst/>
          </a:prstGeom>
          <a:solidFill>
            <a:srgbClr val="1F6B38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200">
                <a:solidFill>
                  <a:srgbClr val="FFFFFF"/>
                </a:solidFill>
              </a:rPr>
              <a:t>[ Image ]</a:t>
            </a:r>
          </a:p>
        </p:txBody>
      </p:sp>
      <p:sp>
        <p:nvSpPr>
          <p:cNvPr id="2" name="TextBox 2"/>
          <p:cNvSpPr/>
          <p:nvPr/>
        </p:nvSpPr>
        <p:spPr>
          <a:xfrm>
            <a:off x="7560000" y="360000"/>
            <a:ext cx="5040000" cy="5040000"/>
          </a:xfrm>
          <a:prstGeom prst="ellipse">
            <a:avLst/>
          </a:prstGeom>
          <a:noFill/>
          <a:ln w="19050">
            <a:solidFill>
              <a:srgbClr val="C4FF00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left-bar"/>
          <p:cNvSpPr/>
          <p:nvPr/>
        </p:nvSpPr>
        <p:spPr>
          <a:xfrm>
            <a:off x="234000" y="2340000"/>
            <a:ext cx="64800" cy="2160000"/>
          </a:xfrm>
          <a:prstGeom prst="rect">
            <a:avLst/>
          </a:prstGeom>
          <a:solidFill>
            <a:srgbClr val="C4FF00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11448000" y="180000"/>
            <a:ext cx="648000" cy="25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/>
            <a:r>
              <a:rPr lang="en-US" sz="900">
                <a:solidFill>
                  <a:srgbClr val="6A7888"/>
                </a:solidFill>
              </a:rPr>
              <a:t>01</a:t>
            </a:r>
          </a:p>
        </p:txBody>
      </p:sp>
      <p:sp>
        <p:nvSpPr>
          <p:cNvPr id="5" name="!!accent-dot"/>
          <p:cNvSpPr/>
          <p:nvPr/>
        </p:nvSpPr>
        <p:spPr>
          <a:xfrm>
            <a:off x="576000" y="540000"/>
            <a:ext cx="180000" cy="180000"/>
          </a:xfrm>
          <a:prstGeom prst="ellipse">
            <a:avLst/>
          </a:prstGeom>
          <a:solidFill>
            <a:srgbClr val="C4FF00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576000" y="1080000"/>
            <a:ext cx="5760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7600" b="1">
                <a:solidFill>
                  <a:srgbClr val="FFFFFF"/>
                </a:solidFill>
              </a:rPr>
              <a:t>Digital</a:t>
            </a:r>
          </a:p>
        </p:txBody>
      </p:sp>
      <p:sp>
        <p:nvSpPr>
          <p:cNvPr id="7" name="TextBox 7"/>
          <p:cNvSpPr/>
          <p:nvPr/>
        </p:nvSpPr>
        <p:spPr>
          <a:xfrm>
            <a:off x="576000" y="2160000"/>
            <a:ext cx="5760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7600" b="1">
                <a:solidFill>
                  <a:srgbClr val="FFFFFF"/>
                </a:solidFill>
              </a:rPr>
              <a:t>Streaming</a:t>
            </a:r>
          </a:p>
        </p:txBody>
      </p:sp>
      <p:sp>
        <p:nvSpPr>
          <p:cNvPr id="8" name="TextBox 8"/>
          <p:cNvSpPr/>
          <p:nvPr/>
        </p:nvSpPr>
        <p:spPr>
          <a:xfrm>
            <a:off x="576000" y="3240000"/>
            <a:ext cx="5760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7600" b="1">
                <a:solidFill>
                  <a:srgbClr val="FFFFFF"/>
                </a:solidFill>
              </a:rPr>
              <a:t>Agency</a:t>
            </a:r>
          </a:p>
        </p:txBody>
      </p:sp>
      <p:sp>
        <p:nvSpPr>
          <p:cNvPr id="9" name="TextBox 9"/>
          <p:cNvSpPr/>
          <p:nvPr/>
        </p:nvSpPr>
        <p:spPr>
          <a:xfrm>
            <a:off x="576000" y="4464000"/>
            <a:ext cx="5400000" cy="7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050">
                <a:solidFill>
                  <a:srgbClr val="6A7888"/>
                </a:solidFill>
              </a:rPr>
              <a:t>We help brands grow through digital innovation,</a:t>
            </a:r>
          </a:p>
          <a:p>
            <a:pPr>
              <a:lnSpc>
                <a:spcPct val="150000"/>
              </a:lnSpc>
            </a:pPr>
            <a:r>
              <a:rPr lang="en-US" sz="1050">
                <a:solidFill>
                  <a:srgbClr val="6A7888"/>
                </a:solidFill>
              </a:rPr>
              <a:t>creative content and data-driven strategy.</a:t>
            </a:r>
          </a:p>
        </p:txBody>
      </p:sp>
      <p:sp>
        <p:nvSpPr>
          <p:cNvPr id="10" name="!!cta-btn"/>
          <p:cNvSpPr/>
          <p:nvPr/>
        </p:nvSpPr>
        <p:spPr>
          <a:xfrm>
            <a:off x="576000" y="5400000"/>
            <a:ext cx="1980000" cy="468000"/>
          </a:xfrm>
          <a:prstGeom prst="roundRect">
            <a:avLst/>
          </a:prstGeom>
          <a:solidFill>
            <a:srgbClr val="C4FF00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050" b="1">
                <a:solidFill>
                  <a:srgbClr val="0D0E11"/>
                </a:solidFill>
              </a:rPr>
              <a:t>Submit  →</a:t>
            </a:r>
          </a:p>
        </p:txBody>
      </p:sp>
      <p:cxnSp>
        <p:nvCxnSpPr>
          <p:cNvPr id="13" name="Connector 13"/>
          <p:cNvCxnSpPr/>
          <p:nvPr/>
        </p:nvCxnSpPr>
        <p:spPr>
          <a:xfrm>
            <a:off x="576000" y="6300000"/>
            <a:ext cx="4320000" cy="0"/>
          </a:xfrm>
          <a:prstGeom prst="straightConnector1">
            <a:avLst/>
          </a:prstGeom>
          <a:ln w="12700">
            <a:solidFill>
              <a:srgbClr val="3C404C"/>
            </a:solidFill>
          </a:ln>
        </p:spPr>
      </p:cxnSp>
      <p:sp>
        <p:nvSpPr>
          <p:cNvPr id="14" name="TextBox 14"/>
          <p:cNvSpPr/>
          <p:nvPr/>
        </p:nvSpPr>
        <p:spPr>
          <a:xfrm>
            <a:off x="576000" y="6372000"/>
            <a:ext cx="3600000" cy="23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000" b="1">
                <a:solidFill>
                  <a:srgbClr val="FFFFFF"/>
                </a:solidFill>
              </a:rPr>
              <a:t>Adrian Jonathon</a:t>
            </a:r>
          </a:p>
        </p:txBody>
      </p:sp>
      <p:sp>
        <p:nvSpPr>
          <p:cNvPr id="15" name="TextBox 15"/>
          <p:cNvSpPr/>
          <p:nvPr/>
        </p:nvSpPr>
        <p:spPr>
          <a:xfrm>
            <a:off x="576000" y="6606000"/>
            <a:ext cx="5040000" cy="21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850">
                <a:solidFill>
                  <a:srgbClr val="6A7888"/>
                </a:solidFill>
              </a:rPr>
              <a:t>Creative Director  ·  Digital Agency  ·  Since 2018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0D0E11"/>
        </a:solidFill>
      </p:bgPr>
    </p:bg>
    <p:spTree>
      <p:nvGrpSpPr>
        <p:cNvPr id="1" name=""/>
        <p:cNvGrpSpPr/>
        <p:nvPr/>
      </p:nvGrpSpPr>
      <p:grpSpPr/>
      <p:sp>
        <p:nvSpPr>
          <p:cNvPr id="2" name="!!circ-a"/>
          <p:cNvSpPr/>
          <p:nvPr/>
        </p:nvSpPr>
        <p:spPr>
          <a:xfrm>
            <a:off x="540000" y="1080000"/>
            <a:ext cx="5400000" cy="5400000"/>
          </a:xfrm>
          <a:prstGeom prst="ellipse">
            <a:avLst/>
          </a:prstGeom>
          <a:solidFill>
            <a:srgbClr val="22252E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100">
                <a:solidFill>
                  <a:srgbClr val="FFFFFF"/>
                </a:solidFill>
              </a:rPr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720000" y="1260000"/>
            <a:ext cx="5040000" cy="5040000"/>
          </a:xfrm>
          <a:prstGeom prst="ellipse">
            <a:avLst/>
          </a:prstGeom>
          <a:noFill/>
          <a:ln w="12700">
            <a:solidFill>
              <a:srgbClr val="C4FF00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left-bar"/>
          <p:cNvSpPr/>
          <p:nvPr/>
        </p:nvSpPr>
        <p:spPr>
          <a:xfrm>
            <a:off x="234000" y="2700000"/>
            <a:ext cx="64800" cy="1620000"/>
          </a:xfrm>
          <a:prstGeom prst="rect">
            <a:avLst/>
          </a:prstGeom>
          <a:solidFill>
            <a:srgbClr val="C4FF00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11448000" y="180000"/>
            <a:ext cx="648000" cy="25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/>
            <a:r>
              <a:rPr lang="en-US" sz="900">
                <a:solidFill>
                  <a:srgbClr val="6A7888"/>
                </a:solidFill>
              </a:rPr>
              <a:t>02</a:t>
            </a:r>
          </a:p>
        </p:txBody>
      </p:sp>
      <p:sp>
        <p:nvSpPr>
          <p:cNvPr id="6" name="!!accent-dot"/>
          <p:cNvSpPr/>
          <p:nvPr/>
        </p:nvSpPr>
        <p:spPr>
          <a:xfrm>
            <a:off x="576000" y="540000"/>
            <a:ext cx="180000" cy="180000"/>
          </a:xfrm>
          <a:prstGeom prst="ellipse">
            <a:avLst/>
          </a:prstGeom>
          <a:solidFill>
            <a:srgbClr val="C4FF00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720000" y="1620000"/>
            <a:ext cx="6120000" cy="18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8200" b="1">
                <a:solidFill>
                  <a:srgbClr val="FFFFFF"/>
                </a:solidFill>
              </a:rPr>
              <a:t>Content.</a:t>
            </a:r>
          </a:p>
        </p:txBody>
      </p:sp>
      <p:sp>
        <p:nvSpPr>
          <p:cNvPr id="8" name="TextBox 8"/>
          <p:cNvSpPr/>
          <p:nvPr/>
        </p:nvSpPr>
        <p:spPr>
          <a:xfrm>
            <a:off x="7020000" y="1728000"/>
            <a:ext cx="162000" cy="162000"/>
          </a:xfrm>
          <a:prstGeom prst="ellipse">
            <a:avLst/>
          </a:prstGeom>
          <a:solidFill>
            <a:srgbClr val="C4FF00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7308000" y="1638000"/>
            <a:ext cx="720000" cy="36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800">
                <a:solidFill>
                  <a:srgbClr val="6A7888"/>
                </a:solidFill>
              </a:rPr>
              <a:t>01</a:t>
            </a:r>
          </a:p>
        </p:txBody>
      </p:sp>
      <p:sp>
        <p:nvSpPr>
          <p:cNvPr id="10" name="TextBox 10"/>
          <p:cNvSpPr/>
          <p:nvPr/>
        </p:nvSpPr>
        <p:spPr>
          <a:xfrm>
            <a:off x="8100000" y="1638000"/>
            <a:ext cx="3960000" cy="36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1800">
                <a:solidFill>
                  <a:srgbClr val="FFFFFF"/>
                </a:solidFill>
              </a:rPr>
              <a:t>The Incredible</a:t>
            </a:r>
          </a:p>
        </p:txBody>
      </p:sp>
      <p:sp>
        <p:nvSpPr>
          <p:cNvPr id="11" name="TextBox 11"/>
          <p:cNvSpPr/>
          <p:nvPr/>
        </p:nvSpPr>
        <p:spPr>
          <a:xfrm>
            <a:off x="7020000" y="2376000"/>
            <a:ext cx="162000" cy="162000"/>
          </a:xfrm>
          <a:prstGeom prst="ellipse">
            <a:avLst/>
          </a:prstGeom>
          <a:solidFill>
            <a:srgbClr val="3C404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7308000" y="2286000"/>
            <a:ext cx="720000" cy="36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800">
                <a:solidFill>
                  <a:srgbClr val="6A7888"/>
                </a:solidFill>
              </a:rPr>
              <a:t>02</a:t>
            </a:r>
          </a:p>
        </p:txBody>
      </p:sp>
      <p:sp>
        <p:nvSpPr>
          <p:cNvPr id="13" name="TextBox 13"/>
          <p:cNvSpPr/>
          <p:nvPr/>
        </p:nvSpPr>
        <p:spPr>
          <a:xfrm>
            <a:off x="8100000" y="2286000"/>
            <a:ext cx="3960000" cy="36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1800">
                <a:solidFill>
                  <a:srgbClr val="6A7888"/>
                </a:solidFill>
              </a:rPr>
              <a:t>Agency Summary</a:t>
            </a:r>
          </a:p>
        </p:txBody>
      </p:sp>
      <p:sp>
        <p:nvSpPr>
          <p:cNvPr id="14" name="TextBox 14"/>
          <p:cNvSpPr/>
          <p:nvPr/>
        </p:nvSpPr>
        <p:spPr>
          <a:xfrm>
            <a:off x="7020000" y="3024000"/>
            <a:ext cx="162000" cy="162000"/>
          </a:xfrm>
          <a:prstGeom prst="ellipse">
            <a:avLst/>
          </a:prstGeom>
          <a:solidFill>
            <a:srgbClr val="3C404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TextBox 15"/>
          <p:cNvSpPr/>
          <p:nvPr/>
        </p:nvSpPr>
        <p:spPr>
          <a:xfrm>
            <a:off x="7308000" y="2934000"/>
            <a:ext cx="720000" cy="36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800">
                <a:solidFill>
                  <a:srgbClr val="6A7888"/>
                </a:solidFill>
              </a:rPr>
              <a:t>03</a:t>
            </a:r>
          </a:p>
        </p:txBody>
      </p:sp>
      <p:sp>
        <p:nvSpPr>
          <p:cNvPr id="16" name="TextBox 16"/>
          <p:cNvSpPr/>
          <p:nvPr/>
        </p:nvSpPr>
        <p:spPr>
          <a:xfrm>
            <a:off x="8100000" y="2934000"/>
            <a:ext cx="3960000" cy="36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1800">
                <a:solidFill>
                  <a:srgbClr val="6A7888"/>
                </a:solidFill>
              </a:rPr>
              <a:t>Digital Creative</a:t>
            </a:r>
          </a:p>
        </p:txBody>
      </p:sp>
      <p:sp>
        <p:nvSpPr>
          <p:cNvPr id="17" name="TextBox 17"/>
          <p:cNvSpPr/>
          <p:nvPr/>
        </p:nvSpPr>
        <p:spPr>
          <a:xfrm>
            <a:off x="7020000" y="3672000"/>
            <a:ext cx="162000" cy="162000"/>
          </a:xfrm>
          <a:prstGeom prst="ellipse">
            <a:avLst/>
          </a:prstGeom>
          <a:solidFill>
            <a:srgbClr val="3C404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" name="TextBox 18"/>
          <p:cNvSpPr/>
          <p:nvPr/>
        </p:nvSpPr>
        <p:spPr>
          <a:xfrm>
            <a:off x="7308000" y="3582000"/>
            <a:ext cx="720000" cy="36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800">
                <a:solidFill>
                  <a:srgbClr val="6A7888"/>
                </a:solidFill>
              </a:rPr>
              <a:t>04</a:t>
            </a:r>
          </a:p>
        </p:txBody>
      </p:sp>
      <p:sp>
        <p:nvSpPr>
          <p:cNvPr id="19" name="TextBox 19"/>
          <p:cNvSpPr/>
          <p:nvPr/>
        </p:nvSpPr>
        <p:spPr>
          <a:xfrm>
            <a:off x="8100000" y="3582000"/>
            <a:ext cx="3960000" cy="36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1800">
                <a:solidFill>
                  <a:srgbClr val="6A7888"/>
                </a:solidFill>
              </a:rPr>
              <a:t>Marketplace</a:t>
            </a:r>
          </a:p>
        </p:txBody>
      </p:sp>
      <p:sp>
        <p:nvSpPr>
          <p:cNvPr id="20" name="TextBox 20"/>
          <p:cNvSpPr/>
          <p:nvPr/>
        </p:nvSpPr>
        <p:spPr>
          <a:xfrm>
            <a:off x="7020000" y="4320000"/>
            <a:ext cx="162000" cy="162000"/>
          </a:xfrm>
          <a:prstGeom prst="ellipse">
            <a:avLst/>
          </a:prstGeom>
          <a:solidFill>
            <a:srgbClr val="3C404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" name="TextBox 21"/>
          <p:cNvSpPr/>
          <p:nvPr/>
        </p:nvSpPr>
        <p:spPr>
          <a:xfrm>
            <a:off x="7308000" y="4230000"/>
            <a:ext cx="720000" cy="36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800">
                <a:solidFill>
                  <a:srgbClr val="6A7888"/>
                </a:solidFill>
              </a:rPr>
              <a:t>05</a:t>
            </a:r>
          </a:p>
        </p:txBody>
      </p:sp>
      <p:sp>
        <p:nvSpPr>
          <p:cNvPr id="22" name="TextBox 22"/>
          <p:cNvSpPr/>
          <p:nvPr/>
        </p:nvSpPr>
        <p:spPr>
          <a:xfrm>
            <a:off x="8100000" y="4230000"/>
            <a:ext cx="3960000" cy="36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1800">
                <a:solidFill>
                  <a:srgbClr val="6A7888"/>
                </a:solidFill>
              </a:rPr>
              <a:t>Contact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0D0E11"/>
        </a:solidFill>
      </p:bgPr>
    </p:bg>
    <p:spTree>
      <p:nvGrpSpPr>
        <p:cNvPr id="1" name=""/>
        <p:cNvGrpSpPr/>
        <p:nvPr/>
      </p:nvGrpSpPr>
      <p:grpSpPr/>
      <p:sp>
        <p:nvSpPr>
          <p:cNvPr id="2" name="!!left-bar"/>
          <p:cNvSpPr/>
          <p:nvPr/>
        </p:nvSpPr>
        <p:spPr>
          <a:xfrm>
            <a:off x="234000" y="1980000"/>
            <a:ext cx="64800" cy="1800000"/>
          </a:xfrm>
          <a:prstGeom prst="rect">
            <a:avLst/>
          </a:prstGeom>
          <a:solidFill>
            <a:srgbClr val="C4FF00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11448000" y="180000"/>
            <a:ext cx="648000" cy="25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/>
            <a:r>
              <a:rPr lang="en-US" sz="900">
                <a:solidFill>
                  <a:srgbClr val="6A7888"/>
                </a:solidFill>
              </a:rPr>
              <a:t>03</a:t>
            </a:r>
          </a:p>
        </p:txBody>
      </p:sp>
      <p:sp>
        <p:nvSpPr>
          <p:cNvPr id="4" name="!!accent-dot"/>
          <p:cNvSpPr/>
          <p:nvPr/>
        </p:nvSpPr>
        <p:spPr>
          <a:xfrm>
            <a:off x="576000" y="540000"/>
            <a:ext cx="180000" cy="180000"/>
          </a:xfrm>
          <a:prstGeom prst="ellipse">
            <a:avLst/>
          </a:prstGeom>
          <a:solidFill>
            <a:srgbClr val="C4FF00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circ-a"/>
          <p:cNvSpPr/>
          <p:nvPr/>
        </p:nvSpPr>
        <p:spPr>
          <a:xfrm>
            <a:off x="360000" y="900000"/>
            <a:ext cx="4500000" cy="4500000"/>
          </a:xfrm>
          <a:prstGeom prst="ellipse">
            <a:avLst/>
          </a:prstGeom>
          <a:solidFill>
            <a:srgbClr val="22252E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100">
                <a:solidFill>
                  <a:srgbClr val="FFFFFF"/>
                </a:solidFill>
              </a:rPr>
              <a:t>[ Portrait ]</a:t>
            </a:r>
          </a:p>
        </p:txBody>
      </p:sp>
      <p:sp>
        <p:nvSpPr>
          <p:cNvPr id="6" name="!!circ-b"/>
          <p:cNvSpPr/>
          <p:nvPr/>
        </p:nvSpPr>
        <p:spPr>
          <a:xfrm>
            <a:off x="2700000" y="1800000"/>
            <a:ext cx="3420000" cy="3420000"/>
          </a:xfrm>
          <a:prstGeom prst="ellipse">
            <a:avLst/>
          </a:prstGeom>
          <a:solidFill>
            <a:srgbClr val="4A5560"/>
          </a:solidFill>
          <a:ln w="38100">
            <a:solidFill>
              <a:srgbClr val="C4FF00"/>
            </a:solidFill>
          </a:ln>
        </p:spPr>
        <p:txBody>
          <a:bodyPr anchor="ctr"/>
          <a:lstStyle/>
          <a:p>
            <a:pPr algn="ctr"/>
            <a:r>
              <a:rPr lang="en-US" sz="1100">
                <a:solidFill>
                  <a:srgbClr val="FFFFFF"/>
                </a:solidFill>
              </a:rPr>
              <a:t>[ Image ]</a:t>
            </a:r>
          </a:p>
        </p:txBody>
      </p:sp>
      <p:sp>
        <p:nvSpPr>
          <p:cNvPr id="7" name="!!circ-c"/>
          <p:cNvSpPr/>
          <p:nvPr/>
        </p:nvSpPr>
        <p:spPr>
          <a:xfrm>
            <a:off x="3420000" y="540000"/>
            <a:ext cx="1440000" cy="1440000"/>
          </a:xfrm>
          <a:prstGeom prst="ellipse">
            <a:avLst/>
          </a:prstGeom>
          <a:solidFill>
            <a:srgbClr val="8AAF00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100">
                <a:solidFill>
                  <a:srgbClr val="FFFFFF"/>
                </a:solidFill>
              </a:rPr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3960000" y="900000"/>
            <a:ext cx="360000" cy="360000"/>
          </a:xfrm>
          <a:prstGeom prst="ellipse">
            <a:avLst/>
          </a:prstGeom>
          <a:solidFill>
            <a:srgbClr val="C4FF00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6300000" y="1620000"/>
            <a:ext cx="5580000" cy="21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05000"/>
              </a:lnSpc>
            </a:pPr>
            <a:r>
              <a:rPr lang="en-US" sz="5800" b="1">
                <a:solidFill>
                  <a:srgbClr val="FFFFFF"/>
                </a:solidFill>
              </a:rPr>
              <a:t>Introduction.</a:t>
            </a:r>
          </a:p>
        </p:txBody>
      </p:sp>
      <p:sp>
        <p:nvSpPr>
          <p:cNvPr id="10" name="TextBox 10"/>
          <p:cNvSpPr/>
          <p:nvPr/>
        </p:nvSpPr>
        <p:spPr>
          <a:xfrm>
            <a:off x="6300000" y="3960000"/>
            <a:ext cx="1980000" cy="270000"/>
          </a:xfrm>
          <a:prstGeom prst="roundRect">
            <a:avLst/>
          </a:prstGeom>
          <a:solidFill>
            <a:srgbClr val="C4FF00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850" b="1">
                <a:solidFill>
                  <a:srgbClr val="0D0E11"/>
                </a:solidFill>
              </a:rPr>
              <a:t>Creative Director</a:t>
            </a:r>
          </a:p>
        </p:txBody>
      </p:sp>
      <p:sp>
        <p:nvSpPr>
          <p:cNvPr id="11" name="TextBox 11"/>
          <p:cNvSpPr/>
          <p:nvPr/>
        </p:nvSpPr>
        <p:spPr>
          <a:xfrm>
            <a:off x="6300000" y="4392000"/>
            <a:ext cx="540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 b="1">
                <a:solidFill>
                  <a:srgbClr val="FFFFFF"/>
                </a:solidFill>
              </a:rPr>
              <a:t>Adrian Jonathon</a:t>
            </a:r>
          </a:p>
        </p:txBody>
      </p:sp>
      <p:sp>
        <p:nvSpPr>
          <p:cNvPr id="12" name="TextBox 12"/>
          <p:cNvSpPr/>
          <p:nvPr/>
        </p:nvSpPr>
        <p:spPr>
          <a:xfrm>
            <a:off x="6300000" y="4896000"/>
            <a:ext cx="5580000" cy="12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55000"/>
              </a:lnSpc>
            </a:pPr>
            <a:r>
              <a:rPr lang="en-US" sz="1050">
                <a:solidFill>
                  <a:srgbClr val="6A7888"/>
                </a:solidFill>
              </a:rPr>
              <a:t>A visionary creative director with 10+ years of experience</a:t>
            </a:r>
          </a:p>
          <a:p>
            <a:pPr>
              <a:lnSpc>
                <a:spcPct val="155000"/>
              </a:lnSpc>
            </a:pPr>
            <a:r>
              <a:rPr lang="en-US" sz="1050">
                <a:solidFill>
                  <a:srgbClr val="6A7888"/>
                </a:solidFill>
              </a:rPr>
              <a:t>in digital media, brand strategy and creative production.</a:t>
            </a:r>
          </a:p>
          <a:p>
            <a:pPr>
              <a:lnSpc>
                <a:spcPct val="155000"/>
              </a:lnSpc>
            </a:pPr>
            <a:r>
              <a:rPr lang="en-US" sz="1050">
                <a:solidFill>
                  <a:srgbClr val="6A7888"/>
                </a:solidFill>
              </a:rPr>
              <a:t>Passionate about blending technology with human storytelling.</a:t>
            </a:r>
          </a:p>
        </p:txBody>
      </p:sp>
      <p:cxnSp>
        <p:nvCxnSpPr>
          <p:cNvPr id="15" name="Connector 15"/>
          <p:cNvCxnSpPr/>
          <p:nvPr/>
        </p:nvCxnSpPr>
        <p:spPr>
          <a:xfrm>
            <a:off x="6300000" y="6300000"/>
            <a:ext cx="5400000" cy="0"/>
          </a:xfrm>
          <a:prstGeom prst="straightConnector1">
            <a:avLst/>
          </a:prstGeom>
          <a:ln w="12700">
            <a:solidFill>
              <a:srgbClr val="3C404C"/>
            </a:solidFill>
          </a:ln>
        </p:spPr>
      </p:cxnSp>
      <p:sp>
        <p:nvSpPr>
          <p:cNvPr id="16" name="TextBox 16"/>
          <p:cNvSpPr/>
          <p:nvPr/>
        </p:nvSpPr>
        <p:spPr>
          <a:xfrm>
            <a:off x="6300000" y="6372000"/>
            <a:ext cx="54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900">
                <a:solidFill>
                  <a:srgbClr val="6A7888"/>
                </a:solidFill>
              </a:rPr>
              <a:t>200+ Projects  ·  50+ Clients  ·  15 Awards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0D0E11"/>
        </a:solidFill>
      </p:bgPr>
    </p:bg>
    <p:spTree>
      <p:nvGrpSpPr>
        <p:cNvPr id="1" name=""/>
        <p:cNvGrpSpPr/>
        <p:nvPr/>
      </p:nvGrpSpPr>
      <p:grpSpPr/>
      <p:sp>
        <p:nvSpPr>
          <p:cNvPr id="2" name="!!left-bar"/>
          <p:cNvSpPr/>
          <p:nvPr/>
        </p:nvSpPr>
        <p:spPr>
          <a:xfrm>
            <a:off x="234000" y="1440000"/>
            <a:ext cx="64800" cy="2880000"/>
          </a:xfrm>
          <a:prstGeom prst="rect">
            <a:avLst/>
          </a:prstGeom>
          <a:solidFill>
            <a:srgbClr val="C4FF00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11448000" y="180000"/>
            <a:ext cx="648000" cy="25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/>
            <a:r>
              <a:rPr lang="en-US" sz="900">
                <a:solidFill>
                  <a:srgbClr val="6A7888"/>
                </a:solidFill>
              </a:rPr>
              <a:t>04</a:t>
            </a:r>
          </a:p>
        </p:txBody>
      </p:sp>
      <p:sp>
        <p:nvSpPr>
          <p:cNvPr id="4" name="!!accent-dot"/>
          <p:cNvSpPr/>
          <p:nvPr/>
        </p:nvSpPr>
        <p:spPr>
          <a:xfrm>
            <a:off x="576000" y="540000"/>
            <a:ext cx="180000" cy="180000"/>
          </a:xfrm>
          <a:prstGeom prst="ellipse">
            <a:avLst/>
          </a:prstGeom>
          <a:solidFill>
            <a:srgbClr val="C4FF00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circ-a"/>
          <p:cNvSpPr/>
          <p:nvPr/>
        </p:nvSpPr>
        <p:spPr>
          <a:xfrm>
            <a:off x="6840000" y="1440000"/>
            <a:ext cx="4860000" cy="4860000"/>
          </a:xfrm>
          <a:prstGeom prst="ellipse">
            <a:avLst/>
          </a:prstGeom>
          <a:solidFill>
            <a:srgbClr val="171A20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100">
                <a:solidFill>
                  <a:srgbClr val="FFFFFF"/>
                </a:solidFill>
              </a:rPr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576000" y="720000"/>
            <a:ext cx="5760000" cy="19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08000"/>
              </a:lnSpc>
            </a:pPr>
            <a:r>
              <a:rPr lang="en-US" sz="5200" b="1">
                <a:solidFill>
                  <a:srgbClr val="FFFFFF"/>
                </a:solidFill>
              </a:rPr>
              <a:t>Innovation Marketing</a:t>
            </a:r>
          </a:p>
          <a:p>
            <a:pPr>
              <a:lnSpc>
                <a:spcPct val="108000"/>
              </a:lnSpc>
            </a:pPr>
            <a:r>
              <a:rPr lang="en-US" sz="5200" b="1">
                <a:solidFill>
                  <a:srgbClr val="FFFFFF"/>
                </a:solidFill>
              </a:rPr>
              <a:t>Solution.</a:t>
            </a:r>
          </a:p>
        </p:txBody>
      </p:sp>
      <p:sp>
        <p:nvSpPr>
          <p:cNvPr id="7" name="TextBox 7"/>
          <p:cNvSpPr/>
          <p:nvPr/>
        </p:nvSpPr>
        <p:spPr>
          <a:xfrm>
            <a:off x="576000" y="2988000"/>
            <a:ext cx="2340000" cy="900000"/>
          </a:xfrm>
          <a:prstGeom prst="roundRect">
            <a:avLst/>
          </a:prstGeom>
          <a:solidFill>
            <a:srgbClr val="C4FF00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576000" y="2988000"/>
            <a:ext cx="2340000" cy="9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5200" b="1">
                <a:solidFill>
                  <a:srgbClr val="0D0E11"/>
                </a:solidFill>
              </a:rPr>
              <a:t>$37M</a:t>
            </a:r>
          </a:p>
        </p:txBody>
      </p:sp>
      <p:sp>
        <p:nvSpPr>
          <p:cNvPr id="9" name="TextBox 9"/>
          <p:cNvSpPr/>
          <p:nvPr/>
        </p:nvSpPr>
        <p:spPr>
          <a:xfrm>
            <a:off x="3060000" y="3060000"/>
            <a:ext cx="3240000" cy="7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300" b="1">
                <a:solidFill>
                  <a:srgbClr val="FFFFFF"/>
                </a:solidFill>
              </a:rPr>
              <a:t>Mobile App</a:t>
            </a:r>
          </a:p>
          <a:p>
            <a:pPr>
              <a:lnSpc>
                <a:spcPct val="130000"/>
              </a:lnSpc>
            </a:pPr>
            <a:r>
              <a:rPr lang="en-US" sz="1300" b="1">
                <a:solidFill>
                  <a:srgbClr val="FFFFFF"/>
                </a:solidFill>
              </a:rPr>
              <a:t>Development</a:t>
            </a:r>
          </a:p>
        </p:txBody>
      </p:sp>
      <p:sp>
        <p:nvSpPr>
          <p:cNvPr id="10" name="TextBox 10"/>
          <p:cNvSpPr/>
          <p:nvPr/>
        </p:nvSpPr>
        <p:spPr>
          <a:xfrm>
            <a:off x="3060000" y="3996000"/>
            <a:ext cx="4320000" cy="144000"/>
          </a:xfrm>
          <a:prstGeom prst="rect">
            <a:avLst/>
          </a:prstGeom>
          <a:solidFill>
            <a:srgbClr val="3C404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3060000" y="3996000"/>
            <a:ext cx="3420000" cy="144000"/>
          </a:xfrm>
          <a:prstGeom prst="rect">
            <a:avLst/>
          </a:prstGeom>
          <a:solidFill>
            <a:srgbClr val="C4FF00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7560000" y="3852000"/>
            <a:ext cx="900000" cy="3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950">
                <a:solidFill>
                  <a:srgbClr val="C4FF00"/>
                </a:solidFill>
              </a:rPr>
              <a:t>79%</a:t>
            </a:r>
          </a:p>
        </p:txBody>
      </p:sp>
      <p:sp>
        <p:nvSpPr>
          <p:cNvPr id="13" name="TextBox 13"/>
          <p:cNvSpPr/>
          <p:nvPr/>
        </p:nvSpPr>
        <p:spPr>
          <a:xfrm>
            <a:off x="576000" y="4320000"/>
            <a:ext cx="2340000" cy="900000"/>
          </a:xfrm>
          <a:prstGeom prst="roundRect">
            <a:avLst/>
          </a:prstGeom>
          <a:solidFill>
            <a:srgbClr val="22252E"/>
          </a:solidFill>
          <a:ln w="19050">
            <a:solidFill>
              <a:srgbClr val="C4FF00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TextBox 14"/>
          <p:cNvSpPr/>
          <p:nvPr/>
        </p:nvSpPr>
        <p:spPr>
          <a:xfrm>
            <a:off x="576000" y="4320000"/>
            <a:ext cx="2340000" cy="9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5200" b="1">
                <a:solidFill>
                  <a:srgbClr val="C4FF00"/>
                </a:solidFill>
              </a:rPr>
              <a:t>+87%</a:t>
            </a:r>
          </a:p>
        </p:txBody>
      </p:sp>
      <p:sp>
        <p:nvSpPr>
          <p:cNvPr id="15" name="TextBox 15"/>
          <p:cNvSpPr/>
          <p:nvPr/>
        </p:nvSpPr>
        <p:spPr>
          <a:xfrm>
            <a:off x="3060000" y="4392000"/>
            <a:ext cx="3240000" cy="7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1300" b="1">
                <a:solidFill>
                  <a:srgbClr val="FFFFFF"/>
                </a:solidFill>
              </a:rPr>
              <a:t>Digital</a:t>
            </a:r>
          </a:p>
          <a:p>
            <a:pPr>
              <a:lnSpc>
                <a:spcPct val="130000"/>
              </a:lnSpc>
            </a:pPr>
            <a:r>
              <a:rPr lang="en-US" sz="1300" b="1">
                <a:solidFill>
                  <a:srgbClr val="FFFFFF"/>
                </a:solidFill>
              </a:rPr>
              <a:t>Marketing</a:t>
            </a:r>
          </a:p>
        </p:txBody>
      </p:sp>
      <p:sp>
        <p:nvSpPr>
          <p:cNvPr id="16" name="TextBox 16"/>
          <p:cNvSpPr/>
          <p:nvPr/>
        </p:nvSpPr>
        <p:spPr>
          <a:xfrm>
            <a:off x="3060000" y="5328000"/>
            <a:ext cx="4320000" cy="144000"/>
          </a:xfrm>
          <a:prstGeom prst="rect">
            <a:avLst/>
          </a:prstGeom>
          <a:solidFill>
            <a:srgbClr val="3C404C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TextBox 17"/>
          <p:cNvSpPr/>
          <p:nvPr/>
        </p:nvSpPr>
        <p:spPr>
          <a:xfrm>
            <a:off x="3060000" y="5328000"/>
            <a:ext cx="3744000" cy="144000"/>
          </a:xfrm>
          <a:prstGeom prst="rect">
            <a:avLst/>
          </a:prstGeom>
          <a:solidFill>
            <a:srgbClr val="C4FF00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" name="TextBox 18"/>
          <p:cNvSpPr/>
          <p:nvPr/>
        </p:nvSpPr>
        <p:spPr>
          <a:xfrm>
            <a:off x="7560000" y="5184000"/>
            <a:ext cx="900000" cy="3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950">
                <a:solidFill>
                  <a:srgbClr val="C4FF00"/>
                </a:solidFill>
              </a:rPr>
              <a:t>87%</a:t>
            </a:r>
          </a:p>
        </p:txBody>
      </p:sp>
      <p:sp>
        <p:nvSpPr>
          <p:cNvPr id="19" name="TextBox 19"/>
          <p:cNvSpPr/>
          <p:nvPr/>
        </p:nvSpPr>
        <p:spPr>
          <a:xfrm>
            <a:off x="576000" y="5940000"/>
            <a:ext cx="1980000" cy="270000"/>
          </a:xfrm>
          <a:prstGeom prst="roundRect">
            <a:avLst/>
          </a:prstGeom>
          <a:solidFill>
            <a:srgbClr val="C4FF00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850" b="1">
                <a:solidFill>
                  <a:srgbClr val="0D0E11"/>
                </a:solidFill>
              </a:rPr>
              <a:t>App Development</a:t>
            </a:r>
          </a:p>
        </p:txBody>
      </p:sp>
      <p:sp>
        <p:nvSpPr>
          <p:cNvPr id="20" name="TextBox 20"/>
          <p:cNvSpPr/>
          <p:nvPr/>
        </p:nvSpPr>
        <p:spPr>
          <a:xfrm>
            <a:off x="2700000" y="5940000"/>
            <a:ext cx="1980000" cy="270000"/>
          </a:xfrm>
          <a:prstGeom prst="roundRect">
            <a:avLst/>
          </a:prstGeom>
          <a:solidFill>
            <a:srgbClr val="C4FF00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850" b="1">
                <a:solidFill>
                  <a:srgbClr val="0D0E11"/>
                </a:solidFill>
              </a:rPr>
              <a:t>Digital Strategy</a:t>
            </a:r>
          </a:p>
        </p:txBody>
      </p:sp>
      <p:sp>
        <p:nvSpPr>
          <p:cNvPr id="21" name="!!cta-btn"/>
          <p:cNvSpPr/>
          <p:nvPr/>
        </p:nvSpPr>
        <p:spPr>
          <a:xfrm>
            <a:off x="4860000" y="5940000"/>
            <a:ext cx="1980000" cy="432000"/>
          </a:xfrm>
          <a:prstGeom prst="roundRect">
            <a:avLst/>
          </a:prstGeom>
          <a:solidFill>
            <a:srgbClr val="C4FF00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0D0E11"/>
                </a:solidFill>
              </a:rPr>
              <a:t>View Report  →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0D0E11"/>
        </a:solidFill>
      </p:bgPr>
    </p:bg>
    <p:spTree>
      <p:nvGrpSpPr>
        <p:cNvPr id="1" name=""/>
        <p:cNvGrpSpPr/>
        <p:nvPr/>
      </p:nvGrpSpPr>
      <p:grpSpPr/>
      <p:sp>
        <p:nvSpPr>
          <p:cNvPr id="2" name="!!left-bar"/>
          <p:cNvSpPr/>
          <p:nvPr/>
        </p:nvSpPr>
        <p:spPr>
          <a:xfrm>
            <a:off x="234000" y="1980000"/>
            <a:ext cx="64800" cy="2520000"/>
          </a:xfrm>
          <a:prstGeom prst="rect">
            <a:avLst/>
          </a:prstGeom>
          <a:solidFill>
            <a:srgbClr val="C4FF00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11448000" y="180000"/>
            <a:ext cx="648000" cy="25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/>
            <a:r>
              <a:rPr lang="en-US" sz="900">
                <a:solidFill>
                  <a:srgbClr val="6A7888"/>
                </a:solidFill>
              </a:rPr>
              <a:t>05</a:t>
            </a:r>
          </a:p>
        </p:txBody>
      </p:sp>
      <p:sp>
        <p:nvSpPr>
          <p:cNvPr id="4" name="!!accent-dot"/>
          <p:cNvSpPr/>
          <p:nvPr/>
        </p:nvSpPr>
        <p:spPr>
          <a:xfrm>
            <a:off x="576000" y="540000"/>
            <a:ext cx="180000" cy="180000"/>
          </a:xfrm>
          <a:prstGeom prst="ellipse">
            <a:avLst/>
          </a:prstGeom>
          <a:solidFill>
            <a:srgbClr val="C4FF00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circ-a"/>
          <p:cNvSpPr/>
          <p:nvPr/>
        </p:nvSpPr>
        <p:spPr>
          <a:xfrm>
            <a:off x="540000" y="1260000"/>
            <a:ext cx="4680000" cy="4680000"/>
          </a:xfrm>
          <a:prstGeom prst="ellipse">
            <a:avLst/>
          </a:prstGeom>
          <a:solidFill>
            <a:srgbClr val="22252E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100">
                <a:solidFill>
                  <a:srgbClr val="FFFFFF"/>
                </a:solidFill>
              </a:rPr>
              <a:t/>
            </a:r>
          </a:p>
        </p:txBody>
      </p:sp>
      <p:sp>
        <p:nvSpPr>
          <p:cNvPr id="6" name="!!circ-b"/>
          <p:cNvSpPr/>
          <p:nvPr/>
        </p:nvSpPr>
        <p:spPr>
          <a:xfrm>
            <a:off x="1980000" y="720000"/>
            <a:ext cx="3420000" cy="3420000"/>
          </a:xfrm>
          <a:prstGeom prst="ellipse">
            <a:avLst/>
          </a:prstGeom>
          <a:solidFill>
            <a:srgbClr val="2D3140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100">
                <a:solidFill>
                  <a:srgbClr val="FFFFFF"/>
                </a:solidFill>
              </a:rPr>
              <a:t>[ Investor ]</a:t>
            </a:r>
          </a:p>
        </p:txBody>
      </p:sp>
      <p:sp>
        <p:nvSpPr>
          <p:cNvPr id="7" name="!!circ-c"/>
          <p:cNvSpPr/>
          <p:nvPr/>
        </p:nvSpPr>
        <p:spPr>
          <a:xfrm>
            <a:off x="180000" y="2700000"/>
            <a:ext cx="2880000" cy="2880000"/>
          </a:xfrm>
          <a:prstGeom prst="ellipse">
            <a:avLst/>
          </a:prstGeom>
          <a:solidFill>
            <a:srgbClr val="171A20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100">
                <a:solidFill>
                  <a:srgbClr val="FFFFFF"/>
                </a:solidFill>
              </a:rPr>
              <a:t>[ Support ]</a:t>
            </a:r>
          </a:p>
        </p:txBody>
      </p:sp>
      <p:sp>
        <p:nvSpPr>
          <p:cNvPr id="8" name="TextBox 8"/>
          <p:cNvSpPr/>
          <p:nvPr/>
        </p:nvSpPr>
        <p:spPr>
          <a:xfrm>
            <a:off x="3060000" y="2700000"/>
            <a:ext cx="2340000" cy="2340000"/>
          </a:xfrm>
          <a:prstGeom prst="ellipse">
            <a:avLst/>
          </a:prstGeom>
          <a:solidFill>
            <a:srgbClr val="8AAF00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000">
                <a:solidFill>
                  <a:srgbClr val="FFFFFF"/>
                </a:solidFill>
              </a:rPr>
              <a:t>[ Analysis ]</a:t>
            </a:r>
          </a:p>
        </p:txBody>
      </p:sp>
      <p:sp>
        <p:nvSpPr>
          <p:cNvPr id="9" name="TextBox 9"/>
          <p:cNvSpPr/>
          <p:nvPr/>
        </p:nvSpPr>
        <p:spPr>
          <a:xfrm>
            <a:off x="2340000" y="432000"/>
            <a:ext cx="1800000" cy="28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100" b="1">
                <a:solidFill>
                  <a:srgbClr val="FFFFFF"/>
                </a:solidFill>
              </a:rPr>
              <a:t>Investor</a:t>
            </a:r>
          </a:p>
        </p:txBody>
      </p:sp>
      <p:sp>
        <p:nvSpPr>
          <p:cNvPr id="10" name="TextBox 10"/>
          <p:cNvSpPr/>
          <p:nvPr/>
        </p:nvSpPr>
        <p:spPr>
          <a:xfrm>
            <a:off x="180000" y="5580000"/>
            <a:ext cx="1800000" cy="28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100" b="1">
                <a:solidFill>
                  <a:srgbClr val="FFFFFF"/>
                </a:solidFill>
              </a:rPr>
              <a:t>Support</a:t>
            </a:r>
          </a:p>
        </p:txBody>
      </p:sp>
      <p:sp>
        <p:nvSpPr>
          <p:cNvPr id="11" name="TextBox 11"/>
          <p:cNvSpPr/>
          <p:nvPr/>
        </p:nvSpPr>
        <p:spPr>
          <a:xfrm>
            <a:off x="3060000" y="5220000"/>
            <a:ext cx="1800000" cy="28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100" b="1">
                <a:solidFill>
                  <a:srgbClr val="C4FF00"/>
                </a:solidFill>
              </a:rPr>
              <a:t>Analysis</a:t>
            </a:r>
          </a:p>
        </p:txBody>
      </p:sp>
      <p:sp>
        <p:nvSpPr>
          <p:cNvPr id="12" name="TextBox 12"/>
          <p:cNvSpPr/>
          <p:nvPr/>
        </p:nvSpPr>
        <p:spPr>
          <a:xfrm>
            <a:off x="3528000" y="1008000"/>
            <a:ext cx="360000" cy="360000"/>
          </a:xfrm>
          <a:prstGeom prst="ellipse">
            <a:avLst/>
          </a:prstGeom>
          <a:solidFill>
            <a:srgbClr val="C4FF00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6300000" y="1260000"/>
            <a:ext cx="5400000" cy="32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08000"/>
              </a:lnSpc>
            </a:pPr>
            <a:r>
              <a:rPr lang="en-US" sz="5800" b="1">
                <a:solidFill>
                  <a:srgbClr val="FFFFFF"/>
                </a:solidFill>
              </a:rPr>
              <a:t>We Unlock</a:t>
            </a:r>
          </a:p>
          <a:p>
            <a:pPr>
              <a:lnSpc>
                <a:spcPct val="108000"/>
              </a:lnSpc>
            </a:pPr>
            <a:r>
              <a:rPr lang="en-US" sz="5800" b="1">
                <a:solidFill>
                  <a:srgbClr val="FFFFFF"/>
                </a:solidFill>
              </a:rPr>
              <a:t>The</a:t>
            </a:r>
          </a:p>
          <a:p>
            <a:pPr>
              <a:lnSpc>
                <a:spcPct val="108000"/>
              </a:lnSpc>
            </a:pPr>
            <a:r>
              <a:rPr lang="en-US" sz="5800" b="1">
                <a:solidFill>
                  <a:srgbClr val="FFFFFF"/>
                </a:solidFill>
              </a:rPr>
              <a:t>Potential.</a:t>
            </a:r>
          </a:p>
        </p:txBody>
      </p:sp>
      <p:sp>
        <p:nvSpPr>
          <p:cNvPr id="14" name="TextBox 14"/>
          <p:cNvSpPr/>
          <p:nvPr/>
        </p:nvSpPr>
        <p:spPr>
          <a:xfrm>
            <a:off x="6300000" y="4752000"/>
            <a:ext cx="5400000" cy="79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050">
                <a:solidFill>
                  <a:srgbClr val="6A7888"/>
                </a:solidFill>
              </a:rPr>
              <a:t>Connecting investors, support networks and data</a:t>
            </a:r>
          </a:p>
          <a:p>
            <a:pPr>
              <a:lnSpc>
                <a:spcPct val="150000"/>
              </a:lnSpc>
            </a:pPr>
            <a:r>
              <a:rPr lang="en-US" sz="1050">
                <a:solidFill>
                  <a:srgbClr val="6A7888"/>
                </a:solidFill>
              </a:rPr>
              <a:t>analysis to drive exponential business growth.</a:t>
            </a:r>
          </a:p>
        </p:txBody>
      </p:sp>
      <p:sp>
        <p:nvSpPr>
          <p:cNvPr id="15" name="!!cta-btn"/>
          <p:cNvSpPr/>
          <p:nvPr/>
        </p:nvSpPr>
        <p:spPr>
          <a:xfrm>
            <a:off x="6300000" y="5688000"/>
            <a:ext cx="1980000" cy="468000"/>
          </a:xfrm>
          <a:prstGeom prst="roundRect">
            <a:avLst/>
          </a:prstGeom>
          <a:solidFill>
            <a:srgbClr val="C4FF00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050" b="1">
                <a:solidFill>
                  <a:srgbClr val="0D0E11"/>
                </a:solidFill>
              </a:rPr>
              <a:t>Learn More  →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0D0E11"/>
        </a:solidFill>
      </p:bgPr>
    </p:bg>
    <p:spTree>
      <p:nvGrpSpPr>
        <p:cNvPr id="1" name=""/>
        <p:cNvGrpSpPr/>
        <p:nvPr/>
      </p:nvGrpSpPr>
      <p:grpSpPr/>
      <p:sp>
        <p:nvSpPr>
          <p:cNvPr id="2" name="!!left-bar"/>
          <p:cNvSpPr/>
          <p:nvPr/>
        </p:nvSpPr>
        <p:spPr>
          <a:xfrm>
            <a:off x="234000" y="1080000"/>
            <a:ext cx="64800" cy="1620000"/>
          </a:xfrm>
          <a:prstGeom prst="rect">
            <a:avLst/>
          </a:prstGeom>
          <a:solidFill>
            <a:srgbClr val="C4FF00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11448000" y="180000"/>
            <a:ext cx="648000" cy="25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/>
            <a:r>
              <a:rPr lang="en-US" sz="900">
                <a:solidFill>
                  <a:srgbClr val="6A7888"/>
                </a:solidFill>
              </a:rPr>
              <a:t>06</a:t>
            </a:r>
          </a:p>
        </p:txBody>
      </p:sp>
      <p:sp>
        <p:nvSpPr>
          <p:cNvPr id="4" name="!!accent-dot"/>
          <p:cNvSpPr/>
          <p:nvPr/>
        </p:nvSpPr>
        <p:spPr>
          <a:xfrm>
            <a:off x="576000" y="540000"/>
            <a:ext cx="180000" cy="180000"/>
          </a:xfrm>
          <a:prstGeom prst="ellipse">
            <a:avLst/>
          </a:prstGeom>
          <a:solidFill>
            <a:srgbClr val="C4FF00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576000" y="540000"/>
            <a:ext cx="7920000" cy="18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08000"/>
              </a:lnSpc>
            </a:pPr>
            <a:r>
              <a:rPr lang="en-US" sz="5400" b="1">
                <a:solidFill>
                  <a:srgbClr val="FFFFFF"/>
                </a:solidFill>
              </a:rPr>
              <a:t>Let's Look Our</a:t>
            </a:r>
          </a:p>
          <a:p>
            <a:pPr>
              <a:lnSpc>
                <a:spcPct val="108000"/>
              </a:lnSpc>
            </a:pPr>
            <a:r>
              <a:rPr lang="en-US" sz="5400" b="1">
                <a:solidFill>
                  <a:srgbClr val="FFFFFF"/>
                </a:solidFill>
              </a:rPr>
              <a:t>Recent Project.</a:t>
            </a:r>
          </a:p>
        </p:txBody>
      </p:sp>
      <p:sp>
        <p:nvSpPr>
          <p:cNvPr id="6" name="!!circ-a"/>
          <p:cNvSpPr/>
          <p:nvPr/>
        </p:nvSpPr>
        <p:spPr>
          <a:xfrm>
            <a:off x="360000" y="2160000"/>
            <a:ext cx="4140000" cy="4140000"/>
          </a:xfrm>
          <a:prstGeom prst="ellipse">
            <a:avLst/>
          </a:prstGeom>
          <a:solidFill>
            <a:srgbClr val="7A2055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100">
                <a:solidFill>
                  <a:srgbClr val="FFFFFF"/>
                </a:solidFill>
              </a:rPr>
              <a:t>[ Graphic Art Work ]</a:t>
            </a:r>
          </a:p>
        </p:txBody>
      </p:sp>
      <p:sp>
        <p:nvSpPr>
          <p:cNvPr id="7" name="!!circ-b"/>
          <p:cNvSpPr/>
          <p:nvPr/>
        </p:nvSpPr>
        <p:spPr>
          <a:xfrm>
            <a:off x="2880000" y="1980000"/>
            <a:ext cx="4140000" cy="4140000"/>
          </a:xfrm>
          <a:prstGeom prst="ellipse">
            <a:avLst/>
          </a:prstGeom>
          <a:solidFill>
            <a:srgbClr val="1A6070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100">
                <a:solidFill>
                  <a:srgbClr val="FFFFFF"/>
                </a:solidFill>
              </a:rPr>
              <a:t>[ Commercial Product ]</a:t>
            </a:r>
          </a:p>
        </p:txBody>
      </p:sp>
      <p:sp>
        <p:nvSpPr>
          <p:cNvPr id="8" name="!!circ-c"/>
          <p:cNvSpPr/>
          <p:nvPr/>
        </p:nvSpPr>
        <p:spPr>
          <a:xfrm>
            <a:off x="5580000" y="2340000"/>
            <a:ext cx="4140000" cy="4140000"/>
          </a:xfrm>
          <a:prstGeom prst="ellipse">
            <a:avLst/>
          </a:prstGeom>
          <a:solidFill>
            <a:srgbClr val="1A3870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100">
                <a:solidFill>
                  <a:srgbClr val="FFFFFF"/>
                </a:solidFill>
              </a:rPr>
              <a:t>[ Sky Photography ]</a:t>
            </a:r>
          </a:p>
        </p:txBody>
      </p:sp>
      <p:sp>
        <p:nvSpPr>
          <p:cNvPr id="9" name="TextBox 9"/>
          <p:cNvSpPr/>
          <p:nvPr/>
        </p:nvSpPr>
        <p:spPr>
          <a:xfrm>
            <a:off x="2952000" y="2052000"/>
            <a:ext cx="3996000" cy="3996000"/>
          </a:xfrm>
          <a:prstGeom prst="ellipse">
            <a:avLst/>
          </a:prstGeom>
          <a:noFill/>
          <a:ln w="25400">
            <a:solidFill>
              <a:srgbClr val="C4FF00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648000" y="6156000"/>
            <a:ext cx="144000" cy="144000"/>
          </a:xfrm>
          <a:prstGeom prst="ellipse">
            <a:avLst/>
          </a:prstGeom>
          <a:solidFill>
            <a:srgbClr val="C4FF00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900000" y="6120000"/>
            <a:ext cx="2880000" cy="288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1050">
                <a:solidFill>
                  <a:srgbClr val="FFFFFF"/>
                </a:solidFill>
              </a:rPr>
              <a:t>Graphic Art Work</a:t>
            </a:r>
          </a:p>
        </p:txBody>
      </p:sp>
      <p:sp>
        <p:nvSpPr>
          <p:cNvPr id="12" name="TextBox 12"/>
          <p:cNvSpPr/>
          <p:nvPr/>
        </p:nvSpPr>
        <p:spPr>
          <a:xfrm>
            <a:off x="3420000" y="6156000"/>
            <a:ext cx="144000" cy="144000"/>
          </a:xfrm>
          <a:prstGeom prst="ellipse">
            <a:avLst/>
          </a:prstGeom>
          <a:solidFill>
            <a:srgbClr val="6A7888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3672000" y="6120000"/>
            <a:ext cx="2880000" cy="288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1050">
                <a:solidFill>
                  <a:srgbClr val="6A7888"/>
                </a:solidFill>
              </a:rPr>
              <a:t>Commercial Product</a:t>
            </a:r>
          </a:p>
        </p:txBody>
      </p:sp>
      <p:sp>
        <p:nvSpPr>
          <p:cNvPr id="14" name="TextBox 14"/>
          <p:cNvSpPr/>
          <p:nvPr/>
        </p:nvSpPr>
        <p:spPr>
          <a:xfrm>
            <a:off x="6300000" y="6156000"/>
            <a:ext cx="144000" cy="144000"/>
          </a:xfrm>
          <a:prstGeom prst="ellipse">
            <a:avLst/>
          </a:prstGeom>
          <a:solidFill>
            <a:srgbClr val="6A7888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TextBox 15"/>
          <p:cNvSpPr/>
          <p:nvPr/>
        </p:nvSpPr>
        <p:spPr>
          <a:xfrm>
            <a:off x="6552000" y="6120000"/>
            <a:ext cx="2880000" cy="288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1050">
                <a:solidFill>
                  <a:srgbClr val="6A7888"/>
                </a:solidFill>
              </a:rPr>
              <a:t>Sky Photography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0D0E11"/>
        </a:solidFill>
      </p:bgPr>
    </p:bg>
    <p:spTree>
      <p:nvGrpSpPr>
        <p:cNvPr id="1" name=""/>
        <p:cNvGrpSpPr/>
        <p:nvPr/>
      </p:nvGrpSpPr>
      <p:grpSpPr/>
      <p:sp>
        <p:nvSpPr>
          <p:cNvPr id="2" name="!!left-bar"/>
          <p:cNvSpPr/>
          <p:nvPr/>
        </p:nvSpPr>
        <p:spPr>
          <a:xfrm>
            <a:off x="234000" y="1620000"/>
            <a:ext cx="64800" cy="2880000"/>
          </a:xfrm>
          <a:prstGeom prst="rect">
            <a:avLst/>
          </a:prstGeom>
          <a:solidFill>
            <a:srgbClr val="C4FF00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11448000" y="180000"/>
            <a:ext cx="648000" cy="25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/>
            <a:r>
              <a:rPr lang="en-US" sz="900">
                <a:solidFill>
                  <a:srgbClr val="6A7888"/>
                </a:solidFill>
              </a:rPr>
              <a:t>07</a:t>
            </a:r>
          </a:p>
        </p:txBody>
      </p:sp>
      <p:sp>
        <p:nvSpPr>
          <p:cNvPr id="4" name="!!accent-dot"/>
          <p:cNvSpPr/>
          <p:nvPr/>
        </p:nvSpPr>
        <p:spPr>
          <a:xfrm>
            <a:off x="576000" y="540000"/>
            <a:ext cx="180000" cy="180000"/>
          </a:xfrm>
          <a:prstGeom prst="ellipse">
            <a:avLst/>
          </a:prstGeom>
          <a:solidFill>
            <a:srgbClr val="C4FF00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circ-a"/>
          <p:cNvSpPr/>
          <p:nvPr/>
        </p:nvSpPr>
        <p:spPr>
          <a:xfrm>
            <a:off x="6480000" y="360000"/>
            <a:ext cx="5580000" cy="5580000"/>
          </a:xfrm>
          <a:prstGeom prst="ellipse">
            <a:avLst/>
          </a:prstGeom>
          <a:solidFill>
            <a:srgbClr val="2A3540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100">
                <a:solidFill>
                  <a:srgbClr val="FFFFFF"/>
                </a:solidFill>
              </a:rPr>
              <a:t>[ Interior Image ]</a:t>
            </a:r>
          </a:p>
        </p:txBody>
      </p:sp>
      <p:sp>
        <p:nvSpPr>
          <p:cNvPr id="6" name="TextBox 6"/>
          <p:cNvSpPr/>
          <p:nvPr/>
        </p:nvSpPr>
        <p:spPr>
          <a:xfrm>
            <a:off x="6588000" y="468000"/>
            <a:ext cx="5364000" cy="5364000"/>
          </a:xfrm>
          <a:prstGeom prst="ellipse">
            <a:avLst/>
          </a:prstGeom>
          <a:noFill/>
          <a:ln w="25400">
            <a:solidFill>
              <a:srgbClr val="C4FF00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576000" y="900000"/>
            <a:ext cx="5580000" cy="25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08000"/>
              </a:lnSpc>
            </a:pPr>
            <a:r>
              <a:rPr lang="en-US" sz="5400" b="1">
                <a:solidFill>
                  <a:srgbClr val="FFFFFF"/>
                </a:solidFill>
              </a:rPr>
              <a:t>Join &amp; Let's</a:t>
            </a:r>
          </a:p>
          <a:p>
            <a:pPr>
              <a:lnSpc>
                <a:spcPct val="108000"/>
              </a:lnSpc>
            </a:pPr>
            <a:r>
              <a:rPr lang="en-US" sz="5400" b="1">
                <a:solidFill>
                  <a:srgbClr val="FFFFFF"/>
                </a:solidFill>
              </a:rPr>
              <a:t>Work Together.</a:t>
            </a:r>
          </a:p>
        </p:txBody>
      </p:sp>
      <p:sp>
        <p:nvSpPr>
          <p:cNvPr id="8" name="TextBox 8"/>
          <p:cNvSpPr/>
          <p:nvPr/>
        </p:nvSpPr>
        <p:spPr>
          <a:xfrm>
            <a:off x="576000" y="3600000"/>
            <a:ext cx="5580000" cy="9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55000"/>
              </a:lnSpc>
            </a:pPr>
            <a:r>
              <a:rPr lang="en-US" sz="1100">
                <a:solidFill>
                  <a:srgbClr val="6A7888"/>
                </a:solidFill>
              </a:rPr>
              <a:t>Ready to take your brand to the next level?</a:t>
            </a:r>
          </a:p>
          <a:p>
            <a:pPr>
              <a:lnSpc>
                <a:spcPct val="155000"/>
              </a:lnSpc>
            </a:pPr>
            <a:r>
              <a:rPr lang="en-US" sz="1100">
                <a:solidFill>
                  <a:srgbClr val="6A7888"/>
                </a:solidFill>
              </a:rPr>
              <a:t>Let's create something extraordinary together.</a:t>
            </a:r>
          </a:p>
        </p:txBody>
      </p:sp>
      <p:sp>
        <p:nvSpPr>
          <p:cNvPr id="9" name="!!cta-btn"/>
          <p:cNvSpPr/>
          <p:nvPr/>
        </p:nvSpPr>
        <p:spPr>
          <a:xfrm>
            <a:off x="576000" y="4680000"/>
            <a:ext cx="2520000" cy="504000"/>
          </a:xfrm>
          <a:prstGeom prst="roundRect">
            <a:avLst/>
          </a:prstGeom>
          <a:solidFill>
            <a:srgbClr val="C4FF00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100" b="1">
                <a:solidFill>
                  <a:srgbClr val="0D0E11"/>
                </a:solidFill>
              </a:rPr>
              <a:t>Start a Project  →</a:t>
            </a:r>
          </a:p>
        </p:txBody>
      </p:sp>
      <p:sp>
        <p:nvSpPr>
          <p:cNvPr id="10" name="TextBox 10"/>
          <p:cNvSpPr/>
          <p:nvPr/>
        </p:nvSpPr>
        <p:spPr>
          <a:xfrm>
            <a:off x="576000" y="5508000"/>
            <a:ext cx="2340000" cy="1080000"/>
          </a:xfrm>
          <a:prstGeom prst="roundRect">
            <a:avLst/>
          </a:prstGeom>
          <a:solidFill>
            <a:srgbClr val="171A20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576000" y="5580000"/>
            <a:ext cx="234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en-US" sz="850" b="1">
                <a:solidFill>
                  <a:srgbClr val="FFFFFF"/>
                </a:solidFill>
              </a:rPr>
              <a:t>Receive Project</a:t>
            </a:r>
          </a:p>
        </p:txBody>
      </p:sp>
      <p:sp>
        <p:nvSpPr>
          <p:cNvPr id="12" name="TextBox 12"/>
          <p:cNvSpPr/>
          <p:nvPr/>
        </p:nvSpPr>
        <p:spPr>
          <a:xfrm>
            <a:off x="576000" y="5904000"/>
            <a:ext cx="234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en-US" sz="800">
                <a:solidFill>
                  <a:srgbClr val="6A7888"/>
                </a:solidFill>
              </a:rPr>
              <a:t>200+ Delivered</a:t>
            </a:r>
          </a:p>
        </p:txBody>
      </p:sp>
      <p:sp>
        <p:nvSpPr>
          <p:cNvPr id="13" name="TextBox 13"/>
          <p:cNvSpPr/>
          <p:nvPr/>
        </p:nvSpPr>
        <p:spPr>
          <a:xfrm>
            <a:off x="1620000" y="6246000"/>
            <a:ext cx="144000" cy="144000"/>
          </a:xfrm>
          <a:prstGeom prst="ellipse">
            <a:avLst/>
          </a:prstGeom>
          <a:solidFill>
            <a:srgbClr val="C4FF00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TextBox 14"/>
          <p:cNvSpPr/>
          <p:nvPr/>
        </p:nvSpPr>
        <p:spPr>
          <a:xfrm>
            <a:off x="3060000" y="5508000"/>
            <a:ext cx="2340000" cy="1080000"/>
          </a:xfrm>
          <a:prstGeom prst="roundRect">
            <a:avLst/>
          </a:prstGeom>
          <a:solidFill>
            <a:srgbClr val="171A20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TextBox 15"/>
          <p:cNvSpPr/>
          <p:nvPr/>
        </p:nvSpPr>
        <p:spPr>
          <a:xfrm>
            <a:off x="3060000" y="5580000"/>
            <a:ext cx="234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en-US" sz="850" b="1">
                <a:solidFill>
                  <a:srgbClr val="FFFFFF"/>
                </a:solidFill>
              </a:rPr>
              <a:t>Build Portfolio</a:t>
            </a:r>
          </a:p>
        </p:txBody>
      </p:sp>
      <p:sp>
        <p:nvSpPr>
          <p:cNvPr id="16" name="TextBox 16"/>
          <p:cNvSpPr/>
          <p:nvPr/>
        </p:nvSpPr>
        <p:spPr>
          <a:xfrm>
            <a:off x="3060000" y="5904000"/>
            <a:ext cx="234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en-US" sz="800">
                <a:solidFill>
                  <a:srgbClr val="6A7888"/>
                </a:solidFill>
              </a:rPr>
              <a:t>50+ Case Studies</a:t>
            </a:r>
          </a:p>
        </p:txBody>
      </p:sp>
      <p:sp>
        <p:nvSpPr>
          <p:cNvPr id="17" name="TextBox 17"/>
          <p:cNvSpPr/>
          <p:nvPr/>
        </p:nvSpPr>
        <p:spPr>
          <a:xfrm>
            <a:off x="4104000" y="6246000"/>
            <a:ext cx="144000" cy="144000"/>
          </a:xfrm>
          <a:prstGeom prst="ellipse">
            <a:avLst/>
          </a:prstGeom>
          <a:solidFill>
            <a:srgbClr val="C4FF00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" name="TextBox 18"/>
          <p:cNvSpPr/>
          <p:nvPr/>
        </p:nvSpPr>
        <p:spPr>
          <a:xfrm>
            <a:off x="5544000" y="5508000"/>
            <a:ext cx="2340000" cy="1080000"/>
          </a:xfrm>
          <a:prstGeom prst="roundRect">
            <a:avLst/>
          </a:prstGeom>
          <a:solidFill>
            <a:srgbClr val="171A20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9" name="TextBox 19"/>
          <p:cNvSpPr/>
          <p:nvPr/>
        </p:nvSpPr>
        <p:spPr>
          <a:xfrm>
            <a:off x="5544000" y="5580000"/>
            <a:ext cx="234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en-US" sz="850" b="1">
                <a:solidFill>
                  <a:srgbClr val="FFFFFF"/>
                </a:solidFill>
              </a:rPr>
              <a:t>Data Analysis</a:t>
            </a:r>
          </a:p>
        </p:txBody>
      </p:sp>
      <p:sp>
        <p:nvSpPr>
          <p:cNvPr id="20" name="TextBox 20"/>
          <p:cNvSpPr/>
          <p:nvPr/>
        </p:nvSpPr>
        <p:spPr>
          <a:xfrm>
            <a:off x="5544000" y="5904000"/>
            <a:ext cx="234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en-US" sz="800">
                <a:solidFill>
                  <a:srgbClr val="6A7888"/>
                </a:solidFill>
              </a:rPr>
              <a:t>Real-time Insights</a:t>
            </a:r>
          </a:p>
        </p:txBody>
      </p:sp>
      <p:sp>
        <p:nvSpPr>
          <p:cNvPr id="21" name="TextBox 21"/>
          <p:cNvSpPr/>
          <p:nvPr/>
        </p:nvSpPr>
        <p:spPr>
          <a:xfrm>
            <a:off x="6588000" y="6246000"/>
            <a:ext cx="144000" cy="144000"/>
          </a:xfrm>
          <a:prstGeom prst="ellipse">
            <a:avLst/>
          </a:prstGeom>
          <a:solidFill>
            <a:srgbClr val="C4FF00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2" name="TextBox 22"/>
          <p:cNvSpPr/>
          <p:nvPr/>
        </p:nvSpPr>
        <p:spPr>
          <a:xfrm>
            <a:off x="8028000" y="5508000"/>
            <a:ext cx="2340000" cy="1080000"/>
          </a:xfrm>
          <a:prstGeom prst="roundRect">
            <a:avLst/>
          </a:prstGeom>
          <a:solidFill>
            <a:srgbClr val="171A20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3" name="TextBox 23"/>
          <p:cNvSpPr/>
          <p:nvPr/>
        </p:nvSpPr>
        <p:spPr>
          <a:xfrm>
            <a:off x="8028000" y="5580000"/>
            <a:ext cx="234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en-US" sz="850" b="1">
                <a:solidFill>
                  <a:srgbClr val="FFFFFF"/>
                </a:solidFill>
              </a:rPr>
              <a:t>List Subscriber</a:t>
            </a:r>
          </a:p>
        </p:txBody>
      </p:sp>
      <p:sp>
        <p:nvSpPr>
          <p:cNvPr id="24" name="TextBox 24"/>
          <p:cNvSpPr/>
          <p:nvPr/>
        </p:nvSpPr>
        <p:spPr>
          <a:xfrm>
            <a:off x="8028000" y="5904000"/>
            <a:ext cx="234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en-US" sz="800">
                <a:solidFill>
                  <a:srgbClr val="6A7888"/>
                </a:solidFill>
              </a:rPr>
              <a:t>12k+ Subscribers</a:t>
            </a:r>
          </a:p>
        </p:txBody>
      </p:sp>
      <p:sp>
        <p:nvSpPr>
          <p:cNvPr id="25" name="TextBox 25"/>
          <p:cNvSpPr/>
          <p:nvPr/>
        </p:nvSpPr>
        <p:spPr>
          <a:xfrm>
            <a:off x="9072000" y="6246000"/>
            <a:ext cx="144000" cy="144000"/>
          </a:xfrm>
          <a:prstGeom prst="ellipse">
            <a:avLst/>
          </a:prstGeom>
          <a:solidFill>
            <a:srgbClr val="C4FF00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