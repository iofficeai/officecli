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0945f5aef70439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55d269c4763e4d35"/>
    <p:sldId id="257" r:id="R428b4335130341d2"/>
    <p:sldId id="258" r:id="Rc94f9016fcea4e81"/>
    <p:sldId id="259" r:id="R6bfa1671e5d14c62"/>
    <p:sldId id="260" r:id="R188a8ca9711b4485"/>
    <p:sldId id="261" r:id="R991140c7bfc34f17"/>
    <p:sldId id="262" r:id="R814c890c979d4a8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5d269c4763e4d35" /><Relationship Type="http://schemas.openxmlformats.org/officeDocument/2006/relationships/slide" Target="/ppt/slides/slide2.xml" Id="R428b4335130341d2" /><Relationship Type="http://schemas.openxmlformats.org/officeDocument/2006/relationships/slide" Target="/ppt/slides/slide3.xml" Id="Rc94f9016fcea4e81" /><Relationship Type="http://schemas.openxmlformats.org/officeDocument/2006/relationships/slide" Target="/ppt/slides/slide4.xml" Id="R6bfa1671e5d14c62" /><Relationship Type="http://schemas.openxmlformats.org/officeDocument/2006/relationships/slide" Target="/ppt/slides/slide5.xml" Id="R188a8ca9711b4485" /><Relationship Type="http://schemas.openxmlformats.org/officeDocument/2006/relationships/slide" Target="/ppt/slides/slide6.xml" Id="R991140c7bfc34f17" /><Relationship Type="http://schemas.openxmlformats.org/officeDocument/2006/relationships/slide" Target="/ppt/slides/slide7.xml" Id="R814c890c979d4a8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fdbbce4fb84c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0074e9e61649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cec8773be47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13390bdf54b4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64e60b19ce834ab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862ed3f6547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b7822be74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565318e3043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e6bfcdf014d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b244439584f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c27e16508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69d6dcddc428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4860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860000" y="0"/>
            <a:ext cx="7333200" cy="1620000"/>
          </a:xfrm>
          <a:prstGeom prst="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4860000" y="1620000"/>
            <a:ext cx="3672000" cy="3420000"/>
          </a:xfrm>
          <a:prstGeom prst="rect">
            <a:avLst/>
          </a:prstGeom>
          <a:solidFill>
            <a:srgbClr val="A8C8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8532000" y="1620000"/>
            <a:ext cx="3661200" cy="16200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8532000" y="3240000"/>
            <a:ext cx="3661200" cy="1800000"/>
          </a:xfrm>
          <a:prstGeom prst="rect">
            <a:avLst/>
          </a:prstGeom>
          <a:solidFill>
            <a:srgbClr val="E8D0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4860000" y="5040000"/>
            <a:ext cx="7333200" cy="1818000"/>
          </a:xfrm>
          <a:prstGeom prst="rect">
            <a:avLst/>
          </a:prstGeom>
          <a:solidFill>
            <a:srgbClr val="1A203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sun"/>
          <p:cNvSpPr/>
          <p:nvPr/>
        </p:nvSpPr>
        <p:spPr>
          <a:xfrm>
            <a:off x="4860000" y="1080000"/>
            <a:ext cx="4320000" cy="4320000"/>
          </a:xfrm>
          <a:prstGeom prst="ellipse">
            <a:avLst/>
          </a:prstGeom>
          <a:gradFill>
            <a:gsLst>
              <a:gs pos="0">
                <a:srgbClr val="A8C8DC"/>
              </a:gs>
              <a:gs pos="100000">
                <a:srgbClr val="F0980A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6660000" y="5472000"/>
            <a:ext cx="540000" cy="5400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32000"/>
            <a:ext cx="36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282E3A"/>
                </a:solidFill>
                <a:latin typeface="Segoe UI Black"/>
                <a:ea typeface="Segoe UI Black"/>
              </a:rPr>
              <a:t>geoprotech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900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1080000"/>
            <a:ext cx="360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282E3A"/>
                </a:solidFill>
                <a:latin typeface="Segoe UI Black"/>
                <a:ea typeface="Segoe UI Black"/>
              </a:rPr>
              <a:t>Our Technologies</a:t>
            </a:r>
          </a:p>
          <a:p>
            <a:r>
              <a:rPr lang="en-US" sz="3200" b="1">
                <a:solidFill>
                  <a:srgbClr val="282E3A"/>
                </a:solidFill>
                <a:latin typeface="Segoe UI Black"/>
                <a:ea typeface="Segoe UI Black"/>
              </a:rPr>
              <a:t>Your Solutions.</a:t>
            </a:r>
          </a:p>
        </p:txBody>
      </p:sp>
      <p:sp>
        <p:nvSpPr>
          <p:cNvPr id="13" name="TextBox 13"/>
          <p:cNvSpPr/>
          <p:nvPr/>
        </p:nvSpPr>
        <p:spPr>
          <a:xfrm>
            <a:off x="720000" y="3420000"/>
            <a:ext cx="360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282E3A"/>
                </a:solidFill>
                <a:latin typeface="Segoe UI"/>
                <a:ea typeface="Segoe UI"/>
              </a:rPr>
              <a:t>Geoprotech is an engineering company specialising in technical services. We combine proven methodology with next-generation tools.</a:t>
            </a:r>
          </a:p>
        </p:txBody>
      </p:sp>
      <p:sp>
        <p:nvSpPr>
          <p:cNvPr id="14" name="TextBox 14"/>
          <p:cNvSpPr/>
          <p:nvPr/>
        </p:nvSpPr>
        <p:spPr>
          <a:xfrm>
            <a:off x="720000" y="5220000"/>
            <a:ext cx="360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AA"/>
                </a:solidFill>
                <a:latin typeface="Segoe UI"/>
                <a:ea typeface="Segoe UI"/>
              </a:rPr>
              <a:t>Est. 2011  ·  ISO 9001  ·  40+ Countries</a:t>
            </a:r>
          </a:p>
        </p:txBody>
      </p:sp>
      <p:sp>
        <p:nvSpPr>
          <p:cNvPr id="15" name="TextBox 15"/>
          <p:cNvSpPr/>
          <p:nvPr/>
        </p:nvSpPr>
        <p:spPr>
          <a:xfrm>
            <a:off x="0" y="6480000"/>
            <a:ext cx="4860000" cy="378000"/>
          </a:xfrm>
          <a:prstGeom prst="rect">
            <a:avLst/>
          </a:prstGeom>
          <a:solidFill>
            <a:srgbClr val="E8D0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80000" y="6516000"/>
            <a:ext cx="288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800">
                <a:solidFill>
                  <a:srgbClr val="282E3A"/>
                </a:solidFill>
                <a:latin typeface="Segoe UI"/>
                <a:ea typeface="Segoe UI"/>
              </a:rPr>
              <a:t>Copyright © 2024 Geoprotech Technologies Inc.</a:t>
            </a:r>
          </a:p>
        </p:txBody>
      </p:sp>
      <p:sp>
        <p:nvSpPr>
          <p:cNvPr id="17" name="TextBox 17"/>
          <p:cNvSpPr/>
          <p:nvPr/>
        </p:nvSpPr>
        <p:spPr>
          <a:xfrm>
            <a:off x="3600000" y="6516000"/>
            <a:ext cx="1080000" cy="288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800">
                <a:solidFill>
                  <a:srgbClr val="282E3A"/>
                </a:solidFill>
                <a:latin typeface="Segoe UI"/>
                <a:ea typeface="Segoe UI"/>
              </a:rPr>
              <a:t>geoprotech.com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282E3A"/>
        </a:solidFill>
      </p:bgPr>
    </p:bg>
    <p:spTree>
      <p:nvGrpSpPr>
        <p:cNvPr id="1" name=""/>
        <p:cNvGrpSpPr/>
        <p:nvPr/>
      </p:nvGrpSpPr>
      <p:grpSpPr/>
      <p:sp>
        <p:nvSpPr>
          <p:cNvPr id="2" name="!!sun"/>
          <p:cNvSpPr/>
          <p:nvPr/>
        </p:nvSpPr>
        <p:spPr>
          <a:xfrm>
            <a:off x="5040000" y="360000"/>
            <a:ext cx="6480000" cy="6480000"/>
          </a:xfrm>
          <a:prstGeom prst="ellipse">
            <a:avLst/>
          </a:prstGeom>
          <a:gradFill>
            <a:gsLst>
              <a:gs pos="0">
                <a:srgbClr val="A8C8DC"/>
              </a:gs>
              <a:gs pos="100000">
                <a:srgbClr val="F0980A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400000" y="720000"/>
            <a:ext cx="5760000" cy="5760000"/>
          </a:xfrm>
          <a:prstGeom prst="ellipse">
            <a:avLst/>
          </a:prstGeom>
          <a:solidFill>
            <a:srgbClr val="FFFFFF">
              <a:alpha val="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64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980A"/>
                </a:solidFill>
                <a:latin typeface="Segoe UI"/>
                <a:ea typeface="Segoe UI"/>
              </a:rPr>
              <a:t>ABOUT  ·  WHO WE ARE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260000"/>
            <a:ext cx="432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Engineering</a:t>
            </a:r>
          </a:p>
          <a:p>
            <a:r>
              <a:rPr lang="en-US" sz="4000" b="1">
                <a:solidFill>
                  <a:srgbClr val="FFFFFF"/>
                </a:solidFill>
                <a:latin typeface="Segoe UI Black"/>
                <a:ea typeface="Segoe UI Black"/>
              </a:rPr>
              <a:t>At Scale.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4140000"/>
            <a:ext cx="43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A8C8DC"/>
                </a:solidFill>
                <a:latin typeface="Segoe UI"/>
                <a:ea typeface="Segoe UI"/>
              </a:rPr>
              <a:t>We deliver complex technical solutions for energy, infrastructure, and resources sectors worldwide. From concept to commissioning.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760000"/>
            <a:ext cx="3600000" cy="18000"/>
          </a:xfrm>
          <a:prstGeom prst="rect">
            <a:avLst/>
          </a:prstGeom>
          <a:solidFill>
            <a:srgbClr val="A8C8DC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5940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1,200 engineers  ·  40 countries  ·  ISO 9001/14001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/>
      <p:sp>
        <p:nvSpPr>
          <p:cNvPr id="2" name="!!sun"/>
          <p:cNvSpPr/>
          <p:nvPr/>
        </p:nvSpPr>
        <p:spPr>
          <a:xfrm>
            <a:off x="9720000" y="0"/>
            <a:ext cx="2880000" cy="2880000"/>
          </a:xfrm>
          <a:prstGeom prst="ellipse">
            <a:avLst/>
          </a:prstGeom>
          <a:gradFill>
            <a:gsLst>
              <a:gs pos="0">
                <a:srgbClr val="A8C8DC"/>
              </a:gs>
              <a:gs pos="100000">
                <a:srgbClr val="F0980A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0"/>
            <a:ext cx="12193200" cy="1260000"/>
          </a:xfrm>
          <a:prstGeom prst="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8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PERFORMANCE  ·  KEY METRICS  2024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540000"/>
            <a:ext cx="79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 b="1">
                <a:solidFill>
                  <a:srgbClr val="F0980A"/>
                </a:solidFill>
                <a:latin typeface="Segoe UI Black"/>
                <a:ea typeface="Segoe UI Black"/>
              </a:rPr>
              <a:t>Our Numbers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620000"/>
            <a:ext cx="3420000" cy="4680000"/>
          </a:xfrm>
          <a:prstGeom prst="rect">
            <a:avLst/>
          </a:prstGeom>
          <a:solidFill>
            <a:srgbClr val="A8C8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4500000" y="1620000"/>
            <a:ext cx="3420000" cy="46800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8280000" y="1620000"/>
            <a:ext cx="3553200" cy="4680000"/>
          </a:xfrm>
          <a:prstGeom prst="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900000" y="1872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150%</a:t>
            </a:r>
          </a:p>
        </p:txBody>
      </p:sp>
      <p:sp>
        <p:nvSpPr>
          <p:cNvPr id="10" name="TextBox 10"/>
          <p:cNvSpPr/>
          <p:nvPr/>
        </p:nvSpPr>
        <p:spPr>
          <a:xfrm>
            <a:off x="900000" y="3312000"/>
            <a:ext cx="306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EFFICIENCY</a:t>
            </a:r>
          </a:p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GAIN</a:t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4032000"/>
            <a:ext cx="3060000" cy="21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4248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Average improvement across all projects completed in 2024 vs prior methodology.</a:t>
            </a:r>
          </a:p>
        </p:txBody>
      </p:sp>
      <p:sp>
        <p:nvSpPr>
          <p:cNvPr id="13" name="TextBox 13"/>
          <p:cNvSpPr/>
          <p:nvPr/>
        </p:nvSpPr>
        <p:spPr>
          <a:xfrm>
            <a:off x="4680000" y="1872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100%</a:t>
            </a:r>
          </a:p>
        </p:txBody>
      </p:sp>
      <p:sp>
        <p:nvSpPr>
          <p:cNvPr id="14" name="TextBox 14"/>
          <p:cNvSpPr/>
          <p:nvPr/>
        </p:nvSpPr>
        <p:spPr>
          <a:xfrm>
            <a:off x="4680000" y="3312000"/>
            <a:ext cx="306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QUALITY</a:t>
            </a:r>
          </a:p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RATING</a:t>
            </a:r>
          </a:p>
        </p:txBody>
      </p:sp>
      <p:sp>
        <p:nvSpPr>
          <p:cNvPr id="15" name="TextBox 15"/>
          <p:cNvSpPr/>
          <p:nvPr/>
        </p:nvSpPr>
        <p:spPr>
          <a:xfrm>
            <a:off x="4680000" y="4032000"/>
            <a:ext cx="3060000" cy="21600"/>
          </a:xfrm>
          <a:prstGeom prst="rect">
            <a:avLst/>
          </a:prstGeom>
          <a:solidFill>
            <a:srgbClr val="FFFF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4680000" y="4248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Zero critical defects across 58 major infrastructure commissions this year.</a:t>
            </a:r>
          </a:p>
        </p:txBody>
      </p:sp>
      <p:sp>
        <p:nvSpPr>
          <p:cNvPr id="17" name="TextBox 17"/>
          <p:cNvSpPr/>
          <p:nvPr/>
        </p:nvSpPr>
        <p:spPr>
          <a:xfrm>
            <a:off x="8460000" y="1872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0980A"/>
                </a:solidFill>
                <a:latin typeface="Segoe UI Black"/>
                <a:ea typeface="Segoe UI Black"/>
              </a:rPr>
              <a:t>40+</a:t>
            </a:r>
          </a:p>
        </p:txBody>
      </p:sp>
      <p:sp>
        <p:nvSpPr>
          <p:cNvPr id="18" name="TextBox 18"/>
          <p:cNvSpPr/>
          <p:nvPr/>
        </p:nvSpPr>
        <p:spPr>
          <a:xfrm>
            <a:off x="8460000" y="3312000"/>
            <a:ext cx="306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COUNTRIES</a:t>
            </a:r>
          </a:p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ACTIVE</a:t>
            </a:r>
          </a:p>
        </p:txBody>
      </p:sp>
      <p:sp>
        <p:nvSpPr>
          <p:cNvPr id="19" name="TextBox 19"/>
          <p:cNvSpPr/>
          <p:nvPr/>
        </p:nvSpPr>
        <p:spPr>
          <a:xfrm>
            <a:off x="8460000" y="4032000"/>
            <a:ext cx="3060000" cy="21600"/>
          </a:xfrm>
          <a:prstGeom prst="rect">
            <a:avLst/>
          </a:prstGeom>
          <a:solidFill>
            <a:srgbClr val="FFFFFF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8460000" y="4248000"/>
            <a:ext cx="306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FFFFFF"/>
                </a:solidFill>
                <a:latin typeface="Segoe UI"/>
                <a:ea typeface="Segoe UI"/>
              </a:rPr>
              <a:t>Operational in 40+ countries with local engineering leadership in each region.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3600000" cy="6858000"/>
          </a:xfrm>
          <a:prstGeom prst="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un"/>
          <p:cNvSpPr/>
          <p:nvPr/>
        </p:nvSpPr>
        <p:spPr>
          <a:xfrm>
            <a:off x="360000" y="2880000"/>
            <a:ext cx="3240000" cy="3240000"/>
          </a:xfrm>
          <a:prstGeom prst="ellipse">
            <a:avLst/>
          </a:prstGeom>
          <a:gradFill>
            <a:gsLst>
              <a:gs pos="0">
                <a:srgbClr val="A8C8DC">
                  <a:alpha val="60000"/>
                </a:srgbClr>
              </a:gs>
              <a:gs pos="100000">
                <a:srgbClr val="F0980A">
                  <a:alpha val="60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540000"/>
            <a:ext cx="288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980A"/>
                </a:solidFill>
                <a:latin typeface="Segoe UI"/>
                <a:ea typeface="Segoe UI"/>
              </a:rPr>
              <a:t>SERVICES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008000"/>
            <a:ext cx="108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1260000"/>
            <a:ext cx="288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What</a:t>
            </a:r>
          </a:p>
          <a:p>
            <a:r>
              <a:rPr lang="en-US" sz="3200" b="1">
                <a:solidFill>
                  <a:srgbClr val="FFFFFF"/>
                </a:solidFill>
                <a:latin typeface="Segoe UI Black"/>
                <a:ea typeface="Segoe UI Black"/>
              </a:rPr>
              <a:t>We Do</a:t>
            </a:r>
          </a:p>
        </p:txBody>
      </p:sp>
      <p:sp>
        <p:nvSpPr>
          <p:cNvPr id="7" name="TextBox 7"/>
          <p:cNvSpPr/>
          <p:nvPr/>
        </p:nvSpPr>
        <p:spPr>
          <a:xfrm>
            <a:off x="396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8899AA"/>
                </a:solidFill>
                <a:latin typeface="Segoe UI"/>
                <a:ea typeface="Segoe UI"/>
              </a:rPr>
              <a:t>Right content area</a:t>
            </a:r>
          </a:p>
        </p:txBody>
      </p:sp>
      <p:sp>
        <p:nvSpPr>
          <p:cNvPr id="8" name="TextBox 8"/>
          <p:cNvSpPr/>
          <p:nvPr/>
        </p:nvSpPr>
        <p:spPr>
          <a:xfrm>
            <a:off x="3960000" y="1008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3960000" y="1260000"/>
            <a:ext cx="72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282E3A"/>
                </a:solidFill>
                <a:latin typeface="Segoe UI Black"/>
                <a:ea typeface="Segoe UI Black"/>
              </a:rPr>
              <a:t>Our Service Lines</a:t>
            </a:r>
          </a:p>
        </p:txBody>
      </p:sp>
      <p:sp>
        <p:nvSpPr>
          <p:cNvPr id="10" name="TextBox 10"/>
          <p:cNvSpPr/>
          <p:nvPr/>
        </p:nvSpPr>
        <p:spPr>
          <a:xfrm>
            <a:off x="3960000" y="2160000"/>
            <a:ext cx="216000" cy="216000"/>
          </a:xfrm>
          <a:prstGeom prst="round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4392000" y="2160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282E3A"/>
                </a:solidFill>
                <a:latin typeface="Segoe UI Black"/>
                <a:ea typeface="Segoe UI Black"/>
              </a:rPr>
              <a:t>Field Engineering</a:t>
            </a:r>
          </a:p>
        </p:txBody>
      </p:sp>
      <p:sp>
        <p:nvSpPr>
          <p:cNvPr id="12" name="TextBox 12"/>
          <p:cNvSpPr/>
          <p:nvPr/>
        </p:nvSpPr>
        <p:spPr>
          <a:xfrm>
            <a:off x="4392000" y="2556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282E3A"/>
                </a:solidFill>
                <a:latin typeface="Segoe UI"/>
                <a:ea typeface="Segoe UI"/>
              </a:rPr>
              <a:t>On-site technical deployment, commissioning and operations management.</a:t>
            </a:r>
          </a:p>
        </p:txBody>
      </p:sp>
      <p:sp>
        <p:nvSpPr>
          <p:cNvPr id="13" name="TextBox 13"/>
          <p:cNvSpPr/>
          <p:nvPr/>
        </p:nvSpPr>
        <p:spPr>
          <a:xfrm>
            <a:off x="3960000" y="3024000"/>
            <a:ext cx="7200000" cy="18000"/>
          </a:xfrm>
          <a:prstGeom prst="rect">
            <a:avLst/>
          </a:prstGeom>
          <a:solidFill>
            <a:srgbClr val="282E3A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3960000" y="3276000"/>
            <a:ext cx="216000" cy="216000"/>
          </a:xfrm>
          <a:prstGeom prst="roundRect">
            <a:avLst/>
          </a:prstGeom>
          <a:solidFill>
            <a:srgbClr val="A8C8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4392000" y="3276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282E3A"/>
                </a:solidFill>
                <a:latin typeface="Segoe UI Black"/>
                <a:ea typeface="Segoe UI Black"/>
              </a:rPr>
              <a:t>Project Management</a:t>
            </a:r>
          </a:p>
        </p:txBody>
      </p:sp>
      <p:sp>
        <p:nvSpPr>
          <p:cNvPr id="16" name="TextBox 16"/>
          <p:cNvSpPr/>
          <p:nvPr/>
        </p:nvSpPr>
        <p:spPr>
          <a:xfrm>
            <a:off x="4392000" y="3672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282E3A"/>
                </a:solidFill>
                <a:latin typeface="Segoe UI"/>
                <a:ea typeface="Segoe UI"/>
              </a:rPr>
              <a:t>End-to-end delivery from feasibility through handover to O&amp;M.</a:t>
            </a:r>
          </a:p>
        </p:txBody>
      </p:sp>
      <p:sp>
        <p:nvSpPr>
          <p:cNvPr id="17" name="TextBox 17"/>
          <p:cNvSpPr/>
          <p:nvPr/>
        </p:nvSpPr>
        <p:spPr>
          <a:xfrm>
            <a:off x="3960000" y="4140000"/>
            <a:ext cx="7200000" cy="18000"/>
          </a:xfrm>
          <a:prstGeom prst="rect">
            <a:avLst/>
          </a:prstGeom>
          <a:solidFill>
            <a:srgbClr val="282E3A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3960000" y="4392000"/>
            <a:ext cx="216000" cy="216000"/>
          </a:xfrm>
          <a:prstGeom prst="round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TextBox 19"/>
          <p:cNvSpPr/>
          <p:nvPr/>
        </p:nvSpPr>
        <p:spPr>
          <a:xfrm>
            <a:off x="4392000" y="4392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282E3A"/>
                </a:solidFill>
                <a:latin typeface="Segoe UI Black"/>
                <a:ea typeface="Segoe UI Black"/>
              </a:rPr>
              <a:t>Environmental Services</a:t>
            </a:r>
          </a:p>
        </p:txBody>
      </p:sp>
      <p:sp>
        <p:nvSpPr>
          <p:cNvPr id="20" name="TextBox 20"/>
          <p:cNvSpPr/>
          <p:nvPr/>
        </p:nvSpPr>
        <p:spPr>
          <a:xfrm>
            <a:off x="4392000" y="4788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282E3A"/>
                </a:solidFill>
                <a:latin typeface="Segoe UI"/>
                <a:ea typeface="Segoe UI"/>
              </a:rPr>
              <a:t>Impact assessment, compliance and sustainability reporting.</a:t>
            </a:r>
          </a:p>
        </p:txBody>
      </p:sp>
      <p:sp>
        <p:nvSpPr>
          <p:cNvPr id="21" name="TextBox 21"/>
          <p:cNvSpPr/>
          <p:nvPr/>
        </p:nvSpPr>
        <p:spPr>
          <a:xfrm>
            <a:off x="3960000" y="5256000"/>
            <a:ext cx="7200000" cy="18000"/>
          </a:xfrm>
          <a:prstGeom prst="rect">
            <a:avLst/>
          </a:prstGeom>
          <a:solidFill>
            <a:srgbClr val="282E3A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2" name="TextBox 22"/>
          <p:cNvSpPr/>
          <p:nvPr/>
        </p:nvSpPr>
        <p:spPr>
          <a:xfrm>
            <a:off x="3960000" y="5508000"/>
            <a:ext cx="216000" cy="216000"/>
          </a:xfrm>
          <a:prstGeom prst="roundRect">
            <a:avLst/>
          </a:prstGeom>
          <a:solidFill>
            <a:srgbClr val="E8D0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TextBox 23"/>
          <p:cNvSpPr/>
          <p:nvPr/>
        </p:nvSpPr>
        <p:spPr>
          <a:xfrm>
            <a:off x="4392000" y="5508000"/>
            <a:ext cx="64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282E3A"/>
                </a:solidFill>
                <a:latin typeface="Segoe UI Black"/>
                <a:ea typeface="Segoe UI Black"/>
              </a:rPr>
              <a:t>Training &amp; Competency</a:t>
            </a:r>
          </a:p>
        </p:txBody>
      </p:sp>
      <p:sp>
        <p:nvSpPr>
          <p:cNvPr id="24" name="TextBox 24"/>
          <p:cNvSpPr/>
          <p:nvPr/>
        </p:nvSpPr>
        <p:spPr>
          <a:xfrm>
            <a:off x="4392000" y="5904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282E3A"/>
                </a:solidFill>
                <a:latin typeface="Segoe UI"/>
                <a:ea typeface="Segoe UI"/>
              </a:rPr>
              <a:t>Bespoke technical training programmes for client operations teams.</a:t>
            </a:r>
          </a:p>
        </p:txBody>
      </p:sp>
      <p:sp>
        <p:nvSpPr>
          <p:cNvPr id="25" name="TextBox 25"/>
          <p:cNvSpPr/>
          <p:nvPr/>
        </p:nvSpPr>
        <p:spPr>
          <a:xfrm>
            <a:off x="3960000" y="6372000"/>
            <a:ext cx="7200000" cy="18000"/>
          </a:xfrm>
          <a:prstGeom prst="rect">
            <a:avLst/>
          </a:prstGeom>
          <a:solidFill>
            <a:srgbClr val="282E3A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282E3A"/>
        </a:solidFill>
      </p:bgPr>
    </p:bg>
    <p:spTree>
      <p:nvGrpSpPr>
        <p:cNvPr id="1" name=""/>
        <p:cNvGrpSpPr/>
        <p:nvPr/>
      </p:nvGrpSpPr>
      <p:grpSpPr/>
      <p:sp>
        <p:nvSpPr>
          <p:cNvPr id="2" name="!!sun"/>
          <p:cNvSpPr/>
          <p:nvPr/>
        </p:nvSpPr>
        <p:spPr>
          <a:xfrm>
            <a:off x="3960000" y="0"/>
            <a:ext cx="4320000" cy="4320000"/>
          </a:xfrm>
          <a:prstGeom prst="ellipse">
            <a:avLst/>
          </a:prstGeom>
          <a:gradFill>
            <a:gsLst>
              <a:gs pos="0">
                <a:srgbClr val="A8C8DC">
                  <a:alpha val="70000"/>
                </a:srgbClr>
              </a:gs>
              <a:gs pos="100000">
                <a:srgbClr val="F0980A">
                  <a:alpha val="70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540000"/>
            <a:ext cx="720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980A"/>
                </a:solidFill>
                <a:latin typeface="Segoe UI"/>
                <a:ea typeface="Segoe UI"/>
              </a:rPr>
              <a:t>PROCESS  ·  HOW WE DELIVER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008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260000"/>
            <a:ext cx="79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Segoe UI Black"/>
                <a:ea typeface="Segoe UI Black"/>
              </a:rPr>
              <a:t>Structured Delivery</a:t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2088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A8C8DC"/>
                </a:solidFill>
                <a:latin typeface="Segoe UI"/>
                <a:ea typeface="Segoe UI"/>
              </a:rPr>
              <a:t>Our 5-phase methodology is proven across 600+ projects in 40 countries.</a:t>
            </a:r>
          </a:p>
        </p:txBody>
      </p:sp>
      <p:sp>
        <p:nvSpPr>
          <p:cNvPr id="7" name="TextBox 7"/>
          <p:cNvSpPr/>
          <p:nvPr/>
        </p:nvSpPr>
        <p:spPr>
          <a:xfrm>
            <a:off x="1260000" y="4248000"/>
            <a:ext cx="9720000" cy="43200"/>
          </a:xfrm>
          <a:prstGeom prst="rect">
            <a:avLst/>
          </a:prstGeom>
          <a:solidFill>
            <a:srgbClr val="A8C8DC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3780000"/>
            <a:ext cx="900000" cy="900000"/>
          </a:xfrm>
          <a:prstGeom prst="ellipse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378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282E3A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4860000"/>
            <a:ext cx="19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Assess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5328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Feasibility, risk and site characterisation.</a:t>
            </a:r>
          </a:p>
        </p:txBody>
      </p:sp>
      <p:sp>
        <p:nvSpPr>
          <p:cNvPr id="12" name="TextBox 12"/>
          <p:cNvSpPr/>
          <p:nvPr/>
        </p:nvSpPr>
        <p:spPr>
          <a:xfrm>
            <a:off x="2952000" y="3780000"/>
            <a:ext cx="900000" cy="900000"/>
          </a:xfrm>
          <a:prstGeom prst="ellipse">
            <a:avLst/>
          </a:prstGeom>
          <a:solidFill>
            <a:srgbClr val="A8C8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2952000" y="378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282E3A"/>
                </a:solidFill>
                <a:latin typeface="Segoe UI Black"/>
                <a:ea typeface="Segoe UI Black"/>
              </a:rPr>
              <a:t>02</a:t>
            </a:r>
          </a:p>
        </p:txBody>
      </p:sp>
      <p:sp>
        <p:nvSpPr>
          <p:cNvPr id="14" name="TextBox 14"/>
          <p:cNvSpPr/>
          <p:nvPr/>
        </p:nvSpPr>
        <p:spPr>
          <a:xfrm>
            <a:off x="2952000" y="4860000"/>
            <a:ext cx="19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Plan</a:t>
            </a:r>
          </a:p>
        </p:txBody>
      </p:sp>
      <p:sp>
        <p:nvSpPr>
          <p:cNvPr id="15" name="TextBox 15"/>
          <p:cNvSpPr/>
          <p:nvPr/>
        </p:nvSpPr>
        <p:spPr>
          <a:xfrm>
            <a:off x="2952000" y="5328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Engineering design and programme.</a:t>
            </a:r>
          </a:p>
        </p:txBody>
      </p:sp>
      <p:sp>
        <p:nvSpPr>
          <p:cNvPr id="16" name="TextBox 16"/>
          <p:cNvSpPr/>
          <p:nvPr/>
        </p:nvSpPr>
        <p:spPr>
          <a:xfrm>
            <a:off x="5184000" y="3780000"/>
            <a:ext cx="900000" cy="900000"/>
          </a:xfrm>
          <a:prstGeom prst="ellipse">
            <a:avLst/>
          </a:prstGeom>
          <a:solidFill>
            <a:srgbClr val="E8D0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5184000" y="378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282E3A"/>
                </a:solidFill>
                <a:latin typeface="Segoe UI Black"/>
                <a:ea typeface="Segoe UI Black"/>
              </a:rPr>
              <a:t>03</a:t>
            </a:r>
          </a:p>
        </p:txBody>
      </p:sp>
      <p:sp>
        <p:nvSpPr>
          <p:cNvPr id="18" name="TextBox 18"/>
          <p:cNvSpPr/>
          <p:nvPr/>
        </p:nvSpPr>
        <p:spPr>
          <a:xfrm>
            <a:off x="5184000" y="4860000"/>
            <a:ext cx="19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Execute</a:t>
            </a:r>
          </a:p>
        </p:txBody>
      </p:sp>
      <p:sp>
        <p:nvSpPr>
          <p:cNvPr id="19" name="TextBox 19"/>
          <p:cNvSpPr/>
          <p:nvPr/>
        </p:nvSpPr>
        <p:spPr>
          <a:xfrm>
            <a:off x="5184000" y="5328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Mobilise, build, test.</a:t>
            </a:r>
          </a:p>
        </p:txBody>
      </p:sp>
      <p:sp>
        <p:nvSpPr>
          <p:cNvPr id="20" name="TextBox 20"/>
          <p:cNvSpPr/>
          <p:nvPr/>
        </p:nvSpPr>
        <p:spPr>
          <a:xfrm>
            <a:off x="7416000" y="3780000"/>
            <a:ext cx="900000" cy="900000"/>
          </a:xfrm>
          <a:prstGeom prst="ellipse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7416000" y="378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282E3A"/>
                </a:solidFill>
                <a:latin typeface="Segoe UI Black"/>
                <a:ea typeface="Segoe UI Black"/>
              </a:rPr>
              <a:t>04</a:t>
            </a:r>
          </a:p>
        </p:txBody>
      </p:sp>
      <p:sp>
        <p:nvSpPr>
          <p:cNvPr id="22" name="TextBox 22"/>
          <p:cNvSpPr/>
          <p:nvPr/>
        </p:nvSpPr>
        <p:spPr>
          <a:xfrm>
            <a:off x="7416000" y="4860000"/>
            <a:ext cx="19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Commission</a:t>
            </a:r>
          </a:p>
        </p:txBody>
      </p:sp>
      <p:sp>
        <p:nvSpPr>
          <p:cNvPr id="23" name="TextBox 23"/>
          <p:cNvSpPr/>
          <p:nvPr/>
        </p:nvSpPr>
        <p:spPr>
          <a:xfrm>
            <a:off x="7416000" y="5328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Handover, documentation, training.</a:t>
            </a:r>
          </a:p>
        </p:txBody>
      </p:sp>
      <p:sp>
        <p:nvSpPr>
          <p:cNvPr id="24" name="TextBox 24"/>
          <p:cNvSpPr/>
          <p:nvPr/>
        </p:nvSpPr>
        <p:spPr>
          <a:xfrm>
            <a:off x="9648000" y="3780000"/>
            <a:ext cx="900000" cy="9000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9648000" y="3780000"/>
            <a:ext cx="90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282E3A"/>
                </a:solidFill>
                <a:latin typeface="Segoe UI Black"/>
                <a:ea typeface="Segoe UI Black"/>
              </a:rPr>
              <a:t>05</a:t>
            </a:r>
          </a:p>
        </p:txBody>
      </p:sp>
      <p:sp>
        <p:nvSpPr>
          <p:cNvPr id="26" name="TextBox 26"/>
          <p:cNvSpPr/>
          <p:nvPr/>
        </p:nvSpPr>
        <p:spPr>
          <a:xfrm>
            <a:off x="9648000" y="4860000"/>
            <a:ext cx="19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Support</a:t>
            </a:r>
          </a:p>
        </p:txBody>
      </p:sp>
      <p:sp>
        <p:nvSpPr>
          <p:cNvPr id="27" name="TextBox 27"/>
          <p:cNvSpPr/>
          <p:nvPr/>
        </p:nvSpPr>
        <p:spPr>
          <a:xfrm>
            <a:off x="9648000" y="5328000"/>
            <a:ext cx="19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O&amp;M, monitoring, optimisation.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6120000" y="0"/>
            <a:ext cx="6073200" cy="6858000"/>
          </a:xfrm>
          <a:prstGeom prst="rect">
            <a:avLst/>
          </a:prstGeom>
          <a:solidFill>
            <a:srgbClr val="282E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un"/>
          <p:cNvSpPr/>
          <p:nvPr/>
        </p:nvSpPr>
        <p:spPr>
          <a:xfrm>
            <a:off x="0" y="3240000"/>
            <a:ext cx="5040000" cy="5040000"/>
          </a:xfrm>
          <a:prstGeom prst="ellipse">
            <a:avLst/>
          </a:prstGeom>
          <a:gradFill>
            <a:gsLst>
              <a:gs pos="0">
                <a:srgbClr val="A8C8DC">
                  <a:alpha val="55000"/>
                </a:srgbClr>
              </a:gs>
              <a:gs pos="100000">
                <a:srgbClr val="F0980A">
                  <a:alpha val="55000"/>
                </a:srgb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980A"/>
                </a:solidFill>
                <a:latin typeface="Segoe UI"/>
                <a:ea typeface="Segoe UI"/>
              </a:rPr>
              <a:t>TECHNOLOGY  ·  OUR ADVANTAGE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260000"/>
            <a:ext cx="468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282E3A"/>
                </a:solidFill>
                <a:latin typeface="Segoe UI Black"/>
                <a:ea typeface="Segoe UI Black"/>
              </a:rPr>
              <a:t>Built on</a:t>
            </a:r>
          </a:p>
          <a:p>
            <a:r>
              <a:rPr lang="en-US" sz="3600" b="1">
                <a:solidFill>
                  <a:srgbClr val="282E3A"/>
                </a:solidFill>
                <a:latin typeface="Segoe UI Black"/>
                <a:ea typeface="Segoe UI Black"/>
              </a:rPr>
              <a:t>Data.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3420000"/>
            <a:ext cx="504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282E3A"/>
                </a:solidFill>
                <a:latin typeface="Segoe UI"/>
                <a:ea typeface="Segoe UI"/>
              </a:rPr>
              <a:t>We combine IoT sensor data, predictive modelling and digital twin technology to optimise performance across every project lifecycle.</a:t>
            </a:r>
          </a:p>
        </p:txBody>
      </p:sp>
      <p:sp>
        <p:nvSpPr>
          <p:cNvPr id="8" name="TextBox 8"/>
          <p:cNvSpPr/>
          <p:nvPr/>
        </p:nvSpPr>
        <p:spPr>
          <a:xfrm>
            <a:off x="6480000" y="54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A8C8DC"/>
                </a:solidFill>
                <a:latin typeface="Segoe UI"/>
                <a:ea typeface="Segoe UI"/>
              </a:rPr>
              <a:t>KEY TECH</a:t>
            </a:r>
          </a:p>
        </p:txBody>
      </p:sp>
      <p:sp>
        <p:nvSpPr>
          <p:cNvPr id="9" name="TextBox 9"/>
          <p:cNvSpPr/>
          <p:nvPr/>
        </p:nvSpPr>
        <p:spPr>
          <a:xfrm>
            <a:off x="6480000" y="1008000"/>
            <a:ext cx="1080000" cy="43200"/>
          </a:xfrm>
          <a:prstGeom prst="rect">
            <a:avLst/>
          </a:prstGeom>
          <a:solidFill>
            <a:srgbClr val="A8C8D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6480000" y="1260000"/>
            <a:ext cx="50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Segoe UI Black"/>
                <a:ea typeface="Segoe UI Black"/>
              </a:rPr>
              <a:t>Digital</a:t>
            </a:r>
          </a:p>
          <a:p>
            <a:r>
              <a:rPr lang="en-US" sz="2400" b="1">
                <a:solidFill>
                  <a:srgbClr val="FFFFFF"/>
                </a:solidFill>
                <a:latin typeface="Segoe UI Black"/>
                <a:ea typeface="Segoe UI Black"/>
              </a:rPr>
              <a:t>Twin Platform</a:t>
            </a:r>
          </a:p>
        </p:txBody>
      </p:sp>
      <p:sp>
        <p:nvSpPr>
          <p:cNvPr id="11" name="TextBox 11"/>
          <p:cNvSpPr/>
          <p:nvPr/>
        </p:nvSpPr>
        <p:spPr>
          <a:xfrm>
            <a:off x="6480000" y="2520000"/>
            <a:ext cx="468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A8C8DC"/>
                </a:solidFill>
                <a:latin typeface="Segoe UI"/>
                <a:ea typeface="Segoe UI"/>
              </a:rPr>
              <a:t>Real-time simulation of field assets, enabling</a:t>
            </a:r>
          </a:p>
          <a:p>
            <a:r>
              <a:rPr lang="en-US" sz="1200">
                <a:solidFill>
                  <a:srgbClr val="A8C8DC"/>
                </a:solidFill>
                <a:latin typeface="Segoe UI"/>
                <a:ea typeface="Segoe UI"/>
              </a:rPr>
              <a:t>predictive maintenance and scenario planning.</a:t>
            </a:r>
          </a:p>
        </p:txBody>
      </p:sp>
      <p:sp>
        <p:nvSpPr>
          <p:cNvPr id="12" name="TextBox 12"/>
          <p:cNvSpPr/>
          <p:nvPr/>
        </p:nvSpPr>
        <p:spPr>
          <a:xfrm>
            <a:off x="6480000" y="3780000"/>
            <a:ext cx="4680000" cy="21600"/>
          </a:xfrm>
          <a:prstGeom prst="rect">
            <a:avLst/>
          </a:prstGeom>
          <a:solidFill>
            <a:srgbClr val="A8C8DC">
              <a:alpha val="2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6480000" y="4032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IoT Integration</a:t>
            </a:r>
          </a:p>
        </p:txBody>
      </p:sp>
      <p:sp>
        <p:nvSpPr>
          <p:cNvPr id="14" name="TextBox 14"/>
          <p:cNvSpPr/>
          <p:nvPr/>
        </p:nvSpPr>
        <p:spPr>
          <a:xfrm>
            <a:off x="6480000" y="4464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A8C8DC"/>
                </a:solidFill>
                <a:latin typeface="Segoe UI"/>
                <a:ea typeface="Segoe UI"/>
              </a:rPr>
              <a:t>2,000+ sensors per site, real-time telemetry.</a:t>
            </a:r>
          </a:p>
        </p:txBody>
      </p:sp>
      <p:sp>
        <p:nvSpPr>
          <p:cNvPr id="15" name="TextBox 15"/>
          <p:cNvSpPr/>
          <p:nvPr/>
        </p:nvSpPr>
        <p:spPr>
          <a:xfrm>
            <a:off x="6480000" y="504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Predictive Analytics</a:t>
            </a:r>
          </a:p>
        </p:txBody>
      </p:sp>
      <p:sp>
        <p:nvSpPr>
          <p:cNvPr id="16" name="TextBox 16"/>
          <p:cNvSpPr/>
          <p:nvPr/>
        </p:nvSpPr>
        <p:spPr>
          <a:xfrm>
            <a:off x="6480000" y="5472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A8C8DC"/>
                </a:solidFill>
                <a:latin typeface="Segoe UI"/>
                <a:ea typeface="Segoe UI"/>
              </a:rPr>
              <a:t>ML models trained on 15 years of field data.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F5F2EC"/>
        </a:solidFill>
      </p:bgPr>
    </p:bg>
    <p:spTree>
      <p:nvGrpSpPr>
        <p:cNvPr id="1" name=""/>
        <p:cNvGrpSpPr/>
        <p:nvPr/>
      </p:nvGrpSpPr>
      <p:grpSpPr/>
      <p:sp>
        <p:nvSpPr>
          <p:cNvPr id="2" name="!!sun"/>
          <p:cNvSpPr/>
          <p:nvPr/>
        </p:nvSpPr>
        <p:spPr>
          <a:xfrm>
            <a:off x="5760000" y="0"/>
            <a:ext cx="6480000" cy="6858000"/>
          </a:xfrm>
          <a:prstGeom prst="ellipse">
            <a:avLst/>
          </a:prstGeom>
          <a:gradFill>
            <a:gsLst>
              <a:gs pos="0">
                <a:srgbClr val="A8C8DC"/>
              </a:gs>
              <a:gs pos="100000">
                <a:srgbClr val="F0980A"/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6120000" y="360000"/>
            <a:ext cx="5760000" cy="5760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54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F0980A"/>
                </a:solidFill>
                <a:latin typeface="Segoe UI"/>
                <a:ea typeface="Segoe UI"/>
              </a:rPr>
              <a:t>CONTACT  ·  WORK WITH US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1008000"/>
            <a:ext cx="1440000" cy="50400"/>
          </a:xfrm>
          <a:prstGeom prst="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1260000"/>
            <a:ext cx="504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282E3A"/>
                </a:solidFill>
                <a:latin typeface="Segoe UI Black"/>
                <a:ea typeface="Segoe UI Black"/>
              </a:rPr>
              <a:t>Ready to build</a:t>
            </a:r>
          </a:p>
          <a:p>
            <a:r>
              <a:rPr lang="en-US" sz="3600" b="1">
                <a:solidFill>
                  <a:srgbClr val="282E3A"/>
                </a:solidFill>
                <a:latin typeface="Segoe UI Black"/>
                <a:ea typeface="Segoe UI Black"/>
              </a:rPr>
              <a:t>something that lasts?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4140000"/>
            <a:ext cx="504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282E3A"/>
                </a:solidFill>
                <a:latin typeface="Segoe UI"/>
                <a:ea typeface="Segoe UI"/>
              </a:rPr>
              <a:t>Our team is available for initial project discussions.</a:t>
            </a:r>
          </a:p>
          <a:p>
            <a:r>
              <a:rPr lang="en-US" sz="1300">
                <a:solidFill>
                  <a:srgbClr val="282E3A"/>
                </a:solidFill>
                <a:latin typeface="Segoe UI"/>
                <a:ea typeface="Segoe UI"/>
              </a:rPr>
              <a:t>No obligation — just engineering.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580000"/>
            <a:ext cx="4320000" cy="900000"/>
          </a:xfrm>
          <a:prstGeom prst="roundRect">
            <a:avLst/>
          </a:prstGeom>
          <a:solidFill>
            <a:srgbClr val="F0980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5580000"/>
            <a:ext cx="432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 Black"/>
                <a:ea typeface="Segoe UI Black"/>
              </a:rPr>
              <a:t>enquiries@geoprotech.com  →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6516000"/>
            <a:ext cx="43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8899AA"/>
                </a:solidFill>
                <a:latin typeface="Segoe UI"/>
                <a:ea typeface="Segoe UI"/>
              </a:rPr>
              <a:t>geoprotech.com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